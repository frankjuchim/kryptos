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6 · Das Quadrat" id="{3f6b07fe-089a-9262-cff9-3263a266712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DS 7 · Kasiski" id="{6ba31916-69b5-d399-f30b-67849a9b2d78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DS 8 · Friedman" id="{cee9bf0f-5c12-df19-bb80-490005f3a70d}">
          <p14:sldIdLst>
            <p14:sldId id="274"/>
            <p14:sldId id="275"/>
            <p14:sldId id="276"/>
            <p14:sldId id="277"/>
          </p14:sldIdLst>
        </p14:section>
        <p14:section name="DS 8 · Fremde Chiffre III" id="{05427db2-2f02-39f0-4739-bed7354647bc}">
          <p14:sldIdLst>
            <p14:sldId id="278"/>
            <p14:sldId id="279"/>
            <p14:sldId id="280"/>
            <p14:sldId id="281"/>
            <p14:sldId id="282"/>
          </p14:sldIdLst>
        </p14:section>
        <p14:section name="DS 8 · Boss" id="{667e3889-b18c-95b7-3098-cb9ed40175fc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Klartext: E ragt heraus (11-mal)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7.8</c:v>
                </c:pt>
                <c:pt idx="1">
                  <c:v>4.7</c:v>
                </c:pt>
                <c:pt idx="2">
                  <c:v>1.6</c:v>
                </c:pt>
                <c:pt idx="3">
                  <c:v>6.3</c:v>
                </c:pt>
                <c:pt idx="4">
                  <c:v>17.2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4.7</c:v>
                </c:pt>
                <c:pt idx="9">
                  <c:v>1.6</c:v>
                </c:pt>
                <c:pt idx="10">
                  <c:v>0</c:v>
                </c:pt>
                <c:pt idx="11">
                  <c:v>1.6</c:v>
                </c:pt>
                <c:pt idx="12">
                  <c:v>0</c:v>
                </c:pt>
                <c:pt idx="13">
                  <c:v>9.4</c:v>
                </c:pt>
                <c:pt idx="14">
                  <c:v>3.1</c:v>
                </c:pt>
                <c:pt idx="15">
                  <c:v>0</c:v>
                </c:pt>
                <c:pt idx="16">
                  <c:v>1.6</c:v>
                </c:pt>
                <c:pt idx="17">
                  <c:v>9.4</c:v>
                </c:pt>
                <c:pt idx="18">
                  <c:v>4.7</c:v>
                </c:pt>
                <c:pt idx="19">
                  <c:v>9.4</c:v>
                </c:pt>
                <c:pt idx="20">
                  <c:v>6.3</c:v>
                </c:pt>
                <c:pt idx="21">
                  <c:v>3.1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Geheimtext: flach (R 8, O 6, P 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4.7</c:v>
                </c:pt>
                <c:pt idx="1">
                  <c:v>0</c:v>
                </c:pt>
                <c:pt idx="2">
                  <c:v>0</c:v>
                </c:pt>
                <c:pt idx="3">
                  <c:v>1.6</c:v>
                </c:pt>
                <c:pt idx="4">
                  <c:v>6.3</c:v>
                </c:pt>
                <c:pt idx="5">
                  <c:v>7.8</c:v>
                </c:pt>
                <c:pt idx="6">
                  <c:v>4.7</c:v>
                </c:pt>
                <c:pt idx="7">
                  <c:v>1.6</c:v>
                </c:pt>
                <c:pt idx="8">
                  <c:v>1.6</c:v>
                </c:pt>
                <c:pt idx="9">
                  <c:v>0</c:v>
                </c:pt>
                <c:pt idx="10">
                  <c:v>4.7</c:v>
                </c:pt>
                <c:pt idx="11">
                  <c:v>3.1</c:v>
                </c:pt>
                <c:pt idx="12">
                  <c:v>3.1</c:v>
                </c:pt>
                <c:pt idx="13">
                  <c:v>4.7</c:v>
                </c:pt>
                <c:pt idx="14">
                  <c:v>9.4</c:v>
                </c:pt>
                <c:pt idx="15">
                  <c:v>9.4</c:v>
                </c:pt>
                <c:pt idx="16">
                  <c:v>0</c:v>
                </c:pt>
                <c:pt idx="17">
                  <c:v>12.5</c:v>
                </c:pt>
                <c:pt idx="18">
                  <c:v>1.6</c:v>
                </c:pt>
                <c:pt idx="19">
                  <c:v>6.3</c:v>
                </c:pt>
                <c:pt idx="20">
                  <c:v>1.6</c:v>
                </c:pt>
                <c:pt idx="21">
                  <c:v>3.1</c:v>
                </c:pt>
                <c:pt idx="22">
                  <c:v>1.6</c:v>
                </c:pt>
                <c:pt idx="23">
                  <c:v>3.1</c:v>
                </c:pt>
                <c:pt idx="24">
                  <c:v>4.7</c:v>
                </c:pt>
                <c:pt idx="25">
                  <c:v>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Eves Brief (228 Zeichen) – flach wie erwartet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8.3</c:v>
                </c:pt>
                <c:pt idx="1">
                  <c:v>0.4</c:v>
                </c:pt>
                <c:pt idx="2">
                  <c:v>2.6</c:v>
                </c:pt>
                <c:pt idx="3">
                  <c:v>2.6</c:v>
                </c:pt>
                <c:pt idx="4">
                  <c:v>9.6</c:v>
                </c:pt>
                <c:pt idx="5">
                  <c:v>3.9</c:v>
                </c:pt>
                <c:pt idx="6">
                  <c:v>5.3</c:v>
                </c:pt>
                <c:pt idx="7">
                  <c:v>4.8</c:v>
                </c:pt>
                <c:pt idx="8">
                  <c:v>3.5</c:v>
                </c:pt>
                <c:pt idx="9">
                  <c:v>4.8</c:v>
                </c:pt>
                <c:pt idx="10">
                  <c:v>3.5</c:v>
                </c:pt>
                <c:pt idx="11">
                  <c:v>4.8</c:v>
                </c:pt>
                <c:pt idx="12">
                  <c:v>0.9</c:v>
                </c:pt>
                <c:pt idx="13">
                  <c:v>3.9</c:v>
                </c:pt>
                <c:pt idx="14">
                  <c:v>2.6</c:v>
                </c:pt>
                <c:pt idx="15">
                  <c:v>6.1</c:v>
                </c:pt>
                <c:pt idx="16">
                  <c:v>0.4</c:v>
                </c:pt>
                <c:pt idx="17">
                  <c:v>2.2</c:v>
                </c:pt>
                <c:pt idx="18">
                  <c:v>3.1</c:v>
                </c:pt>
                <c:pt idx="19">
                  <c:v>4.4</c:v>
                </c:pt>
                <c:pt idx="20">
                  <c:v>3.9</c:v>
                </c:pt>
                <c:pt idx="21">
                  <c:v>4.8</c:v>
                </c:pt>
                <c:pt idx="22">
                  <c:v>7</c:v>
                </c:pt>
                <c:pt idx="23">
                  <c:v>0.9</c:v>
                </c:pt>
                <c:pt idx="24">
                  <c:v>3.1</c:v>
                </c:pt>
                <c:pt idx="25">
                  <c:v>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Zeitleiste zeigen: Sprung von Bagdad (Welt 1, Al-Kindi, um 850) nach Venedig um 1600.
Impuls: „Al-Kindis Methode war 700 Jahre unschlagbar. Was tun die Diplomaten der Renaissance, wenn jeder Spion die Häufigkeitsanalyse kennt?“
Erwartete Antworten: Schlüssel öfter wechseln, mehrere Alphabete, Codewörter. Noch nicht auflösen – der Archivfund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Murmelgruppen (Dreier). Auftrag: Häufigkeiten zählen wie in Welt 1.
Erwartet: R ist mit 8 am häufigsten, dann O und P mit je 6. Vermutung „R ist e“ → Verschiebung 13 → Unsinn.
Noch NICHT das Rätsel auflösen – erst die Beobachtung auf der nächsten Folie sichern.
Falle P6 (Häufigkeitsanalyse pauschal) wird hier erlebt, nicht erklärt.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Erst nur das rechte Diagramm zeigen (Geheimtext, flach), dann das linke aufdecken (Klartext, E ragt heraus).
Impuls: „Was ist hier anders als bei Caesar?“ Erwartet: Derselbe Klartextbuchstabe hat verschiedene Geheimtextbuchstaben – die Häufigkeiten werden verschmiert.
Dann das Rätsel (1 min Murmeln): Venedig steht auf der LAGUNE – 6 Buchstaben, das Schlüsselwort.
Nur für die Lehrkraft (Vorgriff DS 8): Koinzidenzindex Klartext 0,0665, Geheimtext 0,0496.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Mitschrift.
Hinweis: Ein einziges Gegenbeispiel genügt für „polyalphabetisch“ (im Archivfund: e → E, R, P, K, Y).
Verweis Akte W2·1, Archivwissen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Animation Buchstabe für Buchstabe: m in Zeile D → P; a in Zeile A → A („A verschiebt um 0!“); r in Zeile M → D; k in Zeile E → O.
Ausschnitt des Quadrats: nur die Zeilen A, D, E, M. Das vollständige Quadrat steht in der Abitur-Anlage, auf WK1 und in Akte W2·1, Seite 2.
Jetzt WK1 austeilen. Ergebnis: PADOX SBPDT L.
Falle P3 vorbereiten: Beim Entschlüsseln in der Zeile des Schlüsselbuchstabens SUCHEN, nicht noch einmal verschieben.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Formel herleiten: „− 1“, weil der Schlüsselbuchstabe A um 0 verschiebt; ein weiteres „− 1 … + 1“, weil das Alphabet bei 1 beginnt und mod Werte von 0 bis 25 liefert.
Entschlüsseln: p = ((c − s) mod 26) + 1.
Typische Fehler: K als Verschiebung 11 lesen (P1), Rest 0 als „0“ oder Z deuten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Umhergehen, P3-Fehler (doppelt verschieben statt suchen) abfangen.
Lösung: Schlüsselwort LAGUNE; „Der Rat von Venedig liest unsere Briefe. Benutze ab jetzt nur noch das Quadrat.“
Auftrag 2: kanalsperre mit NEBEL → XEOEW FTFVC R; 6. Buchstabe s mit N → F (nicht G, P1).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Experten A erklären (Akte W2·1, Auftrag 4).
Schlüsselwort ZUG, danach der Klartext selbst (hervorgehoben): galeerenimhafen → FURKE CIRZQ UIRLN.
Impuls: „Was passiert beim Entschlüsseln, wenn ein Buchstabe falsch ankommt?“ Erwartet: Der falsche Klartextbuchstabe wird später als Schlüssel benutzt → Folgefehler (dogenpalast: Fehler an Position 1 und 7). Vigenère: nur ein Fehler.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Experten B erklären (Akte W2·1, Auftrag 5).
Beispiel: Schlüssel L → Zeile K, L: a ↔ V, n ↔ F. nachtwache mit LUNA → FQWUL GUPPU.
Frage: „Wie entschlüsselt man?“ → genauso (involutorisch).
Zusatz: Kein Buchstabe wird auf sich selbst abgebildet (A–M ↔ N–Z). Historisch: della Porta 1563, im Original mit lateinischem Alphabet; wir nutzen die moderne Fassung mit 26 Buchstaben.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Auftrag 6 sichern.
Schlüsselraum: Vigenère 26⁵ = 11 881 376 Schlüsselwörter der Länge 5, Porta nur 13⁵ = 371 293 (je zwei Buchstaben wählen dasselbe Alphabet).
Vergleich Welt 1: 26! Alphabete – trotzdem geknackt. Größe allein beweist nichts (P7). Zweimal Porta = Klartext (P8).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Zuschreibungsproblem: Geschichte schreibt nicht immer die Erfinder auf – das Schlüsselwort-Verfahren ist eher Bellasos Idee.
Vorsichtig formulieren: keine Zitate erfinden. Ausblick: Babbage soll es um 1854 gebrochen haben, veröffentlichte aber nichts; Kasiski veröffentlichte 1863.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Ende DS 6: Ausblick, Hausaufgabe Lab-Level 2.1 (mind. 5 Aufgaben) + Abi-Check W2·1. Impuls: „300 Jahre unknackbar – wie hat Eve es dann doch geschafft?“
Anfang DS 7: Rückgriff auf diese Frage. Friedrich Wilhelm Kasiski veröffentlichte 1863 „Die Geheimschriften und die Dechiffrir-Kunst“.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Akte W2·2, Auftrag 1. Positionen ab 0: T₁ = Positionen 0, 3, 6, …; T₂ = 1, 4, 7, … (P1: „2. Buchstabe“ = Position 1).
Bob verrät das Schlüsselwort EIS → Verschiebungen 4, 8, 18 → ruderbootamsteg.
Kernidee: Kennt Eve die Länge, ist alles Welt-1-Handwerk.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Impuls: „Wann wird *die* zweimal gleich verschlüsselt?“ Erwartet: wenn es auf dieselben Schlüsselbuchstaben fällt, also wenn der Abstand ein Vielfaches der Schlüssellänge ist.
Gegenprobe (Auftrag 2): *die* an Position 2 fiele auf C, H, S → FPW, nicht ZIG.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Mini-Beispiel: Abstände 40, 65, 85, 125, 15 → nur 5 teilt alle fünf (hier zugleich der ggT).
Hilfreich: Primfaktorzerlegung, z. B. 85 = 5 · 17, 65 = 5 · 13.
Akte W2·2, Archivwissen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Nicht stur den ggT aller Abstände bilden (wäre 1). Den Ausreißer begründet aussortieren: Zwei verschiedene Klartextfolgen können zufällig dieselbe Geheimtextfolge ergeben.
Vielfache (21 statt 7) und Teiler (3) sind ebenfalls verträglich – den kleinsten plausiblen Teiler bevorzugen und mit den Teiltexten prüfen.
Lab W2-L22-05.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min, Wettbewerb möglich (erste Gruppe mit richtigem Schlüsselwort gewinnt).
Werkbank erst nach 15 min am Beamer zeigen („Eve knackt live“, siehe Lehrerhinweise): Reiter 3 Kasiski (Teilertabelle: Maximum bei 5), Schalter „Zufallstreffer ausschließen“, Reiter 4 Histogramme bei k = 5, Reiter 6 Vorschläge W, A, C, H, S, Reiter 7 absichtlich falscher Buchstabe → Spalte unlesbar → korrigieren.
Lösung: Schlüssellänge 5, Schlüsselwort WACHS; Klartext beginnt „Die Galeere aus Venedig erreicht den Hafen am Abend …“.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Mitschrift; Abi-Check a) mündlich: „Erläutern Sie, wie beim Vigenère-Verfahren gleiche Folgen im Geheimtext entstehen können.“ (Bedingung, Vielfaches, Beispiel – 3 BE).
Danach 10 min Lab-Level 2.2 starten (Aufgaben 01–04), Rest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8, eA-Kurs: Folien 19–22. gA-Kurs: Folie 20 nur als Ausblick (5 min), dann weiter mit Folie 23 (Playfair).
William F. Friedman führt um 1920 den Koinzidenzindex 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Laplace: gleiche Paare / alle Paare. Zähler zählt geordnete Paare gleicher Buchstaben (6 AA + 2 NN), Nenner alle geordneten Paare (6 · 5 = 30).
Korrekturhinweis zur alten Folie P04: Dort steht im Nenner n(n − 1)/2 – Zähler und Nenner zählen dann verschieden, das Ergebnis ist doppelt so groß (ANANAS 0,533; Deutsch ≈ 0,152). Richtig ist I = Σ nᵢ(nᵢ − 1)/(n(n − 1)). Lehrerhinweise §10.6.
Caesar ändert I nicht (otto und RWWR: 4/12), Vigenère senkt I (anna 4/12 → AOPD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Rechenvorlage zeigen; im Abitur gäbe es solche Rechenhilfen. Überschlag beim Teilen genügt (38 : 9,5 ≈ 4).
Typische Fehler: n statt n − 1, 0,038 · n vergessen.
Akte W2·3, Archivwissen 4 und Auftrag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Akte W2·3, Auftrag 5: Eves Brief (n = 228, I = 0,0470).
Teiltext-Probe: k = 1: 0,047 · 2: 0,046 · 3: 0,046 · 4: 0,048 · 5: 0,096 · 6: 0,044 · 7: 0,047 · 8: 0,047 · 9: 0,042 · 10: 0,099. Das kleinste k mit hohem Wert gewinnt → 5.
Fazit: kombinieren – Kasiski liefert Kandidaten, Friedman eine grobe Schätzung, die Teiltexte entscheiden.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Quadrat RIALTO (Schlüsselwort zeilenweise, Rest alphabetisch, J fehlt).
Beispiele OD → BE (gleiche Zeile), BG → GP (gleiche Spalte), RS → LN (Rechteck).
Entschlüsseln: Zeile → links, Spalte → oben, Rechteck wie beim Verschlüsseln (P3).
Historisch: 1854 von Charles Wheatstone erfunden, nach Lyon Playfair benannt; u. a. im Burenkrieg und im Ersten Weltkrieg eingesetzt.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ballett: Das X wird nur innerhalb eines Paars eingefügt, danach verschiebt sich die Paarbildung; am Ende wird aufgefüllt.
Häufigster Fehler im Abitur bei Regelverfahren: Regeln nicht abgehakt.
Lab W2-L24-02/03.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Zusatzfolie (M10, L58): Objektbild aus dem Kryptolabor, erzeugt mit `npm run labor:bilder`. 2 min. Werkzeug „Polybios &amp; Playfair“, Reiter Playfair (ab Welt 2). Im Level 2.4 ist das Schlüsselwort fest; im freien Labor eigene Schlüsselwörter – Schlüsselwörter aus Aufgaben und Akten (z. B. RIALTO) baut das Werkzeug für Lernende nicht auf.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5-Schritte-Methode (WK2): erst das Material lesen, dann das Material-Beispiel nachrechnen!
FA: f oben in Zeile 2, Spalte 5; a unten in Zeile 1, Spalte 4 → c₁ = unten Zeile 2, Spalte 4 = D; c₂ = oben Zeile 1, Spalte 5 = E.
Akte W2·4, Aufträge 5–6 (kommandant → FBFDE OADNS; FBNSR OBNCM → kontorbuch).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Abi-Check W2·4 b) mündlich: Playfair ist auf Einzelbuchstaben bezogen nicht immer gleich (e in EG → B, in EL → D), auf Paare bezogen immer gleich → monoalphabetisch auf Bigrammen; Bezugsgröße nennen (P5).
Ausblick: „Zwei Quadrate“ heißt nicht automatisch Bigramm-Verfahren – siehe Papier-Boss „Das Zwei-Quadrat“ (buchstabenweise polyalphabetisch).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Boss starten (Lehrkraft-Freigabe im Lab). Ziehung 8 aus 15 (★ 3, ★★ 3, ★★★ 2), niveau-gefiltert: gA zieht B09 und B14 nicht.
Wie im Abitur: ohne Werkzeuge, Vigenère-Quadrat der Anlage erlaubt.
Danach: Video 📼03 „Vigenère knacken: Kasiski-Test und Friedman-Test“, Kür K1 für Mathe-Begeisterte, Papier-Boss als Übungsklausur (60 min) in der Folgestunde oder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fa0409f923b65dc6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2_7d3f73e380808cd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2 · VENEDIG · UM 1600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chiffre indéchiffrable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Renaissance bis 19. Jahrhundert · Welt 2 · Kryptos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Archivfund: Brief einer Diplomatin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21945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A2E2E"/>
                </a:solidFill>
              </a:rPr>
              <a:t>VENEDIG · VERSIEGELT · 64 ZEICHEN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OEXLN XGOTP RRPDO AYMPS ZOAWP RKVEM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PFKVR RFTFY NFUEZ TGRFR TIPLO AYKHE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23360"/>
            <a:ext cx="1072865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Rückseite: </a:t>
            </a:r>
            <a:r>
              <a:rPr lang="en-US" sz="2200" i="1" dirty="0">
                <a:solidFill>
                  <a:srgbClr val="FBF7EE"/>
                </a:solidFill>
              </a:rPr>
              <a:t>„Der Schlüssel ist das Wasser, auf dem die Stadt steht.“</a:t>
            </a:r>
            <a:r>
              <a:rPr lang="en-US" sz="2200" dirty="0">
                <a:solidFill>
                  <a:srgbClr val="FBF7EE"/>
                </a:solidFill>
              </a:rPr>
              <a:t>  ·  </a:t>
            </a:r>
            <a:r>
              <a:rPr lang="en-US" sz="2200" b="1" dirty="0">
                <a:solidFill>
                  <a:srgbClr val="FBF7EE"/>
                </a:solidFill>
              </a:rPr>
              <a:t>Knackt ihn wie Al-Kindi!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Al-Kindi hier scheitert</a:t>
            </a:r>
            <a:endParaRPr lang="en-US" sz="3000" dirty="0"/>
          </a:p>
        </p:txBody>
      </p:sp>
      <p:graphicFrame>
        <p:nvGraphicFramePr>
          <p:cNvPr id="3" name="Häufigkeitsdiagramm" descr=""/>
          <p:cNvGraphicFramePr/>
          <p:nvPr/>
        </p:nvGraphicFramePr>
        <p:xfrm>
          <a:off x="548640" y="1325880"/>
          <a:ext cx="536432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Häufigkeitsdiagramm" descr=""/>
          <p:cNvGraphicFramePr/>
          <p:nvPr/>
        </p:nvGraphicFramePr>
        <p:xfrm>
          <a:off x="6278728" y="1325880"/>
          <a:ext cx="536432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5994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des Klartexts wurde zu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r>
              <a:rPr lang="en-US" sz="2200" dirty="0">
                <a:solidFill>
                  <a:srgbClr val="1B1B1F"/>
                </a:solidFill>
              </a:rPr>
              <a:t> – ein Buchstabe, viele Gesichter.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Mono- und polyalphabetisch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803904"/>
          </a:xfrm>
          <a:prstGeom prst="roundRect">
            <a:avLst>
              <a:gd name="adj" fmla="val 2404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Monoalphabetisch:</a:t>
            </a:r>
            <a:r>
              <a:rPr lang="en-US" sz="2200" dirty="0">
                <a:solidFill>
                  <a:srgbClr val="1B1B1F"/>
                </a:solidFill>
              </a:rPr>
              <a:t> Jeder Klartextbuchstabe wird </a:t>
            </a:r>
            <a:r>
              <a:rPr lang="en-US" sz="2200" b="1" dirty="0">
                <a:solidFill>
                  <a:srgbClr val="1B1B1F"/>
                </a:solidFill>
              </a:rPr>
              <a:t>immer</a:t>
            </a:r>
            <a:r>
              <a:rPr lang="en-US" sz="2200" dirty="0">
                <a:solidFill>
                  <a:srgbClr val="1B1B1F"/>
                </a:solidFill>
              </a:rPr>
              <a:t> gleich ersetzt.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Polyalphabetisch:</a:t>
            </a:r>
            <a:r>
              <a:rPr lang="en-US" sz="2200" dirty="0">
                <a:solidFill>
                  <a:srgbClr val="1B1B1F"/>
                </a:solidFill>
              </a:rPr>
              <a:t> Derselbe Klartextbuchstabe wird je nach Position </a:t>
            </a:r>
            <a:r>
              <a:rPr lang="en-US" sz="2200" b="1" dirty="0">
                <a:solidFill>
                  <a:srgbClr val="1B1B1F"/>
                </a:solidFill>
              </a:rPr>
              <a:t>verschieden</a:t>
            </a:r>
            <a:r>
              <a:rPr lang="en-US" sz="2200" dirty="0">
                <a:solidFill>
                  <a:srgbClr val="1B1B1F"/>
                </a:solidFill>
              </a:rPr>
              <a:t> ersetzt.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95122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Prüffrage (P5): </a:t>
            </a:r>
            <a:r>
              <a:rPr lang="en-US" sz="2200" i="1" dirty="0">
                <a:solidFill>
                  <a:srgbClr val="1B1B1F"/>
                </a:solidFill>
              </a:rPr>
              <a:t>Wird derselbe Buchstabe immer gleich ersetzt?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Vigenère mit dem Quadrat der Anlage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</a:tblGrid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08417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Schlüsselwort </a:t>
            </a:r>
            <a:r>
              <a:rPr lang="en-US" sz="2200" b="1" dirty="0">
                <a:solidFill>
                  <a:srgbClr val="1B1B1F"/>
                </a:solidFill>
              </a:rPr>
              <a:t>DAME</a:t>
            </a:r>
            <a:r>
              <a:rPr lang="en-US" sz="2200" dirty="0">
                <a:solidFill>
                  <a:srgbClr val="1B1B1F"/>
                </a:solidFill>
              </a:rPr>
              <a:t> wiederholt unter </a:t>
            </a:r>
            <a:r>
              <a:rPr lang="en-US" sz="2200" i="1" dirty="0">
                <a:solidFill>
                  <a:srgbClr val="1B1B1F"/>
                </a:solidFill>
              </a:rPr>
              <a:t>markusplatz</a:t>
            </a:r>
            <a:r>
              <a:rPr lang="en-US" sz="2200" dirty="0">
                <a:solidFill>
                  <a:srgbClr val="1B1B1F"/>
                </a:solidFill>
              </a:rPr>
              <a:t> schreiben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023021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Zeile</a:t>
            </a:r>
            <a:r>
              <a:rPr lang="en-US" sz="2200" dirty="0">
                <a:solidFill>
                  <a:srgbClr val="1B1B1F"/>
                </a:solidFill>
              </a:rPr>
              <a:t> = Schlüsselbuchstabe,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r>
              <a:rPr lang="en-US" sz="2200" dirty="0">
                <a:solidFill>
                  <a:srgbClr val="1B1B1F"/>
                </a:solidFill>
              </a:rPr>
              <a:t> = Klartextbuchstabe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37625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Kreuzung = Geheimtextbuchstabe: m/D → P, a/A → A  →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PADOX SBPDT 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P1/P2 · Rechnen mit A =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Schlüsselbuchstabe s verschiebt um </a:t>
            </a:r>
            <a:r>
              <a:rPr lang="en-US" sz="2200" b="1" dirty="0">
                <a:solidFill>
                  <a:srgbClr val="1B1B1F"/>
                </a:solidFill>
              </a:rPr>
              <a:t>s − 1</a:t>
            </a:r>
            <a:r>
              <a:rPr lang="en-US" sz="2200" dirty="0">
                <a:solidFill>
                  <a:srgbClr val="1B1B1F"/>
                </a:solidFill>
              </a:rPr>
              <a:t>: </a:t>
            </a:r>
            <a:r>
              <a:rPr lang="en-US" sz="2200" b="1" dirty="0">
                <a:solidFill>
                  <a:srgbClr val="1B1B1F"/>
                </a:solidFill>
              </a:rPr>
              <a:t>c = ((p + s − 2) mod 26) + 1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 (20) + M (13) = 33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33 mod 26 = 7 → </a:t>
            </a:r>
            <a:r>
              <a:rPr lang="en-US" sz="2200" b="1" dirty="0">
                <a:solidFill>
                  <a:srgbClr val="1B1B1F"/>
                </a:solidFill>
              </a:rPr>
              <a:t>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z (26) mit B (2) → „0“ oder Z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1941068"/>
            <a:ext cx="5364328" cy="1943608"/>
          </a:xfrm>
          <a:prstGeom prst="roundRect">
            <a:avLst>
              <a:gd name="adj" fmla="val 3764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((20 + 13 − 2) mod 26) + 1 = 6 → </a:t>
            </a:r>
            <a:r>
              <a:rPr lang="en-US" sz="2200" b="1" dirty="0">
                <a:solidFill>
                  <a:srgbClr val="1B1B1F"/>
                </a:solidFill>
              </a:rPr>
              <a:t>F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141472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((26 + 2 − 2) mod 26) + 1 = 1 →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Brief der Diplomatin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W2·1, </a:t>
            </a:r>
            <a:r>
              <a:rPr lang="en-US" sz="2200" b="1" dirty="0">
                <a:solidFill>
                  <a:srgbClr val="1B1B1F"/>
                </a:solidFill>
              </a:rPr>
              <a:t>Aufträge 1 und 2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248056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55371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DIE ERSTEN 20 BUCHSTABEN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290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OEXLN XGOTP RRPDO AYMPS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74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Schlüsselwort: </a:t>
            </a:r>
            <a:r>
              <a:rPr lang="en-US" sz="2200" b="1" dirty="0">
                <a:solidFill>
                  <a:srgbClr val="1B1B1F"/>
                </a:solidFill>
              </a:rPr>
              <a:t>das Rätsel!</a:t>
            </a:r>
            <a:r>
              <a:rPr lang="en-US" sz="2200" dirty="0">
                <a:solidFill>
                  <a:srgbClr val="1B1B1F"/>
                </a:solidFill>
              </a:rPr>
              <a:t>  ·  Wer fertig ist: der ganze Brief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Autokey: Der Schlüssel schreibt sich selbst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44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Schlüssel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56489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+</a:t>
            </a:r>
            <a:r>
              <a:rPr lang="en-US" sz="2200" dirty="0">
                <a:solidFill>
                  <a:srgbClr val="1B1B1F"/>
                </a:solidFill>
              </a:rPr>
              <a:t> kein periodischer Schlüssel – Kasiski greift nicht direkt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6278728" y="256489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−</a:t>
            </a:r>
            <a:r>
              <a:rPr lang="en-US" sz="2200" dirty="0">
                <a:solidFill>
                  <a:srgbClr val="1B1B1F"/>
                </a:solidFill>
              </a:rPr>
              <a:t> ein Übertragungsfehler pflanzt sich fort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Portas Tauschalphabete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437193" cy="914400"/>
        </p:xfrm>
        <a:graphic>
          <a:graphicData uri="http://schemas.openxmlformats.org/drawingml/2006/table">
            <a:tbl>
              <a:tblPr/>
              <a:tblGrid>
                <a:gridCol w="869891"/>
                <a:gridCol w="2783651"/>
                <a:gridCol w="278365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oben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unten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A,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 O P Q R S T U V W X Y 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C,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 N O P Q R S T U V W X 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E, 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Z N O P Q R S T U V W 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G,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Y Z N O P Q R S T U V 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I, 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 X Y Z N O P Q R S T U 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K,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 W X Y Z N O P Q R S T 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M,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 V W X Y Z N O P Q R S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O,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U V W X Y Z N O P Q R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Q, 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 T U V W X Y Z N O P Q 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S,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 S T U V W X Y Z N O P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U, 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 R S T U V W X Y Z N O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W, 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 Q R S T U V W X Y Z N 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Y, 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 P Q R S T U V W X Y Z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51593" y="1325880"/>
            <a:ext cx="4291462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Zeile zum Schlüsselbuchstaben wählen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51593" y="2181352"/>
            <a:ext cx="4291462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Buchstabe oben ↔ unten </a:t>
            </a:r>
            <a:r>
              <a:rPr lang="en-US" sz="2200" b="1" dirty="0">
                <a:solidFill>
                  <a:srgbClr val="1B1B1F"/>
                </a:solidFill>
              </a:rPr>
              <a:t>tauschen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51593" y="303682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1B1B1F"/>
                </a:solidFill>
              </a:rPr>
              <a:t>nachtwache</a:t>
            </a:r>
            <a:r>
              <a:rPr lang="en-US" sz="2200" dirty="0">
                <a:solidFill>
                  <a:srgbClr val="1B1B1F"/>
                </a:solidFill>
              </a:rPr>
              <a:t> / LUNA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7351593" y="3551428"/>
            <a:ext cx="4291462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0193" y="3661156"/>
            <a:ext cx="3834262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FQWUL GUPPU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351593" y="439572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Entschlüsseln = </a:t>
            </a:r>
            <a:r>
              <a:rPr lang="en-US" sz="2200" b="1" dirty="0">
                <a:solidFill>
                  <a:srgbClr val="1B1B1F"/>
                </a:solidFill>
              </a:rPr>
              <a:t>genauso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P7/P8 · Schwache Schlüssel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Nicht die Länge zählt, sondern die Zahl </a:t>
            </a:r>
            <a:r>
              <a:rPr lang="en-US" sz="2200" b="1" dirty="0">
                <a:solidFill>
                  <a:srgbClr val="1B1B1F"/>
                </a:solidFill>
              </a:rPr>
              <a:t>verschiedener Alphabete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3139948"/>
          </a:xfrm>
          <a:prstGeom prst="roundRect">
            <a:avLst>
              <a:gd name="adj" fmla="val 2330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AAAA – „vier Buchstaben, also sicher“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DDDD, ABAB – „Länge 4“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Porta zweimal – „doppelt sicher“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1941068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AAAA → keine Verschlüsselung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141472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DDDD → Caesar 3 · ABAB = AB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65607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Porta: A = B; zweimal = Klartext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hat es erfunden?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6309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Jahr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Giovan Battista Bellaso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wiederholtes Schlüsselwort – das heutige „Vigenère-Verfahren“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Giambattista della Porta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Tafel mit Tauschalphabeten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Blaise de Vigenère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„Traicté des chiffres“ mit Autokey-Variante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 1863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300 Jahre „le chiffre indéchiffrable“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844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Name „Vigenère-Verfahren“ </a:t>
            </a:r>
            <a:r>
              <a:rPr lang="en-US" sz="2200" b="1" dirty="0">
                <a:solidFill>
                  <a:srgbClr val="1B1B1F"/>
                </a:solidFill>
              </a:rPr>
              <a:t>gilt als Fehlzuschreibung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Kasiskis Spur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1863 · Ein preußischer Offizier findet die Schwachstelle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Wenn Eve die Länge kennt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Schlüssellänge 3 → jede 3. Stelle mit </a:t>
            </a:r>
            <a:r>
              <a:rPr lang="en-US" sz="2200" b="1" dirty="0">
                <a:solidFill>
                  <a:srgbClr val="1B1B1F"/>
                </a:solidFill>
              </a:rPr>
              <a:t>demselben</a:t>
            </a:r>
            <a:r>
              <a:rPr lang="en-US" sz="2200" dirty="0">
                <a:solidFill>
                  <a:srgbClr val="1B1B1F"/>
                </a:solidFill>
              </a:rPr>
              <a:t> Schlüsselbuchstaben verschlüsselt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Teiltext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5133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</a:t>
            </a:r>
            <a:r>
              <a:rPr lang="en-US" sz="2200" baseline="-40000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VISEX</a:t>
            </a:r>
            <a:r>
              <a:rPr lang="en-US" sz="2200" dirty="0">
                <a:solidFill>
                  <a:srgbClr val="1B1B1F"/>
                </a:solidFill>
              </a:rPr>
              <a:t> · T</a:t>
            </a:r>
            <a:r>
              <a:rPr lang="en-US" sz="2200" baseline="-40000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CZWUM</a:t>
            </a:r>
            <a:r>
              <a:rPr lang="en-US" sz="2200" dirty="0">
                <a:solidFill>
                  <a:srgbClr val="1B1B1F"/>
                </a:solidFill>
              </a:rPr>
              <a:t> · T</a:t>
            </a:r>
            <a:r>
              <a:rPr lang="en-US" sz="2200" baseline="-40000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VTLKY</a:t>
            </a:r>
            <a:r>
              <a:rPr lang="en-US" sz="2200" dirty="0">
                <a:solidFill>
                  <a:srgbClr val="1B1B1F"/>
                </a:solidFill>
              </a:rPr>
              <a:t> – </a:t>
            </a:r>
            <a:r>
              <a:rPr lang="en-US" sz="2200" b="1" dirty="0">
                <a:solidFill>
                  <a:srgbClr val="1B1B1F"/>
                </a:solidFill>
              </a:rPr>
              <a:t>jeder Teiltext ist ein Caesar-Text!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sich Folgen wiederholen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332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548640"/>
                <a:gridCol w="822960"/>
                <a:gridCol w="822960"/>
                <a:gridCol w="822960"/>
                <a:gridCol w="54864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Schlüssel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5917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Gleiche Klartextfolge + </a:t>
            </a:r>
            <a:r>
              <a:rPr lang="en-US" sz="2200" b="1" dirty="0">
                <a:solidFill>
                  <a:srgbClr val="1B1B1F"/>
                </a:solidFill>
              </a:rPr>
              <a:t>gleicher Schlüsselabschnitt</a:t>
            </a:r>
            <a:r>
              <a:rPr lang="en-US" sz="2200" dirty="0">
                <a:solidFill>
                  <a:srgbClr val="1B1B1F"/>
                </a:solidFill>
              </a:rPr>
              <a:t> → gleiche Geheimtextfolge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737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Abstände </a:t>
            </a:r>
            <a:r>
              <a:rPr lang="en-US" sz="2200" b="1" dirty="0">
                <a:solidFill>
                  <a:srgbClr val="1B1B1F"/>
                </a:solidFill>
              </a:rPr>
              <a:t>60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b="1" dirty="0">
                <a:solidFill>
                  <a:srgbClr val="1B1B1F"/>
                </a:solidFill>
              </a:rPr>
              <a:t>40</a:t>
            </a:r>
            <a:r>
              <a:rPr lang="en-US" sz="2200" dirty="0">
                <a:solidFill>
                  <a:srgbClr val="1B1B1F"/>
                </a:solidFill>
              </a:rPr>
              <a:t> – beide Vielfache der Schlüssellänge </a:t>
            </a:r>
            <a:r>
              <a:rPr lang="en-US" sz="2200" b="1" dirty="0">
                <a:solidFill>
                  <a:srgbClr val="1B1B1F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Kasiski-Test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Wiederholungen</a:t>
            </a:r>
            <a:r>
              <a:rPr lang="en-US" sz="2200" dirty="0">
                <a:solidFill>
                  <a:srgbClr val="1B1B1F"/>
                </a:solidFill>
              </a:rPr>
              <a:t> aus mindestens 3 Zeichen suchen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Abstände</a:t>
            </a:r>
            <a:r>
              <a:rPr lang="en-US" sz="2200" dirty="0">
                <a:solidFill>
                  <a:srgbClr val="1B1B1F"/>
                </a:solidFill>
              </a:rPr>
              <a:t> messen (Anfang bis Anfang)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Teilertabelle</a:t>
            </a:r>
            <a:r>
              <a:rPr lang="en-US" sz="2200" dirty="0">
                <a:solidFill>
                  <a:srgbClr val="1B1B1F"/>
                </a:solidFill>
              </a:rPr>
              <a:t> für t = 2 … 20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6969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Teiler, der (fast) </a:t>
            </a:r>
            <a:r>
              <a:rPr lang="en-US" sz="2200" b="1" dirty="0">
                <a:solidFill>
                  <a:srgbClr val="1B1B1F"/>
                </a:solidFill>
              </a:rPr>
              <a:t>alle</a:t>
            </a:r>
            <a:r>
              <a:rPr lang="en-US" sz="2200" dirty="0">
                <a:solidFill>
                  <a:srgbClr val="1B1B1F"/>
                </a:solidFill>
              </a:rPr>
              <a:t> Abstände teilt → Schlüssellänge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4296"/>
          <a:ext cx="110185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Abstände 40, 65, 85, 125, 15 · 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teilbar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Zufall und Vielfache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Teilertabelle statt stur ggT aller Abstände – </a:t>
            </a:r>
            <a:r>
              <a:rPr lang="en-US" sz="2200" b="1" dirty="0">
                <a:solidFill>
                  <a:srgbClr val="1B1B1F"/>
                </a:solidFill>
              </a:rPr>
              <a:t>Ausreißer begründet streichen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1769872"/>
          </a:xfrm>
          <a:prstGeom prst="roundRect">
            <a:avLst>
              <a:gd name="adj" fmla="val 413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Abstände 42, 63, 105, 84, 50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ggT = 1 → Schlüssellänge 1?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451608"/>
          </a:xfrm>
          <a:prstGeom prst="roundRect">
            <a:avLst>
              <a:gd name="adj" fmla="val 2984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1409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50 ist ein </a:t>
            </a:r>
            <a:r>
              <a:rPr lang="en-US" sz="2200" b="1" dirty="0">
                <a:solidFill>
                  <a:srgbClr val="1B1B1F"/>
                </a:solidFill>
              </a:rPr>
              <a:t>Zufallstreffer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ggT(42, 63, 105, 84) = 21 → 3, 7 oder 21?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Teiltexte entscheiden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abgefangener Brief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25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W2·2, </a:t>
            </a:r>
            <a:r>
              <a:rPr lang="en-US" sz="2200" b="1" dirty="0">
                <a:solidFill>
                  <a:srgbClr val="1B1B1F"/>
                </a:solidFill>
              </a:rPr>
              <a:t>Aufträge 3–5</a:t>
            </a:r>
            <a:r>
              <a:rPr lang="en-US" sz="2200" dirty="0">
                <a:solidFill>
                  <a:srgbClr val="1B1B1F"/>
                </a:solidFill>
              </a:rPr>
              <a:t> · Gesucht: </a:t>
            </a:r>
            <a:r>
              <a:rPr lang="en-US" sz="2200" b="1" dirty="0">
                <a:solidFill>
                  <a:srgbClr val="1B1B1F"/>
                </a:solidFill>
              </a:rPr>
              <a:t>Schlüssellänge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b="1" dirty="0">
                <a:solidFill>
                  <a:srgbClr val="1B1B1F"/>
                </a:solidFill>
              </a:rPr>
              <a:t>Schlüsselwort</a:t>
            </a:r>
            <a:endParaRPr lang="en-US" sz="2200" dirty="0"/>
          </a:p>
        </p:txBody>
      </p:sp>
      <p:graphicFrame>
        <p:nvGraphicFramePr>
          <p:cNvPr id="7" name="Häufigkeitsdiagramm" descr=""/>
          <p:cNvGraphicFramePr/>
          <p:nvPr/>
        </p:nvGraphicFramePr>
        <p:xfrm>
          <a:off x="548640" y="2480564"/>
          <a:ext cx="110944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5346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Kontrolle an der </a:t>
            </a:r>
            <a:r>
              <a:rPr lang="en-US" sz="2200" b="1" dirty="0">
                <a:solidFill>
                  <a:srgbClr val="1B1B1F"/>
                </a:solidFill>
              </a:rPr>
              <a:t>Vigenère-Werkbank</a:t>
            </a:r>
            <a:r>
              <a:rPr lang="en-US" sz="2200" dirty="0">
                <a:solidFill>
                  <a:srgbClr val="1B1B1F"/>
                </a:solidFill>
              </a:rPr>
              <a:t> (Beamer)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Kasiski in einem Satz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2514600"/>
          </a:xfrm>
          <a:prstGeom prst="roundRect">
            <a:avLst>
              <a:gd name="adj" fmla="val 3636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Gleiche Klartextfolge + gleicher Schlüsselabschnitt → gleiche Geheimtextfolge; die </a:t>
            </a:r>
            <a:r>
              <a:rPr lang="en-US" sz="2200" b="1" dirty="0">
                <a:solidFill>
                  <a:srgbClr val="1B1B1F"/>
                </a:solidFill>
              </a:rPr>
              <a:t>Schlüssellänge teilt die Abstände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Dann: </a:t>
            </a:r>
            <a:r>
              <a:rPr lang="en-US" sz="2200" b="1" dirty="0">
                <a:solidFill>
                  <a:srgbClr val="1B1B1F"/>
                </a:solidFill>
              </a:rPr>
              <a:t>Teiltexte → Häufigkeitsanalyse → Schlüsselwort.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Friedmans Zufall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um 1920 · Zwei Buchstaben, zufällig gezogen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Koinzidenzindex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I = Σ n</a:t>
            </a:r>
            <a:r>
              <a:rPr lang="en-US" sz="2600" b="1" baseline="-40000" dirty="0">
                <a:solidFill>
                  <a:srgbClr val="1B1B1F"/>
                </a:solidFill>
              </a:rPr>
              <a:t>i</a:t>
            </a:r>
            <a:r>
              <a:rPr lang="en-US" sz="2600" b="1" dirty="0">
                <a:solidFill>
                  <a:srgbClr val="1B1B1F"/>
                </a:solidFill>
              </a:rPr>
              <a:t>(n</a:t>
            </a:r>
            <a:r>
              <a:rPr lang="en-US" sz="2600" b="1" baseline="-40000" dirty="0">
                <a:solidFill>
                  <a:srgbClr val="1B1B1F"/>
                </a:solidFill>
              </a:rPr>
              <a:t>i</a:t>
            </a:r>
            <a:r>
              <a:rPr lang="en-US" sz="2600" b="1" dirty="0">
                <a:solidFill>
                  <a:srgbClr val="1B1B1F"/>
                </a:solidFill>
              </a:rPr>
              <a:t> − 1) / (n(n − 1))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024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ANANAS (A 3, N 2, S 1): I = (6 + 2 + 0)/30 = 8/30 ≈ </a:t>
            </a:r>
            <a:r>
              <a:rPr lang="en-US" sz="2200" b="1" dirty="0">
                <a:solidFill>
                  <a:srgbClr val="1B1B1F"/>
                </a:solidFill>
              </a:rPr>
              <a:t>0,267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17064"/>
          <a:ext cx="10607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2651760"/>
                <a:gridCol w="2651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Deutsch I</a:t>
                      </a:r>
                      <a:r>
                        <a:rPr lang="en-US" sz="2000" b="1" baseline="-4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Zufall I</a:t>
                      </a:r>
                      <a:r>
                        <a:rPr lang="en-US" sz="2000" b="1" baseline="-4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Vigenère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0,076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1/26 ≈ 0,038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bleibt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sinkt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34772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Quelle der Referenzwerte: berechnet aus der Häufigkeitstabelle von Beutelspacher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Friedman-Schätzung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k ≈ (I</a:t>
            </a:r>
            <a:r>
              <a:rPr lang="en-US" sz="2600" b="1" baseline="-40000" dirty="0">
                <a:solidFill>
                  <a:srgbClr val="1B1B1F"/>
                </a:solidFill>
              </a:rPr>
              <a:t>D</a:t>
            </a:r>
            <a:r>
              <a:rPr lang="en-US" sz="2600" b="1" dirty="0">
                <a:solidFill>
                  <a:srgbClr val="1B1B1F"/>
                </a:solidFill>
              </a:rPr>
              <a:t> − I</a:t>
            </a:r>
            <a:r>
              <a:rPr lang="en-US" sz="2600" b="1" baseline="-40000" dirty="0">
                <a:solidFill>
                  <a:srgbClr val="1B1B1F"/>
                </a:solidFill>
              </a:rPr>
              <a:t>Z</a:t>
            </a:r>
            <a:r>
              <a:rPr lang="en-US" sz="2600" b="1" dirty="0">
                <a:solidFill>
                  <a:srgbClr val="1B1B1F"/>
                </a:solidFill>
              </a:rPr>
              <a:t>) · n / ((n − 1) · I − I</a:t>
            </a:r>
            <a:r>
              <a:rPr lang="en-US" sz="2600" b="1" baseline="-40000" dirty="0">
                <a:solidFill>
                  <a:srgbClr val="1B1B1F"/>
                </a:solidFill>
              </a:rPr>
              <a:t>Z</a:t>
            </a:r>
            <a:r>
              <a:rPr lang="en-US" sz="2600" b="1" dirty="0">
                <a:solidFill>
                  <a:srgbClr val="1B1B1F"/>
                </a:solidFill>
              </a:rPr>
              <a:t> · n + I</a:t>
            </a:r>
            <a:r>
              <a:rPr lang="en-US" sz="2600" b="1" baseline="-40000" dirty="0">
                <a:solidFill>
                  <a:srgbClr val="1B1B1F"/>
                </a:solidFill>
              </a:rPr>
              <a:t>D</a:t>
            </a:r>
            <a:r>
              <a:rPr lang="en-US" sz="2600" b="1" dirty="0">
                <a:solidFill>
                  <a:srgbClr val="1B1B1F"/>
                </a:solidFill>
              </a:rPr>
              <a:t>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2460"/>
          <a:ext cx="100584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1001, I = 0,0475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0,038 · 1001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 − 1) · 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· 0,0475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Nenner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47,5 − 38,038 + 0,076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38,038 : 9,538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3,99 ≈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3707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Eine </a:t>
            </a:r>
            <a:r>
              <a:rPr lang="en-US" sz="2200" b="1" dirty="0">
                <a:solidFill>
                  <a:srgbClr val="1B1B1F"/>
                </a:solidFill>
              </a:rPr>
              <a:t>Schätzung</a:t>
            </a:r>
            <a:r>
              <a:rPr lang="en-US" sz="2200" dirty="0">
                <a:solidFill>
                  <a:srgbClr val="1B1B1F"/>
                </a:solidFill>
              </a:rPr>
              <a:t> – bei kurzen Texten ungenau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Drei Wege zur Schlüssellänge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Kasiski</a:t>
            </a:r>
            <a:r>
              <a:rPr lang="en-US" sz="2200" dirty="0">
                <a:solidFill>
                  <a:srgbClr val="1B1B1F"/>
                </a:solidFill>
              </a:rPr>
              <a:t> → Teiler (exakt, braucht echte Wiederholungen)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81352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Friedman</a:t>
            </a:r>
            <a:r>
              <a:rPr lang="en-US" sz="2200" dirty="0">
                <a:solidFill>
                  <a:srgbClr val="1B1B1F"/>
                </a:solidFill>
              </a:rPr>
              <a:t> → Schätzung (Eves Brief: </a:t>
            </a:r>
            <a:r>
              <a:rPr lang="en-US" sz="2200" b="1" dirty="0">
                <a:solidFill>
                  <a:srgbClr val="1B1B1F"/>
                </a:solidFill>
              </a:rPr>
              <a:t>4,15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36824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Teiltext-Probe</a:t>
            </a:r>
            <a:r>
              <a:rPr lang="en-US" sz="2200" dirty="0">
                <a:solidFill>
                  <a:srgbClr val="1B1B1F"/>
                </a:solidFill>
              </a:rPr>
              <a:t> → Sprung beim richtigen k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42295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206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mittlerer I der Teiltexte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…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0,046 – 0,048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… 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0,042 – 0,047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0,099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(Vielfaches!)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Playfair: Paare statt Buchstaben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2478" y="1325880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776716" y="1325880"/>
            <a:ext cx="6866339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Vorbereiten:</a:t>
            </a:r>
            <a:r>
              <a:rPr lang="en-US" sz="2200" dirty="0">
                <a:solidFill>
                  <a:srgbClr val="1B1B1F"/>
                </a:solidFill>
              </a:rPr>
              <a:t> I = J, X zwischen Doppelbuchstaben im Paar, X am Ende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776716" y="2181352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Zeile</a:t>
            </a:r>
            <a:r>
              <a:rPr lang="en-US" sz="2200" dirty="0">
                <a:solidFill>
                  <a:srgbClr val="1B1B1F"/>
                </a:solidFill>
              </a:rPr>
              <a:t> → rechter Nachbar: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776716" y="2695956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r>
              <a:rPr lang="en-US" sz="2200" dirty="0">
                <a:solidFill>
                  <a:srgbClr val="1B1B1F"/>
                </a:solidFill>
              </a:rPr>
              <a:t> → darunter: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BG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776716" y="3210560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Rechteck</a:t>
            </a:r>
            <a:r>
              <a:rPr lang="en-US" sz="2200" dirty="0">
                <a:solidFill>
                  <a:srgbClr val="1B1B1F"/>
                </a:solidFill>
              </a:rPr>
              <a:t> → Ecke in der eigenen Zeile: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P4 · Playfair-Regeln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Regeln </a:t>
            </a:r>
            <a:r>
              <a:rPr lang="en-US" sz="2200" b="1" dirty="0">
                <a:solidFill>
                  <a:srgbClr val="1B1B1F"/>
                </a:solidFill>
              </a:rPr>
              <a:t>abhaken</a:t>
            </a:r>
            <a:r>
              <a:rPr lang="en-US" sz="2200" dirty="0">
                <a:solidFill>
                  <a:srgbClr val="1B1B1F"/>
                </a:solidFill>
              </a:rPr>
              <a:t>, bevor du rechnest.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273300"/>
          </a:xfrm>
          <a:prstGeom prst="roundRect">
            <a:avLst>
              <a:gd name="adj" fmla="val 321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822960" y="2626868"/>
            <a:ext cx="4815688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736596"/>
            <a:ext cx="4358488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 LL ET T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1164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Rechteck-Ecke in der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1941068"/>
            <a:ext cx="5364328" cy="2273300"/>
          </a:xfrm>
          <a:prstGeom prst="roundRect">
            <a:avLst>
              <a:gd name="adj" fmla="val 321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Geheimtext-Kasten"/>
          <p:cNvSpPr/>
          <p:nvPr/>
        </p:nvSpPr>
        <p:spPr>
          <a:xfrm>
            <a:off x="6553048" y="2626868"/>
            <a:ext cx="4815688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81648" y="2736596"/>
            <a:ext cx="4358488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 LX LE TX TX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471164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Ecke in der </a:t>
            </a:r>
            <a:r>
              <a:rPr lang="en-US" sz="2200" b="1" dirty="0">
                <a:solidFill>
                  <a:srgbClr val="1B1B1F"/>
                </a:solidFill>
              </a:rPr>
              <a:t>eigenen Zeile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 Kryptolabor: Playfair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29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1B1F"/>
                </a:solidFill>
              </a:rPr>
              <a:t>Zwei Felder antippen = ein Paar: Das Werkzeug zeigt, </a:t>
            </a:r>
            <a:r>
              <a:rPr lang="en-US" sz="1600" b="1" dirty="0">
                <a:solidFill>
                  <a:srgbClr val="1B1B1F"/>
                </a:solidFill>
              </a:rPr>
              <a:t>welche Regel</a:t>
            </a:r>
            <a:r>
              <a:rPr lang="en-US" sz="1600" dirty="0">
                <a:solidFill>
                  <a:srgbClr val="1B1B1F"/>
                </a:solidFill>
              </a:rPr>
              <a:t> gilt, und markiert die Ziel-Felder.</a:t>
            </a:r>
            <a:endParaRPr lang="en-US" sz="1600" dirty="0"/>
          </a:p>
        </p:txBody>
      </p:sp>
      <p:pic>
        <p:nvPicPr>
          <p:cNvPr id="4" name="Image 0" descr="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568" y="1747520"/>
            <a:ext cx="6766560" cy="38061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59028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4A55"/>
                </a:solidFill>
              </a:rPr>
              <a:t>Kryptolabor · Ideen von A. Bodendiek (Krypto-Werkstatt)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Fremde Chiffre: das Kreuzquadrat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O</a:t>
            </a:r>
            <a:r>
              <a:rPr lang="en-US" sz="2200" dirty="0">
                <a:solidFill>
                  <a:srgbClr val="1B1B1F"/>
                </a:solidFill>
              </a:rPr>
              <a:t> (GONDEL)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13484" y="1840484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78728" y="13258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(MURANO)</a:t>
            </a:r>
            <a:endParaRPr lang="en-US" sz="22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571" y="1840484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931156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a oben, b unten suchen · </a:t>
            </a: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c</a:t>
            </a:r>
            <a:r>
              <a:rPr lang="en-US" sz="2200" baseline="-40000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= </a:t>
            </a:r>
            <a:r>
              <a:rPr lang="en-US" sz="2200" b="1" dirty="0">
                <a:solidFill>
                  <a:srgbClr val="1B1B1F"/>
                </a:solidFill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(Zeile a, Spalte b) · </a:t>
            </a: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c</a:t>
            </a:r>
            <a:r>
              <a:rPr lang="en-US" sz="2200" baseline="-40000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= </a:t>
            </a:r>
            <a:r>
              <a:rPr lang="en-US" sz="2200" b="1" dirty="0">
                <a:solidFill>
                  <a:srgbClr val="1B1B1F"/>
                </a:solidFill>
              </a:rPr>
              <a:t>O</a:t>
            </a:r>
            <a:r>
              <a:rPr lang="en-US" sz="2200" dirty="0">
                <a:solidFill>
                  <a:srgbClr val="1B1B1F"/>
                </a:solidFill>
              </a:rPr>
              <a:t> (Zeile b, Spalte a) · FA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Bigramm-Verfahren einordnen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Substitution</a:t>
            </a:r>
            <a:r>
              <a:rPr lang="en-US" sz="2200" dirty="0">
                <a:solidFill>
                  <a:srgbClr val="1B1B1F"/>
                </a:solidFill>
              </a:rPr>
              <a:t>, monoalphabetisch </a:t>
            </a:r>
            <a:r>
              <a:rPr lang="en-US" sz="2200" b="1" dirty="0">
                <a:solidFill>
                  <a:srgbClr val="1B1B1F"/>
                </a:solidFill>
              </a:rPr>
              <a:t>auf Bigrammen</a:t>
            </a:r>
            <a:r>
              <a:rPr lang="en-US" sz="2200" dirty="0">
                <a:solidFill>
                  <a:srgbClr val="1B1B1F"/>
                </a:solidFill>
              </a:rPr>
              <a:t>: gleiches Paar → gleiches Paar.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Angriff: </a:t>
            </a:r>
            <a:r>
              <a:rPr lang="en-US" sz="2200" b="1" dirty="0">
                <a:solidFill>
                  <a:srgbClr val="1B1B1F"/>
                </a:solidFill>
              </a:rPr>
              <a:t>Bigramm-Häufigkeiten</a:t>
            </a:r>
            <a:r>
              <a:rPr lang="en-US" sz="2200" dirty="0">
                <a:solidFill>
                  <a:srgbClr val="1B1B1F"/>
                </a:solidFill>
              </a:rPr>
              <a:t> (en, er, ch, ei).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Schwache Schlüssel prüfen (Kreuzquadrat mit O = U).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Boss: Die Venezianische Depesche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424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min · 8 Aufgaben · ohne Werkzeuge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Besiegt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50 %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Artefakt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Vigenère-Tafel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📼03 · Kür K1 · Papier-Boss „Das Zwei-Quadrat“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" y="3150616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Venedig, 1605: Hält Alices neue </a:t>
            </a:r>
            <a:r>
              <a:rPr lang="en-US" sz="2200" b="1" dirty="0">
                <a:solidFill>
                  <a:srgbClr val="FBF7EE"/>
                </a:solidFill>
              </a:rPr>
              <a:t>Depeschen-Chiffre</a:t>
            </a:r>
            <a:r>
              <a:rPr lang="en-US" sz="2200" dirty="0">
                <a:solidFill>
                  <a:srgbClr val="FBF7EE"/>
                </a:solidFill>
              </a:rPr>
              <a:t>, was sie verspricht?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Renaissance">
  <a:themeElements>
    <a:clrScheme name="Kryptos Renaissance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7A2E2E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Renaissan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 chiffre indéchiffrable</dc:title>
  <dc:subject>Kryptos – Die Zeitreise der Geheimschriften</dc:subject>
  <dc:creator>Frank Juchim</dc:creator>
  <cp:lastModifiedBy>Frank Juchim</cp:lastModifiedBy>
  <cp:revision>1</cp:revision>
  <dcterms:created xsi:type="dcterms:W3CDTF">2026-10-15T16:29:16Z</dcterms:created>
  <dcterms:modified xsi:type="dcterms:W3CDTF">2026-10-15T16:29:16Z</dcterms:modified>
</cp:coreProperties>
</file>