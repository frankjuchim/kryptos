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S 1 · Skytale" id="{41a6f87c-f870-4153-83b8-114fbbda1299}">
          <p14:sldIdLst>
            <p14:sldId id="256"/>
            <p14:sldId id="257"/>
            <p14:sldId id="258"/>
            <p14:sldId id="259"/>
            <p14:sldId id="260"/>
            <p14:sldId id="261"/>
            <p14:sldId id="262"/>
            <p14:sldId id="263"/>
            <p14:sldId id="264"/>
            <p14:sldId id="265"/>
            <p14:sldId id="266"/>
            <p14:sldId id="267"/>
            <p14:sldId id="268"/>
            <p14:sldId id="269"/>
          </p14:sldIdLst>
        </p14:section>
        <p14:section name="DS 2 · Caesar" id="{3eb368f6-609a-6f06-f97a-687ab5887150}">
          <p14:sldIdLst>
            <p14:sldId id="270"/>
            <p14:sldId id="271"/>
            <p14:sldId id="272"/>
            <p14:sldId id="273"/>
            <p14:sldId id="274"/>
            <p14:sldId id="275"/>
            <p14:sldId id="276"/>
            <p14:sldId id="277"/>
            <p14:sldId id="278"/>
            <p14:sldId id="279"/>
            <p14:sldId id="280"/>
            <p14:sldId id="281"/>
            <p14:sldId id="282"/>
          </p14:sldIdLst>
        </p14:section>
        <p14:section name="DS 3 · Werkstatt" id="{21df4bf8-7a99-8e2a-b4c7-caad75be5777}">
          <p14:sldIdLst>
            <p14:sldId id="283"/>
            <p14:sldId id="284"/>
            <p14:sldId id="285"/>
            <p14:sldId id="286"/>
            <p14:sldId id="287"/>
          </p14:sldIdLst>
        </p14:section>
        <p14:section name="DS 3 · Fremde Chiffre" id="{278375d9-c21c-d6b0-9b5e-77b0ad8ccd29}">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30 s. Zeitsprung: Das Chronoskop springt auf −405. (In der Plattform läuft die Zeitsprung-Animation des Chronoskops.) Direkt weiter zum Archivfund.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8 min. Archivfund-Text vorlesen (Archivarin):
„Das Chronoskop surrt, die Zahlen auf dem Ring springen auf ‚−405‘. Im Archiv liegt ein schmaler Lederstreifen, beschrieben mit einer einzigen langen Buchstabenreihe. Daneben ein Zettel: ‚Gefunden im Gepäck eines spartanischen Boten.‘ Spartanische Feldherren sollen solche Streifen um einen Holzstab gewickelt haben – so berichtet es jedenfalls der Geschichtsschreiber Plutarch, Jahrhunderte später. Nur wer einen Stab mit demselben Umfang besaß, konnte die Botschaft lesen. Auf dem Streifen steht: DTTMI EBOEL ENFAI DLENA OUEUT FUS. Der Bote hatte einen Stab bei sich, um den genau vier Zeilen passen. Was wollte der Feldherr seiner Flotte mitteilen?“
Papierstreifen (A4 längs, 1,5 cm breit) um Stift/Rundholz wickeln lassen; Teams probieren.
Erwartung: erst Verwirrung, dann „spaltenweise in 4 Zeilen schreiben“. Erste Lösung vorstellen lassen (u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2 min. Spalte 1 von oben nach unten = D, T, T, M – die ersten vier Geheimtextbuchstaben; die übrigen Spalten füllen die Teams an der Tafel (die Folie zeigt die Lösung nicht – der Archivfund ist auch Lab-Aufgabe W0-A-01, Korrektur D15).
Lösung zum Vergleich: dieflot / telaeuf / tbeineu / mondaus → „die flotte laeuft bei neumond aus“.
Begriffe am Fund benennen: Klartext, Geheimtext (DTTMI …), Schlüssel = Umfang des Stabes = 4 Zeilen.
Historische Vorsicht: Die Skytale ist durch Plutarch (Lysander-Biografie, um 100 n. Chr.) und frühere Erwähnungen überliefert; ob sie tatsächlich der Geheimhaltung diente, ist in der Forschung umstritten – „gilt als“, „wird überliefert“.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Zusatzfolie (M10, L58): Objektbild aus dem Kryptolabor, erzeugt mit `npm run labor:bilder`. 2 min. Werkzeug „Skytale &amp; Gitter“, Reiter Skytale; Nachspielen zeigt Schreiben und Lesen Schritt für Schritt.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 3 min. Begriffe an der Tafel festhalten: Klartext → [Verfahren + Schlüssel] → Geheimtext → [Verfahren + Schlüssel] → Klartext.
Schreibweise: Klartext klein (hilfe), Geheimtext GROSS in Fünfergruppen, Leer- und Satzzeichen fallen weg, ä → ae, ö → oe, ü → ue, ß → ss.
Fachbegriffe zählen im Abitur – die Story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 2 min. Rolle der Stunde: 🛡 Kryptografie (Level 0.1). „Knacken“ ist umgangssprachlich; in Prüfungsaufgaben heißt es „ohne Kenntnis des Schlüssels entschlüsseln“.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 4 min Murmelrunde: „Ist Morsecode geheim?“ – „Ist ASCII eine Verschlüsselung?“ – „Und die Skytale?“
Erwartung: Morsecode steht im Lexikon, ASCII sogar in der Abitur-Anlage → nichts ist geheim. Bei der Skytale ist der Umfang geheim.
Leitfrage für immer: „Was ist geheim?“ – Falle P5 (Codierung mit Verschlüsselung verwechseln). Rückbezug auf K2: Dort fiel das Wort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Zusatzfolie (M10, L58): Objektbild aus dem Kryptolabor, erzeugt mit `npm run labor:bilder`. 2 min. Zusatzwerkzeug „Codes &amp; Signale“ (Morse-Trommel, Klopfcode, Freimaurer); Ton nur mit Schalter.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F7 · 2 min. Merksatz vorlesen lassen: „Bei einer Transposition bleiben die Buchstaben, was sie sind, aber nicht, wo sie sind. Bei einer Substitution werden Buchstaben ersetzt.“
Beispiele: Skytale u = 2: rom → Raster ro / mx → spaltenweise RMOX (Füllzeichen X). Caesar k = 3: rom → URP.
Kontrollfrage: Woran erkennt man eine Transposition am Geheimtext? → Es stehen genau die Buchstaben des Klartextes da (plus Füllzeichen); die Häufigkeiten bleiben gleich (P6).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 · 2 min. Zickzack 1-2-3-2-1-2-3-…; Schienen: vonmp · esrugomsat · rgkte → VONMP ESRUG OMSAT RGKTE.
Die Schienen sind verschieden lang (5 / 10 / 5) – beim Entschlüsseln erst das Muster zeichnen und Plätze je Schiene zählen (Akte W0·1, Auftrag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F8b · 2 min. Drehrichtung festlegen: **im Uhrzeigersinn**, Löcher in jeder Stellung zeilenweise (oben links → unten rechts) beschriften, Rest mit X (P4).
Stellung 1: (1,2) b, (2,1) o, (2,3) t, (4,4) e · Stellung 2: (1,3) n, (2,4) w, (3,3) a, (4,1) r · Stellung 3: (1,1) t, (3,2) e, (3,4) n, (4,3) a · Stellung 4: (1,4) m, (2,2) t, (3,1) o, (4,2) r → Raster TBNM / OTTW / OEAN / RRAE.
Eine Schablone ist nur brauchbar, wenn die vier Stellungen jedes Feld genau einmal freigeben (eA: es gibt 256 brauchbare). Danach Akte W0·1 (Aufträge 2–5, Schnelle 6–7; Schablone ausschneiden).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Zusatzfolie (M10, L58): Objektbild aus dem Kryptolabor, erzeugt mit `npm run labor:bilder`. 2 min. Werkzeug „Skytale &amp; Gitter“, Reiter Fleißner-Schablone; „Lochung ändern“ zeigt doppelt freie Felder rot.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zum Herumgehen während der Übungsphase (Akte W0·1). Eigenes Beispiel (nicht die Lab-Aufgabe W0-L1-03, Korrektur D15). Beim Gartenzaun gibt es kein Füllzeichen.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F9 · 1 min. Nächste Stunde: Funkraum! Hausaufgabe: Level 0.1 fertig, Video 📼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3 min (DS 2 nach dem Warm-up). Erwartung: „Die Buchstaben sind verschoben/ersetzt.“ Wer schon einen Verdacht hat: ausprobieren lassen (U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 2 min. Gemeinsam die ersten Buchstaben entschlüsseln: obere Zeile = Klartext, untere = Geheimtext; zum Entschlüsseln unten suchen, oben ablesen (3 nach links).
Quelle vorsichtig: Sueton überliefert die Verschiebung um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 3 min. Werkzeug „Chiffrierscheibe“ am Beamer drehen (Kryptolabor). Schalter steht auf A = 1 … Z = 26 wie in der Anlage.
Jede Aufgabe mit Buchstabenrechnung nennt die Nummerierung in einer Zeile – zuerst lesen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 1 min. „Monoalphabetisch“: e wird an jeder Stelle gleich ersetzt (das wird in Welt 1 zur Schwachstelle).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Zusatzfolie (M10, L58): Objektbild aus dem Kryptolabor, erzeugt mit `npm run labor:bilder`. 2 min. Zeigen: Innenring ziehen, Klartext außen antippen, Nachspielen in Einzelschritten. Schlüssel = was unter dem a 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 4 min. mod = Rest bei Division durch 26; kurz Division mit Rest wiederholen: 28 : 26 = 1 Rest 2 → 28 mod 26 = 2.
Warum „− 1 … + 1“? Damit kein Rest 0 entsteht –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 2 min. „0 ist kein Buchstabe. Rest 0 heißt Z.“ Die Formel mit − 1 … + 1 verhindert die 0. Das Lab erkennt diese Falle (Diagnose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 10 min. Schnelle: Auftrag 3 mit Formel und Leiste gegenprüfen. Lösungen: A1 KPLSL NPVUG PLOAU HJOUV YKLU · A2 wir brauchen mehr wasser · A3 Z-Falle bei (a), (b),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 25 min, Ablauf im Dokument KR_W0_Funkraum_Botenlauf (Rollenkarten). Szenario in der Funkraum-Regie starten, Teams zuweisen (2–3 Paare Alice/Bob, 1–2 Eve-Teams).
1 Schlüssel ziehen (2 min) · 2 Runde 1 (6 min) · 3 Abfangmeldungen laufend · 4 Runde 2 mit neuer Schlüsselkarte (6 min) · 5 Runde 3 mit Sonderkarten: Paar A verschlüsselt zweimal, Paar B nimmt heimlich den Gartenzaun mit 3 Schienen (6 min) · 6 Auswertung am Beamer (5 min).
Papier-Alternative: Boten tragen Zettel, Eve-Team sitzt am „Stadttor“ und darf jeden Zettel 30 s abschreiben.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F18 · 4 min. Beispiel = Akte W0·2, Auftrag 4 (LXGTM MTZMA XNMX). Erwartung: „Sie hat alle Verschiebungen ausprobiert.“ Oft reichen die ersten 5 Buchstaben, um eine Zeile zu verwerfen.
Wie lange brauchte das Eve-Team im Botenlauf? (1–3 min je Nachricht)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F19 · 2 min. Falle P7: 25 oder 26? Beides nennen: 26 im Schlüsselraum, 25 sinnvoll.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F20 · 3 min. Frage: „Hat Eve das Verfahren gekannt?“ – Ja. Trotzdem müsste ein gutes Verfahren sicher sein. Caesar besteht den Test nicht: Bei bekanntem Verfahren bleiben 25 Schlüssel.
Botenlauf Runde 3, Paar B (Gartenzaun als „geheimes Verfahren“): Eve merkte an den Häufigkeiten, dass nur umgestellt wurde – Geheimhaltung des Verfahrens verzögert nur. Verfahren sprechen sich herum (Boten werden gefangen, Geräte erbeutet).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F21 · 2 min. Botenlauf Runde 3, Paar A: genauso schnell geknackt. Hausaufgabe: Akte W0·2 Aufträge 4–7 + Abi-Check, Level 0.2 (01–05), Video 📼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F22 · 30 s (DS 3 nach dem Warm-up). Auftakt: Jede Botschaft musste ein Schreiber von Hand verschieben – wir bauen ihm eine Maschine, erst als Struktogramm (wie im Abitur), dann in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F23 · 3 min. Falle P1 ankündigen: Auf Papier und in der Anlage A = 1 … Z = 26, im Programm A = 0 … Z = 25 (weil (int) 'A' = 65). Kleinbuchstaben liegen 32 höher (a = 97).
Mit A = 0 ist die Formel einfach: neu = (wert + k) mod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F24 · 6 min. Nur die Zeichenketten-Operationen der EH-Anlage: Länge, Zeichen an Position i (ab 0), Teilzeichenkette, Verbinden, Vergleiche, ASCII-Wert ↔ Zeichen. „Zeichen an Position ersetzen“ ist seit der EH-Fassung 2025 entfallen.
Trace gemeinsam: verschluesseln("hof", 4): i = 0: h → 7 → 11 → L; i = 1: o → 14 → 18 → LS; i = 2: f → 5 → 9 → LSJ. Rückgabe LSJ.
Tracetabelle: nur Variablen (i, z, wert, geheimtext), keine Bedingungsspalte.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F25 · 2 min. Danach Online-IDE (20 min): Gerüst KR_W0_CaesarWerkstatt_Geruest.txt importieren, Stufe Basis (+ Erweiterung, wer schneller ist). Test entschluesseln("ABC", 3) = "xyz" prüft genau diese Falle.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Zusatzfolie zur Implementierungsphase (Akte W0·3, Aufträge 5–7). Online-IDE: online-ide.de, println ohne System.out. Erlaubt nur length, charAt, substring, +, equals, contains, compareTo, (int) c, (char) n. Die IDE bringt keine Lab-Punkte; grüne Tests sind die Rückmeldung.
Experte: Test experte_rateSchluessel_grenze – „Hannibal ante portas“ enthält 4 × a, nur 1 × e: Grenze der Häufigkeitsanalyse bei kurzen Texten (P6, Brücke zu Welt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F26 ·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F27 · 4 min. Polybios (um 200–120 v. Chr.) beschreibt in seinen „Historien“ ein Fackel-Signalverfahren, aus dem das Quadrat abgeleitet wird. Atbash stammt aus der hebräischen Tradition (gängige Deutung einer Stelle im Buch Jeremia).
Beispiele: rom → 42 34 32; caesar → XZVHZI. Ohne Schlüsselwort ist das Polybios-Quadrat nur eine Codierung; mit Schlüsselwort (z. B. ATHEN) eine Verschlüsselung.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F28 · 2 min. Werkzeugkarte WK2 austeilen. Danach Akte W0·4 (Fackelchiffre). Schritt 5 mit dem Beurteilungsraster: Schlüsselraum/Brute Force, Häufigkeitsanalyse, schwache Schlüssel, Mehrfachanwendung, Known-Plaintext, Kerckhoffs – dann ein Urteil (P10).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F29 · 18 min. Besprechung Schritt 4/5 im Plenum: Gesamtverfahren monoalphabetische Substitution; Atbash bringt nach Kerckhoffs nichts (nur ein umsortiertes Quadrat, P8); q und r landen nach Atbash auf j/i – wegen I = J im selben Feld 31 → Entschlüsselung nicht eindeutig (quelle/ruelle, P4). Urteil: unsicher (Häufigkeitsanalyse).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F30 · 2 min. Rückblick Antike. Ausblick Bagdad: „Caesar fiel durch Ausprobieren. Was, wenn es 400 Quadrillionen Schlüssel gibt?“ (26! ≈ 4 · 10^26).
Boss „Der Bote des Feldherrn“ ist jetzt frei (ab 60 % der Level-Punkte, 25 min, auch zu Hause) – Artefakt Skytale. Hausaufgabe: Online-IDE Erweiterung (Experte freiwillig/eA), Boss W0, Papier-Boss „Das Mosaik von Pompeji“ als Übung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0_a07de9411b5fd15d.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0_a07de9411b5fd15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0_a07de9411b5fd15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f457211a26c8047d.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0_a07de9411b5fd15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E8957B"/>
                </a:solidFill>
                <a:latin typeface="Consolas" pitchFamily="34" charset="0"/>
                <a:ea typeface="Consolas" pitchFamily="34" charset="-122"/>
                <a:cs typeface="Consolas" pitchFamily="34" charset="-120"/>
              </a:rPr>
              <a:t>−405 · SPARTA – −52 · ROM</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Die Antike</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Welt 0 · Transposition und Substitution</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Die Botschaft am Stab</a:t>
            </a:r>
            <a:endParaRPr lang="en-US" sz="3000" dirty="0"/>
          </a:p>
        </p:txBody>
      </p:sp>
      <p:sp>
        <p:nvSpPr>
          <p:cNvPr id="3" name="Dokument"/>
          <p:cNvSpPr/>
          <p:nvPr/>
        </p:nvSpPr>
        <p:spPr>
          <a:xfrm rot="-72000">
            <a:off x="1554480" y="1417320"/>
            <a:ext cx="9052560" cy="1965960"/>
          </a:xfrm>
          <a:prstGeom prst="rect">
            <a:avLst/>
          </a:prstGeom>
          <a:solidFill>
            <a:srgbClr val="FBF7EE"/>
          </a:solidFill>
          <a:ln w="19050">
            <a:solidFill>
              <a:srgbClr val="B07D2B"/>
            </a:solidFill>
            <a:prstDash val="solid"/>
          </a:ln>
          <a:effectLst>
            <a:outerShdw sx="100000" sy="100000" kx="0" ky="0" algn="bl" rotWithShape="0" blurRad="152400" dist="76200" dir="5400000">
              <a:srgbClr val="000000">
                <a:alpha val="45000"/>
              </a:srgbClr>
            </a:outerShdw>
          </a:effectLst>
        </p:spPr>
      </p:sp>
      <p:sp>
        <p:nvSpPr>
          <p:cNvPr id="4" name="Text 2"/>
          <p:cNvSpPr txBox="1"/>
          <p:nvPr/>
        </p:nvSpPr>
        <p:spPr>
          <a:xfrm rot="-72000">
            <a:off x="1874520" y="1581912"/>
            <a:ext cx="8412480" cy="320040"/>
          </a:xfrm>
          <a:prstGeom prst="rect">
            <a:avLst/>
          </a:prstGeom>
          <a:noFill/>
          <a:ln/>
        </p:spPr>
        <p:txBody>
          <a:bodyPr wrap="square" lIns="0" tIns="0" rIns="0" bIns="0" rtlCol="0" anchor="ctr"/>
          <a:lstStyle/>
          <a:p>
            <a:pPr indent="0" marL="0">
              <a:buNone/>
            </a:pPr>
            <a:r>
              <a:rPr lang="en-US" sz="1300" b="1" spc="200" kern="0" dirty="0">
                <a:solidFill>
                  <a:srgbClr val="B5523B"/>
                </a:solidFill>
              </a:rPr>
              <a:t>LEDERSTREIFEN · GEFUNDEN IM GEPÄCK EINES SPARTANISCHEN BOTEN</a:t>
            </a:r>
            <a:endParaRPr lang="en-US" sz="1300" dirty="0"/>
          </a:p>
        </p:txBody>
      </p:sp>
      <p:sp>
        <p:nvSpPr>
          <p:cNvPr id="5" name="Text 3"/>
          <p:cNvSpPr txBox="1"/>
          <p:nvPr/>
        </p:nvSpPr>
        <p:spPr>
          <a:xfrm rot="-72000">
            <a:off x="1874520" y="1965960"/>
            <a:ext cx="8412480" cy="1234440"/>
          </a:xfrm>
          <a:prstGeom prst="rect">
            <a:avLst/>
          </a:prstGeom>
          <a:noFill/>
          <a:ln/>
        </p:spPr>
        <p:txBody>
          <a:bodyPr wrap="square" lIns="0" tIns="0" rIns="0" bIns="0" rtlCol="0" anchor="t"/>
          <a:lstStyle/>
          <a:p>
            <a:pPr indent="0" marL="0">
              <a:lnSpc>
                <a:spcPct val="110000"/>
              </a:lnSpc>
              <a:buNone/>
            </a:pPr>
            <a:r>
              <a:rPr lang="en-US" sz="3000" b="1" spc="300" kern="0" dirty="0">
                <a:solidFill>
                  <a:srgbClr val="1B1B1F"/>
                </a:solidFill>
                <a:latin typeface="Consolas" pitchFamily="34" charset="0"/>
                <a:ea typeface="Consolas" pitchFamily="34" charset="-122"/>
                <a:cs typeface="Consolas" pitchFamily="34" charset="-120"/>
              </a:rPr>
              <a:t>DTTMI EBOEL ENFAI DLENA OUEUT</a:t>
            </a:r>
            <a:endParaRPr lang="en-US" sz="3000" dirty="0"/>
          </a:p>
          <a:p>
            <a:pPr indent="0" marL="0">
              <a:lnSpc>
                <a:spcPct val="110000"/>
              </a:lnSpc>
              <a:buNone/>
            </a:pPr>
            <a:r>
              <a:rPr lang="en-US" sz="3000" b="1" spc="300" kern="0" dirty="0">
                <a:solidFill>
                  <a:srgbClr val="1B1B1F"/>
                </a:solidFill>
                <a:latin typeface="Consolas" pitchFamily="34" charset="0"/>
                <a:ea typeface="Consolas" pitchFamily="34" charset="-122"/>
                <a:cs typeface="Consolas" pitchFamily="34" charset="-120"/>
              </a:rPr>
              <a:t>FUS</a:t>
            </a:r>
            <a:endParaRPr lang="en-US" sz="3000" dirty="0"/>
          </a:p>
        </p:txBody>
      </p:sp>
      <p:sp>
        <p:nvSpPr>
          <p:cNvPr id="6" name="Text 4"/>
          <p:cNvSpPr txBox="1"/>
          <p:nvPr/>
        </p:nvSpPr>
        <p:spPr>
          <a:xfrm>
            <a:off x="731520" y="3794760"/>
            <a:ext cx="10728655" cy="386588"/>
          </a:xfrm>
          <a:prstGeom prst="rect">
            <a:avLst/>
          </a:prstGeom>
          <a:noFill/>
          <a:ln/>
        </p:spPr>
        <p:txBody>
          <a:bodyPr wrap="square" lIns="0" tIns="0" rIns="0" bIns="0" rtlCol="0" anchor="t"/>
          <a:lstStyle/>
          <a:p>
            <a:pPr algn="l" indent="0" marL="0">
              <a:buNone/>
            </a:pPr>
            <a:r>
              <a:rPr lang="en-US" sz="2200" dirty="0">
                <a:solidFill>
                  <a:srgbClr val="FBF7EE"/>
                </a:solidFill>
              </a:rPr>
              <a:t>Der Stab des Boten: genau </a:t>
            </a:r>
            <a:r>
              <a:rPr lang="en-US" sz="2200" b="1" dirty="0">
                <a:solidFill>
                  <a:srgbClr val="FBF7EE"/>
                </a:solidFill>
              </a:rPr>
              <a:t>4 Zeilen</a:t>
            </a:r>
            <a:r>
              <a:rPr lang="en-US" sz="2200" dirty="0">
                <a:solidFill>
                  <a:srgbClr val="FBF7EE"/>
                </a:solidFill>
              </a:rPr>
              <a:t>.</a:t>
            </a:r>
            <a:endParaRPr lang="en-US" sz="2200" dirty="0"/>
          </a:p>
        </p:txBody>
      </p:sp>
      <p:sp>
        <p:nvSpPr>
          <p:cNvPr id="7" name="Text 5"/>
          <p:cNvSpPr txBox="1"/>
          <p:nvPr/>
        </p:nvSpPr>
        <p:spPr>
          <a:xfrm>
            <a:off x="731520" y="4309364"/>
            <a:ext cx="10728655" cy="386588"/>
          </a:xfrm>
          <a:prstGeom prst="rect">
            <a:avLst/>
          </a:prstGeom>
          <a:noFill/>
          <a:ln/>
        </p:spPr>
        <p:txBody>
          <a:bodyPr wrap="square" lIns="0" tIns="0" rIns="0" bIns="0" rtlCol="0" anchor="t"/>
          <a:lstStyle/>
          <a:p>
            <a:pPr algn="l" indent="0" marL="0">
              <a:buNone/>
            </a:pPr>
            <a:r>
              <a:rPr lang="en-US" sz="2200" i="1" dirty="0">
                <a:solidFill>
                  <a:srgbClr val="FBF7EE"/>
                </a:solidFill>
              </a:rPr>
              <a:t>Was soll die Flotte tun?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Weg: 4 Zeilen, 7 Spalten</a:t>
            </a:r>
            <a:endParaRPr lang="en-US" sz="3000" dirty="0"/>
          </a:p>
        </p:txBody>
      </p:sp>
      <p:sp>
        <p:nvSpPr>
          <p:cNvPr id="3" name="Text 1"/>
          <p:cNvSpPr txBox="1"/>
          <p:nvPr/>
        </p:nvSpPr>
        <p:spPr>
          <a:xfrm>
            <a:off x="548640" y="1325880"/>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28 Zeichen : 4 Zeilen = 7 Spalten. Geheimtext </a:t>
            </a:r>
            <a:r>
              <a:rPr lang="en-US" sz="2200" b="1" dirty="0">
                <a:solidFill>
                  <a:srgbClr val="1B1B1F"/>
                </a:solidFill>
              </a:rPr>
              <a:t>spaltenweise</a:t>
            </a:r>
            <a:r>
              <a:rPr lang="en-US" sz="2200" dirty="0">
                <a:solidFill>
                  <a:srgbClr val="1B1B1F"/>
                </a:solidFill>
              </a:rPr>
              <a:t> eintragen, </a:t>
            </a:r>
            <a:r>
              <a:rPr lang="en-US" sz="2200" b="1" dirty="0">
                <a:solidFill>
                  <a:srgbClr val="1B1B1F"/>
                </a:solidFill>
              </a:rPr>
              <a:t>zeilenweise</a:t>
            </a:r>
            <a:r>
              <a:rPr lang="en-US" sz="2200" dirty="0">
                <a:solidFill>
                  <a:srgbClr val="1B1B1F"/>
                </a:solidFill>
              </a:rPr>
              <a:t> lesen:</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81352"/>
          <a:ext cx="8686800" cy="914400"/>
        </p:xfrm>
        <a:graphic>
          <a:graphicData uri="http://schemas.openxmlformats.org/drawingml/2006/table">
            <a:tbl>
              <a:tblPr/>
              <a:tblGrid>
                <a:gridCol w="1645920"/>
                <a:gridCol w="1005840"/>
                <a:gridCol w="1005840"/>
                <a:gridCol w="1005840"/>
                <a:gridCol w="1005840"/>
                <a:gridCol w="1005840"/>
                <a:gridCol w="1005840"/>
                <a:gridCol w="100584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1</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2</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3</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4</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5</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6</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Sp. 7</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Zeile 1</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dirty="0">
                          <a:solidFill>
                            <a:srgbClr val="1B1B1F"/>
                          </a:solidFill>
                          <a:latin typeface="Consolas" pitchFamily="34" charset="0"/>
                          <a:ea typeface="Consolas" pitchFamily="34" charset="-122"/>
                          <a:cs typeface="Consolas" pitchFamily="34" charset="-120"/>
                        </a:rPr>
                        <a:t>d</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Zeile 2</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dirty="0">
                          <a:solidFill>
                            <a:srgbClr val="1B1B1F"/>
                          </a:solidFill>
                          <a:latin typeface="Consolas" pitchFamily="34" charset="0"/>
                          <a:ea typeface="Consolas" pitchFamily="34" charset="-122"/>
                          <a:cs typeface="Consolas" pitchFamily="34" charset="-120"/>
                        </a:rPr>
                        <a:t>t</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Zeile 3</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dirty="0">
                          <a:solidFill>
                            <a:srgbClr val="1B1B1F"/>
                          </a:solidFill>
                          <a:latin typeface="Consolas" pitchFamily="34" charset="0"/>
                          <a:ea typeface="Consolas" pitchFamily="34" charset="-122"/>
                          <a:cs typeface="Consolas" pitchFamily="34" charset="-120"/>
                        </a:rPr>
                        <a:t>t</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400" b="1" dirty="0">
                          <a:solidFill>
                            <a:srgbClr val="1B1B1F"/>
                          </a:solidFill>
                          <a:latin typeface="Consolas" pitchFamily="34" charset="0"/>
                          <a:ea typeface="Consolas" pitchFamily="34" charset="-122"/>
                          <a:cs typeface="Consolas" pitchFamily="34" charset="-120"/>
                        </a:rPr>
                        <a:t>Zeile 4</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400" dirty="0">
                          <a:solidFill>
                            <a:srgbClr val="1B1B1F"/>
                          </a:solidFill>
                          <a:latin typeface="Consolas" pitchFamily="34" charset="0"/>
                          <a:ea typeface="Consolas" pitchFamily="34" charset="-122"/>
                          <a:cs typeface="Consolas" pitchFamily="34" charset="-120"/>
                        </a:rPr>
                        <a:t>m</a:t>
                      </a:r>
                      <a:endParaRPr lang="en-US" sz="2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625848"/>
            <a:ext cx="11094415" cy="386588"/>
          </a:xfrm>
          <a:prstGeom prst="rect">
            <a:avLst/>
          </a:prstGeom>
          <a:noFill/>
          <a:ln/>
        </p:spPr>
        <p:txBody>
          <a:bodyPr wrap="square" lIns="0" tIns="0" rIns="0" bIns="0" rtlCol="0" anchor="t"/>
          <a:lstStyle/>
          <a:p>
            <a:pPr algn="ctr" indent="0" marL="0">
              <a:buNone/>
            </a:pPr>
            <a:r>
              <a:rPr lang="en-US" sz="2200" dirty="0">
                <a:solidFill>
                  <a:srgbClr val="1B1B1F"/>
                </a:solidFill>
              </a:rPr>
              <a:t>Klartext: Zeile für Zeile lesen – </a:t>
            </a:r>
            <a:r>
              <a:rPr lang="en-US" sz="2200" b="1" dirty="0">
                <a:solidFill>
                  <a:srgbClr val="B5523B"/>
                </a:solidFill>
              </a:rPr>
              <a:t>gemeinsam an der Tafel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Im Kryptolabor: der Stab</a:t>
            </a:r>
            <a:endParaRPr lang="en-US" sz="3000" dirty="0"/>
          </a:p>
        </p:txBody>
      </p:sp>
      <p:sp>
        <p:nvSpPr>
          <p:cNvPr id="3" name="Text 1"/>
          <p:cNvSpPr txBox="1"/>
          <p:nvPr/>
        </p:nvSpPr>
        <p:spPr>
          <a:xfrm>
            <a:off x="548640" y="1325880"/>
            <a:ext cx="11094415" cy="355600"/>
          </a:xfrm>
          <a:prstGeom prst="rect">
            <a:avLst/>
          </a:prstGeom>
          <a:noFill/>
          <a:ln/>
        </p:spPr>
        <p:txBody>
          <a:bodyPr wrap="square" lIns="0" tIns="0" rIns="0" bIns="0" rtlCol="0" anchor="t"/>
          <a:lstStyle/>
          <a:p>
            <a:pPr algn="l" indent="0" marL="0">
              <a:buNone/>
            </a:pPr>
            <a:r>
              <a:rPr lang="en-US" sz="2000" dirty="0">
                <a:solidFill>
                  <a:srgbClr val="1B1B1F"/>
                </a:solidFill>
              </a:rPr>
              <a:t>Stab wählen, Buchstaben stempeln, Band abwickeln: Der </a:t>
            </a:r>
            <a:r>
              <a:rPr lang="en-US" sz="2000" b="1" dirty="0">
                <a:solidFill>
                  <a:srgbClr val="1B1B1F"/>
                </a:solidFill>
              </a:rPr>
              <a:t>Umfang u</a:t>
            </a:r>
            <a:r>
              <a:rPr lang="en-US" sz="2000" dirty="0">
                <a:solidFill>
                  <a:srgbClr val="1B1B1F"/>
                </a:solidFill>
              </a:rPr>
              <a:t> ist der Schlüssel.</a:t>
            </a:r>
            <a:endParaRPr lang="en-US" sz="2000" dirty="0"/>
          </a:p>
        </p:txBody>
      </p:sp>
      <p:pic>
        <p:nvPicPr>
          <p:cNvPr id="4" name="Image 0" descr="bild">    </p:cNvPr>
          <p:cNvPicPr>
            <a:picLocks noChangeAspect="1"/>
          </p:cNvPicPr>
          <p:nvPr/>
        </p:nvPicPr>
        <p:blipFill>
          <a:blip r:embed="rId1"/>
          <a:stretch>
            <a:fillRect/>
          </a:stretch>
        </p:blipFill>
        <p:spPr>
          <a:xfrm>
            <a:off x="2712568" y="1809496"/>
            <a:ext cx="6766560" cy="3806190"/>
          </a:xfrm>
          <a:prstGeom prst="rect">
            <a:avLst/>
          </a:prstGeom>
        </p:spPr>
      </p:pic>
      <p:sp>
        <p:nvSpPr>
          <p:cNvPr id="5" name="Text 2"/>
          <p:cNvSpPr txBox="1"/>
          <p:nvPr/>
        </p:nvSpPr>
        <p:spPr>
          <a:xfrm>
            <a:off x="548640" y="5652262"/>
            <a:ext cx="11094415" cy="274320"/>
          </a:xfrm>
          <a:prstGeom prst="rect">
            <a:avLst/>
          </a:prstGeom>
          <a:noFill/>
          <a:ln/>
        </p:spPr>
        <p:txBody>
          <a:bodyPr wrap="square" lIns="0" tIns="0" rIns="0" bIns="0" rtlCol="0" anchor="ctr"/>
          <a:lstStyle/>
          <a:p>
            <a:pPr algn="ctr" indent="0" marL="0">
              <a:buNone/>
            </a:pPr>
            <a:r>
              <a:rPr lang="en-US" sz="1200" i="1" dirty="0">
                <a:solidFill>
                  <a:srgbClr val="4A4A55"/>
                </a:solidFill>
              </a:rPr>
              <a:t>Kryptolabor · Ideen von A. Bodendiek (Krypto-Werkstatt)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Sprache der Kryptologie</a:t>
            </a:r>
            <a:endParaRPr lang="en-US" sz="3000" dirty="0"/>
          </a:p>
        </p:txBody>
      </p:sp>
      <p:pic>
        <p:nvPicPr>
          <p:cNvPr id="3" name="Image 0" descr="schaubild">    </p:cNvPr>
          <p:cNvPicPr>
            <a:picLocks noChangeAspect="1"/>
          </p:cNvPicPr>
          <p:nvPr/>
        </p:nvPicPr>
        <p:blipFill>
          <a:blip r:embed="rId1"/>
          <a:stretch>
            <a:fillRect/>
          </a:stretch>
        </p:blipFill>
        <p:spPr>
          <a:xfrm>
            <a:off x="2346808" y="1325880"/>
            <a:ext cx="7498080" cy="4212737"/>
          </a:xfrm>
          <a:prstGeom prst="rect">
            <a:avLst/>
          </a:prstGeom>
        </p:spPr>
      </p:pic>
      <p:sp>
        <p:nvSpPr>
          <p:cNvPr id="4" name="Text 1"/>
          <p:cNvSpPr txBox="1"/>
          <p:nvPr/>
        </p:nvSpPr>
        <p:spPr>
          <a:xfrm>
            <a:off x="548640" y="5666633"/>
            <a:ext cx="11094415" cy="355600"/>
          </a:xfrm>
          <a:prstGeom prst="rect">
            <a:avLst/>
          </a:prstGeom>
          <a:noFill/>
          <a:ln/>
        </p:spPr>
        <p:txBody>
          <a:bodyPr wrap="square" lIns="0" tIns="0" rIns="0" bIns="0" rtlCol="0" anchor="t"/>
          <a:lstStyle/>
          <a:p>
            <a:pPr algn="ctr" indent="0" marL="0">
              <a:buNone/>
            </a:pPr>
            <a:r>
              <a:rPr lang="en-US" sz="2000" dirty="0">
                <a:solidFill>
                  <a:srgbClr val="1B1B1F"/>
                </a:solidFill>
              </a:rPr>
              <a:t>verschlüsseln / entschlüsseln (älter: </a:t>
            </a:r>
            <a:r>
              <a:rPr lang="en-US" sz="2000" i="1" dirty="0">
                <a:solidFill>
                  <a:srgbClr val="1B1B1F"/>
                </a:solidFill>
              </a:rPr>
              <a:t>chiffrieren / dechiffrieren</a:t>
            </a:r>
            <a:r>
              <a:rPr lang="en-US" sz="2000" dirty="0">
                <a:solidFill>
                  <a:srgbClr val="1B1B1F"/>
                </a:solidFill>
              </a:rPr>
              <a: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Kryptologie = Kryptografie + Kryptoanalyse</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 Kryptografie</a:t>
            </a:r>
            <a:endParaRPr lang="en-US" sz="2400" dirty="0"/>
          </a:p>
        </p:txBody>
      </p:sp>
      <p:sp>
        <p:nvSpPr>
          <p:cNvPr id="4" name="Text 2"/>
          <p:cNvSpPr txBox="1"/>
          <p:nvPr/>
        </p:nvSpPr>
        <p:spPr>
          <a:xfrm>
            <a:off x="548640" y="1871472"/>
            <a:ext cx="5364328" cy="727456"/>
          </a:xfrm>
          <a:prstGeom prst="rect">
            <a:avLst/>
          </a:prstGeom>
          <a:noFill/>
          <a:ln/>
        </p:spPr>
        <p:txBody>
          <a:bodyPr wrap="square" lIns="0" tIns="0" rIns="0" bIns="0" rtlCol="0" anchor="t"/>
          <a:lstStyle/>
          <a:p>
            <a:pPr algn="l" indent="0" marL="0">
              <a:buNone/>
            </a:pPr>
            <a:r>
              <a:rPr lang="en-US" sz="2200" b="1" dirty="0">
                <a:solidFill>
                  <a:srgbClr val="1B1B1F"/>
                </a:solidFill>
              </a:rPr>
              <a:t>Entwurf und Anwendung</a:t>
            </a:r>
            <a:r>
              <a:rPr lang="en-US" sz="2200" dirty="0">
                <a:solidFill>
                  <a:srgbClr val="1B1B1F"/>
                </a:solidFill>
              </a:rPr>
              <a:t> von Verfahren – Alice und Bob.</a:t>
            </a:r>
            <a:endParaRPr lang="en-US" sz="2200" dirty="0"/>
          </a:p>
        </p:txBody>
      </p:sp>
      <p:sp>
        <p:nvSpPr>
          <p:cNvPr id="5" name="Geheimtext-Kasten"/>
          <p:cNvSpPr/>
          <p:nvPr/>
        </p:nvSpPr>
        <p:spPr>
          <a:xfrm>
            <a:off x="548640" y="2726944"/>
            <a:ext cx="5364328" cy="898398"/>
          </a:xfrm>
          <a:prstGeom prst="rect">
            <a:avLst/>
          </a:prstGeom>
          <a:solidFill>
            <a:srgbClr val="F2EADB"/>
          </a:solidFill>
          <a:ln w="9525">
            <a:solidFill>
              <a:srgbClr val="D8CDB8"/>
            </a:solidFill>
            <a:prstDash val="solid"/>
          </a:ln>
        </p:spPr>
      </p:sp>
      <p:sp>
        <p:nvSpPr>
          <p:cNvPr id="6" name="Text 4"/>
          <p:cNvSpPr txBox="1"/>
          <p:nvPr/>
        </p:nvSpPr>
        <p:spPr>
          <a:xfrm>
            <a:off x="777240" y="2800096"/>
            <a:ext cx="4907128" cy="256032"/>
          </a:xfrm>
          <a:prstGeom prst="rect">
            <a:avLst/>
          </a:prstGeom>
          <a:noFill/>
          <a:ln/>
        </p:spPr>
        <p:txBody>
          <a:bodyPr wrap="square" lIns="0" tIns="0" rIns="0" bIns="0" rtlCol="0" anchor="ctr"/>
          <a:lstStyle/>
          <a:p>
            <a:pPr indent="0" marL="0">
              <a:buNone/>
            </a:pPr>
            <a:r>
              <a:rPr lang="en-US" sz="1200" b="1" spc="100" kern="0" dirty="0">
                <a:solidFill>
                  <a:srgbClr val="4A4A55"/>
                </a:solidFill>
              </a:rPr>
              <a:t>SKYTALE, u = 4</a:t>
            </a:r>
            <a:endParaRPr lang="en-US" sz="1200" dirty="0"/>
          </a:p>
        </p:txBody>
      </p:sp>
      <p:sp>
        <p:nvSpPr>
          <p:cNvPr id="7" name="Text 5"/>
          <p:cNvSpPr txBox="1"/>
          <p:nvPr/>
        </p:nvSpPr>
        <p:spPr>
          <a:xfrm>
            <a:off x="777240" y="3129280"/>
            <a:ext cx="490712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die flotte … → DTTMI EBOEL …</a:t>
            </a:r>
            <a:endParaRPr lang="en-US" sz="1800" dirty="0"/>
          </a:p>
        </p:txBody>
      </p:sp>
      <p:sp>
        <p:nvSpPr>
          <p:cNvPr id="8" name="Text 6"/>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 Kryptoanalyse</a:t>
            </a:r>
            <a:endParaRPr lang="en-US" sz="2400" dirty="0"/>
          </a:p>
        </p:txBody>
      </p:sp>
      <p:sp>
        <p:nvSpPr>
          <p:cNvPr id="9" name="Text 7"/>
          <p:cNvSpPr txBox="1"/>
          <p:nvPr/>
        </p:nvSpPr>
        <p:spPr>
          <a:xfrm>
            <a:off x="6278728" y="1871472"/>
            <a:ext cx="5364328" cy="727456"/>
          </a:xfrm>
          <a:prstGeom prst="rect">
            <a:avLst/>
          </a:prstGeom>
          <a:noFill/>
          <a:ln/>
        </p:spPr>
        <p:txBody>
          <a:bodyPr wrap="square" lIns="0" tIns="0" rIns="0" bIns="0" rtlCol="0" anchor="t"/>
          <a:lstStyle/>
          <a:p>
            <a:pPr algn="l" indent="0" marL="0">
              <a:buNone/>
            </a:pPr>
            <a:r>
              <a:rPr lang="en-US" sz="2200" b="1" dirty="0">
                <a:solidFill>
                  <a:srgbClr val="1B1B1F"/>
                </a:solidFill>
              </a:rPr>
              <a:t>Brechen ohne Kenntnis des Schlüssels</a:t>
            </a:r>
            <a:r>
              <a:rPr lang="en-US" sz="2200" dirty="0">
                <a:solidFill>
                  <a:srgbClr val="1B1B1F"/>
                </a:solidFill>
              </a:rPr>
              <a:t> („knacken“) – Eve.</a:t>
            </a:r>
            <a:endParaRPr lang="en-US" sz="2200" dirty="0"/>
          </a:p>
        </p:txBody>
      </p:sp>
      <p:sp>
        <p:nvSpPr>
          <p:cNvPr id="10" name="Geheimtext-Kasten"/>
          <p:cNvSpPr/>
          <p:nvPr/>
        </p:nvSpPr>
        <p:spPr>
          <a:xfrm>
            <a:off x="6278728" y="2726944"/>
            <a:ext cx="5364328" cy="898398"/>
          </a:xfrm>
          <a:prstGeom prst="rect">
            <a:avLst/>
          </a:prstGeom>
          <a:solidFill>
            <a:srgbClr val="F2EADB"/>
          </a:solidFill>
          <a:ln w="9525">
            <a:solidFill>
              <a:srgbClr val="D8CDB8"/>
            </a:solidFill>
            <a:prstDash val="solid"/>
          </a:ln>
        </p:spPr>
      </p:sp>
      <p:sp>
        <p:nvSpPr>
          <p:cNvPr id="11" name="Text 9"/>
          <p:cNvSpPr txBox="1"/>
          <p:nvPr/>
        </p:nvSpPr>
        <p:spPr>
          <a:xfrm>
            <a:off x="6507328" y="2800096"/>
            <a:ext cx="4907128" cy="256032"/>
          </a:xfrm>
          <a:prstGeom prst="rect">
            <a:avLst/>
          </a:prstGeom>
          <a:noFill/>
          <a:ln/>
        </p:spPr>
        <p:txBody>
          <a:bodyPr wrap="square" lIns="0" tIns="0" rIns="0" bIns="0" rtlCol="0" anchor="ctr"/>
          <a:lstStyle/>
          <a:p>
            <a:pPr indent="0" marL="0">
              <a:buNone/>
            </a:pPr>
            <a:r>
              <a:rPr lang="en-US" sz="1200" b="1" spc="100" kern="0" dirty="0">
                <a:solidFill>
                  <a:srgbClr val="4A4A55"/>
                </a:solidFill>
              </a:rPr>
              <a:t>UMFANG UNBEKANNT</a:t>
            </a:r>
            <a:endParaRPr lang="en-US" sz="1200" dirty="0"/>
          </a:p>
        </p:txBody>
      </p:sp>
      <p:sp>
        <p:nvSpPr>
          <p:cNvPr id="12" name="Text 10"/>
          <p:cNvSpPr txBox="1"/>
          <p:nvPr/>
        </p:nvSpPr>
        <p:spPr>
          <a:xfrm>
            <a:off x="6507328" y="3129280"/>
            <a:ext cx="490712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DTTMI EBOEL … → ?</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Codierung ≠ Verschlüsselung</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Codierung</a:t>
            </a:r>
            <a:endParaRPr lang="en-US" sz="2400" dirty="0"/>
          </a:p>
        </p:txBody>
      </p:sp>
      <p:sp>
        <p:nvSpPr>
          <p:cNvPr id="4" name="Text 2"/>
          <p:cNvSpPr txBox="1"/>
          <p:nvPr/>
        </p:nvSpPr>
        <p:spPr>
          <a:xfrm>
            <a:off x="548640" y="1871472"/>
            <a:ext cx="5364328" cy="727456"/>
          </a:xfrm>
          <a:prstGeom prst="rect">
            <a:avLst/>
          </a:prstGeom>
          <a:noFill/>
          <a:ln/>
        </p:spPr>
        <p:txBody>
          <a:bodyPr wrap="square" lIns="0" tIns="0" rIns="0" bIns="0" rtlCol="0" anchor="t"/>
          <a:lstStyle/>
          <a:p>
            <a:pPr algn="l" indent="0" marL="0">
              <a:buNone/>
            </a:pPr>
            <a:r>
              <a:rPr lang="en-US" sz="2200" b="1" dirty="0">
                <a:solidFill>
                  <a:srgbClr val="1B1B1F"/>
                </a:solidFill>
              </a:rPr>
              <a:t>öffentliche</a:t>
            </a:r>
            <a:r>
              <a:rPr lang="en-US" sz="2200" dirty="0">
                <a:solidFill>
                  <a:srgbClr val="1B1B1F"/>
                </a:solidFill>
              </a:rPr>
              <a:t> Vorschrift – jeder kann nachschlagen</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726944"/>
          <a:ext cx="4937760" cy="914400"/>
        </p:xfrm>
        <a:graphic>
          <a:graphicData uri="http://schemas.openxmlformats.org/drawingml/2006/table">
            <a:tbl>
              <a:tblPr/>
              <a:tblGrid>
                <a:gridCol w="2194560"/>
                <a:gridCol w="2743200"/>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Beispiel</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Darstellung von A</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Morsecode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ASCII</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onsolas" pitchFamily="34" charset="0"/>
                          <a:ea typeface="Consolas" pitchFamily="34" charset="-122"/>
                          <a:cs typeface="Consolas" pitchFamily="34" charset="-120"/>
                        </a:rPr>
                        <a:t>65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QR-Code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Pixelmuster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Verschlüsselung</a:t>
            </a:r>
            <a:endParaRPr lang="en-US" sz="2400" dirty="0"/>
          </a:p>
        </p:txBody>
      </p:sp>
      <p:sp>
        <p:nvSpPr>
          <p:cNvPr id="7" name="Text 4"/>
          <p:cNvSpPr txBox="1"/>
          <p:nvPr/>
        </p:nvSpPr>
        <p:spPr>
          <a:xfrm>
            <a:off x="6278728" y="1871472"/>
            <a:ext cx="5364328" cy="386588"/>
          </a:xfrm>
          <a:prstGeom prst="rect">
            <a:avLst/>
          </a:prstGeom>
          <a:noFill/>
          <a:ln/>
        </p:spPr>
        <p:txBody>
          <a:bodyPr wrap="square" lIns="0" tIns="0" rIns="0" bIns="0" rtlCol="0" anchor="t"/>
          <a:lstStyle/>
          <a:p>
            <a:pPr algn="l" indent="0" marL="0">
              <a:buNone/>
            </a:pPr>
            <a:r>
              <a:rPr lang="en-US" sz="2200" dirty="0">
                <a:solidFill>
                  <a:srgbClr val="1B1B1F"/>
                </a:solidFill>
              </a:rPr>
              <a:t>braucht einen </a:t>
            </a:r>
            <a:r>
              <a:rPr lang="en-US" sz="2200" b="1" dirty="0">
                <a:solidFill>
                  <a:srgbClr val="1B1B1F"/>
                </a:solidFill>
              </a:rPr>
              <a:t>geheimen Schlüssel</a:t>
            </a:r>
            <a:endParaRPr lang="en-US" sz="22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78728" y="2386076"/>
          <a:ext cx="4937760" cy="914400"/>
        </p:xfrm>
        <a:graphic>
          <a:graphicData uri="http://schemas.openxmlformats.org/drawingml/2006/table">
            <a:tbl>
              <a:tblPr/>
              <a:tblGrid>
                <a:gridCol w="2194560"/>
                <a:gridCol w="2743200"/>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Verfahren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geheim ist …</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Skytale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der Umfang u</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Gartenzaun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die Schienenzahl 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Caesar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die Verschiebung k</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Im Kryptolabor: Codes &amp; Signale</a:t>
            </a:r>
            <a:endParaRPr lang="en-US" sz="3000" dirty="0"/>
          </a:p>
        </p:txBody>
      </p:sp>
      <p:sp>
        <p:nvSpPr>
          <p:cNvPr id="3" name="Text 1"/>
          <p:cNvSpPr txBox="1"/>
          <p:nvPr/>
        </p:nvSpPr>
        <p:spPr>
          <a:xfrm>
            <a:off x="548640" y="1325880"/>
            <a:ext cx="11094415" cy="324612"/>
          </a:xfrm>
          <a:prstGeom prst="rect">
            <a:avLst/>
          </a:prstGeom>
          <a:noFill/>
          <a:ln/>
        </p:spPr>
        <p:txBody>
          <a:bodyPr wrap="square" lIns="0" tIns="0" rIns="0" bIns="0" rtlCol="0" anchor="t"/>
          <a:lstStyle/>
          <a:p>
            <a:pPr algn="l" indent="0" marL="0">
              <a:buNone/>
            </a:pPr>
            <a:r>
              <a:rPr lang="en-US" sz="1800" dirty="0">
                <a:solidFill>
                  <a:srgbClr val="1B1B1F"/>
                </a:solidFill>
              </a:rPr>
              <a:t>Rand = kurz, Fell = lang: Die Morsetafel ist </a:t>
            </a:r>
            <a:r>
              <a:rPr lang="en-US" sz="1800" b="1" dirty="0">
                <a:solidFill>
                  <a:srgbClr val="1B1B1F"/>
                </a:solidFill>
              </a:rPr>
              <a:t>öffentlich</a:t>
            </a:r>
            <a:r>
              <a:rPr lang="en-US" sz="1800" dirty="0">
                <a:solidFill>
                  <a:srgbClr val="1B1B1F"/>
                </a:solidFill>
              </a:rPr>
              <a:t> – eine Codierung, keine Verschlüsselung.</a:t>
            </a:r>
            <a:endParaRPr lang="en-US" sz="1800" dirty="0"/>
          </a:p>
        </p:txBody>
      </p:sp>
      <p:pic>
        <p:nvPicPr>
          <p:cNvPr id="4" name="Image 0" descr="bild">    </p:cNvPr>
          <p:cNvPicPr>
            <a:picLocks noChangeAspect="1"/>
          </p:cNvPicPr>
          <p:nvPr/>
        </p:nvPicPr>
        <p:blipFill>
          <a:blip r:embed="rId1"/>
          <a:stretch>
            <a:fillRect/>
          </a:stretch>
        </p:blipFill>
        <p:spPr>
          <a:xfrm>
            <a:off x="2712568" y="1778508"/>
            <a:ext cx="6766560" cy="3806190"/>
          </a:xfrm>
          <a:prstGeom prst="rect">
            <a:avLst/>
          </a:prstGeom>
        </p:spPr>
      </p:pic>
      <p:sp>
        <p:nvSpPr>
          <p:cNvPr id="5" name="Text 2"/>
          <p:cNvSpPr txBox="1"/>
          <p:nvPr/>
        </p:nvSpPr>
        <p:spPr>
          <a:xfrm>
            <a:off x="548640" y="5621274"/>
            <a:ext cx="11094415" cy="274320"/>
          </a:xfrm>
          <a:prstGeom prst="rect">
            <a:avLst/>
          </a:prstGeom>
          <a:noFill/>
          <a:ln/>
        </p:spPr>
        <p:txBody>
          <a:bodyPr wrap="square" lIns="0" tIns="0" rIns="0" bIns="0" rtlCol="0" anchor="ctr"/>
          <a:lstStyle/>
          <a:p>
            <a:pPr algn="ctr" indent="0" marL="0">
              <a:buNone/>
            </a:pPr>
            <a:r>
              <a:rPr lang="en-US" sz="1200" i="1" dirty="0">
                <a:solidFill>
                  <a:srgbClr val="4A4A55"/>
                </a:solidFill>
              </a:rPr>
              <a:t>Kryptolabor · Ideen von A. Bodendiek (Krypto-Werkstatt)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Transposition oder Substitution?</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Transposition</a:t>
            </a:r>
            <a:endParaRPr lang="en-US" sz="2400" dirty="0"/>
          </a:p>
        </p:txBody>
      </p:sp>
      <p:sp>
        <p:nvSpPr>
          <p:cNvPr id="4" name="Text 2"/>
          <p:cNvSpPr txBox="1"/>
          <p:nvPr/>
        </p:nvSpPr>
        <p:spPr>
          <a:xfrm>
            <a:off x="548640" y="1871472"/>
            <a:ext cx="5364328" cy="727456"/>
          </a:xfrm>
          <a:prstGeom prst="rect">
            <a:avLst/>
          </a:prstGeom>
          <a:noFill/>
          <a:ln/>
        </p:spPr>
        <p:txBody>
          <a:bodyPr wrap="square" lIns="0" tIns="0" rIns="0" bIns="0" rtlCol="0" anchor="t"/>
          <a:lstStyle/>
          <a:p>
            <a:pPr algn="l" indent="0" marL="0">
              <a:buNone/>
            </a:pPr>
            <a:r>
              <a:rPr lang="en-US" sz="2200" dirty="0">
                <a:solidFill>
                  <a:srgbClr val="1B1B1F"/>
                </a:solidFill>
              </a:rPr>
              <a:t>Buchstaben bleiben, was sie sind – aber </a:t>
            </a:r>
            <a:r>
              <a:rPr lang="en-US" sz="2200" b="1" dirty="0">
                <a:solidFill>
                  <a:srgbClr val="1B1B1F"/>
                </a:solidFill>
              </a:rPr>
              <a:t>nicht, wo</a:t>
            </a:r>
            <a:r>
              <a:rPr lang="en-US" sz="2200" dirty="0">
                <a:solidFill>
                  <a:srgbClr val="1B1B1F"/>
                </a:solidFill>
              </a:rPr>
              <a:t> sie sind.</a:t>
            </a:r>
            <a:endParaRPr lang="en-US" sz="2200" dirty="0"/>
          </a:p>
        </p:txBody>
      </p:sp>
      <p:sp>
        <p:nvSpPr>
          <p:cNvPr id="5" name="Geheimtext-Kasten"/>
          <p:cNvSpPr/>
          <p:nvPr/>
        </p:nvSpPr>
        <p:spPr>
          <a:xfrm>
            <a:off x="548640" y="2726944"/>
            <a:ext cx="5364328" cy="935228"/>
          </a:xfrm>
          <a:prstGeom prst="rect">
            <a:avLst/>
          </a:prstGeom>
          <a:solidFill>
            <a:srgbClr val="F2EADB"/>
          </a:solidFill>
          <a:ln w="9525">
            <a:solidFill>
              <a:srgbClr val="D8CDB8"/>
            </a:solidFill>
            <a:prstDash val="solid"/>
          </a:ln>
        </p:spPr>
      </p:sp>
      <p:sp>
        <p:nvSpPr>
          <p:cNvPr id="6" name="Text 4"/>
          <p:cNvSpPr txBox="1"/>
          <p:nvPr/>
        </p:nvSpPr>
        <p:spPr>
          <a:xfrm>
            <a:off x="777240" y="2800096"/>
            <a:ext cx="4907128" cy="256032"/>
          </a:xfrm>
          <a:prstGeom prst="rect">
            <a:avLst/>
          </a:prstGeom>
          <a:noFill/>
          <a:ln/>
        </p:spPr>
        <p:txBody>
          <a:bodyPr wrap="square" lIns="0" tIns="0" rIns="0" bIns="0" rtlCol="0" anchor="ctr"/>
          <a:lstStyle/>
          <a:p>
            <a:pPr indent="0" marL="0">
              <a:buNone/>
            </a:pPr>
            <a:r>
              <a:rPr lang="en-US" sz="1200" b="1" spc="100" kern="0" dirty="0">
                <a:solidFill>
                  <a:srgbClr val="4A4A55"/>
                </a:solidFill>
              </a:rPr>
              <a:t>SKYTALE, u = 2</a:t>
            </a:r>
            <a:endParaRPr lang="en-US" sz="1200" dirty="0"/>
          </a:p>
        </p:txBody>
      </p:sp>
      <p:sp>
        <p:nvSpPr>
          <p:cNvPr id="7" name="Text 5"/>
          <p:cNvSpPr txBox="1"/>
          <p:nvPr/>
        </p:nvSpPr>
        <p:spPr>
          <a:xfrm>
            <a:off x="777240" y="3129280"/>
            <a:ext cx="4907128" cy="4231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rom → RMOX</a:t>
            </a:r>
            <a:endParaRPr lang="en-US" sz="2000" dirty="0"/>
          </a:p>
        </p:txBody>
      </p:sp>
      <p:sp>
        <p:nvSpPr>
          <p:cNvPr id="8" name="Text 6"/>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Substitution</a:t>
            </a:r>
            <a:endParaRPr lang="en-US" sz="2400" dirty="0"/>
          </a:p>
        </p:txBody>
      </p:sp>
      <p:sp>
        <p:nvSpPr>
          <p:cNvPr id="9" name="Text 7"/>
          <p:cNvSpPr txBox="1"/>
          <p:nvPr/>
        </p:nvSpPr>
        <p:spPr>
          <a:xfrm>
            <a:off x="6278728" y="1871472"/>
            <a:ext cx="5364328" cy="727456"/>
          </a:xfrm>
          <a:prstGeom prst="rect">
            <a:avLst/>
          </a:prstGeom>
          <a:noFill/>
          <a:ln/>
        </p:spPr>
        <p:txBody>
          <a:bodyPr wrap="square" lIns="0" tIns="0" rIns="0" bIns="0" rtlCol="0" anchor="t"/>
          <a:lstStyle/>
          <a:p>
            <a:pPr algn="l" indent="0" marL="0">
              <a:buNone/>
            </a:pPr>
            <a:r>
              <a:rPr lang="en-US" sz="2200" dirty="0">
                <a:solidFill>
                  <a:srgbClr val="1B1B1F"/>
                </a:solidFill>
              </a:rPr>
              <a:t>Buchstaben werden </a:t>
            </a:r>
            <a:r>
              <a:rPr lang="en-US" sz="2200" b="1" dirty="0">
                <a:solidFill>
                  <a:srgbClr val="1B1B1F"/>
                </a:solidFill>
              </a:rPr>
              <a:t>durch andere Zeichen ersetzt</a:t>
            </a:r>
            <a:r>
              <a:rPr lang="en-US" sz="2200" dirty="0">
                <a:solidFill>
                  <a:srgbClr val="1B1B1F"/>
                </a:solidFill>
              </a:rPr>
              <a:t>.</a:t>
            </a:r>
            <a:endParaRPr lang="en-US" sz="2200" dirty="0"/>
          </a:p>
        </p:txBody>
      </p:sp>
      <p:sp>
        <p:nvSpPr>
          <p:cNvPr id="10" name="Geheimtext-Kasten"/>
          <p:cNvSpPr/>
          <p:nvPr/>
        </p:nvSpPr>
        <p:spPr>
          <a:xfrm>
            <a:off x="6278728" y="2726944"/>
            <a:ext cx="5364328" cy="935228"/>
          </a:xfrm>
          <a:prstGeom prst="rect">
            <a:avLst/>
          </a:prstGeom>
          <a:solidFill>
            <a:srgbClr val="F2EADB"/>
          </a:solidFill>
          <a:ln w="9525">
            <a:solidFill>
              <a:srgbClr val="D8CDB8"/>
            </a:solidFill>
            <a:prstDash val="solid"/>
          </a:ln>
        </p:spPr>
      </p:sp>
      <p:sp>
        <p:nvSpPr>
          <p:cNvPr id="11" name="Text 9"/>
          <p:cNvSpPr txBox="1"/>
          <p:nvPr/>
        </p:nvSpPr>
        <p:spPr>
          <a:xfrm>
            <a:off x="6507328" y="2800096"/>
            <a:ext cx="4907128" cy="256032"/>
          </a:xfrm>
          <a:prstGeom prst="rect">
            <a:avLst/>
          </a:prstGeom>
          <a:noFill/>
          <a:ln/>
        </p:spPr>
        <p:txBody>
          <a:bodyPr wrap="square" lIns="0" tIns="0" rIns="0" bIns="0" rtlCol="0" anchor="ctr"/>
          <a:lstStyle/>
          <a:p>
            <a:pPr indent="0" marL="0">
              <a:buNone/>
            </a:pPr>
            <a:r>
              <a:rPr lang="en-US" sz="1200" b="1" spc="100" kern="0" dirty="0">
                <a:solidFill>
                  <a:srgbClr val="4A4A55"/>
                </a:solidFill>
              </a:rPr>
              <a:t>CAESAR, k = 3</a:t>
            </a:r>
            <a:endParaRPr lang="en-US" sz="1200" dirty="0"/>
          </a:p>
        </p:txBody>
      </p:sp>
      <p:sp>
        <p:nvSpPr>
          <p:cNvPr id="12" name="Text 10"/>
          <p:cNvSpPr txBox="1"/>
          <p:nvPr/>
        </p:nvSpPr>
        <p:spPr>
          <a:xfrm>
            <a:off x="6507328" y="3129280"/>
            <a:ext cx="4907128" cy="4231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rom → URP</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Gartenzaun</a:t>
            </a:r>
            <a:endParaRPr lang="en-US" sz="3000" dirty="0"/>
          </a:p>
        </p:txBody>
      </p:sp>
      <p:sp>
        <p:nvSpPr>
          <p:cNvPr id="3" name="Text 1"/>
          <p:cNvSpPr txBox="1"/>
          <p:nvPr/>
        </p:nvSpPr>
        <p:spPr>
          <a:xfrm>
            <a:off x="548640" y="1325880"/>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Klartext im </a:t>
            </a:r>
            <a:r>
              <a:rPr lang="en-US" sz="2200" b="1" dirty="0">
                <a:solidFill>
                  <a:srgbClr val="1B1B1F"/>
                </a:solidFill>
              </a:rPr>
              <a:t>Zickzack</a:t>
            </a:r>
            <a:r>
              <a:rPr lang="en-US" sz="2200" dirty="0">
                <a:solidFill>
                  <a:srgbClr val="1B1B1F"/>
                </a:solidFill>
              </a:rPr>
              <a:t> auf n Schienen schreiben (oben beginnend), dann Schiene für Schiene lesen. Kein Füllzeichen.</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81352"/>
          <a:ext cx="11094415" cy="914400"/>
        </p:xfrm>
        <a:graphic>
          <a:graphicData uri="http://schemas.openxmlformats.org/drawingml/2006/table">
            <a:tbl>
              <a:tblPr/>
              <a:tblGrid>
                <a:gridCol w="1636881"/>
                <a:gridCol w="472877"/>
                <a:gridCol w="472877"/>
                <a:gridCol w="472877"/>
                <a:gridCol w="472877"/>
                <a:gridCol w="472877"/>
                <a:gridCol w="472877"/>
                <a:gridCol w="472877"/>
                <a:gridCol w="472877"/>
                <a:gridCol w="472877"/>
                <a:gridCol w="472877"/>
                <a:gridCol w="472877"/>
                <a:gridCol w="472877"/>
                <a:gridCol w="472877"/>
                <a:gridCol w="472877"/>
                <a:gridCol w="472877"/>
                <a:gridCol w="472877"/>
                <a:gridCol w="472877"/>
                <a:gridCol w="472877"/>
                <a:gridCol w="472877"/>
                <a:gridCol w="472877"/>
              </a:tblGrid>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Schiene 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v</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o</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m</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p</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Schiene 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u</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o</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m</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Schiene 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k</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Geheimtext-Kasten"/>
          <p:cNvSpPr/>
          <p:nvPr/>
        </p:nvSpPr>
        <p:spPr>
          <a:xfrm>
            <a:off x="548640" y="3420364"/>
            <a:ext cx="11094415" cy="1008888"/>
          </a:xfrm>
          <a:prstGeom prst="rect">
            <a:avLst/>
          </a:prstGeom>
          <a:solidFill>
            <a:srgbClr val="F2EADB"/>
          </a:solidFill>
          <a:ln w="9525">
            <a:solidFill>
              <a:srgbClr val="D8CDB8"/>
            </a:solidFill>
            <a:prstDash val="solid"/>
          </a:ln>
        </p:spPr>
      </p:sp>
      <p:sp>
        <p:nvSpPr>
          <p:cNvPr id="6" name="Text 3"/>
          <p:cNvSpPr txBox="1"/>
          <p:nvPr/>
        </p:nvSpPr>
        <p:spPr>
          <a:xfrm>
            <a:off x="777240" y="3493516"/>
            <a:ext cx="10637215" cy="256032"/>
          </a:xfrm>
          <a:prstGeom prst="rect">
            <a:avLst/>
          </a:prstGeom>
          <a:noFill/>
          <a:ln/>
        </p:spPr>
        <p:txBody>
          <a:bodyPr wrap="square" lIns="0" tIns="0" rIns="0" bIns="0" rtlCol="0" anchor="ctr"/>
          <a:lstStyle/>
          <a:p>
            <a:pPr indent="0" marL="0">
              <a:buNone/>
            </a:pPr>
            <a:r>
              <a:rPr lang="en-US" sz="1200" b="1" spc="100" kern="0" dirty="0">
                <a:solidFill>
                  <a:srgbClr val="4A4A55"/>
                </a:solidFill>
              </a:rPr>
              <a:t>versorgung kommt spaet · n = 3</a:t>
            </a:r>
            <a:endParaRPr lang="en-US" sz="1200" dirty="0"/>
          </a:p>
        </p:txBody>
      </p:sp>
      <p:sp>
        <p:nvSpPr>
          <p:cNvPr id="7" name="Text 4"/>
          <p:cNvSpPr txBox="1"/>
          <p:nvPr/>
        </p:nvSpPr>
        <p:spPr>
          <a:xfrm>
            <a:off x="777240" y="3822700"/>
            <a:ext cx="10637215" cy="49682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VONMP ESRUG OMSAT RGKTE</a:t>
            </a:r>
            <a:endParaRPr lang="en-US" sz="2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Fleißner-Schablone</a:t>
            </a:r>
            <a:endParaRPr lang="en-US" sz="3000" dirty="0"/>
          </a:p>
        </p:txBody>
      </p:sp>
      <p:sp>
        <p:nvSpPr>
          <p:cNvPr id="3" name="Text 1"/>
          <p:cNvSpPr txBox="1"/>
          <p:nvPr/>
        </p:nvSpPr>
        <p:spPr>
          <a:xfrm>
            <a:off x="548640" y="1325880"/>
            <a:ext cx="3862316" cy="386588"/>
          </a:xfrm>
          <a:prstGeom prst="rect">
            <a:avLst/>
          </a:prstGeom>
          <a:noFill/>
          <a:ln/>
        </p:spPr>
        <p:txBody>
          <a:bodyPr wrap="square" lIns="0" tIns="0" rIns="0" bIns="0" rtlCol="0" anchor="t"/>
          <a:lstStyle/>
          <a:p>
            <a:pPr algn="ctr" indent="0" marL="0">
              <a:buNone/>
            </a:pPr>
            <a:r>
              <a:rPr lang="en-US" sz="2200" b="1" dirty="0">
                <a:solidFill>
                  <a:srgbClr val="1B1B1F"/>
                </a:solidFill>
              </a:rPr>
              <a:t>Schablone</a:t>
            </a:r>
            <a:r>
              <a:rPr lang="en-US" sz="2200" dirty="0">
                <a:solidFill>
                  <a:srgbClr val="1B1B1F"/>
                </a:solidFill>
              </a:rPr>
              <a:t> (Grundstellung)</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062478" y="1840484"/>
          <a:ext cx="2834640" cy="914400"/>
        </p:xfrm>
        <a:graphic>
          <a:graphicData uri="http://schemas.openxmlformats.org/drawingml/2006/table">
            <a:tbl>
              <a:tblPr/>
              <a:tblGrid>
                <a:gridCol w="566928"/>
                <a:gridCol w="566928"/>
                <a:gridCol w="566928"/>
                <a:gridCol w="566928"/>
                <a:gridCol w="566928"/>
              </a:tblGrid>
              <a:tr h="566928">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bl>
          </a:graphicData>
        </a:graphic>
      </p:graphicFrame>
      <p:sp>
        <p:nvSpPr>
          <p:cNvPr id="5" name="Text 2"/>
          <p:cNvSpPr txBox="1"/>
          <p:nvPr/>
        </p:nvSpPr>
        <p:spPr>
          <a:xfrm>
            <a:off x="4776716" y="1325880"/>
            <a:ext cx="6866339" cy="386588"/>
          </a:xfrm>
          <a:prstGeom prst="rect">
            <a:avLst/>
          </a:prstGeom>
          <a:noFill/>
          <a:ln/>
        </p:spPr>
        <p:txBody>
          <a:bodyPr wrap="square" lIns="0" tIns="0" rIns="0" bIns="0" rtlCol="0" anchor="t"/>
          <a:lstStyle/>
          <a:p>
            <a:pPr algn="l" indent="0" marL="0">
              <a:buNone/>
            </a:pPr>
            <a:r>
              <a:rPr lang="en-US" sz="2200" dirty="0">
                <a:solidFill>
                  <a:srgbClr val="1B1B1F"/>
                </a:solidFill>
              </a:rPr>
              <a:t>● Löcher </a:t>
            </a:r>
            <a:r>
              <a:rPr lang="en-US" sz="2200" b="1" dirty="0">
                <a:solidFill>
                  <a:srgbClr val="1B1B1F"/>
                </a:solidFill>
              </a:rPr>
              <a:t>zeilenweise</a:t>
            </a:r>
            <a:r>
              <a:rPr lang="en-US" sz="2200" dirty="0">
                <a:solidFill>
                  <a:srgbClr val="1B1B1F"/>
                </a:solidFill>
              </a:rPr>
              <a:t> beschriften</a:t>
            </a:r>
            <a:endParaRPr lang="en-US" sz="2200" dirty="0"/>
          </a:p>
        </p:txBody>
      </p:sp>
      <p:sp>
        <p:nvSpPr>
          <p:cNvPr id="6" name="Text 3"/>
          <p:cNvSpPr txBox="1"/>
          <p:nvPr/>
        </p:nvSpPr>
        <p:spPr>
          <a:xfrm>
            <a:off x="4776716" y="1840484"/>
            <a:ext cx="6866339" cy="727456"/>
          </a:xfrm>
          <a:prstGeom prst="rect">
            <a:avLst/>
          </a:prstGeom>
          <a:noFill/>
          <a:ln/>
        </p:spPr>
        <p:txBody>
          <a:bodyPr wrap="square" lIns="0" tIns="0" rIns="0" bIns="0" rtlCol="0" anchor="t"/>
          <a:lstStyle/>
          <a:p>
            <a:pPr algn="l" indent="0" marL="0">
              <a:buNone/>
            </a:pPr>
            <a:r>
              <a:rPr lang="en-US" sz="2200" dirty="0">
                <a:solidFill>
                  <a:srgbClr val="1B1B1F"/>
                </a:solidFill>
              </a:rPr>
              <a:t>● Schablone </a:t>
            </a:r>
            <a:r>
              <a:rPr lang="en-US" sz="2200" b="1" dirty="0">
                <a:solidFill>
                  <a:srgbClr val="1B1B1F"/>
                </a:solidFill>
              </a:rPr>
              <a:t>um 90° im Uhrzeigersinn</a:t>
            </a:r>
            <a:r>
              <a:rPr lang="en-US" sz="2200" dirty="0">
                <a:solidFill>
                  <a:srgbClr val="1B1B1F"/>
                </a:solidFill>
              </a:rPr>
              <a:t> drehen – viermal</a:t>
            </a:r>
            <a:endParaRPr lang="en-US" sz="2200" dirty="0"/>
          </a:p>
        </p:txBody>
      </p:sp>
      <p:sp>
        <p:nvSpPr>
          <p:cNvPr id="7" name="Text 4"/>
          <p:cNvSpPr txBox="1"/>
          <p:nvPr/>
        </p:nvSpPr>
        <p:spPr>
          <a:xfrm>
            <a:off x="4776716" y="2695956"/>
            <a:ext cx="6866339" cy="386588"/>
          </a:xfrm>
          <a:prstGeom prst="rect">
            <a:avLst/>
          </a:prstGeom>
          <a:noFill/>
          <a:ln/>
        </p:spPr>
        <p:txBody>
          <a:bodyPr wrap="square" lIns="0" tIns="0" rIns="0" bIns="0" rtlCol="0" anchor="t"/>
          <a:lstStyle/>
          <a:p>
            <a:pPr algn="l" indent="0" marL="0">
              <a:buNone/>
            </a:pPr>
            <a:r>
              <a:rPr lang="en-US" sz="2200" dirty="0">
                <a:solidFill>
                  <a:srgbClr val="1B1B1F"/>
                </a:solidFill>
              </a:rPr>
              <a:t>● Drehung: Feld (z, s) → (s, 5 − z)</a:t>
            </a:r>
            <a:endParaRPr lang="en-US" sz="2200" dirty="0"/>
          </a:p>
        </p:txBody>
      </p:sp>
      <p:sp>
        <p:nvSpPr>
          <p:cNvPr id="8" name="Text 5"/>
          <p:cNvSpPr txBox="1"/>
          <p:nvPr/>
        </p:nvSpPr>
        <p:spPr>
          <a:xfrm>
            <a:off x="4776716" y="3210560"/>
            <a:ext cx="6866339" cy="386588"/>
          </a:xfrm>
          <a:prstGeom prst="rect">
            <a:avLst/>
          </a:prstGeom>
          <a:noFill/>
          <a:ln/>
        </p:spPr>
        <p:txBody>
          <a:bodyPr wrap="square" lIns="0" tIns="0" rIns="0" bIns="0" rtlCol="0" anchor="t"/>
          <a:lstStyle/>
          <a:p>
            <a:pPr algn="l" indent="0" marL="0">
              <a:buNone/>
            </a:pPr>
            <a:r>
              <a:rPr lang="en-US" sz="2200" dirty="0">
                <a:solidFill>
                  <a:srgbClr val="1B1B1F"/>
                </a:solidFill>
              </a:rPr>
              <a:t>● Raster zeilenweise auslesen</a:t>
            </a:r>
            <a:endParaRPr lang="en-US" sz="2200" dirty="0"/>
          </a:p>
        </p:txBody>
      </p:sp>
      <p:sp>
        <p:nvSpPr>
          <p:cNvPr id="9" name="Geheimtext-Kasten"/>
          <p:cNvSpPr/>
          <p:nvPr/>
        </p:nvSpPr>
        <p:spPr>
          <a:xfrm>
            <a:off x="4776716" y="3725164"/>
            <a:ext cx="6866339" cy="1008888"/>
          </a:xfrm>
          <a:prstGeom prst="rect">
            <a:avLst/>
          </a:prstGeom>
          <a:solidFill>
            <a:srgbClr val="F2EADB"/>
          </a:solidFill>
          <a:ln w="9525">
            <a:solidFill>
              <a:srgbClr val="D8CDB8"/>
            </a:solidFill>
            <a:prstDash val="solid"/>
          </a:ln>
        </p:spPr>
      </p:sp>
      <p:sp>
        <p:nvSpPr>
          <p:cNvPr id="10" name="Text 7"/>
          <p:cNvSpPr txBox="1"/>
          <p:nvPr/>
        </p:nvSpPr>
        <p:spPr>
          <a:xfrm>
            <a:off x="5005316" y="3798316"/>
            <a:ext cx="6409139" cy="256032"/>
          </a:xfrm>
          <a:prstGeom prst="rect">
            <a:avLst/>
          </a:prstGeom>
          <a:noFill/>
          <a:ln/>
        </p:spPr>
        <p:txBody>
          <a:bodyPr wrap="square" lIns="0" tIns="0" rIns="0" bIns="0" rtlCol="0" anchor="ctr"/>
          <a:lstStyle/>
          <a:p>
            <a:pPr indent="0" marL="0">
              <a:buNone/>
            </a:pPr>
            <a:r>
              <a:rPr lang="en-US" sz="1200" b="1" spc="100" kern="0" dirty="0">
                <a:solidFill>
                  <a:srgbClr val="4A4A55"/>
                </a:solidFill>
              </a:rPr>
              <a:t>boten warten am tor</a:t>
            </a:r>
            <a:endParaRPr lang="en-US" sz="1200" dirty="0"/>
          </a:p>
        </p:txBody>
      </p:sp>
      <p:sp>
        <p:nvSpPr>
          <p:cNvPr id="11" name="Text 8"/>
          <p:cNvSpPr txBox="1"/>
          <p:nvPr/>
        </p:nvSpPr>
        <p:spPr>
          <a:xfrm>
            <a:off x="5005316" y="4127500"/>
            <a:ext cx="6409139" cy="49682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TBNMO TTWOE ANRRA E</a:t>
            </a:r>
            <a:endParaRPr lang="en-US" sz="2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Im Kryptolabor: die Schablone</a:t>
            </a:r>
            <a:endParaRPr lang="en-US" sz="3000" dirty="0"/>
          </a:p>
        </p:txBody>
      </p:sp>
      <p:sp>
        <p:nvSpPr>
          <p:cNvPr id="3" name="Text 1"/>
          <p:cNvSpPr txBox="1"/>
          <p:nvPr/>
        </p:nvSpPr>
        <p:spPr>
          <a:xfrm>
            <a:off x="548640" y="1325880"/>
            <a:ext cx="11094415" cy="293624"/>
          </a:xfrm>
          <a:prstGeom prst="rect">
            <a:avLst/>
          </a:prstGeom>
          <a:noFill/>
          <a:ln/>
        </p:spPr>
        <p:txBody>
          <a:bodyPr wrap="square" lIns="0" tIns="0" rIns="0" bIns="0" rtlCol="0" anchor="t"/>
          <a:lstStyle/>
          <a:p>
            <a:pPr algn="l" indent="0" marL="0">
              <a:buNone/>
            </a:pPr>
            <a:r>
              <a:rPr lang="en-US" sz="1600" dirty="0">
                <a:solidFill>
                  <a:srgbClr val="1B1B1F"/>
                </a:solidFill>
              </a:rPr>
              <a:t>Stempeln füllt die Löcher </a:t>
            </a:r>
            <a:r>
              <a:rPr lang="en-US" sz="1600" b="1" dirty="0">
                <a:solidFill>
                  <a:srgbClr val="1B1B1F"/>
                </a:solidFill>
              </a:rPr>
              <a:t>zeilenweise</a:t>
            </a:r>
            <a:r>
              <a:rPr lang="en-US" sz="1600" dirty="0">
                <a:solidFill>
                  <a:srgbClr val="1B1B1F"/>
                </a:solidFill>
              </a:rPr>
              <a:t>, nach jeder Lage wird gedreht – „Abheben &amp; ablesen“ zeigt das Raster.</a:t>
            </a:r>
            <a:endParaRPr lang="en-US" sz="1600" dirty="0"/>
          </a:p>
        </p:txBody>
      </p:sp>
      <p:pic>
        <p:nvPicPr>
          <p:cNvPr id="4" name="Image 0" descr="bild">    </p:cNvPr>
          <p:cNvPicPr>
            <a:picLocks noChangeAspect="1"/>
          </p:cNvPicPr>
          <p:nvPr/>
        </p:nvPicPr>
        <p:blipFill>
          <a:blip r:embed="rId1"/>
          <a:stretch>
            <a:fillRect/>
          </a:stretch>
        </p:blipFill>
        <p:spPr>
          <a:xfrm>
            <a:off x="2712568" y="1747520"/>
            <a:ext cx="6766560" cy="3806190"/>
          </a:xfrm>
          <a:prstGeom prst="rect">
            <a:avLst/>
          </a:prstGeom>
        </p:spPr>
      </p:pic>
      <p:sp>
        <p:nvSpPr>
          <p:cNvPr id="5" name="Text 2"/>
          <p:cNvSpPr txBox="1"/>
          <p:nvPr/>
        </p:nvSpPr>
        <p:spPr>
          <a:xfrm>
            <a:off x="548640" y="5590286"/>
            <a:ext cx="11094415" cy="274320"/>
          </a:xfrm>
          <a:prstGeom prst="rect">
            <a:avLst/>
          </a:prstGeom>
          <a:noFill/>
          <a:ln/>
        </p:spPr>
        <p:txBody>
          <a:bodyPr wrap="square" lIns="0" tIns="0" rIns="0" bIns="0" rtlCol="0" anchor="ctr"/>
          <a:lstStyle/>
          <a:p>
            <a:pPr algn="ctr" indent="0" marL="0">
              <a:buNone/>
            </a:pPr>
            <a:r>
              <a:rPr lang="en-US" sz="1200" i="1" dirty="0">
                <a:solidFill>
                  <a:srgbClr val="4A4A55"/>
                </a:solidFill>
              </a:rPr>
              <a:t>Kryptolabor · Ideen von A. Bodendiek (Krypto-Werkstatt)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P4 · Füllzeichen</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Erst Länge zählen, Spaltenzahl s = Länge : u </a:t>
            </a:r>
            <a:r>
              <a:rPr lang="en-US" sz="2200" b="1" dirty="0">
                <a:solidFill>
                  <a:srgbClr val="1B1B1F"/>
                </a:solidFill>
              </a:rPr>
              <a:t>aufrunden</a:t>
            </a:r>
            <a:r>
              <a:rPr lang="en-US" sz="2200" dirty="0">
                <a:solidFill>
                  <a:srgbClr val="1B1B1F"/>
                </a:solidFill>
              </a:rPr>
              <a:t>, Rest mit </a:t>
            </a:r>
            <a:r>
              <a:rPr lang="en-US" sz="2200" b="1" dirty="0">
                <a:solidFill>
                  <a:srgbClr val="1B1B1F"/>
                </a:solidFill>
              </a:rPr>
              <a:t>X</a:t>
            </a:r>
            <a:r>
              <a:rPr lang="en-US" sz="2200" dirty="0">
                <a:solidFill>
                  <a:srgbClr val="1B1B1F"/>
                </a:solidFill>
              </a:rPr>
              <a:t> füllen.</a:t>
            </a:r>
            <a:endParaRPr lang="en-US" sz="2200" dirty="0"/>
          </a:p>
        </p:txBody>
      </p:sp>
      <p:sp>
        <p:nvSpPr>
          <p:cNvPr id="4" name="Shape 2"/>
          <p:cNvSpPr/>
          <p:nvPr/>
        </p:nvSpPr>
        <p:spPr>
          <a:xfrm>
            <a:off x="548640" y="1941068"/>
            <a:ext cx="5364328" cy="2956306"/>
          </a:xfrm>
          <a:prstGeom prst="roundRect">
            <a:avLst>
              <a:gd name="adj" fmla="val 2474"/>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latin typeface="Consolas" pitchFamily="34" charset="0"/>
                <a:ea typeface="Consolas" pitchFamily="34" charset="-122"/>
                <a:cs typeface="Consolas" pitchFamily="34" charset="-120"/>
              </a:rPr>
              <a:t>wir kommen am abend</a:t>
            </a:r>
            <a:r>
              <a:rPr lang="en-US" sz="2200" dirty="0">
                <a:solidFill>
                  <a:srgbClr val="1B1B1F"/>
                </a:solidFill>
              </a:rPr>
              <a:t>, u = 3 (16 Buchstaben)</a:t>
            </a:r>
            <a:endParaRPr lang="en-US" sz="2200" dirty="0"/>
          </a:p>
        </p:txBody>
      </p:sp>
      <p:sp>
        <p:nvSpPr>
          <p:cNvPr id="7" name="Geheimtext-Kasten"/>
          <p:cNvSpPr/>
          <p:nvPr/>
        </p:nvSpPr>
        <p:spPr>
          <a:xfrm>
            <a:off x="822960" y="3482340"/>
            <a:ext cx="4815688" cy="605790"/>
          </a:xfrm>
          <a:prstGeom prst="rect">
            <a:avLst/>
          </a:prstGeom>
          <a:solidFill>
            <a:srgbClr val="F2EADB"/>
          </a:solidFill>
          <a:ln w="9525">
            <a:solidFill>
              <a:srgbClr val="D8CDB8"/>
            </a:solidFill>
            <a:prstDash val="solid"/>
          </a:ln>
        </p:spPr>
      </p:sp>
      <p:sp>
        <p:nvSpPr>
          <p:cNvPr id="8" name="Text 6"/>
          <p:cNvSpPr txBox="1"/>
          <p:nvPr/>
        </p:nvSpPr>
        <p:spPr>
          <a:xfrm>
            <a:off x="1051560" y="3592068"/>
            <a:ext cx="435848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wirkom / menama / bend</a:t>
            </a:r>
            <a:endParaRPr lang="en-US" sz="1800" dirty="0"/>
          </a:p>
        </p:txBody>
      </p:sp>
      <p:sp>
        <p:nvSpPr>
          <p:cNvPr id="9" name="Text 7"/>
          <p:cNvSpPr txBox="1"/>
          <p:nvPr/>
        </p:nvSpPr>
        <p:spPr>
          <a:xfrm>
            <a:off x="822960" y="4216146"/>
            <a:ext cx="4815688" cy="324612"/>
          </a:xfrm>
          <a:prstGeom prst="rect">
            <a:avLst/>
          </a:prstGeom>
          <a:noFill/>
          <a:ln/>
        </p:spPr>
        <p:txBody>
          <a:bodyPr wrap="square" lIns="0" tIns="0" rIns="0" bIns="0" rtlCol="0" anchor="t"/>
          <a:lstStyle/>
          <a:p>
            <a:pPr algn="l" indent="0" marL="0">
              <a:buNone/>
            </a:pPr>
            <a:r>
              <a:rPr lang="en-US" sz="1800" dirty="0">
                <a:solidFill>
                  <a:srgbClr val="1B1B1F"/>
                </a:solidFill>
              </a:rPr>
              <a:t>Spalten 5 und 6 zu kurz</a:t>
            </a:r>
            <a:endParaRPr lang="en-US" sz="1800" dirty="0"/>
          </a:p>
        </p:txBody>
      </p:sp>
      <p:sp>
        <p:nvSpPr>
          <p:cNvPr id="10" name="Shape 8"/>
          <p:cNvSpPr/>
          <p:nvPr/>
        </p:nvSpPr>
        <p:spPr>
          <a:xfrm>
            <a:off x="6278728" y="1941068"/>
            <a:ext cx="5364328" cy="2896616"/>
          </a:xfrm>
          <a:prstGeom prst="roundRect">
            <a:avLst>
              <a:gd name="adj" fmla="val 2525"/>
            </a:avLst>
          </a:prstGeom>
          <a:solidFill>
            <a:srgbClr val="EEF6EE"/>
          </a:solidFill>
          <a:ln w="15875">
            <a:solidFill>
              <a:srgbClr val="2E7D32"/>
            </a:solidFill>
            <a:prstDash val="solid"/>
          </a:ln>
        </p:spPr>
      </p:sp>
      <p:sp>
        <p:nvSpPr>
          <p:cNvPr id="11" name="Text 9"/>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2" name="Text 10"/>
          <p:cNvSpPr txBox="1"/>
          <p:nvPr/>
        </p:nvSpPr>
        <p:spPr>
          <a:xfrm>
            <a:off x="6553048" y="2626868"/>
            <a:ext cx="4815688" cy="386588"/>
          </a:xfrm>
          <a:prstGeom prst="rect">
            <a:avLst/>
          </a:prstGeom>
          <a:noFill/>
          <a:ln/>
        </p:spPr>
        <p:txBody>
          <a:bodyPr wrap="square" lIns="0" tIns="0" rIns="0" bIns="0" rtlCol="0" anchor="t"/>
          <a:lstStyle/>
          <a:p>
            <a:pPr algn="l" indent="0" marL="0">
              <a:buNone/>
            </a:pPr>
            <a:r>
              <a:rPr lang="en-US" sz="2200" dirty="0">
                <a:solidFill>
                  <a:srgbClr val="1B1B1F"/>
                </a:solidFill>
              </a:rPr>
              <a:t>s = 16 : 3 → </a:t>
            </a:r>
            <a:r>
              <a:rPr lang="en-US" sz="2200" b="1" dirty="0">
                <a:solidFill>
                  <a:srgbClr val="1B1B1F"/>
                </a:solidFill>
              </a:rPr>
              <a:t>6</a:t>
            </a:r>
            <a:r>
              <a:rPr lang="en-US" sz="2200" dirty="0">
                <a:solidFill>
                  <a:srgbClr val="1B1B1F"/>
                </a:solidFill>
              </a:rPr>
              <a:t> Spalten, 2 × X</a:t>
            </a:r>
            <a:endParaRPr lang="en-US" sz="2200" dirty="0"/>
          </a:p>
        </p:txBody>
      </p:sp>
      <p:sp>
        <p:nvSpPr>
          <p:cNvPr id="13" name="Geheimtext-Kasten"/>
          <p:cNvSpPr/>
          <p:nvPr/>
        </p:nvSpPr>
        <p:spPr>
          <a:xfrm>
            <a:off x="6553048" y="3141472"/>
            <a:ext cx="4815688" cy="605790"/>
          </a:xfrm>
          <a:prstGeom prst="rect">
            <a:avLst/>
          </a:prstGeom>
          <a:solidFill>
            <a:srgbClr val="F2EADB"/>
          </a:solidFill>
          <a:ln w="9525">
            <a:solidFill>
              <a:srgbClr val="D8CDB8"/>
            </a:solidFill>
            <a:prstDash val="solid"/>
          </a:ln>
        </p:spPr>
      </p:sp>
      <p:sp>
        <p:nvSpPr>
          <p:cNvPr id="14" name="Text 12"/>
          <p:cNvSpPr txBox="1"/>
          <p:nvPr/>
        </p:nvSpPr>
        <p:spPr>
          <a:xfrm>
            <a:off x="6781648" y="3251200"/>
            <a:ext cx="435848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wirkom / menama / bendxx</a:t>
            </a:r>
            <a:endParaRPr lang="en-US" sz="1800" dirty="0"/>
          </a:p>
        </p:txBody>
      </p:sp>
      <p:sp>
        <p:nvSpPr>
          <p:cNvPr id="15" name="Geheimtext-Kasten"/>
          <p:cNvSpPr/>
          <p:nvPr/>
        </p:nvSpPr>
        <p:spPr>
          <a:xfrm>
            <a:off x="6553048" y="3875278"/>
            <a:ext cx="4815688" cy="605790"/>
          </a:xfrm>
          <a:prstGeom prst="rect">
            <a:avLst/>
          </a:prstGeom>
          <a:solidFill>
            <a:srgbClr val="F2EADB"/>
          </a:solidFill>
          <a:ln w="9525">
            <a:solidFill>
              <a:srgbClr val="D8CDB8"/>
            </a:solidFill>
            <a:prstDash val="solid"/>
          </a:ln>
        </p:spPr>
      </p:sp>
      <p:sp>
        <p:nvSpPr>
          <p:cNvPr id="16" name="Text 14"/>
          <p:cNvSpPr txBox="1"/>
          <p:nvPr/>
        </p:nvSpPr>
        <p:spPr>
          <a:xfrm>
            <a:off x="6781648" y="3985006"/>
            <a:ext cx="435848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WMBIE ERNNK ADOMX MAX</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Ausblick</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„Caesar hat nicht vertauscht – er hat ersetzt.“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Ein Brief aus Gallien</a:t>
            </a:r>
            <a:endParaRPr lang="en-US" sz="3000" dirty="0"/>
          </a:p>
        </p:txBody>
      </p:sp>
      <p:sp>
        <p:nvSpPr>
          <p:cNvPr id="3" name="Dokument"/>
          <p:cNvSpPr/>
          <p:nvPr/>
        </p:nvSpPr>
        <p:spPr>
          <a:xfrm rot="-72000">
            <a:off x="1554480" y="1417320"/>
            <a:ext cx="9052560" cy="1394460"/>
          </a:xfrm>
          <a:prstGeom prst="rect">
            <a:avLst/>
          </a:prstGeom>
          <a:solidFill>
            <a:srgbClr val="FBF7EE"/>
          </a:solidFill>
          <a:ln w="19050">
            <a:solidFill>
              <a:srgbClr val="B07D2B"/>
            </a:solidFill>
            <a:prstDash val="solid"/>
          </a:ln>
          <a:effectLst>
            <a:outerShdw sx="100000" sy="100000" kx="0" ky="0" algn="bl" rotWithShape="0" blurRad="152400" dist="76200" dir="5400000">
              <a:srgbClr val="000000">
                <a:alpha val="45000"/>
              </a:srgbClr>
            </a:outerShdw>
          </a:effectLst>
        </p:spPr>
      </p:sp>
      <p:sp>
        <p:nvSpPr>
          <p:cNvPr id="4" name="Text 2"/>
          <p:cNvSpPr txBox="1"/>
          <p:nvPr/>
        </p:nvSpPr>
        <p:spPr>
          <a:xfrm rot="-72000">
            <a:off x="1874520" y="1581912"/>
            <a:ext cx="8412480" cy="320040"/>
          </a:xfrm>
          <a:prstGeom prst="rect">
            <a:avLst/>
          </a:prstGeom>
          <a:noFill/>
          <a:ln/>
        </p:spPr>
        <p:txBody>
          <a:bodyPr wrap="square" lIns="0" tIns="0" rIns="0" bIns="0" rtlCol="0" anchor="ctr"/>
          <a:lstStyle/>
          <a:p>
            <a:pPr indent="0" marL="0">
              <a:buNone/>
            </a:pPr>
            <a:r>
              <a:rPr lang="en-US" sz="1300" b="1" spc="200" kern="0" dirty="0">
                <a:solidFill>
                  <a:srgbClr val="B5523B"/>
                </a:solidFill>
              </a:rPr>
              <a:t>ROM, 52 V. CHR. · AN DEN SENAT</a:t>
            </a:r>
            <a:endParaRPr lang="en-US" sz="1300" dirty="0"/>
          </a:p>
        </p:txBody>
      </p:sp>
      <p:sp>
        <p:nvSpPr>
          <p:cNvPr id="5" name="Text 3"/>
          <p:cNvSpPr txBox="1"/>
          <p:nvPr/>
        </p:nvSpPr>
        <p:spPr>
          <a:xfrm rot="-72000">
            <a:off x="1874520" y="1965960"/>
            <a:ext cx="8412480" cy="662940"/>
          </a:xfrm>
          <a:prstGeom prst="rect">
            <a:avLst/>
          </a:prstGeom>
          <a:noFill/>
          <a:ln/>
        </p:spPr>
        <p:txBody>
          <a:bodyPr wrap="square" lIns="0" tIns="0" rIns="0" bIns="0" rtlCol="0" anchor="t"/>
          <a:lstStyle/>
          <a:p>
            <a:pPr indent="0" marL="0">
              <a:lnSpc>
                <a:spcPct val="110000"/>
              </a:lnSpc>
              <a:buNone/>
            </a:pPr>
            <a:r>
              <a:rPr lang="en-US" sz="3000" b="1" spc="300" kern="0" dirty="0">
                <a:solidFill>
                  <a:srgbClr val="1B1B1F"/>
                </a:solidFill>
                <a:latin typeface="Consolas" pitchFamily="34" charset="0"/>
                <a:ea typeface="Consolas" pitchFamily="34" charset="-122"/>
                <a:cs typeface="Consolas" pitchFamily="34" charset="-120"/>
              </a:rPr>
              <a:t>UXHFN CXJLQ VODJH U</a:t>
            </a:r>
            <a:endParaRPr lang="en-US" sz="3000" dirty="0"/>
          </a:p>
        </p:txBody>
      </p:sp>
      <p:sp>
        <p:nvSpPr>
          <p:cNvPr id="6" name="Text 4"/>
          <p:cNvSpPr txBox="1"/>
          <p:nvPr/>
        </p:nvSpPr>
        <p:spPr>
          <a:xfrm>
            <a:off x="731520" y="3223260"/>
            <a:ext cx="10728655" cy="386588"/>
          </a:xfrm>
          <a:prstGeom prst="rect">
            <a:avLst/>
          </a:prstGeom>
          <a:noFill/>
          <a:ln/>
        </p:spPr>
        <p:txBody>
          <a:bodyPr wrap="square" lIns="0" tIns="0" rIns="0" bIns="0" rtlCol="0" anchor="t"/>
          <a:lstStyle/>
          <a:p>
            <a:pPr algn="l" indent="0" marL="0">
              <a:buNone/>
            </a:pPr>
            <a:r>
              <a:rPr lang="en-US" sz="2200" dirty="0">
                <a:solidFill>
                  <a:srgbClr val="FBF7EE"/>
                </a:solidFill>
              </a:rPr>
              <a:t>Diesmal ist </a:t>
            </a:r>
            <a:r>
              <a:rPr lang="en-US" sz="2200" b="1" dirty="0">
                <a:solidFill>
                  <a:srgbClr val="FBF7EE"/>
                </a:solidFill>
              </a:rPr>
              <a:t>nichts vertauscht</a:t>
            </a:r>
            <a:r>
              <a:rPr lang="en-US" sz="2200" dirty="0">
                <a:solidFill>
                  <a:srgbClr val="FBF7EE"/>
                </a:solidFill>
              </a:rPr>
              <a:t>. Was ist passiert?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Caesars Trick</a:t>
            </a:r>
            <a:endParaRPr lang="en-US" sz="3000" dirty="0"/>
          </a:p>
        </p:txBody>
      </p:sp>
      <p:sp>
        <p:nvSpPr>
          <p:cNvPr id="3" name="Text 1"/>
          <p:cNvSpPr txBox="1"/>
          <p:nvPr/>
        </p:nvSpPr>
        <p:spPr>
          <a:xfrm>
            <a:off x="548640" y="1325880"/>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Der Biograf </a:t>
            </a:r>
            <a:r>
              <a:rPr lang="en-US" sz="2200" b="1" dirty="0">
                <a:solidFill>
                  <a:srgbClr val="1B1B1F"/>
                </a:solidFill>
              </a:rPr>
              <a:t>Sueton</a:t>
            </a:r>
            <a:r>
              <a:rPr lang="en-US" sz="2200" dirty="0">
                <a:solidFill>
                  <a:srgbClr val="1B1B1F"/>
                </a:solidFill>
              </a:rPr>
              <a:t> berichtet: Caesar ersetzte in vertraulichen Briefen jeden Buchstaben durch den </a:t>
            </a:r>
            <a:r>
              <a:rPr lang="en-US" sz="2200" b="1" dirty="0">
                <a:solidFill>
                  <a:srgbClr val="1B1B1F"/>
                </a:solidFill>
              </a:rPr>
              <a:t>dritten danach</a:t>
            </a:r>
            <a:r>
              <a:rPr lang="en-US" sz="2200" dirty="0">
                <a:solidFill>
                  <a:srgbClr val="1B1B1F"/>
                </a:solidFill>
              </a:rPr>
              <a:t>.</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81352"/>
          <a:ext cx="11094415" cy="914400"/>
        </p:xfrm>
        <a:graphic>
          <a:graphicData uri="http://schemas.openxmlformats.org/drawingml/2006/table">
            <a:tbl>
              <a:tblPr/>
              <a:tblGrid>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tblGrid>
              <a:tr h="0">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A</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B</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C</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D</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E</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F</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G</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H</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I</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J</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K</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L</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M</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N</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O</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P</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Q</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R</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S</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T</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U</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V</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W</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X</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Y</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Z</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D</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E</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F</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G</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H</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I</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J</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K</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L</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M</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N</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O</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P</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Q</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R</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S</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T</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U</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V</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W</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X</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Y</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Z</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A</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B</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C</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48640" y="3107312"/>
          <a:ext cx="9601200" cy="914400"/>
        </p:xfrm>
        <a:graphic>
          <a:graphicData uri="http://schemas.openxmlformats.org/drawingml/2006/table">
            <a:tbl>
              <a:tblPr/>
              <a:tblGrid>
                <a:gridCol w="2194560"/>
                <a:gridCol w="822960"/>
                <a:gridCol w="822960"/>
                <a:gridCol w="822960"/>
                <a:gridCol w="822960"/>
                <a:gridCol w="822960"/>
                <a:gridCol w="822960"/>
                <a:gridCol w="822960"/>
                <a:gridCol w="822960"/>
                <a:gridCol w="822960"/>
              </a:tblGrid>
              <a:tr h="0">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Geheimtext</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U</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X</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H</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F</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N</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C</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X</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J</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Klartext</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r</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u</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e</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c</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k</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z</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u</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g</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4201544"/>
            <a:ext cx="11094415" cy="386588"/>
          </a:xfrm>
          <a:prstGeom prst="rect">
            <a:avLst/>
          </a:prstGeom>
          <a:noFill/>
          <a:ln/>
        </p:spPr>
        <p:txBody>
          <a:bodyPr wrap="square" lIns="0" tIns="0" rIns="0" bIns="0" rtlCol="0" anchor="t"/>
          <a:lstStyle/>
          <a:p>
            <a:pPr algn="ctr" indent="0" marL="0">
              <a:buNone/>
            </a:pPr>
            <a:r>
              <a:rPr lang="en-US" sz="2200" dirty="0">
                <a:solidFill>
                  <a:srgbClr val="1B1B1F"/>
                </a:solidFill>
                <a:latin typeface="Consolas" pitchFamily="34" charset="0"/>
                <a:ea typeface="Consolas" pitchFamily="34" charset="-122"/>
                <a:cs typeface="Consolas" pitchFamily="34" charset="-120"/>
              </a:rPr>
              <a:t>UXHFN CXJLQ VODJH U</a:t>
            </a:r>
            <a:r>
              <a:rPr lang="en-US" sz="2200" dirty="0">
                <a:solidFill>
                  <a:srgbClr val="1B1B1F"/>
                </a:solidFill>
              </a:rPr>
              <a:t> → </a:t>
            </a:r>
            <a:r>
              <a:rPr lang="en-US" sz="2200" b="1" dirty="0">
                <a:solidFill>
                  <a:srgbClr val="B5523B"/>
                </a:solidFill>
              </a:rPr>
              <a:t>rueckzug ins lager</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Alphabetleiste</a:t>
            </a:r>
            <a:endParaRPr lang="en-US" sz="3000" dirty="0"/>
          </a:p>
        </p:txBody>
      </p:sp>
      <p:sp>
        <p:nvSpPr>
          <p:cNvPr id="3" name="Text 1"/>
          <p:cNvSpPr txBox="1"/>
          <p:nvPr/>
        </p:nvSpPr>
        <p:spPr>
          <a:xfrm>
            <a:off x="548640" y="132588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Nummerierung: </a:t>
            </a:r>
            <a:r>
              <a:rPr lang="en-US" sz="2200" b="1" dirty="0">
                <a:solidFill>
                  <a:srgbClr val="1B1B1F"/>
                </a:solidFill>
              </a:rPr>
              <a:t>A = 1 … Z = 26</a:t>
            </a:r>
            <a:r>
              <a:rPr lang="en-US" sz="2200" dirty="0">
                <a:solidFill>
                  <a:srgbClr val="1B1B1F"/>
                </a:solidFill>
              </a:rPr>
              <a:t> (wie in der Abitur-Anlage)</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40484"/>
          <a:ext cx="11094415" cy="914400"/>
        </p:xfrm>
        <a:graphic>
          <a:graphicData uri="http://schemas.openxmlformats.org/drawingml/2006/table">
            <a:tbl>
              <a:tblPr/>
              <a:tblGrid>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gridCol w="426708"/>
              </a:tblGrid>
              <a:tr h="0">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A</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B</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C</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D</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E</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F</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G</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H</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I</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J</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K</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L</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M</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N</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O</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P</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Q</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R</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S</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T</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U</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V</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W</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X</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Y</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Z</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3</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4</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5</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6</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7</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8</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9</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10</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11</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12</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13</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14</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15</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16</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17</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18</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19</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20</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21</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22</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23</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24</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25</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386" dirty="0">
                          <a:solidFill>
                            <a:srgbClr val="4A4A55"/>
                          </a:solidFill>
                          <a:latin typeface="Calibri" pitchFamily="34" charset="0"/>
                          <a:ea typeface="Calibri" pitchFamily="34" charset="-122"/>
                          <a:cs typeface="Calibri" pitchFamily="34" charset="-120"/>
                        </a:rPr>
                        <a:t>26</a:t>
                      </a:r>
                      <a:endParaRPr lang="en-US" sz="1386"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D</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E</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F</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G</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H</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I</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J</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K</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L</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M</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N</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O</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P</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Q</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R</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S</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T</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U</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V</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W</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X</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Y</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Z</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A</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B</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48" b="1" dirty="0">
                          <a:solidFill>
                            <a:srgbClr val="1B1B1F"/>
                          </a:solidFill>
                          <a:latin typeface="Consolas" pitchFamily="34" charset="0"/>
                          <a:ea typeface="Consolas" pitchFamily="34" charset="-122"/>
                          <a:cs typeface="Consolas" pitchFamily="34" charset="-120"/>
                        </a:rPr>
                        <a:t>C</a:t>
                      </a:r>
                      <a:endParaRPr lang="en-US" sz="184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165417"/>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Verschlüsseln: k Stellen </a:t>
            </a:r>
            <a:r>
              <a:rPr lang="en-US" sz="2200" b="1" dirty="0">
                <a:solidFill>
                  <a:srgbClr val="1B1B1F"/>
                </a:solidFill>
              </a:rPr>
              <a:t>nach rechts</a:t>
            </a:r>
            <a:r>
              <a:rPr lang="en-US" sz="2200" dirty="0">
                <a:solidFill>
                  <a:srgbClr val="1B1B1F"/>
                </a:solidFill>
              </a:rPr>
              <a:t>, nach Z geht es mit A weiter</a:t>
            </a:r>
            <a:endParaRPr lang="en-US" sz="2200" dirty="0"/>
          </a:p>
        </p:txBody>
      </p:sp>
      <p:sp>
        <p:nvSpPr>
          <p:cNvPr id="6" name="Text 3"/>
          <p:cNvSpPr txBox="1"/>
          <p:nvPr/>
        </p:nvSpPr>
        <p:spPr>
          <a:xfrm>
            <a:off x="548640" y="3680021"/>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Entschlüsseln: k Stellen </a:t>
            </a:r>
            <a:r>
              <a:rPr lang="en-US" sz="2200" b="1" dirty="0">
                <a:solidFill>
                  <a:srgbClr val="1B1B1F"/>
                </a:solidFill>
              </a:rPr>
              <a:t>nach links</a:t>
            </a:r>
            <a:r>
              <a:rPr lang="en-US" sz="2200" dirty="0">
                <a:solidFill>
                  <a:srgbClr val="1B1B1F"/>
                </a:solidFill>
              </a:rPr>
              <a:t> (= 26 − k nach rechts)</a:t>
            </a:r>
            <a:endParaRPr lang="en-US" sz="2200" dirty="0"/>
          </a:p>
        </p:txBody>
      </p:sp>
      <p:sp>
        <p:nvSpPr>
          <p:cNvPr id="7" name="Text 4"/>
          <p:cNvSpPr txBox="1"/>
          <p:nvPr/>
        </p:nvSpPr>
        <p:spPr>
          <a:xfrm>
            <a:off x="548640" y="4194625"/>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Schlüssel k ∈ {0, 1, …, 25}</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Caesar</a:t>
            </a:r>
            <a:endParaRPr lang="en-US" sz="3000" dirty="0"/>
          </a:p>
        </p:txBody>
      </p:sp>
      <p:sp>
        <p:nvSpPr>
          <p:cNvPr id="3" name="Merke-Kasten"/>
          <p:cNvSpPr/>
          <p:nvPr/>
        </p:nvSpPr>
        <p:spPr>
          <a:xfrm>
            <a:off x="1097280" y="1508760"/>
            <a:ext cx="9997135" cy="2886456"/>
          </a:xfrm>
          <a:prstGeom prst="roundRect">
            <a:avLst>
              <a:gd name="adj" fmla="val 3168"/>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Jeder Buchstabe wird um </a:t>
            </a:r>
            <a:r>
              <a:rPr lang="en-US" sz="2200" b="1" dirty="0">
                <a:solidFill>
                  <a:srgbClr val="1B1B1F"/>
                </a:solidFill>
              </a:rPr>
              <a:t>k</a:t>
            </a:r>
            <a:r>
              <a:rPr lang="en-US" sz="2200" dirty="0">
                <a:solidFill>
                  <a:srgbClr val="1B1B1F"/>
                </a:solidFill>
              </a:rPr>
              <a:t> verschoben, nach Z folgt A. Schlüssel </a:t>
            </a:r>
            <a:r>
              <a:rPr lang="en-US" sz="2200" b="1" dirty="0">
                <a:solidFill>
                  <a:srgbClr val="1B1B1F"/>
                </a:solidFill>
              </a:rPr>
              <a:t>k ∈ {0, …, 25}</a:t>
            </a:r>
            <a:r>
              <a:rPr lang="en-US" sz="2200" dirty="0">
                <a:solidFill>
                  <a:srgbClr val="1B1B1F"/>
                </a:solidFill>
              </a:rPr>
              <a:t>.</a:t>
            </a:r>
            <a:endParaRPr lang="en-US" sz="2200" dirty="0"/>
          </a:p>
        </p:txBody>
      </p:sp>
      <p:sp>
        <p:nvSpPr>
          <p:cNvPr id="6" name="Text 4"/>
          <p:cNvSpPr txBox="1"/>
          <p:nvPr/>
        </p:nvSpPr>
        <p:spPr>
          <a:xfrm>
            <a:off x="1508760" y="3095752"/>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Entschlüsseln: um k zurück. Derselbe Klartextbuchstabe wird </a:t>
            </a:r>
            <a:r>
              <a:rPr lang="en-US" sz="2200" b="1" dirty="0">
                <a:solidFill>
                  <a:srgbClr val="1B1B1F"/>
                </a:solidFill>
              </a:rPr>
              <a:t>immer gleich</a:t>
            </a:r>
            <a:r>
              <a:rPr lang="en-US" sz="2200" dirty="0">
                <a:solidFill>
                  <a:srgbClr val="1B1B1F"/>
                </a:solidFill>
              </a:rPr>
              <a:t> ersetzt – </a:t>
            </a:r>
            <a:r>
              <a:rPr lang="en-US" sz="2200" b="1" dirty="0">
                <a:solidFill>
                  <a:srgbClr val="1B1B1F"/>
                </a:solidFill>
              </a:rPr>
              <a:t>monoalphabetische Substitution</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Im Kryptolabor: die Chiffrierscheibe</a:t>
            </a:r>
            <a:endParaRPr lang="en-US" sz="3000" dirty="0"/>
          </a:p>
        </p:txBody>
      </p:sp>
      <p:sp>
        <p:nvSpPr>
          <p:cNvPr id="3" name="Text 1"/>
          <p:cNvSpPr txBox="1"/>
          <p:nvPr/>
        </p:nvSpPr>
        <p:spPr>
          <a:xfrm>
            <a:off x="548640" y="1325880"/>
            <a:ext cx="11094415" cy="293624"/>
          </a:xfrm>
          <a:prstGeom prst="rect">
            <a:avLst/>
          </a:prstGeom>
          <a:noFill/>
          <a:ln/>
        </p:spPr>
        <p:txBody>
          <a:bodyPr wrap="square" lIns="0" tIns="0" rIns="0" bIns="0" rtlCol="0" anchor="t"/>
          <a:lstStyle/>
          <a:p>
            <a:pPr algn="l" indent="0" marL="0">
              <a:buNone/>
            </a:pPr>
            <a:r>
              <a:rPr lang="en-US" sz="1600" dirty="0">
                <a:solidFill>
                  <a:srgbClr val="1B1B1F"/>
                </a:solidFill>
              </a:rPr>
              <a:t>Innen drehen, außen antippen – der Buchstabe fliegt ins Band. </a:t>
            </a:r>
            <a:r>
              <a:rPr lang="en-US" sz="1600" b="1" dirty="0">
                <a:solidFill>
                  <a:srgbClr val="1B1B1F"/>
                </a:solidFill>
              </a:rPr>
              <a:t>Die Scheibe bleibt fest, solange du schreibst.</a:t>
            </a:r>
            <a:endParaRPr lang="en-US" sz="1600" dirty="0"/>
          </a:p>
        </p:txBody>
      </p:sp>
      <p:pic>
        <p:nvPicPr>
          <p:cNvPr id="4" name="Image 0" descr="bild">    </p:cNvPr>
          <p:cNvPicPr>
            <a:picLocks noChangeAspect="1"/>
          </p:cNvPicPr>
          <p:nvPr/>
        </p:nvPicPr>
        <p:blipFill>
          <a:blip r:embed="rId1"/>
          <a:stretch>
            <a:fillRect/>
          </a:stretch>
        </p:blipFill>
        <p:spPr>
          <a:xfrm>
            <a:off x="2712568" y="1747520"/>
            <a:ext cx="6766560" cy="3806190"/>
          </a:xfrm>
          <a:prstGeom prst="rect">
            <a:avLst/>
          </a:prstGeom>
        </p:spPr>
      </p:pic>
      <p:sp>
        <p:nvSpPr>
          <p:cNvPr id="5" name="Text 2"/>
          <p:cNvSpPr txBox="1"/>
          <p:nvPr/>
        </p:nvSpPr>
        <p:spPr>
          <a:xfrm>
            <a:off x="548640" y="5590286"/>
            <a:ext cx="11094415" cy="274320"/>
          </a:xfrm>
          <a:prstGeom prst="rect">
            <a:avLst/>
          </a:prstGeom>
          <a:noFill/>
          <a:ln/>
        </p:spPr>
        <p:txBody>
          <a:bodyPr wrap="square" lIns="0" tIns="0" rIns="0" bIns="0" rtlCol="0" anchor="ctr"/>
          <a:lstStyle/>
          <a:p>
            <a:pPr algn="ctr" indent="0" marL="0">
              <a:buNone/>
            </a:pPr>
            <a:r>
              <a:rPr lang="en-US" sz="1200" i="1" dirty="0">
                <a:solidFill>
                  <a:srgbClr val="4A4A55"/>
                </a:solidFill>
              </a:rPr>
              <a:t>Kryptolabor · Ideen von A. Bodendiek (Krypto-Werkstatt)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Formel</a:t>
            </a:r>
            <a:endParaRPr lang="en-US" sz="3000" dirty="0"/>
          </a:p>
        </p:txBody>
      </p:sp>
      <p:sp>
        <p:nvSpPr>
          <p:cNvPr id="3" name="Text 1"/>
          <p:cNvSpPr txBox="1"/>
          <p:nvPr/>
        </p:nvSpPr>
        <p:spPr>
          <a:xfrm>
            <a:off x="548640" y="1325880"/>
            <a:ext cx="11094415" cy="448564"/>
          </a:xfrm>
          <a:prstGeom prst="rect">
            <a:avLst/>
          </a:prstGeom>
          <a:noFill/>
          <a:ln/>
        </p:spPr>
        <p:txBody>
          <a:bodyPr wrap="square" lIns="0" tIns="0" rIns="0" bIns="0" rtlCol="0" anchor="t"/>
          <a:lstStyle/>
          <a:p>
            <a:pPr algn="ctr" indent="0" marL="0">
              <a:buNone/>
            </a:pPr>
            <a:r>
              <a:rPr lang="en-US" sz="2600" b="1" dirty="0">
                <a:solidFill>
                  <a:srgbClr val="1B1B1F"/>
                </a:solidFill>
              </a:rPr>
              <a:t>c = ((p + k − 1) mod 26) + 1</a:t>
            </a:r>
            <a:endParaRPr lang="en-US" sz="2600" dirty="0"/>
          </a:p>
        </p:txBody>
      </p:sp>
      <p:sp>
        <p:nvSpPr>
          <p:cNvPr id="4" name="Text 2"/>
          <p:cNvSpPr txBox="1"/>
          <p:nvPr/>
        </p:nvSpPr>
        <p:spPr>
          <a:xfrm>
            <a:off x="548640" y="1902460"/>
            <a:ext cx="11094415" cy="603504"/>
          </a:xfrm>
          <a:prstGeom prst="rect">
            <a:avLst/>
          </a:prstGeom>
          <a:noFill/>
          <a:ln/>
        </p:spPr>
        <p:txBody>
          <a:bodyPr wrap="square" lIns="0" tIns="0" rIns="0" bIns="0" rtlCol="0" anchor="t"/>
          <a:lstStyle/>
          <a:p>
            <a:pPr algn="ctr" indent="0" marL="0">
              <a:buNone/>
            </a:pPr>
            <a:r>
              <a:rPr lang="en-US" sz="1800" dirty="0">
                <a:solidFill>
                  <a:srgbClr val="1B1B1F"/>
                </a:solidFill>
              </a:rPr>
              <a:t>p = Nummer des Klartextbuchstabens, c = Nummer des Geheimtextbuchstabens, </a:t>
            </a:r>
            <a:r>
              <a:rPr lang="en-US" sz="1800" dirty="0">
                <a:solidFill>
                  <a:srgbClr val="1B1B1F"/>
                </a:solidFill>
                <a:latin typeface="Consolas" pitchFamily="34" charset="0"/>
                <a:ea typeface="Consolas" pitchFamily="34" charset="-122"/>
                <a:cs typeface="Consolas" pitchFamily="34" charset="-120"/>
              </a:rPr>
              <a:t>mod</a:t>
            </a:r>
            <a:r>
              <a:rPr lang="en-US" sz="1800" dirty="0">
                <a:solidFill>
                  <a:srgbClr val="1B1B1F"/>
                </a:solidFill>
              </a:rPr>
              <a:t> = Rest bei Division durch 26</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633980"/>
          <a:ext cx="11094415" cy="914400"/>
        </p:xfrm>
        <a:graphic>
          <a:graphicData uri="http://schemas.openxmlformats.org/drawingml/2006/table">
            <a:tbl>
              <a:tblPr/>
              <a:tblGrid>
                <a:gridCol w="1455005"/>
                <a:gridCol w="818440"/>
                <a:gridCol w="818440"/>
                <a:gridCol w="5638145"/>
                <a:gridCol w="818440"/>
                <a:gridCol w="1545943"/>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Klartext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p</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k</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Rechnung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Geheimtext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X</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((24 + 5 − 1) mod 26) + 1 = 2 + 1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26</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((26 + 1 − 1) mod 26) + 1 = 0 + 1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P2 · Die Null</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Rest 0 ist </a:t>
            </a:r>
            <a:r>
              <a:rPr lang="en-US" sz="2200" b="1" dirty="0">
                <a:solidFill>
                  <a:srgbClr val="1B1B1F"/>
                </a:solidFill>
              </a:rPr>
              <a:t>kein Buchstabe</a:t>
            </a:r>
            <a:r>
              <a:rPr lang="en-US" sz="2200" dirty="0">
                <a:solidFill>
                  <a:srgbClr val="1B1B1F"/>
                </a:solidFill>
              </a:rPr>
              <a:t> – mit A = 1 bedeutet Rest 0 den Buchstaben </a:t>
            </a:r>
            <a:r>
              <a:rPr lang="en-US" sz="2200" b="1" dirty="0">
                <a:solidFill>
                  <a:srgbClr val="1B1B1F"/>
                </a:solidFill>
              </a:rPr>
              <a:t>Z</a:t>
            </a:r>
            <a:r>
              <a:rPr lang="en-US" sz="2200" dirty="0">
                <a:solidFill>
                  <a:srgbClr val="1B1B1F"/>
                </a:solidFill>
              </a:rPr>
              <a:t> (26).</a:t>
            </a:r>
            <a:endParaRPr lang="en-US" sz="2200" dirty="0"/>
          </a:p>
        </p:txBody>
      </p:sp>
      <p:sp>
        <p:nvSpPr>
          <p:cNvPr id="4" name="Shape 2"/>
          <p:cNvSpPr/>
          <p:nvPr/>
        </p:nvSpPr>
        <p:spPr>
          <a:xfrm>
            <a:off x="548640" y="1941068"/>
            <a:ext cx="5364328" cy="2005584"/>
          </a:xfrm>
          <a:prstGeom prst="roundRect">
            <a:avLst>
              <a:gd name="adj" fmla="val 3647"/>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386588"/>
          </a:xfrm>
          <a:prstGeom prst="rect">
            <a:avLst/>
          </a:prstGeom>
          <a:noFill/>
          <a:ln/>
        </p:spPr>
        <p:txBody>
          <a:bodyPr wrap="square" lIns="0" tIns="0" rIns="0" bIns="0" rtlCol="0" anchor="t"/>
          <a:lstStyle/>
          <a:p>
            <a:pPr algn="l" indent="0" marL="0">
              <a:buNone/>
            </a:pPr>
            <a:r>
              <a:rPr lang="en-US" sz="2200" dirty="0">
                <a:solidFill>
                  <a:srgbClr val="1B1B1F"/>
                </a:solidFill>
              </a:rPr>
              <a:t>W (23), k = 3:</a:t>
            </a:r>
            <a:endParaRPr lang="en-US" sz="2200" dirty="0"/>
          </a:p>
        </p:txBody>
      </p:sp>
      <p:sp>
        <p:nvSpPr>
          <p:cNvPr id="7" name="Text 5"/>
          <p:cNvSpPr txBox="1"/>
          <p:nvPr/>
        </p:nvSpPr>
        <p:spPr>
          <a:xfrm>
            <a:off x="822960" y="3141472"/>
            <a:ext cx="4815688" cy="448564"/>
          </a:xfrm>
          <a:prstGeom prst="rect">
            <a:avLst/>
          </a:prstGeom>
          <a:noFill/>
          <a:ln/>
        </p:spPr>
        <p:txBody>
          <a:bodyPr wrap="square" lIns="0" tIns="0" rIns="0" bIns="0" rtlCol="0" anchor="t"/>
          <a:lstStyle/>
          <a:p>
            <a:pPr algn="ctr" indent="0" marL="0">
              <a:buNone/>
            </a:pPr>
            <a:r>
              <a:rPr lang="en-US" sz="2600" dirty="0">
                <a:solidFill>
                  <a:srgbClr val="1B1B1F"/>
                </a:solidFill>
              </a:rPr>
              <a:t>(23 + 3) mod 26 = </a:t>
            </a:r>
            <a:r>
              <a:rPr lang="en-US" sz="2600" b="1" dirty="0">
                <a:solidFill>
                  <a:srgbClr val="1B1B1F"/>
                </a:solidFill>
              </a:rPr>
              <a:t>0</a:t>
            </a:r>
            <a:r>
              <a:rPr lang="en-US" sz="2600" dirty="0">
                <a:solidFill>
                  <a:srgbClr val="1B1B1F"/>
                </a:solidFill>
              </a:rPr>
              <a:t> → „?“</a:t>
            </a:r>
            <a:endParaRPr lang="en-US" sz="2600" dirty="0"/>
          </a:p>
        </p:txBody>
      </p:sp>
      <p:sp>
        <p:nvSpPr>
          <p:cNvPr id="8" name="Shape 6"/>
          <p:cNvSpPr/>
          <p:nvPr/>
        </p:nvSpPr>
        <p:spPr>
          <a:xfrm>
            <a:off x="6278728" y="1941068"/>
            <a:ext cx="5364328" cy="2408428"/>
          </a:xfrm>
          <a:prstGeom prst="roundRect">
            <a:avLst>
              <a:gd name="adj" fmla="val 3037"/>
            </a:avLst>
          </a:prstGeom>
          <a:solidFill>
            <a:srgbClr val="EEF6EE"/>
          </a:solidFill>
          <a:ln w="15875">
            <a:solidFill>
              <a:srgbClr val="2E7D32"/>
            </a:solidFill>
            <a:prstDash val="solid"/>
          </a:ln>
        </p:spPr>
      </p:sp>
      <p:sp>
        <p:nvSpPr>
          <p:cNvPr id="9" name="Text 7"/>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6553048" y="2626868"/>
            <a:ext cx="4815688" cy="386588"/>
          </a:xfrm>
          <a:prstGeom prst="rect">
            <a:avLst/>
          </a:prstGeom>
          <a:noFill/>
          <a:ln/>
        </p:spPr>
        <p:txBody>
          <a:bodyPr wrap="square" lIns="0" tIns="0" rIns="0" bIns="0" rtlCol="0" anchor="t"/>
          <a:lstStyle/>
          <a:p>
            <a:pPr algn="l" indent="0" marL="0">
              <a:buNone/>
            </a:pPr>
            <a:r>
              <a:rPr lang="en-US" sz="2200" dirty="0">
                <a:solidFill>
                  <a:srgbClr val="1B1B1F"/>
                </a:solidFill>
              </a:rPr>
              <a:t>W (23), k = 3:</a:t>
            </a:r>
            <a:endParaRPr lang="en-US" sz="2200" dirty="0"/>
          </a:p>
        </p:txBody>
      </p:sp>
      <p:sp>
        <p:nvSpPr>
          <p:cNvPr id="11" name="Text 9"/>
          <p:cNvSpPr txBox="1"/>
          <p:nvPr/>
        </p:nvSpPr>
        <p:spPr>
          <a:xfrm>
            <a:off x="6553048" y="3141472"/>
            <a:ext cx="4815688" cy="851408"/>
          </a:xfrm>
          <a:prstGeom prst="rect">
            <a:avLst/>
          </a:prstGeom>
          <a:noFill/>
          <a:ln/>
        </p:spPr>
        <p:txBody>
          <a:bodyPr wrap="square" lIns="0" tIns="0" rIns="0" bIns="0" rtlCol="0" anchor="t"/>
          <a:lstStyle/>
          <a:p>
            <a:pPr algn="ctr" indent="0" marL="0">
              <a:buNone/>
            </a:pPr>
            <a:r>
              <a:rPr lang="en-US" sz="2600" dirty="0">
                <a:solidFill>
                  <a:srgbClr val="1B1B1F"/>
                </a:solidFill>
              </a:rPr>
              <a:t>((23 + 3 − 1) mod 26) + 1 = </a:t>
            </a:r>
            <a:r>
              <a:rPr lang="en-US" sz="2600" b="1" dirty="0">
                <a:solidFill>
                  <a:srgbClr val="1B1B1F"/>
                </a:solidFill>
              </a:rPr>
              <a:t>26</a:t>
            </a:r>
            <a:r>
              <a:rPr lang="en-US" sz="2600" dirty="0">
                <a:solidFill>
                  <a:srgbClr val="1B1B1F"/>
                </a:solidFill>
              </a:rPr>
              <a:t> → </a:t>
            </a:r>
            <a:r>
              <a:rPr lang="en-US" sz="2600" b="1" dirty="0">
                <a:solidFill>
                  <a:srgbClr val="1B1B1F"/>
                </a:solidFill>
              </a:rPr>
              <a:t>Z</a:t>
            </a:r>
            <a:endParaRPr lang="en-US" sz="2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Caesar von Hand</a:t>
            </a:r>
            <a:endParaRPr lang="en-US" sz="3000" dirty="0"/>
          </a:p>
        </p:txBody>
      </p:sp>
      <p:sp>
        <p:nvSpPr>
          <p:cNvPr id="3" name="Text 1"/>
          <p:cNvSpPr txBox="1"/>
          <p:nvPr/>
        </p:nvSpPr>
        <p:spPr>
          <a:xfrm>
            <a:off x="548640" y="1325880"/>
            <a:ext cx="1463040" cy="384048"/>
          </a:xfrm>
          <a:prstGeom prst="rect">
            <a:avLst/>
          </a:prstGeom>
          <a:solidFill>
            <a:srgbClr val="B5523B"/>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746504"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Partnerarbeit</a:t>
            </a:r>
            <a:endParaRPr lang="en-US" sz="1400" dirty="0"/>
          </a:p>
        </p:txBody>
      </p:sp>
      <p:sp>
        <p:nvSpPr>
          <p:cNvPr id="5" name="Text 3"/>
          <p:cNvSpPr txBox="1"/>
          <p:nvPr/>
        </p:nvSpPr>
        <p:spPr>
          <a:xfrm>
            <a:off x="4032504"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10 min</a:t>
            </a:r>
            <a:endParaRPr lang="en-US" sz="1400" dirty="0"/>
          </a:p>
        </p:txBody>
      </p:sp>
      <p:sp>
        <p:nvSpPr>
          <p:cNvPr id="6" name="Text 4"/>
          <p:cNvSpPr txBox="1"/>
          <p:nvPr/>
        </p:nvSpPr>
        <p:spPr>
          <a:xfrm>
            <a:off x="548640" y="1965960"/>
            <a:ext cx="11094415" cy="386588"/>
          </a:xfrm>
          <a:prstGeom prst="rect">
            <a:avLst/>
          </a:prstGeom>
          <a:noFill/>
          <a:ln/>
        </p:spPr>
        <p:txBody>
          <a:bodyPr wrap="square" lIns="0" tIns="0" rIns="0" bIns="0" rtlCol="0" anchor="t"/>
          <a:lstStyle/>
          <a:p>
            <a:pPr algn="l" indent="0" marL="0">
              <a:buNone/>
            </a:pPr>
            <a:r>
              <a:rPr lang="en-US" sz="2200" b="1" dirty="0">
                <a:solidFill>
                  <a:srgbClr val="1B1B1F"/>
                </a:solidFill>
              </a:rPr>
              <a:t>Akte W0·2</a:t>
            </a:r>
            <a:r>
              <a:rPr lang="en-US" sz="2200" dirty="0">
                <a:solidFill>
                  <a:srgbClr val="1B1B1F"/>
                </a:solidFill>
              </a:rPr>
              <a:t>, Aufträge 1–3</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480564"/>
          <a:ext cx="8778240" cy="914400"/>
        </p:xfrm>
        <a:graphic>
          <a:graphicData uri="http://schemas.openxmlformats.org/drawingml/2006/table">
            <a:tbl>
              <a:tblPr/>
              <a:tblGrid>
                <a:gridCol w="1463040"/>
                <a:gridCol w="7315200"/>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Auftrag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Was?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verschlüsseln mit k = 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2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entschlüsseln mit k = 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3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Formel-Tabelle: Wo schnappt die Z-Falle zu?</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Funkraum: Botenlauf</a:t>
            </a:r>
            <a:endParaRPr lang="en-US" sz="3000" dirty="0"/>
          </a:p>
        </p:txBody>
      </p:sp>
      <p:pic>
        <p:nvPicPr>
          <p:cNvPr id="3" name="Image 0" descr="/tmp/kr_bildcache/qr_72e29757ebfd726a.png">    </p:cNvPr>
          <p:cNvPicPr>
            <a:picLocks noChangeAspect="1"/>
          </p:cNvPicPr>
          <p:nvPr/>
        </p:nvPicPr>
        <p:blipFill>
          <a:blip r:embed="rId1"/>
          <a:stretch>
            <a:fillRect/>
          </a:stretch>
        </p:blipFill>
        <p:spPr>
          <a:xfrm>
            <a:off x="9905695" y="4206240"/>
            <a:ext cx="1737360" cy="173736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8716975" cy="914400"/>
        </p:xfrm>
        <a:graphic>
          <a:graphicData uri="http://schemas.openxmlformats.org/drawingml/2006/table">
            <a:tbl>
              <a:tblPr/>
              <a:tblGrid>
                <a:gridCol w="2724055"/>
                <a:gridCol w="5992920"/>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Rolle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Auftrag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 Alice-Teams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Befehle mit Caesar verschlüsseln und senden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 Bob-Teams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entschlüsseln, verschlüsselte Quittung senden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 Eve-Teams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alles mitlesen und knacken – ihr wisst: alle benutzen Caesar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31520" y="3460496"/>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Drei Runden à 6 min. Schlüssel nur auf eurer </a:t>
            </a:r>
            <a:r>
              <a:rPr lang="en-US" sz="2200" b="1" dirty="0">
                <a:solidFill>
                  <a:srgbClr val="FBF7EE"/>
                </a:solidFill>
              </a:rPr>
              <a:t>Schlüsselkarte</a:t>
            </a:r>
            <a:r>
              <a:rPr lang="en-US" sz="2200" dirty="0">
                <a:solidFill>
                  <a:srgbClr val="FBF7EE"/>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Wie hat Eve das geschafft?</a:t>
            </a:r>
            <a:endParaRPr lang="en-US" sz="3000" dirty="0"/>
          </a:p>
        </p:txBody>
      </p:sp>
      <p:sp>
        <p:nvSpPr>
          <p:cNvPr id="3" name="Text 1"/>
          <p:cNvSpPr txBox="1"/>
          <p:nvPr/>
        </p:nvSpPr>
        <p:spPr>
          <a:xfrm>
            <a:off x="548640" y="132588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Höchstens </a:t>
            </a:r>
            <a:r>
              <a:rPr lang="en-US" sz="2200" b="1" dirty="0">
                <a:solidFill>
                  <a:srgbClr val="1B1B1F"/>
                </a:solidFill>
              </a:rPr>
              <a:t>25 Versuche</a:t>
            </a:r>
            <a:r>
              <a:rPr lang="en-US" sz="2200" dirty="0">
                <a:solidFill>
                  <a:srgbClr val="1B1B1F"/>
                </a:solidFill>
              </a:rPr>
              <a:t> – Eve probiert jeden Schlüssel aus: </a:t>
            </a:r>
            <a:r>
              <a:rPr lang="en-US" sz="2200" b="1" dirty="0">
                <a:solidFill>
                  <a:srgbClr val="B5523B"/>
                </a:solidFill>
              </a:rPr>
              <a:t>Brute-Force-Angriff</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40484"/>
          <a:ext cx="5669280" cy="914400"/>
        </p:xfrm>
        <a:graphic>
          <a:graphicData uri="http://schemas.openxmlformats.org/drawingml/2006/table">
            <a:tbl>
              <a:tblPr/>
              <a:tblGrid>
                <a:gridCol w="1097280"/>
                <a:gridCol w="4572000"/>
              </a:tblGrid>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k</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Anfang des Klartexts?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kwfsl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jverk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iudqj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18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tfobu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19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senat tagt heute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5" name="Text 2"/>
          <p:cNvSpPr txBox="1"/>
          <p:nvPr/>
        </p:nvSpPr>
        <p:spPr>
          <a:xfrm>
            <a:off x="548640" y="4777740"/>
            <a:ext cx="11094415" cy="324612"/>
          </a:xfrm>
          <a:prstGeom prst="rect">
            <a:avLst/>
          </a:prstGeom>
          <a:noFill/>
          <a:ln/>
        </p:spPr>
        <p:txBody>
          <a:bodyPr wrap="square" lIns="0" tIns="0" rIns="0" bIns="0" rtlCol="0" anchor="t"/>
          <a:lstStyle/>
          <a:p>
            <a:pPr algn="l" indent="0" marL="0">
              <a:buNone/>
            </a:pPr>
            <a:r>
              <a:rPr lang="en-US" sz="1800" b="1" dirty="0">
                <a:solidFill>
                  <a:srgbClr val="1B1B1F"/>
                </a:solidFill>
              </a:rPr>
              <a:t>Schlüsselraum</a:t>
            </a:r>
            <a:r>
              <a:rPr lang="en-US" sz="1800" dirty="0">
                <a:solidFill>
                  <a:srgbClr val="1B1B1F"/>
                </a:solidFill>
              </a:rPr>
              <a:t> = Menge aller möglichen Schlüssel</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Schlüsselraum</a:t>
            </a:r>
            <a:endParaRPr lang="en-US" sz="3000" dirty="0"/>
          </a:p>
        </p:txBody>
      </p:sp>
      <p:sp>
        <p:nvSpPr>
          <p:cNvPr id="3" name="Merke-Kasten"/>
          <p:cNvSpPr/>
          <p:nvPr/>
        </p:nvSpPr>
        <p:spPr>
          <a:xfrm>
            <a:off x="1097280" y="1508760"/>
            <a:ext cx="9997135" cy="2514600"/>
          </a:xfrm>
          <a:prstGeom prst="roundRect">
            <a:avLst>
              <a:gd name="adj" fmla="val 3636"/>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Caesar: </a:t>
            </a:r>
            <a:r>
              <a:rPr lang="en-US" sz="2200" b="1" dirty="0">
                <a:solidFill>
                  <a:srgbClr val="1B1B1F"/>
                </a:solidFill>
              </a:rPr>
              <a:t>26 Schlüssel</a:t>
            </a:r>
            <a:r>
              <a:rPr lang="en-US" sz="2200" dirty="0">
                <a:solidFill>
                  <a:srgbClr val="1B1B1F"/>
                </a:solidFill>
              </a:rPr>
              <a:t>, davon </a:t>
            </a:r>
            <a:r>
              <a:rPr lang="en-US" sz="2200" b="1" dirty="0">
                <a:solidFill>
                  <a:srgbClr val="1B1B1F"/>
                </a:solidFill>
              </a:rPr>
              <a:t>25 sinnvoll</a:t>
            </a:r>
            <a:r>
              <a:rPr lang="en-US" sz="2200" dirty="0">
                <a:solidFill>
                  <a:srgbClr val="1B1B1F"/>
                </a:solidFill>
              </a:rPr>
              <a:t> – k = 0 ist ein </a:t>
            </a:r>
            <a:r>
              <a:rPr lang="en-US" sz="2200" b="1" dirty="0">
                <a:solidFill>
                  <a:srgbClr val="1B1B1F"/>
                </a:solidFill>
              </a:rPr>
              <a:t>schwacher Schlüssel</a:t>
            </a:r>
            <a:r>
              <a:rPr lang="en-US" sz="2200" dirty="0">
                <a:solidFill>
                  <a:srgbClr val="1B1B1F"/>
                </a:solidFill>
              </a:rPr>
              <a:t> (Geheimtext = Klartext).</a:t>
            </a:r>
            <a:endParaRPr lang="en-US" sz="2200" dirty="0"/>
          </a:p>
        </p:txBody>
      </p:sp>
      <p:sp>
        <p:nvSpPr>
          <p:cNvPr id="6" name="Text 4"/>
          <p:cNvSpPr txBox="1"/>
          <p:nvPr/>
        </p:nvSpPr>
        <p:spPr>
          <a:xfrm>
            <a:off x="1508760" y="3095752"/>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Ein </a:t>
            </a:r>
            <a:r>
              <a:rPr lang="en-US" sz="2200" b="1" dirty="0">
                <a:solidFill>
                  <a:srgbClr val="1B1B1F"/>
                </a:solidFill>
              </a:rPr>
              <a:t>Brute-Force-Angriff</a:t>
            </a:r>
            <a:r>
              <a:rPr lang="en-US" sz="2200" dirty="0">
                <a:solidFill>
                  <a:srgbClr val="1B1B1F"/>
                </a:solidFill>
              </a:rPr>
              <a:t> probiert alle Schlüssel aus.</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Kerckhoffs-Prinzip</a:t>
            </a:r>
            <a:endParaRPr lang="en-US" sz="3000" dirty="0"/>
          </a:p>
        </p:txBody>
      </p:sp>
      <p:sp>
        <p:nvSpPr>
          <p:cNvPr id="3" name="Merke-Kasten"/>
          <p:cNvSpPr/>
          <p:nvPr/>
        </p:nvSpPr>
        <p:spPr>
          <a:xfrm>
            <a:off x="1097280" y="1508760"/>
            <a:ext cx="9997135" cy="2824480"/>
          </a:xfrm>
          <a:prstGeom prst="roundRect">
            <a:avLst>
              <a:gd name="adj" fmla="val 3237"/>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1068324"/>
          </a:xfrm>
          <a:prstGeom prst="rect">
            <a:avLst/>
          </a:prstGeom>
          <a:noFill/>
          <a:ln/>
        </p:spPr>
        <p:txBody>
          <a:bodyPr wrap="square" lIns="0" tIns="0" rIns="0" bIns="0" rtlCol="0" anchor="t"/>
          <a:lstStyle/>
          <a:p>
            <a:pPr algn="l" indent="0" marL="0">
              <a:buNone/>
            </a:pPr>
            <a:r>
              <a:rPr lang="en-US" sz="2200" dirty="0">
                <a:solidFill>
                  <a:srgbClr val="1B1B1F"/>
                </a:solidFill>
              </a:rPr>
              <a:t>Die Sicherheit eines Verfahrens darf </a:t>
            </a:r>
            <a:r>
              <a:rPr lang="en-US" sz="2200" b="1" dirty="0">
                <a:solidFill>
                  <a:srgbClr val="1B1B1F"/>
                </a:solidFill>
              </a:rPr>
              <a:t>nur von der Geheimhaltung des Schlüssels</a:t>
            </a:r>
            <a:r>
              <a:rPr lang="en-US" sz="2200" dirty="0">
                <a:solidFill>
                  <a:srgbClr val="1B1B1F"/>
                </a:solidFill>
              </a:rPr>
              <a:t> abhängen – nicht von der Geheimhaltung des Verfahrens.</a:t>
            </a:r>
            <a:endParaRPr lang="en-US" sz="2200" dirty="0"/>
          </a:p>
        </p:txBody>
      </p:sp>
      <p:sp>
        <p:nvSpPr>
          <p:cNvPr id="6" name="Text 4"/>
          <p:cNvSpPr txBox="1"/>
          <p:nvPr/>
        </p:nvSpPr>
        <p:spPr>
          <a:xfrm>
            <a:off x="1508760" y="3436620"/>
            <a:ext cx="9174175" cy="324612"/>
          </a:xfrm>
          <a:prstGeom prst="rect">
            <a:avLst/>
          </a:prstGeom>
          <a:noFill/>
          <a:ln/>
        </p:spPr>
        <p:txBody>
          <a:bodyPr wrap="square" lIns="0" tIns="0" rIns="0" bIns="0" rtlCol="0" anchor="t"/>
          <a:lstStyle/>
          <a:p>
            <a:pPr algn="l" indent="0" marL="0">
              <a:buNone/>
            </a:pPr>
            <a:r>
              <a:rPr lang="en-US" sz="1800" i="1" dirty="0">
                <a:solidFill>
                  <a:srgbClr val="1B1B1F"/>
                </a:solidFill>
              </a:rPr>
              <a:t>Auguste Kerckhoffs, 1883</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P8 · Doppelt hält nicht besser</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Zwei Caesar-Schritte sind </a:t>
            </a:r>
            <a:r>
              <a:rPr lang="en-US" sz="2200" b="1" dirty="0">
                <a:solidFill>
                  <a:srgbClr val="1B1B1F"/>
                </a:solidFill>
              </a:rPr>
              <a:t>ein</a:t>
            </a:r>
            <a:r>
              <a:rPr lang="en-US" sz="2200" dirty="0">
                <a:solidFill>
                  <a:srgbClr val="1B1B1F"/>
                </a:solidFill>
              </a:rPr>
              <a:t> Caesar-Schritt: Verschiebung um (k</a:t>
            </a:r>
            <a:r>
              <a:rPr lang="en-US" sz="2200" baseline="-40000" dirty="0">
                <a:solidFill>
                  <a:srgbClr val="1B1B1F"/>
                </a:solidFill>
              </a:rPr>
              <a:t>1</a:t>
            </a:r>
            <a:r>
              <a:rPr lang="en-US" sz="2200" dirty="0">
                <a:solidFill>
                  <a:srgbClr val="1B1B1F"/>
                </a:solidFill>
              </a:rPr>
              <a:t> + k</a:t>
            </a:r>
            <a:r>
              <a:rPr lang="en-US" sz="2200" baseline="-40000" dirty="0">
                <a:solidFill>
                  <a:srgbClr val="1B1B1F"/>
                </a:solidFill>
              </a:rPr>
              <a:t>2</a:t>
            </a:r>
            <a:r>
              <a:rPr lang="en-US" sz="2200" dirty="0">
                <a:solidFill>
                  <a:srgbClr val="1B1B1F"/>
                </a:solidFill>
              </a:rPr>
              <a:t>) mod 26.</a:t>
            </a:r>
            <a:endParaRPr lang="en-US" sz="2200" dirty="0"/>
          </a:p>
        </p:txBody>
      </p:sp>
      <p:sp>
        <p:nvSpPr>
          <p:cNvPr id="4" name="Shape 2"/>
          <p:cNvSpPr/>
          <p:nvPr/>
        </p:nvSpPr>
        <p:spPr>
          <a:xfrm>
            <a:off x="548640" y="1941068"/>
            <a:ext cx="5364328" cy="2503678"/>
          </a:xfrm>
          <a:prstGeom prst="roundRect">
            <a:avLst>
              <a:gd name="adj" fmla="val 2922"/>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k = 9, dann k = 20 – „doppelt so sicher“</a:t>
            </a:r>
            <a:endParaRPr lang="en-US" sz="2200" dirty="0"/>
          </a:p>
        </p:txBody>
      </p:sp>
      <p:sp>
        <p:nvSpPr>
          <p:cNvPr id="7" name="Geheimtext-Kasten"/>
          <p:cNvSpPr/>
          <p:nvPr/>
        </p:nvSpPr>
        <p:spPr>
          <a:xfrm>
            <a:off x="822960" y="3482340"/>
            <a:ext cx="4815688" cy="605790"/>
          </a:xfrm>
          <a:prstGeom prst="rect">
            <a:avLst/>
          </a:prstGeom>
          <a:solidFill>
            <a:srgbClr val="F2EADB"/>
          </a:solidFill>
          <a:ln w="9525">
            <a:solidFill>
              <a:srgbClr val="D8CDB8"/>
            </a:solidFill>
            <a:prstDash val="solid"/>
          </a:ln>
        </p:spPr>
      </p:sp>
      <p:sp>
        <p:nvSpPr>
          <p:cNvPr id="8" name="Text 6"/>
          <p:cNvSpPr txBox="1"/>
          <p:nvPr/>
        </p:nvSpPr>
        <p:spPr>
          <a:xfrm>
            <a:off x="1051560" y="3592068"/>
            <a:ext cx="435848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hilfe → QRUON → KLOIH</a:t>
            </a:r>
            <a:endParaRPr lang="en-US" sz="1800" dirty="0"/>
          </a:p>
        </p:txBody>
      </p:sp>
      <p:sp>
        <p:nvSpPr>
          <p:cNvPr id="9" name="Shape 7"/>
          <p:cNvSpPr/>
          <p:nvPr/>
        </p:nvSpPr>
        <p:spPr>
          <a:xfrm>
            <a:off x="6278728" y="1941068"/>
            <a:ext cx="5364328" cy="2503678"/>
          </a:xfrm>
          <a:prstGeom prst="roundRect">
            <a:avLst>
              <a:gd name="adj" fmla="val 2922"/>
            </a:avLst>
          </a:prstGeom>
          <a:solidFill>
            <a:srgbClr val="EEF6EE"/>
          </a:solidFill>
          <a:ln w="15875">
            <a:solidFill>
              <a:srgbClr val="2E7D32"/>
            </a:solidFill>
            <a:prstDash val="solid"/>
          </a:ln>
        </p:spPr>
      </p:sp>
      <p:sp>
        <p:nvSpPr>
          <p:cNvPr id="10" name="Text 8"/>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1" name="Text 9"/>
          <p:cNvSpPr txBox="1"/>
          <p:nvPr/>
        </p:nvSpPr>
        <p:spPr>
          <a:xfrm>
            <a:off x="6553048"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(9 + 20) mod 26 = </a:t>
            </a:r>
            <a:r>
              <a:rPr lang="en-US" sz="2200" b="1" dirty="0">
                <a:solidFill>
                  <a:srgbClr val="1B1B1F"/>
                </a:solidFill>
              </a:rPr>
              <a:t>3</a:t>
            </a:r>
            <a:r>
              <a:rPr lang="en-US" sz="2200" dirty="0">
                <a:solidFill>
                  <a:srgbClr val="1B1B1F"/>
                </a:solidFill>
              </a:rPr>
              <a:t> – direkt mit k = 3:</a:t>
            </a:r>
            <a:endParaRPr lang="en-US" sz="2200" dirty="0"/>
          </a:p>
        </p:txBody>
      </p:sp>
      <p:sp>
        <p:nvSpPr>
          <p:cNvPr id="12" name="Geheimtext-Kasten"/>
          <p:cNvSpPr/>
          <p:nvPr/>
        </p:nvSpPr>
        <p:spPr>
          <a:xfrm>
            <a:off x="6553048" y="3482340"/>
            <a:ext cx="4815688" cy="605790"/>
          </a:xfrm>
          <a:prstGeom prst="rect">
            <a:avLst/>
          </a:prstGeom>
          <a:solidFill>
            <a:srgbClr val="F2EADB"/>
          </a:solidFill>
          <a:ln w="9525">
            <a:solidFill>
              <a:srgbClr val="D8CDB8"/>
            </a:solidFill>
            <a:prstDash val="solid"/>
          </a:ln>
        </p:spPr>
      </p:sp>
      <p:sp>
        <p:nvSpPr>
          <p:cNvPr id="13" name="Text 11"/>
          <p:cNvSpPr txBox="1"/>
          <p:nvPr/>
        </p:nvSpPr>
        <p:spPr>
          <a:xfrm>
            <a:off x="6781648" y="3592068"/>
            <a:ext cx="4358488" cy="38633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hilfe → KLOIH</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Chiffrierscheibe" descr="/tmp/kr_bildcache/scheibe_f457211a26c8047d.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0_a07de9411b5fd15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E8957B"/>
                </a:solidFill>
                <a:latin typeface="Consolas" pitchFamily="34" charset="0"/>
                <a:ea typeface="Consolas" pitchFamily="34" charset="-122"/>
                <a:cs typeface="Consolas" pitchFamily="34" charset="-120"/>
              </a:rPr>
              <a:t>WELT 0 · ROM · SCHREIBSTUBE</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Die Werkstatt des Schreibers</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Vom Papier zur Maschine</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Zeichen sind Zahlen</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ASCII (Anlage)</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871472"/>
          <a:ext cx="5212080" cy="914400"/>
        </p:xfrm>
        <a:graphic>
          <a:graphicData uri="http://schemas.openxmlformats.org/drawingml/2006/table">
            <a:tbl>
              <a:tblPr/>
              <a:tblGrid>
                <a:gridCol w="1463040"/>
                <a:gridCol w="731520"/>
                <a:gridCol w="731520"/>
                <a:gridCol w="731520"/>
                <a:gridCol w="731520"/>
                <a:gridCol w="822960"/>
              </a:tblGrid>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Zeichen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K</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ASCII</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65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75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90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97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122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Zwei Zählbasen</a:t>
            </a:r>
            <a:endParaRPr lang="en-US" sz="24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278728" y="1871472"/>
          <a:ext cx="5303520" cy="914400"/>
        </p:xfrm>
        <a:graphic>
          <a:graphicData uri="http://schemas.openxmlformats.org/drawingml/2006/table">
            <a:tbl>
              <a:tblPr/>
              <a:tblGrid>
                <a:gridCol w="2560320"/>
                <a:gridCol w="2011680"/>
                <a:gridCol w="73152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Umrechnung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K</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Anlage:</a:t>
                      </a:r>
                      <a:r>
                        <a:rPr lang="en-US" sz="2000" dirty="0">
                          <a:solidFill>
                            <a:srgbClr val="1B1B1F"/>
                          </a:solidFill>
                          <a:latin typeface="Calibri" pitchFamily="34" charset="0"/>
                          <a:ea typeface="Calibri" pitchFamily="34" charset="-122"/>
                          <a:cs typeface="Calibri" pitchFamily="34" charset="-120"/>
                        </a:rPr>
                        <a:t> A = 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ASCII − 64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Programm:</a:t>
                      </a:r>
                      <a:r>
                        <a:rPr lang="en-US" sz="2000" dirty="0">
                          <a:solidFill>
                            <a:srgbClr val="1B1B1F"/>
                          </a:solidFill>
                          <a:latin typeface="Calibri" pitchFamily="34" charset="0"/>
                          <a:ea typeface="Calibri" pitchFamily="34" charset="-122"/>
                          <a:cs typeface="Calibri" pitchFamily="34" charset="-120"/>
                        </a:rPr>
                        <a:t> A = 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ASCII − 65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278728" y="3203448"/>
            <a:ext cx="5364328" cy="324612"/>
          </a:xfrm>
          <a:prstGeom prst="rect">
            <a:avLst/>
          </a:prstGeom>
          <a:noFill/>
          <a:ln/>
        </p:spPr>
        <p:txBody>
          <a:bodyPr wrap="square" lIns="0" tIns="0" rIns="0" bIns="0" rtlCol="0" anchor="t"/>
          <a:lstStyle/>
          <a:p>
            <a:pPr algn="l" indent="0" marL="0">
              <a:buNone/>
            </a:pPr>
            <a:r>
              <a:rPr lang="en-US" sz="1800" dirty="0">
                <a:solidFill>
                  <a:srgbClr val="1B1B1F"/>
                </a:solidFill>
              </a:rPr>
              <a:t>Immer zuerst prüfen: </a:t>
            </a:r>
            <a:r>
              <a:rPr lang="en-US" sz="1800" b="1" dirty="0">
                <a:solidFill>
                  <a:srgbClr val="1B1B1F"/>
                </a:solidFill>
              </a:rPr>
              <a:t>Welche Nummerierung gilt?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Caesar als Struktogramm</a:t>
            </a:r>
            <a:endParaRPr lang="en-US" sz="3000" dirty="0"/>
          </a:p>
        </p:txBody>
      </p:sp>
      <p:pic>
        <p:nvPicPr>
          <p:cNvPr id="3" name="Image 0" descr="struktogramm">    </p:cNvPr>
          <p:cNvPicPr>
            <a:picLocks noChangeAspect="1"/>
          </p:cNvPicPr>
          <p:nvPr/>
        </p:nvPicPr>
        <p:blipFill>
          <a:blip r:embed="rId1"/>
          <a:stretch>
            <a:fillRect/>
          </a:stretch>
        </p:blipFill>
        <p:spPr>
          <a:xfrm>
            <a:off x="1889608" y="1325880"/>
            <a:ext cx="8412480" cy="3572868"/>
          </a:xfrm>
          <a:prstGeom prst="rect">
            <a:avLst/>
          </a:prstGeom>
        </p:spPr>
      </p:pic>
      <p:sp>
        <p:nvSpPr>
          <p:cNvPr id="4" name="Text 1"/>
          <p:cNvSpPr txBox="1"/>
          <p:nvPr/>
        </p:nvSpPr>
        <p:spPr>
          <a:xfrm>
            <a:off x="548640" y="5026764"/>
            <a:ext cx="11094415" cy="324612"/>
          </a:xfrm>
          <a:prstGeom prst="rect">
            <a:avLst/>
          </a:prstGeom>
          <a:noFill/>
          <a:ln/>
        </p:spPr>
        <p:txBody>
          <a:bodyPr wrap="square" lIns="0" tIns="0" rIns="0" bIns="0" rtlCol="0" anchor="t"/>
          <a:lstStyle/>
          <a:p>
            <a:pPr algn="ctr" indent="0" marL="0">
              <a:buNone/>
            </a:pPr>
            <a:r>
              <a:rPr lang="en-US" sz="1800" dirty="0">
                <a:solidFill>
                  <a:srgbClr val="1B1B1F"/>
                </a:solidFill>
              </a:rPr>
              <a:t>Kein „Zeichen ersetzen“ – der Geheimtext wächst durch </a:t>
            </a:r>
            <a:r>
              <a:rPr lang="en-US" sz="1800" b="1" dirty="0">
                <a:solidFill>
                  <a:srgbClr val="1B1B1F"/>
                </a:solidFill>
              </a:rPr>
              <a:t>Verbinden</a:t>
            </a:r>
            <a:r>
              <a:rPr lang="en-US" sz="1800" dirty="0">
                <a:solidFill>
                  <a:srgbClr val="1B1B1F"/>
                </a:solidFill>
              </a:rPr>
              <a: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P2 · Java rechnet anders</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latin typeface="Consolas" pitchFamily="34" charset="0"/>
                <a:ea typeface="Consolas" pitchFamily="34" charset="-122"/>
                <a:cs typeface="Consolas" pitchFamily="34" charset="-120"/>
              </a:rPr>
              <a:t>mod</a:t>
            </a:r>
            <a:r>
              <a:rPr lang="en-US" sz="2200" dirty="0">
                <a:solidFill>
                  <a:srgbClr val="1B1B1F"/>
                </a:solidFill>
              </a:rPr>
              <a:t> der Anlage ist nie negativ – Java-</a:t>
            </a:r>
            <a:r>
              <a:rPr lang="en-US" sz="2200" dirty="0">
                <a:solidFill>
                  <a:srgbClr val="1B1B1F"/>
                </a:solidFill>
                <a:latin typeface="Consolas" pitchFamily="34" charset="0"/>
                <a:ea typeface="Consolas" pitchFamily="34" charset="-122"/>
                <a:cs typeface="Consolas" pitchFamily="34" charset="-120"/>
              </a:rPr>
              <a:t>%</a:t>
            </a:r>
            <a:r>
              <a:rPr lang="en-US" sz="2200" dirty="0">
                <a:solidFill>
                  <a:srgbClr val="1B1B1F"/>
                </a:solidFill>
              </a:rPr>
              <a:t> schon. Beim Entschlüsseln erst </a:t>
            </a:r>
            <a:r>
              <a:rPr lang="en-US" sz="2200" b="1" dirty="0">
                <a:solidFill>
                  <a:srgbClr val="1B1B1F"/>
                </a:solidFill>
              </a:rPr>
              <a:t>+ 26</a:t>
            </a:r>
            <a:r>
              <a:rPr lang="en-US" sz="2200" dirty="0">
                <a:solidFill>
                  <a:srgbClr val="1B1B1F"/>
                </a:solidFill>
              </a:rPr>
              <a:t>.</a:t>
            </a:r>
            <a:endParaRPr lang="en-US" sz="2200" dirty="0"/>
          </a:p>
        </p:txBody>
      </p:sp>
      <p:sp>
        <p:nvSpPr>
          <p:cNvPr id="4" name="Shape 2"/>
          <p:cNvSpPr/>
          <p:nvPr/>
        </p:nvSpPr>
        <p:spPr>
          <a:xfrm>
            <a:off x="548640" y="1941068"/>
            <a:ext cx="5364328" cy="1779016"/>
          </a:xfrm>
          <a:prstGeom prst="roundRect">
            <a:avLst>
              <a:gd name="adj" fmla="val 4112"/>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Shape 4"/>
          <p:cNvSpPr/>
          <p:nvPr/>
        </p:nvSpPr>
        <p:spPr>
          <a:xfrm>
            <a:off x="822960" y="2626868"/>
            <a:ext cx="4815688" cy="736600"/>
          </a:xfrm>
          <a:prstGeom prst="rect">
            <a:avLst/>
          </a:prstGeom>
          <a:solidFill>
            <a:srgbClr val="F6F4EF"/>
          </a:solidFill>
          <a:ln w="9525">
            <a:solidFill>
              <a:srgbClr val="D8CDB8"/>
            </a:solidFill>
            <a:prstDash val="solid"/>
          </a:ln>
        </p:spPr>
      </p:sp>
      <p:sp>
        <p:nvSpPr>
          <p:cNvPr id="7" name="Text 5"/>
          <p:cNvSpPr txBox="1"/>
          <p:nvPr/>
        </p:nvSpPr>
        <p:spPr>
          <a:xfrm>
            <a:off x="960120" y="2718308"/>
            <a:ext cx="4541368" cy="553720"/>
          </a:xfrm>
          <a:prstGeom prst="rect">
            <a:avLst/>
          </a:prstGeom>
          <a:noFill/>
          <a:ln/>
        </p:spPr>
        <p:txBody>
          <a:bodyPr wrap="square" lIns="0" tIns="0" rIns="0" bIns="0" rtlCol="0" anchor="t"/>
          <a:lstStyle/>
          <a:p>
            <a:pPr indent="0" marL="0">
              <a:buNone/>
            </a:pPr>
            <a:r>
              <a:rPr lang="en-US" sz="1600" dirty="0">
                <a:solidFill>
                  <a:srgbClr val="1B1B1F"/>
                </a:solidFill>
                <a:latin typeface="Consolas" pitchFamily="34" charset="0"/>
                <a:ea typeface="Consolas" pitchFamily="34" charset="-122"/>
                <a:cs typeface="Consolas" pitchFamily="34" charset="-120"/>
              </a:rPr>
              <a:t>wert = (wert - k) % 26;</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 -3 % 26 ergibt -3</a:t>
            </a:r>
            <a:endParaRPr lang="en-US" sz="1600" dirty="0"/>
          </a:p>
        </p:txBody>
      </p:sp>
      <p:sp>
        <p:nvSpPr>
          <p:cNvPr id="8" name="Shape 6"/>
          <p:cNvSpPr/>
          <p:nvPr/>
        </p:nvSpPr>
        <p:spPr>
          <a:xfrm>
            <a:off x="6278728" y="1941068"/>
            <a:ext cx="5364328" cy="1779016"/>
          </a:xfrm>
          <a:prstGeom prst="roundRect">
            <a:avLst>
              <a:gd name="adj" fmla="val 4112"/>
            </a:avLst>
          </a:prstGeom>
          <a:solidFill>
            <a:srgbClr val="EEF6EE"/>
          </a:solidFill>
          <a:ln w="15875">
            <a:solidFill>
              <a:srgbClr val="2E7D32"/>
            </a:solidFill>
            <a:prstDash val="solid"/>
          </a:ln>
        </p:spPr>
      </p:sp>
      <p:sp>
        <p:nvSpPr>
          <p:cNvPr id="9" name="Text 7"/>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Shape 8"/>
          <p:cNvSpPr/>
          <p:nvPr/>
        </p:nvSpPr>
        <p:spPr>
          <a:xfrm>
            <a:off x="6553048" y="2626868"/>
            <a:ext cx="4815688" cy="736600"/>
          </a:xfrm>
          <a:prstGeom prst="rect">
            <a:avLst/>
          </a:prstGeom>
          <a:solidFill>
            <a:srgbClr val="F6F4EF"/>
          </a:solidFill>
          <a:ln w="9525">
            <a:solidFill>
              <a:srgbClr val="D8CDB8"/>
            </a:solidFill>
            <a:prstDash val="solid"/>
          </a:ln>
        </p:spPr>
      </p:sp>
      <p:sp>
        <p:nvSpPr>
          <p:cNvPr id="11" name="Text 9"/>
          <p:cNvSpPr txBox="1"/>
          <p:nvPr/>
        </p:nvSpPr>
        <p:spPr>
          <a:xfrm>
            <a:off x="6690208" y="2718308"/>
            <a:ext cx="4541368" cy="553720"/>
          </a:xfrm>
          <a:prstGeom prst="rect">
            <a:avLst/>
          </a:prstGeom>
          <a:noFill/>
          <a:ln/>
        </p:spPr>
        <p:txBody>
          <a:bodyPr wrap="square" lIns="0" tIns="0" rIns="0" bIns="0" rtlCol="0" anchor="t"/>
          <a:lstStyle/>
          <a:p>
            <a:pPr indent="0" marL="0">
              <a:buNone/>
            </a:pPr>
            <a:r>
              <a:rPr lang="en-US" sz="1600" dirty="0">
                <a:solidFill>
                  <a:srgbClr val="1B1B1F"/>
                </a:solidFill>
                <a:latin typeface="Consolas" pitchFamily="34" charset="0"/>
                <a:ea typeface="Consolas" pitchFamily="34" charset="-122"/>
                <a:cs typeface="Consolas" pitchFamily="34" charset="-120"/>
              </a:rPr>
              <a:t>wert = (wert - k + 26) % 26;</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 Anlage: -3 mod 26 = 23</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Online-IDE: Caesar-Werkstatt</a:t>
            </a:r>
            <a:endParaRPr lang="en-US" sz="3000" dirty="0"/>
          </a:p>
        </p:txBody>
      </p:sp>
      <p:sp>
        <p:nvSpPr>
          <p:cNvPr id="3" name="Text 1"/>
          <p:cNvSpPr txBox="1"/>
          <p:nvPr/>
        </p:nvSpPr>
        <p:spPr>
          <a:xfrm>
            <a:off x="548640" y="1325880"/>
            <a:ext cx="1463040" cy="384048"/>
          </a:xfrm>
          <a:prstGeom prst="rect">
            <a:avLst/>
          </a:prstGeom>
          <a:solidFill>
            <a:srgbClr val="B5523B"/>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856232"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Einzel/Partner</a:t>
            </a:r>
            <a:endParaRPr lang="en-US" sz="1400" dirty="0"/>
          </a:p>
        </p:txBody>
      </p:sp>
      <p:sp>
        <p:nvSpPr>
          <p:cNvPr id="5" name="Text 3"/>
          <p:cNvSpPr txBox="1"/>
          <p:nvPr/>
        </p:nvSpPr>
        <p:spPr>
          <a:xfrm>
            <a:off x="4142232"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20 min</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0972800" cy="914400"/>
        </p:xfrm>
        <a:graphic>
          <a:graphicData uri="http://schemas.openxmlformats.org/drawingml/2006/table">
            <a:tbl>
              <a:tblPr/>
              <a:tblGrid>
                <a:gridCol w="2011680"/>
                <a:gridCol w="3291840"/>
                <a:gridCol w="5669280"/>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Stufe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Testklasse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Methoden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Basis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onsolas" pitchFamily="34" charset="0"/>
                          <a:ea typeface="Consolas" pitchFamily="34" charset="-122"/>
                          <a:cs typeface="Consolas" pitchFamily="34" charset="-120"/>
                        </a:rPr>
                        <a:t>CaesarBasisTest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buchstabeZuZahl, zahlZuBuchstabe, alphabetNummer, verschiebe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Erweiterung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onsolas" pitchFamily="34" charset="0"/>
                          <a:ea typeface="Consolas" pitchFamily="34" charset="-122"/>
                          <a:cs typeface="Consolas" pitchFamily="34" charset="-120"/>
                        </a:rPr>
                        <a:t>CaesarErweiterungTest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grossbuchstabe, verschluesseln, entschluesseln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Experte (eA)</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onsolas" pitchFamily="34" charset="0"/>
                          <a:ea typeface="Consolas" pitchFamily="34" charset="-122"/>
                          <a:cs typeface="Consolas" pitchFamily="34" charset="-120"/>
                        </a:rPr>
                        <a:t>CaesarExperteTest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fuenfergruppen, bruteForce, findeSchluessel, rateSchluessel</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133088"/>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Gerüst importieren · nur im Abschnitt </a:t>
            </a:r>
            <a:r>
              <a:rPr lang="en-US" sz="2200" b="1" dirty="0">
                <a:solidFill>
                  <a:srgbClr val="1B1B1F"/>
                </a:solidFill>
              </a:rPr>
              <a:t>DEIN TEIL</a:t>
            </a:r>
            <a:r>
              <a:rPr lang="en-US" sz="2200" dirty="0">
                <a:solidFill>
                  <a:srgbClr val="1B1B1F"/>
                </a:solidFill>
              </a:rPr>
              <a:t> arbeiten · Tests im Reiter </a:t>
            </a:r>
            <a:r>
              <a:rPr lang="en-US" sz="2200" b="1" dirty="0">
                <a:solidFill>
                  <a:srgbClr val="1B1B1F"/>
                </a:solidFill>
              </a:rPr>
              <a:t>Testrunner</a:t>
            </a:r>
            <a:r>
              <a:rPr lang="en-US" sz="2200" dirty="0">
                <a:solidFill>
                  <a:srgbClr val="1B1B1F"/>
                </a:solidFill>
              </a:rPr>
              <a:t> starten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Chiffrierscheibe" descr="/tmp/kr_bildcache/scheibe_f457211a26c8047d.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0_a07de9411b5fd15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E8957B"/>
                </a:solidFill>
                <a:latin typeface="Consolas" pitchFamily="34" charset="0"/>
                <a:ea typeface="Consolas" pitchFamily="34" charset="-122"/>
                <a:cs typeface="Consolas" pitchFamily="34" charset="-120"/>
              </a:rPr>
              <a:t>WELT 0 · DAS ABITURFORMAT</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Fremde Chiffre I</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Ein Verfahren, das du noch nie gesehen hast – wie im Abitur.</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Polybios und Atbash</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1315447" y="1325880"/>
          <a:ext cx="3401568" cy="914400"/>
        </p:xfrm>
        <a:graphic>
          <a:graphicData uri="http://schemas.openxmlformats.org/drawingml/2006/table">
            <a:tbl>
              <a:tblPr/>
              <a:tblGrid>
                <a:gridCol w="566928"/>
                <a:gridCol w="566928"/>
                <a:gridCol w="566928"/>
                <a:gridCol w="566928"/>
                <a:gridCol w="566928"/>
                <a:gridCol w="566928"/>
              </a:tblGrid>
              <a:tr h="566928">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5</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B</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C</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E</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H</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I</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K</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L</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M</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N</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O</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P</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Q</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R</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S</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U</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5</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W</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Y</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Z</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855464"/>
            <a:ext cx="4935181" cy="603504"/>
          </a:xfrm>
          <a:prstGeom prst="rect">
            <a:avLst/>
          </a:prstGeom>
          <a:noFill/>
          <a:ln/>
        </p:spPr>
        <p:txBody>
          <a:bodyPr wrap="square" lIns="0" tIns="0" rIns="0" bIns="0" rtlCol="0" anchor="t"/>
          <a:lstStyle/>
          <a:p>
            <a:pPr algn="ctr" indent="0" marL="0">
              <a:buNone/>
            </a:pPr>
            <a:r>
              <a:rPr lang="en-US" sz="1800" dirty="0">
                <a:solidFill>
                  <a:srgbClr val="1B1B1F"/>
                </a:solidFill>
              </a:rPr>
              <a:t>Erst </a:t>
            </a:r>
            <a:r>
              <a:rPr lang="en-US" sz="1800" b="1" dirty="0">
                <a:solidFill>
                  <a:srgbClr val="1B1B1F"/>
                </a:solidFill>
              </a:rPr>
              <a:t>Zeile</a:t>
            </a:r>
            <a:r>
              <a:rPr lang="en-US" sz="1800" dirty="0">
                <a:solidFill>
                  <a:srgbClr val="1B1B1F"/>
                </a:solidFill>
              </a:rPr>
              <a:t>, dann </a:t>
            </a:r>
            <a:r>
              <a:rPr lang="en-US" sz="1800" b="1" dirty="0">
                <a:solidFill>
                  <a:srgbClr val="1B1B1F"/>
                </a:solidFill>
              </a:rPr>
              <a:t>Spalte</a:t>
            </a:r>
            <a:r>
              <a:rPr lang="en-US" sz="1800" dirty="0">
                <a:solidFill>
                  <a:srgbClr val="1B1B1F"/>
                </a:solidFill>
              </a:rPr>
              <a:t> · </a:t>
            </a:r>
            <a:r>
              <a:rPr lang="en-US" sz="1800" b="1" dirty="0">
                <a:solidFill>
                  <a:srgbClr val="1B1B1F"/>
                </a:solidFill>
              </a:rPr>
              <a:t>I = J</a:t>
            </a:r>
            <a:r>
              <a:rPr lang="en-US" sz="1800" dirty="0">
                <a:solidFill>
                  <a:srgbClr val="1B1B1F"/>
                </a:solidFill>
              </a:rPr>
              <a:t> · </a:t>
            </a:r>
            <a:r>
              <a:rPr lang="en-US" sz="1800" dirty="0">
                <a:solidFill>
                  <a:srgbClr val="1B1B1F"/>
                </a:solidFill>
                <a:latin typeface="Consolas" pitchFamily="34" charset="0"/>
                <a:ea typeface="Consolas" pitchFamily="34" charset="-122"/>
                <a:cs typeface="Consolas" pitchFamily="34" charset="-120"/>
              </a:rPr>
              <a:t>rom</a:t>
            </a:r>
            <a:r>
              <a:rPr lang="en-US" sz="1800" dirty="0">
                <a:solidFill>
                  <a:srgbClr val="1B1B1F"/>
                </a:solidFill>
              </a:rPr>
              <a:t> → </a:t>
            </a:r>
            <a:r>
              <a:rPr lang="en-US" sz="1800" dirty="0">
                <a:solidFill>
                  <a:srgbClr val="1B1B1F"/>
                </a:solidFill>
                <a:latin typeface="Consolas" pitchFamily="34" charset="0"/>
                <a:ea typeface="Consolas" pitchFamily="34" charset="-122"/>
                <a:cs typeface="Consolas" pitchFamily="34" charset="-120"/>
              </a:rPr>
              <a:t>42 34 32</a:t>
            </a:r>
            <a:endParaRPr lang="en-US" sz="1800" dirty="0"/>
          </a:p>
        </p:txBody>
      </p:sp>
      <p:sp>
        <p:nvSpPr>
          <p:cNvPr id="5" name="Text 2"/>
          <p:cNvSpPr txBox="1"/>
          <p:nvPr/>
        </p:nvSpPr>
        <p:spPr>
          <a:xfrm>
            <a:off x="5849581" y="1325880"/>
            <a:ext cx="5793474" cy="417576"/>
          </a:xfrm>
          <a:prstGeom prst="rect">
            <a:avLst/>
          </a:prstGeom>
          <a:noFill/>
          <a:ln/>
        </p:spPr>
        <p:txBody>
          <a:bodyPr wrap="square" lIns="0" tIns="0" rIns="0" bIns="0" rtlCol="0" anchor="t"/>
          <a:lstStyle/>
          <a:p>
            <a:pPr algn="l" indent="0" marL="0">
              <a:buNone/>
            </a:pPr>
            <a:r>
              <a:rPr lang="en-US" sz="2400" b="1" dirty="0">
                <a:solidFill>
                  <a:srgbClr val="B5523B"/>
                </a:solidFill>
                <a:latin typeface="Georgia" pitchFamily="34" charset="0"/>
                <a:ea typeface="Georgia" pitchFamily="34" charset="-122"/>
                <a:cs typeface="Georgia" pitchFamily="34" charset="-120"/>
              </a:rPr>
              <a:t>Atbash</a:t>
            </a:r>
            <a:endParaRPr lang="en-US" sz="2400" dirty="0"/>
          </a:p>
        </p:txBody>
      </p:sp>
      <p:sp>
        <p:nvSpPr>
          <p:cNvPr id="6" name="Text 3"/>
          <p:cNvSpPr txBox="1"/>
          <p:nvPr/>
        </p:nvSpPr>
        <p:spPr>
          <a:xfrm>
            <a:off x="5849581" y="1871472"/>
            <a:ext cx="5793474" cy="386588"/>
          </a:xfrm>
          <a:prstGeom prst="rect">
            <a:avLst/>
          </a:prstGeom>
          <a:noFill/>
          <a:ln/>
        </p:spPr>
        <p:txBody>
          <a:bodyPr wrap="square" lIns="0" tIns="0" rIns="0" bIns="0" rtlCol="0" anchor="t"/>
          <a:lstStyle/>
          <a:p>
            <a:pPr algn="l" indent="0" marL="0">
              <a:buNone/>
            </a:pPr>
            <a:r>
              <a:rPr lang="en-US" sz="2200" dirty="0">
                <a:solidFill>
                  <a:srgbClr val="1B1B1F"/>
                </a:solidFill>
              </a:rPr>
              <a:t>Spiegel: A ↔ Z, B ↔ Y, …</a:t>
            </a:r>
            <a:endParaRPr lang="en-US" sz="2200" dirty="0"/>
          </a:p>
        </p:txBody>
      </p:sp>
      <p:sp>
        <p:nvSpPr>
          <p:cNvPr id="7" name="Text 4"/>
          <p:cNvSpPr txBox="1"/>
          <p:nvPr/>
        </p:nvSpPr>
        <p:spPr>
          <a:xfrm>
            <a:off x="5849581" y="2386076"/>
            <a:ext cx="5793474" cy="448564"/>
          </a:xfrm>
          <a:prstGeom prst="rect">
            <a:avLst/>
          </a:prstGeom>
          <a:noFill/>
          <a:ln/>
        </p:spPr>
        <p:txBody>
          <a:bodyPr wrap="square" lIns="0" tIns="0" rIns="0" bIns="0" rtlCol="0" anchor="t"/>
          <a:lstStyle/>
          <a:p>
            <a:pPr algn="ctr" indent="0" marL="0">
              <a:buNone/>
            </a:pPr>
            <a:r>
              <a:rPr lang="en-US" sz="2600" dirty="0">
                <a:solidFill>
                  <a:srgbClr val="1B1B1F"/>
                </a:solidFill>
              </a:rPr>
              <a:t>c = 27 − p</a:t>
            </a:r>
            <a:endParaRPr lang="en-US" sz="2600" dirty="0"/>
          </a:p>
        </p:txBody>
      </p:sp>
      <p:sp>
        <p:nvSpPr>
          <p:cNvPr id="8" name="Geheimtext-Kasten"/>
          <p:cNvSpPr/>
          <p:nvPr/>
        </p:nvSpPr>
        <p:spPr>
          <a:xfrm>
            <a:off x="5849581" y="2962656"/>
            <a:ext cx="5793474" cy="642620"/>
          </a:xfrm>
          <a:prstGeom prst="rect">
            <a:avLst/>
          </a:prstGeom>
          <a:solidFill>
            <a:srgbClr val="F2EADB"/>
          </a:solidFill>
          <a:ln w="9525">
            <a:solidFill>
              <a:srgbClr val="D8CDB8"/>
            </a:solidFill>
            <a:prstDash val="solid"/>
          </a:ln>
        </p:spPr>
      </p:sp>
      <p:sp>
        <p:nvSpPr>
          <p:cNvPr id="9" name="Text 6"/>
          <p:cNvSpPr txBox="1"/>
          <p:nvPr/>
        </p:nvSpPr>
        <p:spPr>
          <a:xfrm>
            <a:off x="6078181" y="3072384"/>
            <a:ext cx="5336274" cy="4231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caesar → XZVHZI</a:t>
            </a:r>
            <a:endParaRPr lang="en-US" sz="2000" dirty="0"/>
          </a:p>
        </p:txBody>
      </p:sp>
      <p:sp>
        <p:nvSpPr>
          <p:cNvPr id="10" name="Text 7"/>
          <p:cNvSpPr txBox="1"/>
          <p:nvPr/>
        </p:nvSpPr>
        <p:spPr>
          <a:xfrm>
            <a:off x="5849581" y="3733292"/>
            <a:ext cx="5793474" cy="324612"/>
          </a:xfrm>
          <a:prstGeom prst="rect">
            <a:avLst/>
          </a:prstGeom>
          <a:noFill/>
          <a:ln/>
        </p:spPr>
        <p:txBody>
          <a:bodyPr wrap="square" lIns="0" tIns="0" rIns="0" bIns="0" rtlCol="0" anchor="t"/>
          <a:lstStyle/>
          <a:p>
            <a:pPr algn="l" indent="0" marL="0">
              <a:buNone/>
            </a:pPr>
            <a:r>
              <a:rPr lang="en-US" sz="1800" dirty="0">
                <a:solidFill>
                  <a:srgbClr val="1B1B1F"/>
                </a:solidFill>
              </a:rPr>
              <a:t>kein Schlüssel · zweimal angewendet = Klartext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5-Schritte-Methode</a:t>
            </a:r>
            <a:endParaRPr lang="en-US" sz="3000" dirty="0"/>
          </a:p>
        </p:txBody>
      </p:sp>
      <p:sp>
        <p:nvSpPr>
          <p:cNvPr id="3" name="Merke-Kasten"/>
          <p:cNvSpPr/>
          <p:nvPr/>
        </p:nvSpPr>
        <p:spPr>
          <a:xfrm>
            <a:off x="1097280" y="1508760"/>
            <a:ext cx="9997135" cy="3587496"/>
          </a:xfrm>
          <a:prstGeom prst="roundRect">
            <a:avLst>
              <a:gd name="adj" fmla="val 2549"/>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508760" y="2240280"/>
          <a:ext cx="9174175" cy="914400"/>
        </p:xfrm>
        <a:graphic>
          <a:graphicData uri="http://schemas.openxmlformats.org/drawingml/2006/table">
            <a:tbl>
              <a:tblPr/>
              <a:tblGrid>
                <a:gridCol w="573386"/>
                <a:gridCol w="3276491"/>
                <a:gridCol w="5324298"/>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Schritt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Leitfrage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Lesen und nachrechnen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Nummerierung? Füllzeichen? I = J?</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Anwenden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Regeln abgehakt?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Umkehren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rückwärts, in umgekehrter Reihenfolge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Einordnen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Transposition/Substitution? mono/poly?</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Beurteilen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Kriterien → </a:t>
                      </a:r>
                      <a:r>
                        <a:rPr lang="en-US" sz="2000" b="1" dirty="0">
                          <a:solidFill>
                            <a:srgbClr val="1B1B1F"/>
                          </a:solidFill>
                          <a:latin typeface="Calibri" pitchFamily="34" charset="0"/>
                          <a:ea typeface="Calibri" pitchFamily="34" charset="-122"/>
                          <a:cs typeface="Calibri" pitchFamily="34" charset="-120"/>
                        </a:rPr>
                        <a:t>Urteil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Fackelchiffre</a:t>
            </a:r>
            <a:endParaRPr lang="en-US" sz="3000" dirty="0"/>
          </a:p>
        </p:txBody>
      </p:sp>
      <p:sp>
        <p:nvSpPr>
          <p:cNvPr id="3" name="Text 1"/>
          <p:cNvSpPr txBox="1"/>
          <p:nvPr/>
        </p:nvSpPr>
        <p:spPr>
          <a:xfrm>
            <a:off x="548640" y="1325880"/>
            <a:ext cx="1463040" cy="384048"/>
          </a:xfrm>
          <a:prstGeom prst="rect">
            <a:avLst/>
          </a:prstGeom>
          <a:solidFill>
            <a:srgbClr val="B5523B"/>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746504"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Partnerarbeit</a:t>
            </a:r>
            <a:endParaRPr lang="en-US" sz="1400" dirty="0"/>
          </a:p>
        </p:txBody>
      </p:sp>
      <p:sp>
        <p:nvSpPr>
          <p:cNvPr id="5" name="Text 3"/>
          <p:cNvSpPr txBox="1"/>
          <p:nvPr/>
        </p:nvSpPr>
        <p:spPr>
          <a:xfrm>
            <a:off x="4032504"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18 min</a:t>
            </a:r>
            <a:endParaRPr lang="en-US" sz="1400" dirty="0"/>
          </a:p>
        </p:txBody>
      </p:sp>
      <p:sp>
        <p:nvSpPr>
          <p:cNvPr id="6" name="Text 4"/>
          <p:cNvSpPr txBox="1"/>
          <p:nvPr/>
        </p:nvSpPr>
        <p:spPr>
          <a:xfrm>
            <a:off x="548640" y="1965960"/>
            <a:ext cx="11094415" cy="727456"/>
          </a:xfrm>
          <a:prstGeom prst="rect">
            <a:avLst/>
          </a:prstGeom>
          <a:noFill/>
          <a:ln/>
        </p:spPr>
        <p:txBody>
          <a:bodyPr wrap="square" lIns="0" tIns="0" rIns="0" bIns="0" rtlCol="0" anchor="t"/>
          <a:lstStyle/>
          <a:p>
            <a:pPr algn="l" indent="0" marL="0">
              <a:buNone/>
            </a:pPr>
            <a:r>
              <a:rPr lang="en-US" sz="2200" b="1" dirty="0">
                <a:solidFill>
                  <a:srgbClr val="1B1B1F"/>
                </a:solidFill>
              </a:rPr>
              <a:t>Akte W0·4</a:t>
            </a:r>
            <a:r>
              <a:rPr lang="en-US" sz="2200" dirty="0">
                <a:solidFill>
                  <a:srgbClr val="1B1B1F"/>
                </a:solidFill>
              </a:rPr>
              <a:t> – Schritt 1 bis 5 · Stufe 1: Atbash · Stufe 2: Polybios mit Schlüsselwort ATHEN</a:t>
            </a:r>
            <a:endParaRPr lang="en-US" sz="2200" dirty="0"/>
          </a:p>
        </p:txBody>
      </p:sp>
      <p:sp>
        <p:nvSpPr>
          <p:cNvPr id="7" name="Geheimtext-Kasten"/>
          <p:cNvSpPr/>
          <p:nvPr/>
        </p:nvSpPr>
        <p:spPr>
          <a:xfrm>
            <a:off x="548640" y="2821432"/>
            <a:ext cx="11094415" cy="935228"/>
          </a:xfrm>
          <a:prstGeom prst="rect">
            <a:avLst/>
          </a:prstGeom>
          <a:solidFill>
            <a:srgbClr val="F2EADB"/>
          </a:solidFill>
          <a:ln w="9525">
            <a:solidFill>
              <a:srgbClr val="D8CDB8"/>
            </a:solidFill>
            <a:prstDash val="solid"/>
          </a:ln>
        </p:spPr>
      </p:sp>
      <p:sp>
        <p:nvSpPr>
          <p:cNvPr id="8" name="Text 6"/>
          <p:cNvSpPr txBox="1"/>
          <p:nvPr/>
        </p:nvSpPr>
        <p:spPr>
          <a:xfrm>
            <a:off x="777240" y="2894584"/>
            <a:ext cx="10637215" cy="256032"/>
          </a:xfrm>
          <a:prstGeom prst="rect">
            <a:avLst/>
          </a:prstGeom>
          <a:noFill/>
          <a:ln/>
        </p:spPr>
        <p:txBody>
          <a:bodyPr wrap="square" lIns="0" tIns="0" rIns="0" bIns="0" rtlCol="0" anchor="ctr"/>
          <a:lstStyle/>
          <a:p>
            <a:pPr indent="0" marL="0">
              <a:buNone/>
            </a:pPr>
            <a:r>
              <a:rPr lang="en-US" sz="1200" b="1" spc="100" kern="0" dirty="0">
                <a:solidFill>
                  <a:srgbClr val="4A4A55"/>
                </a:solidFill>
              </a:rPr>
              <a:t>BEISPIEL DES MATERIALS</a:t>
            </a:r>
            <a:endParaRPr lang="en-US" sz="1200" dirty="0"/>
          </a:p>
        </p:txBody>
      </p:sp>
      <p:sp>
        <p:nvSpPr>
          <p:cNvPr id="9" name="Text 7"/>
          <p:cNvSpPr txBox="1"/>
          <p:nvPr/>
        </p:nvSpPr>
        <p:spPr>
          <a:xfrm>
            <a:off x="777240" y="3223768"/>
            <a:ext cx="10637215" cy="4231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feuer → uvfvi → 45 51 24 51 31</a:t>
            </a:r>
            <a:endParaRPr lang="en-US" sz="2000" dirty="0"/>
          </a:p>
        </p:txBody>
      </p:sp>
      <p:sp>
        <p:nvSpPr>
          <p:cNvPr id="10" name="Text 8"/>
          <p:cNvSpPr txBox="1"/>
          <p:nvPr/>
        </p:nvSpPr>
        <p:spPr>
          <a:xfrm>
            <a:off x="548640" y="3884676"/>
            <a:ext cx="11094415" cy="324612"/>
          </a:xfrm>
          <a:prstGeom prst="rect">
            <a:avLst/>
          </a:prstGeom>
          <a:noFill/>
          <a:ln/>
        </p:spPr>
        <p:txBody>
          <a:bodyPr wrap="square" lIns="0" tIns="0" rIns="0" bIns="0" rtlCol="0" anchor="t"/>
          <a:lstStyle/>
          <a:p>
            <a:pPr algn="l" indent="0" marL="0">
              <a:buNone/>
            </a:pPr>
            <a:r>
              <a:rPr lang="en-US" sz="1800" dirty="0">
                <a:solidFill>
                  <a:srgbClr val="1B1B1F"/>
                </a:solidFill>
              </a:rPr>
              <a:t>Was fällt beim Entschlüsseln von </a:t>
            </a:r>
            <a:r>
              <a:rPr lang="en-US" sz="1800" dirty="0">
                <a:solidFill>
                  <a:srgbClr val="1B1B1F"/>
                </a:solidFill>
                <a:latin typeface="Consolas" pitchFamily="34" charset="0"/>
                <a:ea typeface="Consolas" pitchFamily="34" charset="-122"/>
                <a:cs typeface="Consolas" pitchFamily="34" charset="-120"/>
              </a:rPr>
              <a:t>31 24 51 35 35 51</a:t>
            </a:r>
            <a:r>
              <a:rPr lang="en-US" sz="1800" dirty="0">
                <a:solidFill>
                  <a:srgbClr val="1B1B1F"/>
                </a:solidFill>
              </a:rPr>
              <a:t> auf?</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Die Antike ist entsiegelt</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Transposition · Substitution · Schlüsselraum · Kerckhoffs   →   Nächste Epoche: Bagdad</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Kryptos Antike">
  <a:themeElements>
    <a:clrScheme name="Kryptos Antike">
      <a:dk1>
        <a:srgbClr val="1B1B1F"/>
      </a:dk1>
      <a:lt1>
        <a:srgbClr val="FFFFFF"/>
      </a:lt1>
      <a:dk2>
        <a:srgbClr val="14213D"/>
      </a:dk2>
      <a:lt2>
        <a:srgbClr val="FBF7EE"/>
      </a:lt2>
      <a:accent1>
        <a:srgbClr val="B5523B"/>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Antik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 Antike</dc:title>
  <dc:subject>Kryptos – Die Zeitreise der Geheimschriften</dc:subject>
  <dc:creator>Frank Juchim</dc:creator>
  <cp:lastModifiedBy>Frank Juchim</cp:lastModifiedBy>
  <cp:revision>1</cp:revision>
  <dcterms:created xsi:type="dcterms:W3CDTF">2026-10-14T23:56:05Z</dcterms:created>
  <dcterms:modified xsi:type="dcterms:W3CDTF">2026-10-14T23:56:05Z</dcterms:modified>
</cp:coreProperties>
</file>