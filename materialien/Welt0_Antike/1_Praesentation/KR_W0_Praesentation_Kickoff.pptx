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ckoff" id="{fb8c2551-06cd-1765-5fee-d5f17e0fb82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ab" id="{f273d4ee-722d-0ab1-2f41-b685b409e972}">
          <p14:sldIdLst>
            <p14:sldId id="265"/>
            <p14:sldId id="266"/>
            <p14:sldId id="267"/>
            <p14:sldId id="268"/>
          </p14:sldIdLst>
        </p14:section>
        <p14:section name="Einsteigen" id="{c2d615ae-b1a9-c74c-cef3-aed86cf75d33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 · 1 min. DS 1, Einstieg. Einen versiegelten Umschlag hochhalten – noch nichts erklären. Folie stehen lassen, bis es ruhig ist.
Überleitung: „Stellt euch vor, in diesem Umschlag steht etwas, das niemand außer einer einzigen Person lesen darf.“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K2 · 3 min. Umschlag weiter in der Hand. Impuls: „Wie bekommt ihr eine Nachricht zu jemandem, ohne dass der Bote sie lesen kann?“
Ideen an der Tafel sammeln: verstecken, Geheimsprache, Code, Schloss/Kiste, Bote vertrauen, persönlich übergeben.
Erwartung: Das Wort „Code“ fällt fast immer. Nicht korrigieren, nur notieren – der Unterschied Codierung ≠ Verschlüsselung kommt später in dieser Stunde (Welt-0-Präsentation F6, Falle P5).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K3 · 2 min. Rahmenhandlung erzählen: Im Archiv der verborgenen Schriften steht das Chronoskop. Es reist in jede Epoche, in der Menschen Geheimnisse ausgetauscht haben. Die Lernenden sind Chronistinnen und Chronisten – sie halten fest, wie Menschen Botschaften geschützt und geknackt haben.
Die Archivarin führt durch die Einheit (Level-Einleitungen, Tipps im Lab, Videos). Sie hat keinen Namen; historische Personen (Caesar, Al-Kindi, Vigenère …) kommen nur als Fachgeschichte vor, nie als Figuren mit erfundenen Zitaten.
Die Jahreszahlen am Ring sind die Epochen der Einheit – Details auf der Zeitleiste (K6).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K4 · 2 min. Alice, Bob und Eve sind die Standardnamen der Fachliteratur – sie bleiben in allen Epochen gleich, nur ihre Gestalt wechselt: Legionär und Feldherr, Gelehrte in Bagdad, Diplomatin in Venedig, Funker im Weltkrieg, Rechenzentrum in Stanford, zwei Smartphones.
Eve = „eavesdropper“ (Lauscherin): Sie hört nur mit. Ab Welt 5 kommt Mallory (der aktive Angreifer, fälscht und schaltet sich dazwischen) und Trent (vertrauenswürdige Dritte, Zertifizierungsstelle).
Im Abitur werden genau diese Namen in Ablaufschaubildern verwendet.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K5 · 2 min. In jeder Epoche wechselt ihr die Seiten. Im Lab steht an jedem Level, welche Rolle ihr gerade habt (🛡 oder 🔍).
Frage: „Wer von beiden ist wichtiger?“ Erwartung: Man braucht beide – nur wer knacken kann, kann sichere Verfahren bauen.
Zusammen ergeben beide die Kryptologie (Merke-Folie folgt).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K5b · 30 s. Merksatz vorlesen lassen. Hinweis auf die Regel der Einheit: Die Story rahmt, sie ersetzt nie Fachbegriffe.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K6 · 3 min. Jede Epoche ist eine Welt mit Archivfund (Einstiegsrätsel), Leveln, Boss und einem Artefakt als Sammelobjekt.
Im Lab erscheint die Zeitleiste als Reihe von Toren; gesperrte Tore sind „noch verschlüsselt“. Mit jeder bestandenen Welt wird ein Kapitel der Kryptogeschichte entsiegelt.
Kurz zeigen: Die Reise geht von Stab und Pergament bis zu Smartphone und Zertifikat.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K6b · 2 min. Überblick, nicht im Detail besprechen. Drei Dinge betonen:
1. Je Doppelstunde ein Level (Lab) und eine Akte (Arbeitsblatt).
2. Jede Welt endet mit einem Boss: online (25 min) und optional auf Papier mit Erwartungshorizont.
3. 🔴 = Live-Szenario im Funkraum (Teams spielen gegeneinander).
Die Klausur folgt dem Abiturformat 2A/2E: klassisches + modernes Verfahren.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K7 · 2 min. Die Story endet dort, wo die Prüfung beginnt: Im Abitur bekommt man fast immer ein unbekanntes Verfahren vorgelegt (in der Auswertung 15 von 17 eA-Aufgaben) – anwenden, umkehren, einordnen, beurteilen.
Deshalb gibt es in jeder Welt ein Level „Fremde Chiffre“ mit der 5-Schritte-Methode (Werkzeugkarte WK2). In Welt 0 zum ersten Mal: DS 3, die Fackelchiffre.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K8 · 2 min. Punkte gibt es nur automatisch für gelöste Aufgaben – niemand vergibt Punkte von Hand.
Fallen P1–P10: Das Lab erkennt typische Fehler (z. B. falsche Zählbasis) und zeigt sie im Profil unter „Deine Fallen“.
Werkzeuge (Skytale &amp; Gitter, Chiffrierscheibe …) sind im Kryptolabor frei, in Bossen gesperrt.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K8b · 2 min. Punkteformel (Lab): Punkte × max(0,25; 1 − 0,25 · Fehlversuche − 0,2 · Tipps), gerundet.
Ränge beziehen sich auf den Anteil der Level-Punkte der freigeschalteten Welten (nur sichtbare Level, Ergänzung und Kür zählen nicht für Ränge, geben aber Punkte und Abzeichen).
Artefakte = Abzeichen für jeden bestandenen Boss (Skytale, Al-Kindis Manuskript, Vigenère-Tafel, Lochstreifen, Schlüsselpaar, Siegel, Chronoskop-Kern). Dazu Leistungsabzeichen wie „Erstes Knacken“ oder „Alle Fallen entschärft“.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K8c · 1 min. Nur Vorschau. Der Funkraum zeigt Nachrichten aller Teams live am Beamer; Nachrichten bestehen nur aus A–Z, Ziffern und Leerzeichen und werden nach dem Szenario gelöscht. Keine Punkte, nur das Abzeichen „Funkraum-Veteran“.
Dazu in DS 11 die Knack-Arena: Teams greifen gegenseitig ihre selbst gebauten Chiffren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K8d · 1 min. Nur zeigen, nicht erklären. Die Fallen sind überall gleich nummeriert: in Akten (roter Kasten „Achtung Falle“), auf Folien, im Lab (Profil „Deine Fallen“) und in den Erwartungshorizonten.
In Welt 0 begegnen euch vor allem P1 (A = 1 auf Papier, A = 0 in Java), P2 (26 mod 26 = 0 → Z), P3, P4 (Füllzeichen X), P5 (Codierung ≠ Verschlüsselung), P7 (25 oder 26 Schlüssel) und P8 (Caesar ∘ Caesar = Caesar).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K9 · 10 min Lab-Beitritt.
Vorbereitung: Kurs vorab im Portal InfoLabs anlegen; den Kurscode an die Tafel schreiben (oder hier in die Lücke eintragen). Persönliche Codes der Lernenden bereithalten (Portal → Kursverwaltung).
Ablauf: 1. labs.frankjuchim.de (QR-Code), 2. mit persönlichem Code anmelden, 3. „Kurs beitreten“ und Kurscode eingeben, 4. Kurs öffnen und „Weiter zu Kryptos“ – die Anmeldung bei Kryptos läuft per SSO über das Portal, kein eigenes Passwort.
Wer keinen Code hat: Lehrkraft legt ihn im Portal an. Danach Tischgruppen als Teams eintragen (Teamname aus fester Liste, z. B. „Team Skytale“). Erster Blick auf die Zeitleiste. Hausaufgabe: Video 📼 00 „Kryptos – Die Zeitreise“.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 zur Welt-0-Präsentation (KR_W0_Praesentation_Antike, Folie F2: Archivfund „Die Botschaft am Stab“). Papierstreifen und Stifte austeilen.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el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Abschnitt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/tmp/kr_bildcache/siegel0_a07de9411b5fd1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0 · Die Antike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Inhal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0_a07de9411b5fd1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0 · Die Antike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Dunkel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0_a07de9411b5fd1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0 · Die Antike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f457211a26c8047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0_a07de9411b5fd1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9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KICKOFF · INFORMATIK · KRYPTOLOGIE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Kryptos – Die Zeitreise der Geheimschriften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· Kryptologie · 18 Doppelstunden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Brief, den niemand lesen soll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Alice will Bob schreiben. Der Bote ist </a:t>
            </a:r>
            <a:r>
              <a:rPr lang="en-US" sz="2200" b="1" dirty="0">
                <a:solidFill>
                  <a:srgbClr val="1B1B1F"/>
                </a:solidFill>
              </a:rPr>
              <a:t>neugierig</a:t>
            </a:r>
            <a:r>
              <a:rPr lang="en-US" sz="2200" dirty="0">
                <a:solidFill>
                  <a:srgbClr val="1B1B1F"/>
                </a:solidFill>
              </a:rPr>
              <a:t>. Was tun?</a:t>
            </a:r>
            <a:endParaRPr lang="en-US" sz="2200" dirty="0"/>
          </a:p>
        </p:txBody>
      </p:sp>
      <p:pic>
        <p:nvPicPr>
          <p:cNvPr id="4" name="Image 0" descr="schaub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448" y="1840484"/>
            <a:ext cx="8686800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060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1B1F"/>
                </a:solidFill>
              </a:rPr>
              <a:t>Wie bekommt ihr eine Nachricht zu jemandem, ohne dass der Bote sie lesen kann?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Archiv der verborgenen Schriften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008047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Im Archiv steht das </a:t>
            </a:r>
            <a:r>
              <a:rPr lang="en-US" sz="2200" b="1" dirty="0">
                <a:solidFill>
                  <a:srgbClr val="1B1B1F"/>
                </a:solidFill>
              </a:rPr>
              <a:t>Chronoskop</a:t>
            </a:r>
            <a:r>
              <a:rPr lang="en-US" sz="2200" dirty="0">
                <a:solidFill>
                  <a:srgbClr val="1B1B1F"/>
                </a:solidFill>
              </a:rPr>
              <a:t>. Es reist in jede Epoche, in der Menschen Geheimnisse ausgetauscht haben.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22220"/>
            <a:ext cx="6008047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Die </a:t>
            </a:r>
            <a:r>
              <a:rPr lang="en-US" sz="2200" b="1" dirty="0">
                <a:solidFill>
                  <a:srgbClr val="1B1B1F"/>
                </a:solidFill>
              </a:rPr>
              <a:t>Archivarin</a:t>
            </a:r>
            <a:r>
              <a:rPr lang="en-US" sz="2200" dirty="0">
                <a:solidFill>
                  <a:srgbClr val="1B1B1F"/>
                </a:solidFill>
              </a:rPr>
              <a:t> führt euch durch die Einheit.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77692"/>
            <a:ext cx="6008047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5523B"/>
                </a:solidFill>
              </a:rPr>
              <a:t>Ihr seid Chronistinnen und Chronisten.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92296"/>
            <a:ext cx="60080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In jeder Epoche: ein Archivfund, Level, ein Boss – und ein </a:t>
            </a:r>
            <a:r>
              <a:rPr lang="en-US" sz="1800" b="1" dirty="0">
                <a:solidFill>
                  <a:srgbClr val="1B1B1F"/>
                </a:solidFill>
              </a:rPr>
              <a:t>Artefakt</a:t>
            </a:r>
            <a:r>
              <a:rPr lang="en-US" sz="1800" dirty="0">
                <a:solidFill>
                  <a:srgbClr val="1B1B1F"/>
                </a:solidFill>
              </a:rPr>
              <a:t>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2447" y="1325880"/>
          <a:ext cx="4389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−405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−52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Bagdad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Venedig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1917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Funkstation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heute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Netz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Bob – und Eve</a:t>
            </a:r>
            <a:endParaRPr lang="en-US" sz="3000" dirty="0"/>
          </a:p>
        </p:txBody>
      </p:sp>
      <p:pic>
        <p:nvPicPr>
          <p:cNvPr id="3" name="Image 0" descr="schaub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651766" cy="30545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66166" y="1325880"/>
            <a:ext cx="4076889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Alice</a:t>
            </a:r>
            <a:r>
              <a:rPr lang="en-US" sz="2200" dirty="0">
                <a:solidFill>
                  <a:srgbClr val="1B1B1F"/>
                </a:solidFill>
              </a:rPr>
              <a:t> und </a:t>
            </a:r>
            <a:r>
              <a:rPr lang="en-US" sz="2200" b="1" dirty="0">
                <a:solidFill>
                  <a:srgbClr val="1B1B1F"/>
                </a:solidFill>
              </a:rPr>
              <a:t>Bob</a:t>
            </a:r>
            <a:r>
              <a:rPr lang="en-US" sz="2200" dirty="0">
                <a:solidFill>
                  <a:srgbClr val="1B1B1F"/>
                </a:solidFill>
              </a:rPr>
              <a:t> schreiben sich geheime Botschaften.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566166" y="2181352"/>
            <a:ext cx="4076889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Eve</a:t>
            </a:r>
            <a:r>
              <a:rPr lang="en-US" sz="2200" dirty="0">
                <a:solidFill>
                  <a:srgbClr val="1B1B1F"/>
                </a:solidFill>
              </a:rPr>
              <a:t> lauscht (</a:t>
            </a:r>
            <a:r>
              <a:rPr lang="en-US" sz="2200" i="1" dirty="0">
                <a:solidFill>
                  <a:srgbClr val="1B1B1F"/>
                </a:solidFill>
              </a:rPr>
              <a:t>eavesdropper</a:t>
            </a:r>
            <a:r>
              <a:rPr lang="en-US" sz="2200" dirty="0">
                <a:solidFill>
                  <a:srgbClr val="1B1B1F"/>
                </a:solidFill>
              </a:rPr>
              <a:t>).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566166" y="2695956"/>
            <a:ext cx="4076889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Später: </a:t>
            </a:r>
            <a:r>
              <a:rPr lang="en-US" sz="2200" b="1" dirty="0">
                <a:solidFill>
                  <a:srgbClr val="1B1B1F"/>
                </a:solidFill>
              </a:rPr>
              <a:t>Mallory</a:t>
            </a:r>
            <a:r>
              <a:rPr lang="en-US" sz="2200" dirty="0">
                <a:solidFill>
                  <a:srgbClr val="1B1B1F"/>
                </a:solidFill>
              </a:rPr>
              <a:t> fälscht, </a:t>
            </a:r>
            <a:r>
              <a:rPr lang="en-US" sz="2200" b="1" dirty="0">
                <a:solidFill>
                  <a:srgbClr val="1B1B1F"/>
                </a:solidFill>
              </a:rPr>
              <a:t>Trent</a:t>
            </a:r>
            <a:r>
              <a:rPr lang="en-US" sz="2200" dirty="0">
                <a:solidFill>
                  <a:srgbClr val="1B1B1F"/>
                </a:solidFill>
              </a:rPr>
              <a:t> beglaubigt.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Rollen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643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55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 Kryptografie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1472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Verfahren </a:t>
            </a:r>
            <a:r>
              <a:rPr lang="en-US" sz="2200" b="1" dirty="0">
                <a:solidFill>
                  <a:srgbClr val="1B1B1F"/>
                </a:solidFill>
              </a:rPr>
              <a:t>entwerfen</a:t>
            </a:r>
            <a:r>
              <a:rPr lang="en-US" sz="2200" dirty="0">
                <a:solidFill>
                  <a:srgbClr val="1B1B1F"/>
                </a:solidFill>
              </a:rPr>
              <a:t> und </a:t>
            </a:r>
            <a:r>
              <a:rPr lang="en-US" sz="2200" b="1" dirty="0">
                <a:solidFill>
                  <a:srgbClr val="1B1B1F"/>
                </a:solidFill>
              </a:rPr>
              <a:t>anwenden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5" name="Geheimtext-Kasten"/>
          <p:cNvSpPr/>
          <p:nvPr/>
        </p:nvSpPr>
        <p:spPr>
          <a:xfrm>
            <a:off x="548640" y="2386076"/>
            <a:ext cx="5364328" cy="100888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59228"/>
            <a:ext cx="490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MIT SCHLÜSSEL k =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412"/>
            <a:ext cx="4907128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hilfe → KLOIH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2980"/>
            <a:ext cx="53643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Ihr helft </a:t>
            </a:r>
            <a:r>
              <a:rPr lang="en-US" sz="1800" b="1" dirty="0">
                <a:solidFill>
                  <a:srgbClr val="1B1B1F"/>
                </a:solidFill>
              </a:rPr>
              <a:t>Alice und Bob</a:t>
            </a:r>
            <a:r>
              <a:rPr lang="en-US" sz="1800" dirty="0">
                <a:solidFill>
                  <a:srgbClr val="1B1B1F"/>
                </a:solidFill>
              </a:rPr>
              <a:t>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1325880"/>
            <a:ext cx="53643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55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Kryptoanalyse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1871472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Verfahren </a:t>
            </a:r>
            <a:r>
              <a:rPr lang="en-US" sz="2200" b="1" dirty="0">
                <a:solidFill>
                  <a:srgbClr val="1B1B1F"/>
                </a:solidFill>
              </a:rPr>
              <a:t>ohne Schlüssel brechen</a:t>
            </a:r>
            <a:r>
              <a:rPr lang="en-US" sz="2200" dirty="0">
                <a:solidFill>
                  <a:srgbClr val="1B1B1F"/>
                </a:solidFill>
              </a:rPr>
              <a:t> („knacken“).</a:t>
            </a:r>
            <a:endParaRPr lang="en-US" sz="2200" dirty="0"/>
          </a:p>
        </p:txBody>
      </p:sp>
      <p:sp>
        <p:nvSpPr>
          <p:cNvPr id="11" name="Geheimtext-Kasten"/>
          <p:cNvSpPr/>
          <p:nvPr/>
        </p:nvSpPr>
        <p:spPr>
          <a:xfrm>
            <a:off x="6278728" y="2726944"/>
            <a:ext cx="5364328" cy="100888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2800096"/>
            <a:ext cx="490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OHNE SCHLÜSSEL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3129280"/>
            <a:ext cx="4907128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KLOIH → ?????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3863848"/>
            <a:ext cx="53643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Ihr lest </a:t>
            </a:r>
            <a:r>
              <a:rPr lang="en-US" sz="1800" b="1" dirty="0">
                <a:solidFill>
                  <a:srgbClr val="1B1B1F"/>
                </a:solidFill>
              </a:rPr>
              <a:t>Eves</a:t>
            </a:r>
            <a:r>
              <a:rPr lang="en-US" sz="1800" dirty="0">
                <a:solidFill>
                  <a:srgbClr val="1B1B1F"/>
                </a:solidFill>
              </a:rPr>
              <a:t> Beute mit.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Kryptologie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2576576"/>
          </a:xfrm>
          <a:prstGeom prst="roundRect">
            <a:avLst>
              <a:gd name="adj" fmla="val 3549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1F"/>
                </a:solidFill>
              </a:rPr>
              <a:t>Kryptologie = Kryptografie + Kryptoanalyse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81686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Im Abitur zählen die </a:t>
            </a:r>
            <a:r>
              <a:rPr lang="en-US" sz="2200" b="1" dirty="0">
                <a:solidFill>
                  <a:srgbClr val="1B1B1F"/>
                </a:solidFill>
              </a:rPr>
              <a:t>Fachbegriffe</a:t>
            </a:r>
            <a:r>
              <a:rPr lang="en-US" sz="2200" dirty="0">
                <a:solidFill>
                  <a:srgbClr val="1B1B1F"/>
                </a:solidFill>
              </a:rPr>
              <a:t> – die Geschichte ist nur der Rahmen.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Zeitleiste: sieben Epochen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688026"/>
                <a:gridCol w="2924109"/>
                <a:gridCol w="2580097"/>
                <a:gridCol w="2838106"/>
                <a:gridCol w="206407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 / wo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Archivfund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Antike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−500 bis −50 · Sparta &amp; Rom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Botschaft am Stab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Skytale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Haus der Weisheit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850 · Bagdad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Al-Kindis Manuskript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Al-Kindis Manuskript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chiffre indéchiffrable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Renaissance – 19. Jh.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einer Diplomatin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Vigenère-Tafel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Maschinenzeitalter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1917–1977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Lochstreifen von 1917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Lochstreifen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Schlüsselproblem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 · Stanford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mit verlorenem Schlüssel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Schlüsselpaar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Netz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gefälschte Website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Zeitmaschine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Endgegner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Eves Chiffre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Chronoskop-Kern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Ablauf: 18 Doppelstunden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960934"/>
                <a:gridCol w="2096582"/>
                <a:gridCol w="4892026"/>
                <a:gridCol w="314487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Darum geht 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im Funkraum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Antike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Grundbegriffe, Skytale, Caesar, Caesar in Java, Fremde Chiffre 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Botenlauf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Bagdad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Substitution, Häufigkeitsanalyse, affine Chiffre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Wettknacken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Renaissance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Vigenère, Kasiski, Friedman, Playfair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Maschinen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XOR, One-Time-Pad, Blockchiffre, eigene Chiffre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Doppelter Schlüssel · Knack-Arena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Stanford 1976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Schlüsselproblem, asymmetrisch, hybrid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Schlüsseltausch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Das Netz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Hash, Signatur, Zertifikat, Mallory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Mallory im Netz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Zeitmaschine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Fallenjagd, Eves Chiffre, Generalprobe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82794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Danach: </a:t>
            </a:r>
            <a:r>
              <a:rPr lang="en-US" sz="1800" b="1" dirty="0">
                <a:solidFill>
                  <a:srgbClr val="1B1B1F"/>
                </a:solidFill>
              </a:rPr>
              <a:t>Klausur</a:t>
            </a:r>
            <a:r>
              <a:rPr lang="en-US" sz="1800" dirty="0">
                <a:solidFill>
                  <a:srgbClr val="1B1B1F"/>
                </a:solidFill>
              </a:rPr>
              <a:t> – eine klassische und eine moderne Aufgabe.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Ende: Eves Chiffre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578901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Eve hat eine </a:t>
            </a:r>
            <a:r>
              <a:rPr lang="en-US" sz="2200" b="1" dirty="0">
                <a:solidFill>
                  <a:srgbClr val="1B1B1F"/>
                </a:solidFill>
              </a:rPr>
              <a:t>eigene Chiffre</a:t>
            </a:r>
            <a:r>
              <a:rPr lang="en-US" sz="2200" dirty="0">
                <a:solidFill>
                  <a:srgbClr val="1B1B1F"/>
                </a:solidFill>
              </a:rPr>
              <a:t> gebaut und das Chronoskop verschlüsselt.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81352"/>
            <a:ext cx="5578901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Ihr bekommt nur die </a:t>
            </a:r>
            <a:r>
              <a:rPr lang="en-US" sz="2200" b="1" dirty="0">
                <a:solidFill>
                  <a:srgbClr val="1B1B1F"/>
                </a:solidFill>
              </a:rPr>
              <a:t>Beschreibung</a:t>
            </a:r>
            <a:r>
              <a:rPr lang="en-US" sz="2200" dirty="0">
                <a:solidFill>
                  <a:srgbClr val="1B1B1F"/>
                </a:solidFill>
              </a:rPr>
              <a:t> des Verfahrens.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36824"/>
            <a:ext cx="5578901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5523B"/>
                </a:solidFill>
              </a:rPr>
              <a:t>Genau das ist das Abiturformat.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93301" y="1325880"/>
            <a:ext cx="5149754" cy="216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B1B1F"/>
                </a:solidFill>
              </a:rPr>
              <a:t>Lesen und nachrechnen</a:t>
            </a:r>
            <a:endParaRPr lang="en-US" sz="2200" dirty="0"/>
          </a:p>
          <a:p>
            <a:pPr marL="304800" indent="-3048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B1B1F"/>
                </a:solidFill>
              </a:rPr>
              <a:t>Anwenden</a:t>
            </a:r>
            <a:endParaRPr lang="en-US" sz="2200" dirty="0"/>
          </a:p>
          <a:p>
            <a:pPr marL="304800" indent="-3048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B1B1F"/>
                </a:solidFill>
              </a:rPr>
              <a:t>Umkehren</a:t>
            </a:r>
            <a:endParaRPr lang="en-US" sz="2200" dirty="0"/>
          </a:p>
          <a:p>
            <a:pPr marL="304800" indent="-3048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B1B1F"/>
                </a:solidFill>
              </a:rPr>
              <a:t>Einordnen</a:t>
            </a:r>
            <a:endParaRPr lang="en-US" sz="2200" dirty="0"/>
          </a:p>
          <a:p>
            <a:pPr marL="304800" indent="-3048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B1B1F"/>
                </a:solidFill>
              </a:rPr>
              <a:t>Beurteilen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93301" y="3615436"/>
            <a:ext cx="51497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In </a:t>
            </a:r>
            <a:r>
              <a:rPr lang="en-US" sz="1800" b="1" dirty="0">
                <a:solidFill>
                  <a:srgbClr val="1B1B1F"/>
                </a:solidFill>
              </a:rPr>
              <a:t>jeder Welt</a:t>
            </a:r>
            <a:r>
              <a:rPr lang="en-US" sz="1800" dirty="0">
                <a:solidFill>
                  <a:srgbClr val="1B1B1F"/>
                </a:solidFill>
              </a:rPr>
              <a:t> übt ihr eine „fremde Chiffre“.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funktioniert das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Level</a:t>
            </a:r>
            <a:r>
              <a:rPr lang="en-US" sz="2200" dirty="0">
                <a:solidFill>
                  <a:srgbClr val="1B1B1F"/>
                </a:solidFill>
              </a:rPr>
              <a:t> mit Aufgaben ★ / ★★ / ★★★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0484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Tipps</a:t>
            </a:r>
            <a:r>
              <a:rPr lang="en-US" sz="2200" dirty="0">
                <a:solidFill>
                  <a:srgbClr val="1B1B1F"/>
                </a:solidFill>
              </a:rPr>
              <a:t> helfen – kosten aber Punkte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5088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Kryptolabor:</a:t>
            </a:r>
            <a:r>
              <a:rPr lang="en-US" sz="2200" dirty="0">
                <a:solidFill>
                  <a:srgbClr val="1B1B1F"/>
                </a:solidFill>
              </a:rPr>
              <a:t> Werkzeuge zum Ausprobieren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10560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Akten</a:t>
            </a:r>
            <a:r>
              <a:rPr lang="en-US" sz="2200" dirty="0">
                <a:solidFill>
                  <a:srgbClr val="1B1B1F"/>
                </a:solidFill>
              </a:rPr>
              <a:t> (Arbeitsblätter) auf Papier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325880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Boss</a:t>
            </a:r>
            <a:r>
              <a:rPr lang="en-US" sz="2200" dirty="0">
                <a:solidFill>
                  <a:srgbClr val="1B1B1F"/>
                </a:solidFill>
              </a:rPr>
              <a:t> je Welt: Abi-Probe auf Zeit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1840484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Warm-up</a:t>
            </a:r>
            <a:r>
              <a:rPr lang="en-US" sz="2200" dirty="0">
                <a:solidFill>
                  <a:srgbClr val="1B1B1F"/>
                </a:solidFill>
              </a:rPr>
              <a:t> zu Stundenbeginn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2355088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Trainingsplatz:</a:t>
            </a:r>
            <a:r>
              <a:rPr lang="en-US" sz="2200" dirty="0">
                <a:solidFill>
                  <a:srgbClr val="1B1B1F"/>
                </a:solidFill>
              </a:rPr>
              <a:t> unbegrenzt üben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2869692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● </a:t>
            </a:r>
            <a:r>
              <a:rPr lang="en-US" sz="2200" b="1" dirty="0">
                <a:solidFill>
                  <a:srgbClr val="1B1B1F"/>
                </a:solidFill>
              </a:rPr>
              <a:t>Deine Fallen:</a:t>
            </a:r>
            <a:r>
              <a:rPr lang="en-US" sz="2200" dirty="0">
                <a:solidFill>
                  <a:srgbClr val="1B1B1F"/>
                </a:solidFill>
              </a:rPr>
              <a:t> P1–P10 im Profil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Punkte, Ränge, Artefakte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Stufe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059176"/>
            <a:ext cx="50424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Je Fehlversuch −25 %, je Tipp −20 % – mindestens 25 % bleiben.</a:t>
            </a:r>
            <a:endParaRPr lang="en-US" sz="18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56868" y="1325880"/>
          <a:ext cx="4572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Lehrling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Schreiber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Chiffreur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Kryptoanalytiker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Meister der Chiffren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956868" y="3861816"/>
            <a:ext cx="56861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B1F"/>
                </a:solidFill>
              </a:rPr>
              <a:t>Artefakt</a:t>
            </a:r>
            <a:r>
              <a:rPr lang="en-US" sz="1800" dirty="0">
                <a:solidFill>
                  <a:srgbClr val="1B1B1F"/>
                </a:solidFill>
              </a:rPr>
              <a:t> je bestandenem Boss: Skytale, Manuskript, Tafel 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Funkraum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72865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Live-Szenarien im Kurs: Eure </a:t>
            </a:r>
            <a:r>
              <a:rPr lang="en-US" sz="2200" b="1" dirty="0">
                <a:solidFill>
                  <a:srgbClr val="FBF7EE"/>
                </a:solidFill>
              </a:rPr>
              <a:t>Tischgruppe</a:t>
            </a:r>
            <a:r>
              <a:rPr lang="en-US" sz="2200" dirty="0">
                <a:solidFill>
                  <a:srgbClr val="FBF7EE"/>
                </a:solidFill>
              </a:rPr>
              <a:t> ist ein Team, der Beamer zeigt das Netz.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72792"/>
          <a:ext cx="10728655" cy="914400"/>
        </p:xfrm>
        <a:graphic>
          <a:graphicData uri="http://schemas.openxmlformats.org/drawingml/2006/table">
            <a:tbl>
              <a:tblPr/>
              <a:tblGrid>
                <a:gridCol w="811411"/>
                <a:gridCol w="4147211"/>
                <a:gridCol w="577003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Szenario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Ihr lernt 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Botenlauf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Caesar hat zu wenige Schlüssel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Wettknacken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Häufigkeitsanalyse wirkt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doppelte Schlüssel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One-Time-Pad nur einmal benutzen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Schlüsseltausch vor Eves Augen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 tauschen ohne geheimen Kanal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Mallory im Netz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Wozu Zertifikate gut sind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zehn Fallen – eine Vorschau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364328" cy="914400"/>
        </p:xfrm>
        <a:graphic>
          <a:graphicData uri="http://schemas.openxmlformats.org/drawingml/2006/table">
            <a:tbl>
              <a:tblPr/>
              <a:tblGrid>
                <a:gridCol w="818287"/>
                <a:gridCol w="4546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Zählbasis verwechselt (A = 1 oder A = 0?)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falsch (Rest 0 ist Z)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Umkehrung falsch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Verfahrensregel übersehen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Falsch eingeordnet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325880"/>
          <a:ext cx="5364328" cy="914400"/>
        </p:xfrm>
        <a:graphic>
          <a:graphicData uri="http://schemas.openxmlformats.org/drawingml/2006/table">
            <a:tbl>
              <a:tblPr/>
              <a:tblGrid>
                <a:gridCol w="818287"/>
                <a:gridCol w="4546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Häufigkeitsanalyse pauschal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Schlüsselraum falsch (25 oder 26?)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Kombination überschätzt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Schlüsselrollen verwechselt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verfehlt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082796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Die zehn häufigsten Punktverluste im Abitur – überall gleich nummeriert.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Einsteigen!</a:t>
            </a:r>
            <a:endParaRPr lang="en-US" sz="3000" dirty="0"/>
          </a:p>
        </p:txBody>
      </p:sp>
      <p:pic>
        <p:nvPicPr>
          <p:cNvPr id="3" name="Image 0" descr="/tmp/kr_bildcache/qr_35beb953513aa9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42062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417320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1</a:t>
            </a:r>
            <a:r>
              <a:rPr lang="en-US" sz="2200" dirty="0">
                <a:solidFill>
                  <a:srgbClr val="FBF7EE"/>
                </a:solidFill>
              </a:rPr>
              <a:t>  Portal </a:t>
            </a:r>
            <a:r>
              <a:rPr lang="en-US" sz="2200" b="1" dirty="0">
                <a:solidFill>
                  <a:srgbClr val="FBF7EE"/>
                </a:solidFill>
              </a:rPr>
              <a:t>InfoLabs</a:t>
            </a:r>
            <a:r>
              <a:rPr lang="en-US" sz="2200" dirty="0">
                <a:solidFill>
                  <a:srgbClr val="FBF7EE"/>
                </a:solidFill>
              </a:rPr>
              <a:t> öffnen: </a:t>
            </a:r>
            <a:r>
              <a:rPr lang="en-US" sz="2200" dirty="0">
                <a:solidFill>
                  <a:srgbClr val="FBF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labs.frankjuchim.de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931924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2</a:t>
            </a:r>
            <a:r>
              <a:rPr lang="en-US" sz="2200" dirty="0">
                <a:solidFill>
                  <a:srgbClr val="FBF7EE"/>
                </a:solidFill>
              </a:rPr>
              <a:t>  Mit deinem </a:t>
            </a:r>
            <a:r>
              <a:rPr lang="en-US" sz="2200" b="1" dirty="0">
                <a:solidFill>
                  <a:srgbClr val="FBF7EE"/>
                </a:solidFill>
              </a:rPr>
              <a:t>persönlichen Code</a:t>
            </a:r>
            <a:r>
              <a:rPr lang="en-US" sz="2200" dirty="0">
                <a:solidFill>
                  <a:srgbClr val="FBF7EE"/>
                </a:solidFill>
              </a:rPr>
              <a:t> anmelden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46528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3</a:t>
            </a:r>
            <a:r>
              <a:rPr lang="en-US" sz="2200" dirty="0">
                <a:solidFill>
                  <a:srgbClr val="FBF7EE"/>
                </a:solidFill>
              </a:rPr>
              <a:t>  „Kurs beitreten“ → </a:t>
            </a:r>
            <a:r>
              <a:rPr lang="en-US" sz="2200" b="1" dirty="0">
                <a:solidFill>
                  <a:srgbClr val="FBF7EE"/>
                </a:solidFill>
              </a:rPr>
              <a:t>Kurscode: ______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61132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4</a:t>
            </a:r>
            <a:r>
              <a:rPr lang="en-US" sz="2200" dirty="0">
                <a:solidFill>
                  <a:srgbClr val="FBF7EE"/>
                </a:solidFill>
              </a:rPr>
              <a:t>  Kurs öffnen → </a:t>
            </a:r>
            <a:r>
              <a:rPr lang="en-US" sz="2200" b="1" dirty="0">
                <a:solidFill>
                  <a:srgbClr val="FBF7EE"/>
                </a:solidFill>
              </a:rPr>
              <a:t>„Weiter zu Kryptos“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02736"/>
            <a:ext cx="8716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BF7EE"/>
                </a:solidFill>
              </a:rPr>
              <a:t>Kein eigenes Passwort für Kryptos nötig. Danach: Tischgruppe als </a:t>
            </a:r>
            <a:r>
              <a:rPr lang="en-US" sz="1800" b="1" dirty="0">
                <a:solidFill>
                  <a:srgbClr val="FBF7EE"/>
                </a:solidFill>
              </a:rPr>
              <a:t>Team</a:t>
            </a:r>
            <a:r>
              <a:rPr lang="en-US" sz="1800" dirty="0">
                <a:solidFill>
                  <a:srgbClr val="FBF7EE"/>
                </a:solidFill>
              </a:rPr>
              <a:t> eintragen.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 Reise: Sparta, −405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Das Chronoskop surrt 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yptos Antike">
  <a:themeElements>
    <a:clrScheme name="Kryptos Antike">
      <a:dk1>
        <a:srgbClr val="1B1B1F"/>
      </a:dk1>
      <a:lt1>
        <a:srgbClr val="FFFFFF"/>
      </a:lt1>
      <a:dk2>
        <a:srgbClr val="14213D"/>
      </a:dk2>
      <a:lt2>
        <a:srgbClr val="FBF7EE"/>
      </a:lt2>
      <a:accent1>
        <a:srgbClr val="B5523B"/>
      </a:accent1>
      <a:accent2>
        <a:srgbClr val="B07D2B"/>
      </a:accent2>
      <a:accent3>
        <a:srgbClr val="1F4E8C"/>
      </a:accent3>
      <a:accent4>
        <a:srgbClr val="2E7D32"/>
      </a:accent4>
      <a:accent5>
        <a:srgbClr val="B3261E"/>
      </a:accent5>
      <a:accent6>
        <a:srgbClr val="4A4A55"/>
      </a:accent6>
      <a:hlink>
        <a:srgbClr val="1F4E8C"/>
      </a:hlink>
      <a:folHlink>
        <a:srgbClr val="8A5F1A"/>
      </a:folHlink>
    </a:clrScheme>
    <a:fontScheme name="Kryptos Antik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Kryptos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Kryptos – Die Zeitreise der Geheimschriften</dc:title>
  <dc:subject>Kryptos – Die Zeitreise der Geheimschriften</dc:subject>
  <dc:creator>Frank Juchim</dc:creator>
  <cp:lastModifiedBy>Frank Juchim</cp:lastModifiedBy>
  <cp:revision>1</cp:revision>
  <dcterms:created xsi:type="dcterms:W3CDTF">2026-10-13T08:47:32Z</dcterms:created>
  <dcterms:modified xsi:type="dcterms:W3CDTF">2026-10-13T08:47:32Z</dcterms:modified>
</cp:coreProperties>
</file>