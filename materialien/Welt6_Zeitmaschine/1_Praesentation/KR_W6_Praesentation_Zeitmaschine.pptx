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vfund" id="{c0561e81-4021-1841-0b1d-e718aa6293f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Fallenjagd" id="{38d39a97-a5cc-c5fe-7b37-809fb84883d7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Eves Chiffre" id="{54654a8f-2ed3-11cf-08ff-f796983a5b15}">
          <p14:sldIdLst>
            <p14:sldId id="276"/>
            <p14:sldId id="277"/>
            <p14:sldId id="278"/>
            <p14:sldId id="279"/>
            <p14:sldId id="280"/>
          </p14:sldIdLst>
        </p14:section>
        <p14:section name="Generalprobe" id="{f7ac5101-8899-3a85-e4a1-b9c5f8b8e876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Ausblick" id="{5cb82616-ee14-4639-603e-0c5c6a5a2b30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Begrüßung. Rückblick in einem Satz pro Welt: Sparta (Skytale, Caesar) – Bagdad (Al-Kindi, Häufigkeitsanalyse) – Venedig (Vigenère, Kasiski, Friedman) – Lochstreifen (XOR, One-Time-Pad, Blockchiffren) – Stanford (Schlüsselproblem, asymmetrisch, hybrid) – Netz (Hash, Signatur, Zertifikat). Heute: der Endgegner. DS 17 = Fallenjagd + Eves Chiffre, DS 18 = Generalprobe (Probeklausur).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Story vorlesen: „Das Archiv ist still geworden. Das Chronoskop, das dich durch zweieinhalb Jahrtausende Geheimschriften getragen hat, rührt sich nicht mehr: Auf seinem Ziffernring leuchtet nur noch eine einzige Zeile. Eve hat die Zeitmaschine mit einer eigenen Chiffre verriegelt, ihrem ‚Uhrwerk‘.“ Impuls: „Was wisst ihr, was fehlt?“ Erwartet: Verfahren + Schlüssel. Kerckhoffs erinnern: Das Verfahren darf bekannt sein (Eves Beschreibung liegt im Archiv) – geheim ist nur der Schlüssel. Lösung (nicht verraten): zeitreisebeendet, t = 3, Pendelwort UHR.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Zettel und Skizze zeigen: Ring mit acht Feldern, Sprünge. Impuls: „Welche Fragen stellt ihr an ein unbekanntes Verfahren?“ Erwartet: Wie wird verschlüsselt? Was ist der Schlüssel? Wie kehrt man es um? Welcher Typ? Wie sicher? → Überleitung zur 5-Schritte-Methode (WK2): Lesen und nachrechnen – Anwenden – Umkehren – Einordnen – Beurteilen.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Am Ring mit dem Finger zeigen: Feld 0, drei weiter → 3, → 6, → 9 = Feld 1 („nach Feld 7 kommt Feld 0“ = Rechnen mod 8) … Ergebnis MTNIEATR. Die Zeichen bleiben dieselben – nur ihre Reihenfolge ändert sich → Transposition. Falle P4: Der letzte Block wird mit X aufgefüllt (mitternachtsuhr → CHTSUHRX).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Frage: „Ist das noch Vigenère?“ – Ja: Das Pendel ist eine periodische Schlüsselfolge mit der Periode 2L − 2 (UHR → UHRH, ZEIT → ZEITIE). Am Beispiel zeigen: M + Z = L – Z verschiebt um 25, also eine Stelle zurück (P1: nicht 26!). Falle P4: UHRRHU (Enden doppelt) oder UHRUHR (zyklisch) sind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Erwartet: Stufe 2 zuerst rückwärts (P3), Pendelbuchstabe abziehen: T − U = Z, A − H = T, Z − R = I, L − H = E → ZTIE. Begründung: Beim Verschlüsseln kam das Pendel zuletzt. Der Ring kommt erst in Akte W6·2 Auftrag 2 (dort Zeichen j zurück auf Feld 3j mod 8). Nicht verraten, dass ZTIE noch nicht der Klartext ist – das sorgt für Spannung.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 zu Video 07 (Ausschnitt „Die zehn Fallen“, 6 min). Danach die beiden Merke-Folien; die Fallen-Folien P1–P10 dienen als Bilderbuch: P1, P3 und P9 im Plenum zeigen, die übrigen in der Sicherung nach der Partnerarbeit aufrufen, wenn eine Gruppe „ihre“ Falle nennt.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Jede Falle mit einem Satz aus Akte W6·1 (Archivwissen 1) erläutern. „Im Abitur gehen Punkte selten verloren, weil jemand nichts weiß – sondern weil eine kleine Regel übersehen wird.“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Frage: „Welche Falle hat euch in einem Boss schon Punkte gekostet?“ (Profil „Deine Fallen“ im Lab). Zwei, drei Stimmen sammeln.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W6-L1-01. Ab der ersten Zeile ist alles falsch, obwohl jede Rechnung für sich stimmt. Merksatz: „Erste Zeile: Nummerierung laut Material.“ Positionen in Zeichenketten beginnen dagegen bei 0 (EH §5) – zwei verschiedene Zählungen.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W6-L1-03. Der negative Rest wurde richtig behandelt – nur die Null nicht. Kontrolle: Ein Klartext, der keinen Sinn ergibt, ist ein Alarmsignal.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Aus Lab W6-L1-04. Warum hier entscheidend: Vigenère ist positionsabhängig – nach dem Umdrehen stehen die Zeichen unter anderen Schlüsselbuchstaben. Gegenbeispiel: Caesar + Umdrehen (Verfahren WENDE, Akte W6·1 Abi-Check b) – dort ist die Reihenfolge egal, weil Caesar jeden Buchstaben unabhängig von der Position ersetzt.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Weitere typische Regelfallen: Füllzeichen X im letzten Block, Leserichtung, kurze letzte Zeile bei der Spaltentransposition (Lab W6-L1-06: 10 Zeichen in 3 Spalten → Spaltenlängen 4, 3, 3 statt 4, 4, 2 → sonnenwind statt sonnenwidn).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W6-L1-07. Klopfcode = 5×5-Quadrat aus einem geheimen Schlüsselwort. Auch „Codierung, weil Zahlen entstehen“ ist falsch: Entscheidend für eine Verschlüsselung ist der geheime Schlüssel (hier das Quadrat). Gegenbeispiel Morse: öffentliche Zuordnung → Codierung.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W6-L1-08 und Akte W6·1 A4d. Eine Häufigkeitsanalyse ist nur dann eine Antwort, wenn gesagt wird, worauf sie angewendet wird und warum sie dort funktioniert.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W6-L1-09. Bei n(n − 1) wird jedes Paar doppelt gezählt (A–B und B–A). Vergleich: Ab n = 6 braucht asymmetrisch weniger Schlüssel, bei n = 5 gleich viele (10). Schwache Schlüssel: k = 0, „AAAA“, Ringschritt t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W6-L1-10. Ebenso: Vigenère AB ∘ BA = Caesar 1 (Akte W6·1 A4c); Eves Ring zweimal = Identität. Mehrfachverschlüsselung vergrößert den Schlüsselraum nur, wenn die Kombination kein Verfahren derselben Art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W6-L1-11. Merksatz: „Signieren privat – prüfen öffentlich – verschlüsseln mit dem öffentlichen Schlüssel des Empfängers.“ Weitere P9-Fehler: Hashwert „entschlüsseln“, Zertifikat = Ehrlichkeit der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Aus Lab W6-L1-12. „Caesar ist unsicher“ urteilt ohne Begründung, „25 Schlüssel“ nennt nur. Operator unterstreichen und die Leistung nach WK5 erbringen; bei „Entscheiden Sie begründet“ gibt es ohne Begründung 0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Lehrkraft geht herum, sammelt die Fallen-Nennungen an der Tafel (Strichliste). Sicherung: Jede Partnergruppe nennt ihre gefährlichste Falle + Gegenmittel; passende Fallen-Folie (P1–P10) aufrufen. Schnelle Paare: Akte W6·1 Aufträge 4–5.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Überleitung: Jetzt das ganze Uhrwerk – wie eine fremde Chiffre im Abitur.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min. Material: Archivwissen 1 der Akte W6·2 (im Abitur-Stil), WK2, WK3, Ring-Schablone im Anhang. Langsame Lernende: Pendelzeile UHRHUHRH… vorgeben. Kontrollwerte: Auftrag 2 → zeitreisebeendet; Auftrag 3 → RAVFZ EKTUU AIXIR H. Häufigste Fehler: Zeichen j auf Feld j zurücklegen statt auf Feld (t · j) mod 8 (P3); Pendel mit doppelten Enden (P4).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Sicherung am Ende von DS 17. Archivfund auflösen: ZTIERSIE EEEBNTED → Ring zurück → zeitreisebeendet. Das Chronoskop ist entriegelt.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Erwartete Schülerantworten aus Akte W6·2 Auftrag 4. Urteil gemeinsam formulieren: „Der Ring trägt fast nichts bei (4 Schlüssel), die Sicherheit beruht allein auf einem kurzen periodischen Vigenère → mit Teiltext-Häufigkeitsanalyse bei längeren Texten brechbar; das Uhrwerk ist unsicher.“ Zusatz Fehlerfortpflanzung: ein falsches Zeichen → genau ein falscher Klartextbuchstabe; ein verlorenes Zeichen → Rest unbrauchbar.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Hinweis: Beim Boss zählt der beste Versuch; Belohnung ist das Artefakt „Chronoskop-Kern“. Den BE-Plan (Akte W6·3 A1) in DS 18 mitbringen.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Organisation: Taschen weg, nur WK1, Handys abgegeben. Das Warm-up entfällt heute – Ersatz ist das Briefing (8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Rechnung kurz vorführen: 270 : 120 = 2,25; 30 · 2,25 = 67,5. Plan aus Akte W6·3 Auftrag 1 hervorholen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Betonen: Schritt 2 ist keine verlorene Zeit – im Beispiel des Materials stecken alle Regeln (P4). Wer nach der Hälfte der Zeit deutlich hinter dem Plan liegt, sichert zuerst die BE, die er sicher holen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Verweis WK5. Der Operator entscheidet über die BE – gleiche Inhalte, andere Operatoren, andere Leistung (P10).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Beispiel: „Die Aussage ist falsch. Caesar ersetzt jeden Buchstaben unabhängig von der Position; zwei Verschiebungen addieren sich daher zu einer Verschiebung. Beleg: k = 7 und k = 11 ergeben k = 18; abc → STU in beiden Fällen.“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Uhr mit Restzeit sichtbar projizieren. Dateien: KR_W6_Probeklausur_eA / KR_W6_Probeklausur_gA. Während der Bearbeitung keine Hilfen außer bei Druckfehlern.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Nur nach Abgabe zeigen. a) Blöcke FEL | SSP | ALT | E → ELF | SPS | LTA | E; Kette mit S = B (Wert 2): E 5 + 2 = 7 G, L 12 + 7 = 19 S, … → GSYRH AMGHM. b) Differenz Geheimtextzeichen − vorheriges Geheimtextzeichen (erstes: − S). Fallen: Vorgänger ist das Geheimtextzeichen, nicht das Zwischentextzeichen (P4); Rotationsrichtung beim Umkehren – das letzte Zeichen wieder nach vorn (P3); letzter Block ist kürzer (P4); negative Reste + 26 (P2).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Selbstkorrektur als Hausaufgabe mit dem Kernpunkte-Bogen (EH ohne Musterrechnungen); Peer-Check und Abi-Duell in der Folgestunde. gA: zusätzlich Besprechung c)–g) im Plenum (27 min statt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Easter Egg: die Skulptur „Kryptos“ (Jim Sanborn, 1990) vor dem CIA-Hauptquartier; ihr vierter Teil K4 widerstand jahrzehntelang allen öffentlichen Knackversuchen. Ausblick auf Klausur (Format 2A/2E) und Abitur. Dank für die Reise durch zweieinhalb Jahrtausende Geheimschriften.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el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Abschnitt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/tmp/kr_bildcache/siegel6_fc53bfa518f9cb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6 · Die Zeitmaschine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Inhal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6_fc53bfa518f9cb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6 · Die Zeitmaschine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Dunkel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6_fc53bfa518f9cb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6 · Die Zeitmaschine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24333bb42ce7248c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6_fc53bfa518f9cbd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WELT 6 · ENDGEGNER · ARCHIV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Zeitmaschine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6 · Endgegner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„Die Story endet dort, wo die Prüfung beginnt.“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Eves Chiffre</a:t>
            </a:r>
            <a:endParaRPr lang="en-US" sz="3000" dirty="0"/>
          </a:p>
        </p:txBody>
      </p:sp>
      <p:sp>
        <p:nvSpPr>
          <p:cNvPr id="3" name="Dokument"/>
          <p:cNvSpPr/>
          <p:nvPr/>
        </p:nvSpPr>
        <p:spPr>
          <a:xfrm rot="-72000">
            <a:off x="1554480" y="1417320"/>
            <a:ext cx="9052560" cy="1394460"/>
          </a:xfrm>
          <a:prstGeom prst="rect">
            <a:avLst/>
          </a:prstGeom>
          <a:solidFill>
            <a:srgbClr val="FBF7EE"/>
          </a:solidFill>
          <a:ln w="19050">
            <a:solidFill>
              <a:srgbClr val="B07D2B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 rot="-72000">
            <a:off x="1874520" y="1581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5F1A"/>
                </a:solidFill>
              </a:rPr>
              <a:t>CHRONOSKOP · ZIFFERNRING · VERRIEGELT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 rot="-72000">
            <a:off x="1874520" y="19659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TAZLL ZZLYL VIHAV 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23260"/>
            <a:ext cx="1072865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Das Chronoskop steht still. Eve hat es mit ihrem „Uhrwerk“ verriegelt.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37864"/>
            <a:ext cx="1072865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Was braucht ihr, um diese Zeile zu lesen?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Eves Zettel</a:t>
            </a:r>
            <a:endParaRPr lang="en-US" sz="3000" dirty="0"/>
          </a:p>
        </p:txBody>
      </p:sp>
      <p:sp>
        <p:nvSpPr>
          <p:cNvPr id="3" name="Geheimtext-Kasten"/>
          <p:cNvSpPr/>
          <p:nvPr/>
        </p:nvSpPr>
        <p:spPr>
          <a:xfrm>
            <a:off x="548640" y="1325880"/>
            <a:ext cx="4935181" cy="100888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4477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EVES HANDSCHRIFT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28216"/>
            <a:ext cx="4477981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 3 · PENDEL UHR</a:t>
            </a:r>
            <a:endParaRPr lang="en-US" sz="2400" dirty="0"/>
          </a:p>
        </p:txBody>
      </p:sp>
      <p:pic>
        <p:nvPicPr>
          <p:cNvPr id="6" name="Image 0" descr="Skizze eines Rings mit acht Feldern und Sprüngen von drei Feld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31" y="2462784"/>
            <a:ext cx="320040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49581" y="1325880"/>
            <a:ext cx="5793474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Eve hat kombiniert, was sie auf der Reise gesehen hat: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849581" y="2181352"/>
            <a:ext cx="5793474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eine </a:t>
            </a:r>
            <a:r>
              <a:rPr lang="en-US" sz="2200" b="1" dirty="0">
                <a:solidFill>
                  <a:srgbClr val="1B1B1F"/>
                </a:solidFill>
              </a:rPr>
              <a:t>Transposition</a:t>
            </a:r>
            <a:r>
              <a:rPr lang="en-US" sz="2200" dirty="0">
                <a:solidFill>
                  <a:srgbClr val="1B1B1F"/>
                </a:solidFill>
              </a:rPr>
              <a:t> wie in Sparta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849581" y="2695956"/>
            <a:ext cx="5793474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eine </a:t>
            </a:r>
            <a:r>
              <a:rPr lang="en-US" sz="2200" b="1" dirty="0">
                <a:solidFill>
                  <a:srgbClr val="1B1B1F"/>
                </a:solidFill>
              </a:rPr>
              <a:t>polyalphabetische</a:t>
            </a:r>
            <a:r>
              <a:rPr lang="en-US" sz="2200" dirty="0">
                <a:solidFill>
                  <a:srgbClr val="1B1B1F"/>
                </a:solidFill>
              </a:rPr>
              <a:t> Stufe wie in Venedig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849581" y="3551428"/>
            <a:ext cx="5793474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Das Verfahren steht in </a:t>
            </a:r>
            <a:r>
              <a:rPr lang="en-US" sz="2200" b="1" dirty="0">
                <a:solidFill>
                  <a:srgbClr val="1B1B1F"/>
                </a:solidFill>
              </a:rPr>
              <a:t>keinem Buch</a:t>
            </a:r>
            <a:r>
              <a:rPr lang="en-US" sz="2200" dirty="0">
                <a:solidFill>
                  <a:srgbClr val="1B1B1F"/>
                </a:solidFill>
              </a:rPr>
              <a:t> – genau wie im Abitur.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849581" y="4406900"/>
            <a:ext cx="5793474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5F1A"/>
                </a:solidFill>
              </a:rPr>
              <a:t>Welche Fragen stellt ihr an ein unbekanntes Verfahren?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Stufe 1: Der Ring</a:t>
            </a:r>
            <a:endParaRPr lang="en-US" sz="3000" dirty="0"/>
          </a:p>
        </p:txBody>
      </p:sp>
      <p:pic>
        <p:nvPicPr>
          <p:cNvPr id="3" name="Image 0" descr="Ring mit MITTERNA, Lesereihenfolge 0 3 6 1 4 7 2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38" y="132588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20435" y="1325880"/>
            <a:ext cx="622262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Block zu </a:t>
            </a:r>
            <a:r>
              <a:rPr lang="en-US" sz="2200" b="1" dirty="0">
                <a:solidFill>
                  <a:srgbClr val="1B1B1F"/>
                </a:solidFill>
              </a:rPr>
              <a:t>8 Zeichen</a:t>
            </a:r>
            <a:r>
              <a:rPr lang="en-US" sz="2200" dirty="0">
                <a:solidFill>
                  <a:srgbClr val="1B1B1F"/>
                </a:solidFill>
              </a:rPr>
              <a:t> auf die Felder 0–7 (letzter Block mit X auffüllen)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20435" y="2181352"/>
            <a:ext cx="6222620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Lesen ab Feld 0, dann </a:t>
            </a:r>
            <a:r>
              <a:rPr lang="en-US" sz="2200" b="1" dirty="0">
                <a:solidFill>
                  <a:srgbClr val="1B1B1F"/>
                </a:solidFill>
              </a:rPr>
              <a:t>t Felder weiter</a:t>
            </a:r>
            <a:r>
              <a:rPr lang="en-US" sz="2200" dirty="0">
                <a:solidFill>
                  <a:srgbClr val="1B1B1F"/>
                </a:solidFill>
              </a:rPr>
              <a:t> – im Kreis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0435" y="3036824"/>
          <a:ext cx="5029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Lesereihenfolge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0 1 2 3 4 5 6 7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0 3 6 1 4 7 2 5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0 5 2 7 4 1 6 3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0 7 6 5 4 3 2 1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Geheimtext-Kasten"/>
          <p:cNvSpPr/>
          <p:nvPr/>
        </p:nvSpPr>
        <p:spPr>
          <a:xfrm>
            <a:off x="5420435" y="4861560"/>
            <a:ext cx="6222620" cy="97205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49035" y="4934712"/>
            <a:ext cx="5765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BEISPIEL · t = 3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49035" y="5263896"/>
            <a:ext cx="5765420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MITTERNA → MTNIEATR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Stufe 2: Das Pendel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Pendelwort vor und zurück – </a:t>
            </a:r>
            <a:r>
              <a:rPr lang="en-US" sz="2200" b="1" dirty="0">
                <a:solidFill>
                  <a:srgbClr val="1B1B1F"/>
                </a:solidFill>
              </a:rPr>
              <a:t>die Enden nicht doppelt</a:t>
            </a:r>
            <a:r>
              <a:rPr lang="en-US" sz="2200" dirty="0">
                <a:solidFill>
                  <a:srgbClr val="1B1B1F"/>
                </a:solidFill>
              </a:rPr>
              <a:t>:</a:t>
            </a:r>
            <a:endParaRPr lang="en-US" sz="2200" dirty="0"/>
          </a:p>
        </p:txBody>
      </p:sp>
      <p:sp>
        <p:nvSpPr>
          <p:cNvPr id="4" name="Geheimtext-Kasten"/>
          <p:cNvSpPr/>
          <p:nvPr/>
        </p:nvSpPr>
        <p:spPr>
          <a:xfrm>
            <a:off x="548640" y="1840484"/>
            <a:ext cx="11094415" cy="753110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50212"/>
            <a:ext cx="10637215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UHR → U H R H U H R H …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21610"/>
            <a:ext cx="1109441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Dann </a:t>
            </a:r>
            <a:r>
              <a:rPr lang="en-US" sz="2200" b="1" dirty="0">
                <a:solidFill>
                  <a:srgbClr val="1B1B1F"/>
                </a:solidFill>
              </a:rPr>
              <a:t>Vigenère</a:t>
            </a:r>
            <a:r>
              <a:rPr lang="en-US" sz="2200" dirty="0">
                <a:solidFill>
                  <a:srgbClr val="1B1B1F"/>
                </a:solidFill>
              </a:rPr>
              <a:t> mit dem Anlage-Quadrat (Schlüsselbuchstabe A = Verschiebung 0, Z = 25):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77082"/>
          <a:ext cx="8961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Zwischentext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Pendel ZEIT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Geheimtext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Gemeinsam: die ersten vier Zeichen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8A5F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Plenum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64408" y="1325880"/>
            <a:ext cx="868680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5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Entschlüsselt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A Z L</a:t>
            </a:r>
            <a:r>
              <a:rPr lang="en-US" sz="2200" dirty="0">
                <a:solidFill>
                  <a:srgbClr val="1B1B1F"/>
                </a:solidFill>
              </a:rPr>
              <a:t> mit dem Pendel </a:t>
            </a:r>
            <a:r>
              <a:rPr lang="en-US" sz="2200" b="1" dirty="0">
                <a:solidFill>
                  <a:srgbClr val="1B1B1F"/>
                </a:solidFill>
              </a:rPr>
              <a:t>U H R H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0564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Geheimtext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Pendel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Zwischentext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90550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5F1A"/>
                </a:solidFill>
              </a:rPr>
              <a:t>Welche Stufe kehrt ihr zuerst um – und warum?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Fallenjagd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Zehn Fallen. Hundert verlorene Punkte.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zehn Fallen (1)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401568"/>
          </a:xfrm>
          <a:prstGeom prst="roundRect">
            <a:avLst>
              <a:gd name="adj" fmla="val 268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8760" y="2240280"/>
          <a:ext cx="9174175" cy="914400"/>
        </p:xfrm>
        <a:graphic>
          <a:graphicData uri="http://schemas.openxmlformats.org/drawingml/2006/table">
            <a:tbl>
              <a:tblPr/>
              <a:tblGrid>
                <a:gridCol w="679569"/>
                <a:gridCol w="2208598"/>
                <a:gridCol w="6286009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Gegenmittel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Zählbasis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„Nummerierung laut Material: …“ als erste Zeile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0 → Z, negativ + 26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Umkehrung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letzte Stufe zuerst umkehren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Verfahrensregel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 des Materials nachrechnen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Einordnung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derselbe Buchstabe → immer gleicher Ersatz?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zehn Fallen (2)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680460"/>
          </a:xfrm>
          <a:prstGeom prst="roundRect">
            <a:avLst>
              <a:gd name="adj" fmla="val 2484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8760" y="2240280"/>
          <a:ext cx="9174175" cy="914400"/>
        </p:xfrm>
        <a:graphic>
          <a:graphicData uri="http://schemas.openxmlformats.org/drawingml/2006/table">
            <a:tbl>
              <a:tblPr/>
              <a:tblGrid>
                <a:gridCol w="679569"/>
                <a:gridCol w="3058058"/>
                <a:gridCol w="5436548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Gegenmittel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Häufigkeitsanalyse pauschal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worauf? unter welchen Voraussetzungen?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Schlüsselraum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Stellen multiplizieren, Paare einmal zählen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Kombination überschätzt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Caesar ∘ Caesar = Caesar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Schlüsselrollen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signieren privat, prüfen öffentlich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verfehlt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Leistung nach WK5: Urteil, Beispiel, „weil“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P1 · Zählbasis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Material: </a:t>
            </a:r>
            <a:r>
              <a:rPr lang="en-US" sz="2200" b="1" dirty="0">
                <a:solidFill>
                  <a:srgbClr val="1B1B1F"/>
                </a:solidFill>
              </a:rPr>
              <a:t>A = 0</a:t>
            </a:r>
            <a:r>
              <a:rPr lang="en-US" sz="2200" dirty="0">
                <a:solidFill>
                  <a:srgbClr val="1B1B1F"/>
                </a:solidFill>
              </a:rPr>
              <a:t> … Z = 25, Geheimwert = (3 · Wert + 2) mod 26. Erste Zeile jeder Rechnung: </a:t>
            </a:r>
            <a:r>
              <a:rPr lang="en-US" sz="2200" b="1" dirty="0">
                <a:solidFill>
                  <a:srgbClr val="1B1B1F"/>
                </a:solidFill>
              </a:rPr>
              <a:t>Nummerierung laut Material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3007360"/>
          </a:xfrm>
          <a:prstGeom prst="roundRect">
            <a:avLst>
              <a:gd name="adj" fmla="val 2432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B1B1F"/>
                </a:solidFill>
              </a:rPr>
              <a:t>hut</a:t>
            </a:r>
            <a:r>
              <a:rPr lang="en-US" sz="2000" dirty="0">
                <a:solidFill>
                  <a:srgbClr val="1B1B1F"/>
                </a:solidFill>
              </a:rPr>
              <a:t> mit A = 1 gerechnet: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51352"/>
          <a:ext cx="4480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· W + 2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 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Zeichen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78728" y="2281936"/>
            <a:ext cx="5364328" cy="3007360"/>
          </a:xfrm>
          <a:prstGeom prst="roundRect">
            <a:avLst>
              <a:gd name="adj" fmla="val 2432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553048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B1B1F"/>
                </a:solidFill>
              </a:rPr>
              <a:t>hut</a:t>
            </a:r>
            <a:r>
              <a:rPr lang="en-US" sz="2000" dirty="0">
                <a:solidFill>
                  <a:srgbClr val="1B1B1F"/>
                </a:solidFill>
              </a:rPr>
              <a:t> mit A = 0 gerechnet:</a:t>
            </a:r>
            <a:endParaRPr lang="en-US" sz="2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48" y="3451352"/>
          <a:ext cx="4480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· W + 2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 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Zeichen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P2 ·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Mit A = 1 gibt es keinen Buchstaben mit dem Wert 0: </a:t>
            </a:r>
            <a:r>
              <a:rPr lang="en-US" sz="2200" b="1" dirty="0">
                <a:solidFill>
                  <a:srgbClr val="1B1B1F"/>
                </a:solidFill>
              </a:rPr>
              <a:t>Rest 0 → Z</a:t>
            </a:r>
            <a:r>
              <a:rPr lang="en-US" sz="2200" dirty="0">
                <a:solidFill>
                  <a:srgbClr val="1B1B1F"/>
                </a:solidFill>
              </a:rPr>
              <a:t>, negative Reste </a:t>
            </a:r>
            <a:r>
              <a:rPr lang="en-US" sz="2200" b="1" dirty="0">
                <a:solidFill>
                  <a:srgbClr val="1B1B1F"/>
                </a:solidFill>
              </a:rPr>
              <a:t>+ 26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848864"/>
          </a:xfrm>
          <a:prstGeom prst="roundRect">
            <a:avLst>
              <a:gd name="adj" fmla="val 2568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Caesar, k = 5, Geheimtext </a:t>
            </a: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EBJN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1352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E: 5 − 5 = 0 → </a:t>
            </a:r>
            <a:r>
              <a:rPr lang="en-US" sz="2000" b="1" dirty="0">
                <a:solidFill>
                  <a:srgbClr val="1B1B1F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4968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B: 2 − 5 = −3 + 26 = 23 → W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18584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Klartext: </a:t>
            </a:r>
            <a:r>
              <a:rPr lang="en-US" sz="2000" i="1" dirty="0">
                <a:solidFill>
                  <a:srgbClr val="1B1B1F"/>
                </a:solidFill>
              </a:rPr>
              <a:t>awei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78728" y="2281936"/>
            <a:ext cx="5364328" cy="2848864"/>
          </a:xfrm>
          <a:prstGeom prst="roundRect">
            <a:avLst>
              <a:gd name="adj" fmla="val 2568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Caesar, k = 5, Geheimtext </a:t>
            </a: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EBJN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451352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E: 5 − 5 = 0 ≡ 26 → </a:t>
            </a:r>
            <a:r>
              <a:rPr lang="en-US" sz="2000" b="1" dirty="0">
                <a:solidFill>
                  <a:srgbClr val="1B1B1F"/>
                </a:solidFill>
              </a:rPr>
              <a:t>Z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934968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B: 2 − 5 = −3 + 26 = 23 → W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418584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Klartext: </a:t>
            </a:r>
            <a:r>
              <a:rPr lang="en-US" sz="2000" b="1" dirty="0">
                <a:solidFill>
                  <a:srgbClr val="1B1B1F"/>
                </a:solidFill>
              </a:rPr>
              <a:t>zwei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P3 · Umkehrung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RÜCKSPIEGEL: Stufe 1 rückwärts schreiben, Stufe 2 Vigenère mit OHR. Entschlüsseln: </a:t>
            </a:r>
            <a:r>
              <a:rPr lang="en-US" sz="2200" b="1" dirty="0">
                <a:solidFill>
                  <a:srgbClr val="1B1B1F"/>
                </a:solidFill>
              </a:rPr>
              <a:t>letzte Stufe zuerst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675128"/>
          </a:xfrm>
          <a:prstGeom prst="roundRect">
            <a:avLst>
              <a:gd name="adj" fmla="val 2735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B1F"/>
                </a:solidFill>
              </a:rPr>
              <a:t>1.</a:t>
            </a:r>
            <a:r>
              <a:rPr lang="en-US" sz="2000" dirty="0">
                <a:solidFill>
                  <a:srgbClr val="1B1B1F"/>
                </a:solidFill>
              </a:rPr>
              <a:t>  </a:t>
            </a: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SZFFKEWD</a:t>
            </a:r>
            <a:r>
              <a:rPr lang="en-US" sz="2000" dirty="0">
                <a:solidFill>
                  <a:srgbClr val="1B1B1F"/>
                </a:solidFill>
              </a:rPr>
              <a:t> umdrehen → </a:t>
            </a: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DWEKFFZS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1352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B1F"/>
                </a:solidFill>
              </a:rPr>
              <a:t>2.</a:t>
            </a:r>
            <a:r>
              <a:rPr lang="en-US" sz="2000" dirty="0">
                <a:solidFill>
                  <a:srgbClr val="1B1B1F"/>
                </a:solidFill>
              </a:rPr>
              <a:t>  Vigenère zurück mit OHR → </a:t>
            </a:r>
            <a:r>
              <a:rPr lang="en-US" sz="2000" i="1" dirty="0">
                <a:solidFill>
                  <a:srgbClr val="1B1B1F"/>
                </a:solidFill>
              </a:rPr>
              <a:t>ppnwyoll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44848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„Das Verfahren ist fehlerhaft.“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78728" y="2281936"/>
            <a:ext cx="5364328" cy="2191512"/>
          </a:xfrm>
          <a:prstGeom prst="roundRect">
            <a:avLst>
              <a:gd name="adj" fmla="val 3338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967736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B1F"/>
                </a:solidFill>
              </a:rPr>
              <a:t>1.</a:t>
            </a:r>
            <a:r>
              <a:rPr lang="en-US" sz="2000" dirty="0">
                <a:solidFill>
                  <a:srgbClr val="1B1B1F"/>
                </a:solidFill>
              </a:rPr>
              <a:t>  Vigenère zurück mit OHR → </a:t>
            </a: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ESORDNIW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761232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B1F"/>
                </a:solidFill>
              </a:rPr>
              <a:t>2.</a:t>
            </a:r>
            <a:r>
              <a:rPr lang="en-US" sz="2000" dirty="0">
                <a:solidFill>
                  <a:srgbClr val="1B1B1F"/>
                </a:solidFill>
              </a:rPr>
              <a:t>  umdrehen → </a:t>
            </a:r>
            <a:r>
              <a:rPr lang="en-US" sz="2000" b="1" dirty="0">
                <a:solidFill>
                  <a:srgbClr val="1B1B1F"/>
                </a:solidFill>
              </a:rPr>
              <a:t>windrose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P4 · Verfahrensregel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Das </a:t>
            </a:r>
            <a:r>
              <a:rPr lang="en-US" sz="2200" b="1" dirty="0">
                <a:solidFill>
                  <a:srgbClr val="1B1B1F"/>
                </a:solidFill>
              </a:rPr>
              <a:t>Beispiel des Materials</a:t>
            </a:r>
            <a:r>
              <a:rPr lang="en-US" sz="2200" dirty="0">
                <a:solidFill>
                  <a:srgbClr val="1B1B1F"/>
                </a:solidFill>
              </a:rPr>
              <a:t> vollständig nachrechnen – dort steckt jede Regel. Eves Pendel UHR: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3040888"/>
          </a:xfrm>
          <a:prstGeom prst="roundRect">
            <a:avLst>
              <a:gd name="adj" fmla="val 2406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Geheimtext-Kasten"/>
          <p:cNvSpPr/>
          <p:nvPr/>
        </p:nvSpPr>
        <p:spPr>
          <a:xfrm>
            <a:off x="822960" y="2967736"/>
            <a:ext cx="4815688" cy="93522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040888"/>
            <a:ext cx="435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ENDEN DOPPELT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370072"/>
            <a:ext cx="4358488" cy="42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H R R H U U H R …</a:t>
            </a:r>
            <a:endParaRPr lang="en-US" sz="2000" dirty="0"/>
          </a:p>
        </p:txBody>
      </p:sp>
      <p:sp>
        <p:nvSpPr>
          <p:cNvPr id="9" name="Geheimtext-Kasten"/>
          <p:cNvSpPr/>
          <p:nvPr/>
        </p:nvSpPr>
        <p:spPr>
          <a:xfrm>
            <a:off x="822960" y="4030980"/>
            <a:ext cx="4815688" cy="93522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104132"/>
            <a:ext cx="435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ZYKLISCH WIE VIGENÈRE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433316"/>
            <a:ext cx="4358488" cy="42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H R U H R U H R …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78728" y="2281936"/>
            <a:ext cx="5364328" cy="2461260"/>
          </a:xfrm>
          <a:prstGeom prst="roundRect">
            <a:avLst>
              <a:gd name="adj" fmla="val 2972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4" name="Geheimtext-Kasten"/>
          <p:cNvSpPr/>
          <p:nvPr/>
        </p:nvSpPr>
        <p:spPr>
          <a:xfrm>
            <a:off x="6553048" y="2967736"/>
            <a:ext cx="4815688" cy="93522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81648" y="3040888"/>
            <a:ext cx="435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PENDEL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648" y="3370072"/>
            <a:ext cx="4358488" cy="42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H R H U H R H …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4030980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Periode 2L − 2 = </a:t>
            </a:r>
            <a:r>
              <a:rPr lang="en-US" sz="2000" b="1" dirty="0">
                <a:solidFill>
                  <a:srgbClr val="1B1B1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P5 · Einordnung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Kriterium: Wird </a:t>
            </a:r>
            <a:r>
              <a:rPr lang="en-US" sz="2200" b="1" dirty="0">
                <a:solidFill>
                  <a:srgbClr val="1B1B1F"/>
                </a:solidFill>
              </a:rPr>
              <a:t>derselbe Klartextbuchstabe immer gleich</a:t>
            </a:r>
            <a:r>
              <a:rPr lang="en-US" sz="2200" dirty="0">
                <a:solidFill>
                  <a:srgbClr val="1B1B1F"/>
                </a:solidFill>
              </a:rPr>
              <a:t> ersetzt? Ändern sich Zeichen oder nur Plätze?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017776"/>
          </a:xfrm>
          <a:prstGeom prst="roundRect">
            <a:avLst>
              <a:gd name="adj" fmla="val 3625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„Beim Klopfcode wird jeder Buchstabe durch </a:t>
            </a:r>
            <a:r>
              <a:rPr lang="en-US" sz="2000" b="1" dirty="0">
                <a:solidFill>
                  <a:srgbClr val="1B1B1F"/>
                </a:solidFill>
              </a:rPr>
              <a:t>zwei</a:t>
            </a:r>
            <a:r>
              <a:rPr lang="en-US" sz="2000" dirty="0">
                <a:solidFill>
                  <a:srgbClr val="1B1B1F"/>
                </a:solidFill>
              </a:rPr>
              <a:t> Zeichen ersetzt – also ist das Verfahren </a:t>
            </a:r>
            <a:r>
              <a:rPr lang="en-US" sz="2000" b="1" dirty="0">
                <a:solidFill>
                  <a:srgbClr val="1B1B1F"/>
                </a:solidFill>
              </a:rPr>
              <a:t>polyalphabetisch</a:t>
            </a:r>
            <a:r>
              <a:rPr lang="en-US" sz="2000" dirty="0">
                <a:solidFill>
                  <a:srgbClr val="1B1B1F"/>
                </a:solidFill>
              </a:rPr>
              <a:t>.“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78728" y="2281936"/>
            <a:ext cx="5364328" cy="2129536"/>
          </a:xfrm>
          <a:prstGeom prst="roundRect">
            <a:avLst>
              <a:gd name="adj" fmla="val 3435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967736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E wird </a:t>
            </a:r>
            <a:r>
              <a:rPr lang="en-US" sz="2000" b="1" dirty="0">
                <a:solidFill>
                  <a:srgbClr val="1B1B1F"/>
                </a:solidFill>
              </a:rPr>
              <a:t>immer</a:t>
            </a:r>
            <a:r>
              <a:rPr lang="en-US" sz="2000" dirty="0">
                <a:solidFill>
                  <a:srgbClr val="1B1B1F"/>
                </a:solidFill>
              </a:rPr>
              <a:t> durch </a:t>
            </a: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2000" dirty="0">
                <a:solidFill>
                  <a:srgbClr val="1B1B1F"/>
                </a:solidFill>
              </a:rPr>
              <a:t> ersetzt → </a:t>
            </a:r>
            <a:r>
              <a:rPr lang="en-US" sz="2000" b="1" dirty="0">
                <a:solidFill>
                  <a:srgbClr val="1B1B1F"/>
                </a:solidFill>
              </a:rPr>
              <a:t>monoalphabetisch</a:t>
            </a:r>
            <a:r>
              <a:rPr lang="en-US" sz="2000" dirty="0">
                <a:solidFill>
                  <a:srgbClr val="1B1B1F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761232"/>
            <a:ext cx="4815688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B1F"/>
                </a:solidFill>
              </a:rPr>
              <a:t>Die Anzahl der Zeichen ist kein Kriterium.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P6 · Häufigkeitsanalyse pauschal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Sagen, </a:t>
            </a:r>
            <a:r>
              <a:rPr lang="en-US" sz="2200" b="1" dirty="0">
                <a:solidFill>
                  <a:srgbClr val="1B1B1F"/>
                </a:solidFill>
              </a:rPr>
              <a:t>worauf</a:t>
            </a:r>
            <a:r>
              <a:rPr lang="en-US" sz="2200" dirty="0">
                <a:solidFill>
                  <a:srgbClr val="1B1B1F"/>
                </a:solidFill>
              </a:rPr>
              <a:t> (Einzelbuchstaben, Teiltexte, Paare) und </a:t>
            </a:r>
            <a:r>
              <a:rPr lang="en-US" sz="2200" b="1" dirty="0">
                <a:solidFill>
                  <a:srgbClr val="1B1B1F"/>
                </a:solidFill>
              </a:rPr>
              <a:t>unter welchen Voraussetzungen</a:t>
            </a:r>
            <a:r>
              <a:rPr lang="en-US" sz="2200" dirty="0">
                <a:solidFill>
                  <a:srgbClr val="1B1B1F"/>
                </a:solidFill>
              </a:rPr>
              <a:t> (Länge, Sprache).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327656"/>
          </a:xfrm>
          <a:prstGeom prst="roundRect">
            <a:avLst>
              <a:gd name="adj" fmla="val 3143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„Bei der Spaltentransposition findet man den Schlüssel mit der Häufigkeitsanalyse, weil E der häufigste Buchstabe ist.“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78728" y="2281936"/>
            <a:ext cx="5364328" cy="2811272"/>
          </a:xfrm>
          <a:prstGeom prst="roundRect">
            <a:avLst>
              <a:gd name="adj" fmla="val 2602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967736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Transposition: Häufigkeiten bleiben </a:t>
            </a:r>
            <a:r>
              <a:rPr lang="en-US" sz="2000" b="1" dirty="0">
                <a:solidFill>
                  <a:srgbClr val="1B1B1F"/>
                </a:solidFill>
              </a:rPr>
              <a:t>erhalten</a:t>
            </a:r>
            <a:r>
              <a:rPr lang="en-US" sz="2000" dirty="0">
                <a:solidFill>
                  <a:srgbClr val="1B1B1F"/>
                </a:solidFill>
              </a:rPr>
              <a:t> → verrät nur den </a:t>
            </a:r>
            <a:r>
              <a:rPr lang="en-US" sz="2000" b="1" dirty="0">
                <a:solidFill>
                  <a:srgbClr val="1B1B1F"/>
                </a:solidFill>
              </a:rPr>
              <a:t>Typ</a:t>
            </a:r>
            <a:r>
              <a:rPr lang="en-US" sz="2000" dirty="0">
                <a:solidFill>
                  <a:srgbClr val="1B1B1F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761232"/>
            <a:ext cx="481568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Vigenère (k = 3): </a:t>
            </a:r>
            <a:r>
              <a:rPr lang="en-US" sz="2000" b="1" dirty="0">
                <a:solidFill>
                  <a:srgbClr val="1B1B1F"/>
                </a:solidFill>
              </a:rPr>
              <a:t>3 Teiltexte</a:t>
            </a:r>
            <a:r>
              <a:rPr lang="en-US" sz="2000" dirty="0">
                <a:solidFill>
                  <a:srgbClr val="1B1B1F"/>
                </a:solidFill>
              </a:rPr>
              <a:t>, je Teiltext häufigster Buchstabe ≙ e – bei langem deutschem Text.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P7 · Schlüsselraum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Unabhängige Stellen </a:t>
            </a:r>
            <a:r>
              <a:rPr lang="en-US" sz="2200" b="1" dirty="0">
                <a:solidFill>
                  <a:srgbClr val="1B1B1F"/>
                </a:solidFill>
              </a:rPr>
              <a:t>multiplizieren</a:t>
            </a:r>
            <a:r>
              <a:rPr lang="en-US" sz="2200" dirty="0">
                <a:solidFill>
                  <a:srgbClr val="1B1B1F"/>
                </a:solidFill>
              </a:rPr>
              <a:t>, Paare </a:t>
            </a:r>
            <a:r>
              <a:rPr lang="en-US" sz="2200" b="1" dirty="0">
                <a:solidFill>
                  <a:srgbClr val="1B1B1F"/>
                </a:solidFill>
              </a:rPr>
              <a:t>einmal</a:t>
            </a:r>
            <a:r>
              <a:rPr lang="en-US" sz="2200" dirty="0">
                <a:solidFill>
                  <a:srgbClr val="1B1B1F"/>
                </a:solidFill>
              </a:rPr>
              <a:t> zählen, schwache Schlüssel suchen.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1881632"/>
          </a:xfrm>
          <a:prstGeom prst="roundRect">
            <a:avLst>
              <a:gd name="adj" fmla="val 3888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Vigenère, Länge 3: 26 · 3 = </a:t>
            </a:r>
            <a:r>
              <a:rPr lang="en-US" sz="2000" b="1" dirty="0">
                <a:solidFill>
                  <a:srgbClr val="1B1B1F"/>
                </a:solidFill>
              </a:rPr>
              <a:t>78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1352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8 Personen symmetrisch: 8 · 7 = </a:t>
            </a:r>
            <a:r>
              <a:rPr lang="en-US" sz="2000" b="1" dirty="0">
                <a:solidFill>
                  <a:srgbClr val="1B1B1F"/>
                </a:solidFill>
              </a:rPr>
              <a:t>56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78728" y="2281936"/>
            <a:ext cx="5364328" cy="2365248"/>
          </a:xfrm>
          <a:prstGeom prst="roundRect">
            <a:avLst>
              <a:gd name="adj" fmla="val 3093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26³ = </a:t>
            </a:r>
            <a:r>
              <a:rPr lang="en-US" sz="2000" b="1" dirty="0">
                <a:solidFill>
                  <a:srgbClr val="1B1B1F"/>
                </a:solidFill>
              </a:rPr>
              <a:t>17 576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451352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8 · 7 / 2 = </a:t>
            </a:r>
            <a:r>
              <a:rPr lang="en-US" sz="2000" b="1" dirty="0">
                <a:solidFill>
                  <a:srgbClr val="1B1B1F"/>
                </a:solidFill>
              </a:rPr>
              <a:t>28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934968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asymmetrisch: 2 · 8 = </a:t>
            </a:r>
            <a:r>
              <a:rPr lang="en-US" sz="2000" b="1" dirty="0">
                <a:solidFill>
                  <a:srgbClr val="1B1B1F"/>
                </a:solidFill>
              </a:rPr>
              <a:t>16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P8 · Kombination überschätzt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Prüfen, ob die Kombination wieder ein Verfahren </a:t>
            </a:r>
            <a:r>
              <a:rPr lang="en-US" sz="2200" b="1" dirty="0">
                <a:solidFill>
                  <a:srgbClr val="1B1B1F"/>
                </a:solidFill>
              </a:rPr>
              <a:t>derselben Art</a:t>
            </a:r>
            <a:r>
              <a:rPr lang="en-US" sz="2200" dirty="0">
                <a:solidFill>
                  <a:srgbClr val="1B1B1F"/>
                </a:solidFill>
              </a:rPr>
              <a:t> ist.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2017776"/>
          </a:xfrm>
          <a:prstGeom prst="roundRect">
            <a:avLst>
              <a:gd name="adj" fmla="val 3625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26868"/>
            <a:ext cx="481568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„Erst Caesar k = 7, dann k = 11 – ein Angreifer muss 26 · 26 = </a:t>
            </a:r>
            <a:r>
              <a:rPr lang="en-US" sz="2000" b="1" dirty="0">
                <a:solidFill>
                  <a:srgbClr val="1B1B1F"/>
                </a:solidFill>
              </a:rPr>
              <a:t>676</a:t>
            </a:r>
            <a:r>
              <a:rPr lang="en-US" sz="2000" dirty="0">
                <a:solidFill>
                  <a:srgbClr val="1B1B1F"/>
                </a:solidFill>
              </a:rPr>
              <a:t> Schlüssel probieren.“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78728" y="1941068"/>
            <a:ext cx="5364328" cy="2191512"/>
          </a:xfrm>
          <a:prstGeom prst="roundRect">
            <a:avLst>
              <a:gd name="adj" fmla="val 3338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626868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7 + 11 = 18 → </a:t>
            </a:r>
            <a:r>
              <a:rPr lang="en-US" sz="2000" b="1" dirty="0">
                <a:solidFill>
                  <a:srgbClr val="1B1B1F"/>
                </a:solidFill>
              </a:rPr>
              <a:t>Caesar k = 18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110484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r>
              <a:rPr lang="en-US" sz="2000" dirty="0">
                <a:solidFill>
                  <a:srgbClr val="1B1B1F"/>
                </a:solidFill>
              </a:rPr>
              <a:t> → </a:t>
            </a:r>
            <a:r>
              <a:rPr lang="en-US" sz="20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</a:t>
            </a:r>
            <a:r>
              <a:rPr lang="en-US" sz="2000" dirty="0">
                <a:solidFill>
                  <a:srgbClr val="1B1B1F"/>
                </a:solidFill>
              </a:rPr>
              <a:t> in beiden Fällen; weiterhin </a:t>
            </a:r>
            <a:r>
              <a:rPr lang="en-US" sz="2000" b="1" dirty="0">
                <a:solidFill>
                  <a:srgbClr val="1B1B1F"/>
                </a:solidFill>
              </a:rPr>
              <a:t>26</a:t>
            </a:r>
            <a:r>
              <a:rPr lang="en-US" sz="2000" dirty="0">
                <a:solidFill>
                  <a:srgbClr val="1B1B1F"/>
                </a:solidFill>
              </a:rPr>
              <a:t> Schlüssel.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P9 · Schlüsselrollen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Signieren </a:t>
            </a:r>
            <a:r>
              <a:rPr lang="en-US" sz="2200" b="1" dirty="0">
                <a:solidFill>
                  <a:srgbClr val="1B1B1F"/>
                </a:solidFill>
              </a:rPr>
              <a:t>privat</a:t>
            </a:r>
            <a:r>
              <a:rPr lang="en-US" sz="2200" dirty="0">
                <a:solidFill>
                  <a:srgbClr val="1B1B1F"/>
                </a:solidFill>
              </a:rPr>
              <a:t> (Absender) – prüfen </a:t>
            </a:r>
            <a:r>
              <a:rPr lang="en-US" sz="2200" b="1" dirty="0">
                <a:solidFill>
                  <a:srgbClr val="1B1B1F"/>
                </a:solidFill>
              </a:rPr>
              <a:t>öffentlich</a:t>
            </a:r>
            <a:r>
              <a:rPr lang="en-US" sz="2200" dirty="0">
                <a:solidFill>
                  <a:srgbClr val="1B1B1F"/>
                </a:solidFill>
              </a:rPr>
              <a:t> (Absender) – verschlüsseln mit dem öffentlichen Schlüssel des </a:t>
            </a:r>
            <a:r>
              <a:rPr lang="en-US" sz="2200" b="1" dirty="0">
                <a:solidFill>
                  <a:srgbClr val="1B1B1F"/>
                </a:solidFill>
              </a:rPr>
              <a:t>Empfängers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501392"/>
          </a:xfrm>
          <a:prstGeom prst="roundRect">
            <a:avLst>
              <a:gd name="adj" fmla="val 2924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„Alice signiert mit </a:t>
            </a:r>
            <a:r>
              <a:rPr lang="en-US" sz="2000" b="1" dirty="0">
                <a:solidFill>
                  <a:srgbClr val="1B1B1F"/>
                </a:solidFill>
              </a:rPr>
              <a:t>Bobs öffentlichem</a:t>
            </a:r>
            <a:r>
              <a:rPr lang="en-US" sz="2000" dirty="0">
                <a:solidFill>
                  <a:srgbClr val="1B1B1F"/>
                </a:solidFill>
              </a:rPr>
              <a:t> Schlüssel.“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61232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„Ein Zertifikat beweist, dass Alice vertrauenswürdig ist.“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78728" y="2281936"/>
            <a:ext cx="5364328" cy="2811272"/>
          </a:xfrm>
          <a:prstGeom prst="roundRect">
            <a:avLst>
              <a:gd name="adj" fmla="val 2602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967736"/>
            <a:ext cx="481568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Alice signiert mit </a:t>
            </a:r>
            <a:r>
              <a:rPr lang="en-US" sz="2000" b="1" dirty="0">
                <a:solidFill>
                  <a:srgbClr val="1B1B1F"/>
                </a:solidFill>
              </a:rPr>
              <a:t>ihrem privaten</a:t>
            </a:r>
            <a:r>
              <a:rPr lang="en-US" sz="2000" dirty="0">
                <a:solidFill>
                  <a:srgbClr val="1B1B1F"/>
                </a:solidFill>
              </a:rPr>
              <a:t> Schlüssel; Bob prüft mit </a:t>
            </a:r>
            <a:r>
              <a:rPr lang="en-US" sz="2000" b="1" dirty="0">
                <a:solidFill>
                  <a:srgbClr val="1B1B1F"/>
                </a:solidFill>
              </a:rPr>
              <a:t>Alices öffentlichem</a:t>
            </a:r>
            <a:r>
              <a:rPr lang="en-US" sz="2000" dirty="0">
                <a:solidFill>
                  <a:srgbClr val="1B1B1F"/>
                </a:solidFill>
              </a:rPr>
              <a:t> Schlüssel + Hashvergleich.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4071112"/>
            <a:ext cx="48156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Ein Zertifikat bindet einen Schlüssel an eine </a:t>
            </a:r>
            <a:r>
              <a:rPr lang="en-US" sz="2000" b="1" dirty="0">
                <a:solidFill>
                  <a:srgbClr val="1B1B1F"/>
                </a:solidFill>
              </a:rPr>
              <a:t>Identität</a:t>
            </a:r>
            <a:r>
              <a:rPr lang="en-US" sz="2000" dirty="0">
                <a:solidFill>
                  <a:srgbClr val="1B1B1F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P10 · Operator verfehlt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„</a:t>
            </a:r>
            <a:r>
              <a:rPr lang="en-US" sz="2200" b="1" dirty="0">
                <a:solidFill>
                  <a:srgbClr val="1B1B1F"/>
                </a:solidFill>
              </a:rPr>
              <a:t>Beurteilen</a:t>
            </a:r>
            <a:r>
              <a:rPr lang="en-US" sz="2200" dirty="0">
                <a:solidFill>
                  <a:srgbClr val="1B1B1F"/>
                </a:solidFill>
              </a:rPr>
              <a:t> Sie die Sicherheit des Caesar-Verfahrens.“ – Kriterien + Begründung + </a:t>
            </a:r>
            <a:r>
              <a:rPr lang="en-US" sz="2200" b="1" dirty="0">
                <a:solidFill>
                  <a:srgbClr val="1B1B1F"/>
                </a:solidFill>
              </a:rPr>
              <a:t>Urteil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1881632"/>
          </a:xfrm>
          <a:prstGeom prst="roundRect">
            <a:avLst>
              <a:gd name="adj" fmla="val 3888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„Caesar ist unsicher.“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1352"/>
            <a:ext cx="481568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„Caesar hat 25 Schlüssel.“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78728" y="2281936"/>
            <a:ext cx="5364328" cy="2327656"/>
          </a:xfrm>
          <a:prstGeom prst="roundRect">
            <a:avLst>
              <a:gd name="adj" fmla="val 3143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967736"/>
            <a:ext cx="4815688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B1F"/>
                </a:solidFill>
              </a:rPr>
              <a:t>Nur 25 sinnvolle Schlüssel → Brute Force in Minuten; Häufigkeitsverteilung bleibt erhalten. </a:t>
            </a:r>
            <a:r>
              <a:rPr lang="en-US" sz="2000" b="1" dirty="0">
                <a:solidFill>
                  <a:srgbClr val="1B1B1F"/>
                </a:solidFill>
              </a:rPr>
              <a:t>Daher unsicher</a:t>
            </a:r>
            <a:r>
              <a:rPr lang="en-US" sz="2000" dirty="0">
                <a:solidFill>
                  <a:srgbClr val="1B1B1F"/>
                </a:solidFill>
              </a:rPr>
              <a:t> – schützt nur vor zufälligen Mitlesern.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Fallenjagd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8A5F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746504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Partnerarbeit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032504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15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Lab </a:t>
            </a:r>
            <a:r>
              <a:rPr lang="en-US" sz="2200" b="1" dirty="0">
                <a:solidFill>
                  <a:srgbClr val="1B1B1F"/>
                </a:solidFill>
              </a:rPr>
              <a:t>Level 6.1</a:t>
            </a:r>
            <a:r>
              <a:rPr lang="en-US" sz="2200" dirty="0">
                <a:solidFill>
                  <a:srgbClr val="1B1B1F"/>
                </a:solidFill>
              </a:rPr>
              <a:t> (12 Fälle) </a:t>
            </a:r>
            <a:r>
              <a:rPr lang="en-US" sz="2200" b="1" dirty="0">
                <a:solidFill>
                  <a:srgbClr val="1B1B1F"/>
                </a:solidFill>
              </a:rPr>
              <a:t>oder</a:t>
            </a:r>
            <a:r>
              <a:rPr lang="en-US" sz="2200" dirty="0">
                <a:solidFill>
                  <a:srgbClr val="1B1B1F"/>
                </a:solidFill>
              </a:rPr>
              <a:t> Akte W6·1, Aufträge 1–3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056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Am Ende: eure </a:t>
            </a:r>
            <a:r>
              <a:rPr lang="en-US" sz="2200" b="1" dirty="0">
                <a:solidFill>
                  <a:srgbClr val="1B1B1F"/>
                </a:solidFill>
              </a:rPr>
              <a:t>gefährlichste Falle</a:t>
            </a:r>
            <a:r>
              <a:rPr lang="en-US" sz="2200" dirty="0">
                <a:solidFill>
                  <a:srgbClr val="1B1B1F"/>
                </a:solidFill>
              </a:rPr>
              <a:t> + Gegenmittel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9516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Strichliste an der Tafel: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09772"/>
          <a:ext cx="10058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Eves Chiffre in 5 Schritten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Lesen · Anwenden · Umkehren · Einordnen · Beurteilen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Eves Chiffre knacken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8A5F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3392424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Einzelarbeit → Partnerarbeit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78424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35 min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09728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66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Akte W6·2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Nachrechnen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Auftrag 1: Beispiel (Z = 25!)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Umkehren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Auftrag 2: der Archivfund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Anwenden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Auftrag 3: Eve imitieren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+ 5 Einordnen, beurteilen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Auftrag 4 (Raster WK3)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schnell fertig?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Auftrag 5 (eA) · Lab 6.2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Uhrwerk in 5 Schritten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779520"/>
          </a:xfrm>
          <a:prstGeom prst="roundRect">
            <a:avLst>
              <a:gd name="adj" fmla="val 2419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1.</a:t>
            </a:r>
            <a:r>
              <a:rPr lang="en-US" sz="2200" dirty="0">
                <a:solidFill>
                  <a:srgbClr val="1B1B1F"/>
                </a:solidFill>
              </a:rPr>
              <a:t>  Beispiel nachrechnen (</a:t>
            </a:r>
            <a:r>
              <a:rPr lang="en-US" sz="2200" b="1" dirty="0">
                <a:solidFill>
                  <a:srgbClr val="1B1B1F"/>
                </a:solidFill>
              </a:rPr>
              <a:t>Z = 25!</a:t>
            </a:r>
            <a:r>
              <a:rPr lang="en-US" sz="2200" dirty="0">
                <a:solidFill>
                  <a:srgbClr val="1B1B1F"/>
                </a:solidFill>
              </a:rPr>
              <a:t>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754884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2.</a:t>
            </a:r>
            <a:r>
              <a:rPr lang="en-US" sz="2200" dirty="0">
                <a:solidFill>
                  <a:srgbClr val="1B1B1F"/>
                </a:solidFill>
              </a:rPr>
              <a:t>  Vorlage füllen (Ring-Tabelle, Pendelzeile)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69488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3.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erst Pendel, dann Ring</a:t>
            </a:r>
            <a:r>
              <a:rPr lang="en-US" sz="2200" dirty="0">
                <a:solidFill>
                  <a:srgbClr val="1B1B1F"/>
                </a:solidFill>
              </a:rPr>
              <a:t> zurück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784092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4.</a:t>
            </a:r>
            <a:r>
              <a:rPr lang="en-US" sz="2200" dirty="0">
                <a:solidFill>
                  <a:srgbClr val="1B1B1F"/>
                </a:solidFill>
              </a:rPr>
              <a:t>  Ring = </a:t>
            </a:r>
            <a:r>
              <a:rPr lang="en-US" sz="2200" b="1" dirty="0">
                <a:solidFill>
                  <a:srgbClr val="1B1B1F"/>
                </a:solidFill>
              </a:rPr>
              <a:t>Transposition</a:t>
            </a:r>
            <a:r>
              <a:rPr lang="en-US" sz="2200" dirty="0">
                <a:solidFill>
                  <a:srgbClr val="1B1B1F"/>
                </a:solidFill>
              </a:rPr>
              <a:t>, Pendel = </a:t>
            </a:r>
            <a:r>
              <a:rPr lang="en-US" sz="2200" b="1" dirty="0">
                <a:solidFill>
                  <a:srgbClr val="1B1B1F"/>
                </a:solidFill>
              </a:rPr>
              <a:t>polyalphabetisch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4298696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5.</a:t>
            </a:r>
            <a:r>
              <a:rPr lang="en-US" sz="2200" dirty="0">
                <a:solidFill>
                  <a:srgbClr val="1B1B1F"/>
                </a:solidFill>
              </a:rPr>
              <a:t>  Raster WK3 → </a:t>
            </a:r>
            <a:r>
              <a:rPr lang="en-US" sz="2200" b="1" dirty="0">
                <a:solidFill>
                  <a:srgbClr val="1B1B1F"/>
                </a:solidFill>
              </a:rPr>
              <a:t>Urteil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Eves Schwächen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643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1472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nur </a:t>
            </a:r>
            <a:r>
              <a:rPr lang="en-US" sz="2200" b="1" dirty="0">
                <a:solidFill>
                  <a:srgbClr val="1B1B1F"/>
                </a:solidFill>
              </a:rPr>
              <a:t>4</a:t>
            </a:r>
            <a:r>
              <a:rPr lang="en-US" sz="2200" dirty="0">
                <a:solidFill>
                  <a:srgbClr val="1B1B1F"/>
                </a:solidFill>
              </a:rPr>
              <a:t> Ringschritte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86076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t = 1 tut nichts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00680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zweimal = Identität (t · t mod 8 = 1)</a:t>
            </a:r>
            <a:endParaRPr lang="en-US" sz="2200" dirty="0"/>
          </a:p>
        </p:txBody>
      </p:sp>
      <p:sp>
        <p:nvSpPr>
          <p:cNvPr id="7" name="Geheimtext-Kasten"/>
          <p:cNvSpPr/>
          <p:nvPr/>
        </p:nvSpPr>
        <p:spPr>
          <a:xfrm>
            <a:off x="548640" y="3756152"/>
            <a:ext cx="5364328" cy="93522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829304"/>
            <a:ext cx="490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SCHWACHER RINGSCHRITT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58488"/>
            <a:ext cx="4907128" cy="42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1:  0 1 2 3 4 5 6 7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1325880"/>
            <a:ext cx="53643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Pendel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1871472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= Vigenère mit Periode </a:t>
            </a:r>
            <a:r>
              <a:rPr lang="en-US" sz="2200" b="1" dirty="0">
                <a:solidFill>
                  <a:srgbClr val="1B1B1F"/>
                </a:solidFill>
              </a:rPr>
              <a:t>2L − 2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386076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EVE → EV: Periode </a:t>
            </a:r>
            <a:r>
              <a:rPr lang="en-US" sz="2200" b="1" dirty="0">
                <a:solidFill>
                  <a:srgbClr val="1B1B1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2900680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→ Teiltexte + Häufigkeitsanalyse</a:t>
            </a:r>
            <a:endParaRPr lang="en-US" sz="2200" dirty="0"/>
          </a:p>
        </p:txBody>
      </p:sp>
      <p:sp>
        <p:nvSpPr>
          <p:cNvPr id="14" name="Geheimtext-Kasten"/>
          <p:cNvSpPr/>
          <p:nvPr/>
        </p:nvSpPr>
        <p:spPr>
          <a:xfrm>
            <a:off x="6278728" y="3415284"/>
            <a:ext cx="5364328" cy="93522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7328" y="3488436"/>
            <a:ext cx="490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SCHWACHES PENDELWORT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3817620"/>
            <a:ext cx="4907128" cy="42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 → E V E V E V 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Bis zur Generalprobe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8A5F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52704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Hausaufgabe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13048" y="1325880"/>
            <a:ext cx="1307592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bis DS 18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Lab </a:t>
            </a:r>
            <a:r>
              <a:rPr lang="en-US" sz="2200" b="1" dirty="0">
                <a:solidFill>
                  <a:srgbClr val="1B1B1F"/>
                </a:solidFill>
              </a:rPr>
              <a:t>Level 6.3</a:t>
            </a:r>
            <a:r>
              <a:rPr lang="en-US" sz="2200" dirty="0">
                <a:solidFill>
                  <a:srgbClr val="1B1B1F"/>
                </a:solidFill>
              </a:rPr>
              <a:t> (Zeitplan, Operatoren, Entscheiden)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056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Boss </a:t>
            </a:r>
            <a:r>
              <a:rPr lang="en-US" sz="2200" b="1" dirty="0">
                <a:solidFill>
                  <a:srgbClr val="1B1B1F"/>
                </a:solidFill>
              </a:rPr>
              <a:t>„Generalprobe online“</a:t>
            </a:r>
            <a:r>
              <a:rPr lang="en-US" sz="2200" dirty="0">
                <a:solidFill>
                  <a:srgbClr val="1B1B1F"/>
                </a:solidFill>
              </a:rPr>
              <a:t> – 30 min, ohne Werkzeuge, nur WK1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9516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Akte W6·3, Auftrag 1: dein </a:t>
            </a:r>
            <a:r>
              <a:rPr lang="en-US" sz="2200" b="1" dirty="0">
                <a:solidFill>
                  <a:srgbClr val="1B1B1F"/>
                </a:solidFill>
              </a:rPr>
              <a:t>BE-Plan</a:t>
            </a:r>
            <a:r>
              <a:rPr lang="en-US" sz="2200" dirty="0">
                <a:solidFill>
                  <a:srgbClr val="1B1B1F"/>
                </a:solidFill>
              </a:rPr>
              <a:t> für die Probeklausur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24333bb42ce7248c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6_fc53bfa518f9cbd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WELT 6 · DS 18 · PROBEKLAUSUR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Generalprobe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Probeklausur im Block-2-Format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30 BE · 70 min — gA 25 BE · 55 min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Takt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Abitur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min / 120 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min / 100 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 min je 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 min je 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Krypto-Aufgabe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BE ≈ 67,5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BE ≈ 55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Probeklausur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BE · 70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BE · 55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6049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4 BE ≈ </a:t>
            </a:r>
            <a:r>
              <a:rPr lang="en-US" sz="2200" b="1" dirty="0">
                <a:solidFill>
                  <a:srgbClr val="1B1B1F"/>
                </a:solidFill>
              </a:rPr>
              <a:t>9 min</a:t>
            </a:r>
            <a:r>
              <a:rPr lang="en-US" sz="2200" dirty="0">
                <a:solidFill>
                  <a:srgbClr val="1B1B1F"/>
                </a:solidFill>
              </a:rPr>
              <a:t> · 6 BE ≈ </a:t>
            </a:r>
            <a:r>
              <a:rPr lang="en-US" sz="2200" b="1" dirty="0">
                <a:solidFill>
                  <a:srgbClr val="1B1B1F"/>
                </a:solidFill>
              </a:rPr>
              <a:t>13,5 min</a:t>
            </a:r>
            <a:r>
              <a:rPr lang="en-US" sz="2200" dirty="0">
                <a:solidFill>
                  <a:srgbClr val="1B1B1F"/>
                </a:solidFill>
              </a:rPr>
              <a:t> (eA)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gehst du vor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863840"/>
                <a:gridCol w="237744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 überfliegen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markieren, Beispiel nachrechnen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Teilaufgaben nach BE takten, Sicheres zuerst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· Takt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 Rückstand: Stichpunkte, später ergänzen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Kontrolle mit der Checkliste (Akte W6·1)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Operatoren-Kompass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erwartet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bestimmen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Lösungsweg + Ergebnis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erläutern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verständlich machen,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Beispiel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„weil … daher …“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beurteilen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Kriterien + Begründung +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Urteil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entscheiden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Entscheidung + Begründung + Beleg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861816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Alle 18 Operatoren mit Mustersätzen: </a:t>
            </a:r>
            <a:r>
              <a:rPr lang="en-US" sz="1800" b="1" dirty="0">
                <a:solidFill>
                  <a:srgbClr val="1B1B1F"/>
                </a:solidFill>
              </a:rPr>
              <a:t>WK5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Entscheiden Sie begründet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233928"/>
          </a:xfrm>
          <a:prstGeom prst="roundRect">
            <a:avLst>
              <a:gd name="adj" fmla="val 282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1.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Entscheidung</a:t>
            </a:r>
            <a:r>
              <a:rPr lang="en-US" sz="2200" dirty="0">
                <a:solidFill>
                  <a:srgbClr val="1B1B1F"/>
                </a:solidFill>
              </a:rPr>
              <a:t> zuerst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754884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2.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Begründung</a:t>
            </a:r>
            <a:r>
              <a:rPr lang="en-US" sz="2200" dirty="0">
                <a:solidFill>
                  <a:srgbClr val="1B1B1F"/>
                </a:solidFill>
              </a:rPr>
              <a:t> mit Fachbegriff („weil …“)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69488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3.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Beleg</a:t>
            </a:r>
            <a:r>
              <a:rPr lang="en-US" sz="2200" dirty="0">
                <a:solidFill>
                  <a:srgbClr val="1B1B1F"/>
                </a:solidFill>
              </a:rPr>
              <a:t>: Rechnung, Beispiel, Gegenbeispiel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784092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Ohne Begründung: </a:t>
            </a:r>
            <a:r>
              <a:rPr lang="en-US" sz="2200" b="1" dirty="0">
                <a:solidFill>
                  <a:srgbClr val="1B1B1F"/>
                </a:solidFill>
              </a:rPr>
              <a:t>0 BE</a:t>
            </a:r>
            <a:r>
              <a:rPr lang="en-US" sz="2200" dirty="0">
                <a:solidFill>
                  <a:srgbClr val="1B1B1F"/>
                </a:solidFill>
              </a:rPr>
              <a:t> – auch wenn die Entscheidung stimmt.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Probeklausur KETTENSCHRIFT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8A5F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636776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Einzelarbeit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922776" y="1325880"/>
            <a:ext cx="262432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eA 70 min · gA 55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Hilfsmittel: </a:t>
            </a:r>
            <a:r>
              <a:rPr lang="en-US" sz="2200" b="1" dirty="0">
                <a:solidFill>
                  <a:srgbClr val="1B1B1F"/>
                </a:solidFill>
              </a:rPr>
              <a:t>nur WK1</a:t>
            </a:r>
            <a:r>
              <a:rPr lang="en-US" sz="2200" dirty="0">
                <a:solidFill>
                  <a:srgbClr val="1B1B1F"/>
                </a:solidFill>
              </a:rPr>
              <a:t> (Anlage), kein Taschenrechner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056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Vorlagen im Material ausfüllen und </a:t>
            </a:r>
            <a:r>
              <a:rPr lang="en-US" sz="2200" b="1" dirty="0">
                <a:solidFill>
                  <a:srgbClr val="1B1B1F"/>
                </a:solidFill>
              </a:rPr>
              <a:t>mit abgeben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95168"/>
          <a:ext cx="9509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Lösung a) und b)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a)</a:t>
            </a:r>
            <a:r>
              <a:rPr lang="en-US" sz="2200" dirty="0">
                <a:solidFill>
                  <a:srgbClr val="1B1B1F"/>
                </a:solidFill>
              </a:rPr>
              <a:t> </a:t>
            </a:r>
            <a:r>
              <a:rPr lang="en-US" sz="2200" i="1" dirty="0">
                <a:solidFill>
                  <a:srgbClr val="1B1B1F"/>
                </a:solidFill>
              </a:rPr>
              <a:t>felsspalte</a:t>
            </a:r>
            <a:r>
              <a:rPr lang="en-US" sz="2200" dirty="0">
                <a:solidFill>
                  <a:srgbClr val="1B1B1F"/>
                </a:solidFill>
              </a:rPr>
              <a:t>, b = 3, S = B</a:t>
            </a:r>
            <a:endParaRPr lang="en-US" sz="2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0484"/>
          <a:ext cx="9966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Zwischentext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Geheimtext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77114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b)</a:t>
            </a:r>
            <a:r>
              <a:rPr lang="en-US" sz="2200" dirty="0">
                <a:solidFill>
                  <a:srgbClr val="1B1B1F"/>
                </a:solidFill>
              </a:rPr>
              <a:t>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TXCDU PUMYD P</a:t>
            </a:r>
            <a:r>
              <a:rPr lang="en-US" sz="2200" dirty="0">
                <a:solidFill>
                  <a:srgbClr val="1B1B1F"/>
                </a:solidFill>
              </a:rPr>
              <a:t>, b = 4, S = F</a:t>
            </a:r>
            <a:endParaRPr lang="en-US" sz="22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85744"/>
          <a:ext cx="102412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Geheimtext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Zwischentext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21640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NDEA | QUER | LEL</a:t>
            </a:r>
            <a:r>
              <a:rPr lang="en-US" sz="2200" dirty="0">
                <a:solidFill>
                  <a:srgbClr val="1B1B1F"/>
                </a:solidFill>
              </a:rPr>
              <a:t> →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ANDE | RQUE | LLE</a:t>
            </a:r>
            <a:r>
              <a:rPr lang="en-US" sz="2200" dirty="0">
                <a:solidFill>
                  <a:srgbClr val="1B1B1F"/>
                </a:solidFill>
              </a:rPr>
              <a:t> → </a:t>
            </a:r>
            <a:r>
              <a:rPr lang="en-US" sz="2200" b="1" dirty="0">
                <a:solidFill>
                  <a:srgbClr val="1B1B1F"/>
                </a:solidFill>
              </a:rPr>
              <a:t>anderquelle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Korrigieren wie die Abiturkommission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Kernpunkte-Bogen: Kernpunkt erfüllt? ✓ / ✗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048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Jeder Verlust bekommt eine </a:t>
            </a:r>
            <a:r>
              <a:rPr lang="en-US" sz="2200" b="1" dirty="0">
                <a:solidFill>
                  <a:srgbClr val="1B1B1F"/>
                </a:solidFill>
              </a:rPr>
              <a:t>P-Nummer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508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▸  Strichliste P1–P10 im Team → Level 6.1 wiederholen</a:t>
            </a:r>
            <a:endParaRPr lang="en-US" sz="2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69692"/>
          <a:ext cx="10058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Chronoskop ist frei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Klausur: zwei Aufgaben (klassisch + modern) · danach das Abitur · Und K4?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yptos Zeitmaschine">
  <a:themeElements>
    <a:clrScheme name="Kryptos Zeitmaschine">
      <a:dk1>
        <a:srgbClr val="1B1B1F"/>
      </a:dk1>
      <a:lt1>
        <a:srgbClr val="FFFFFF"/>
      </a:lt1>
      <a:dk2>
        <a:srgbClr val="14213D"/>
      </a:dk2>
      <a:lt2>
        <a:srgbClr val="FBF7EE"/>
      </a:lt2>
      <a:accent1>
        <a:srgbClr val="8A5F1A"/>
      </a:accent1>
      <a:accent2>
        <a:srgbClr val="B07D2B"/>
      </a:accent2>
      <a:accent3>
        <a:srgbClr val="1F4E8C"/>
      </a:accent3>
      <a:accent4>
        <a:srgbClr val="2E7D32"/>
      </a:accent4>
      <a:accent5>
        <a:srgbClr val="B3261E"/>
      </a:accent5>
      <a:accent6>
        <a:srgbClr val="4A4A55"/>
      </a:accent6>
      <a:hlink>
        <a:srgbClr val="1F4E8C"/>
      </a:hlink>
      <a:folHlink>
        <a:srgbClr val="8A5F1A"/>
      </a:folHlink>
    </a:clrScheme>
    <a:fontScheme name="Kryptos Zeitmaschin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Kryptos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Zeitmaschine</dc:title>
  <dc:subject>Kryptos – Die Zeitreise der Geheimschriften</dc:subject>
  <dc:creator>Frank Juchim</dc:creator>
  <cp:lastModifiedBy>Frank Juchim</cp:lastModifiedBy>
  <cp:revision>1</cp:revision>
  <dcterms:created xsi:type="dcterms:W3CDTF">2026-10-12T02:26:26Z</dcterms:created>
  <dcterms:modified xsi:type="dcterms:W3CDTF">2026-10-12T02:26:26Z</dcterms:modified>
</cp:coreProperties>
</file>