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3ef9a674-822d-f2a4-8387-2d18f43422e4}">
          <p14:sldIdLst>
            <p14:sldId id="256"/>
            <p14:sldId id="257"/>
          </p14:sldIdLst>
        </p14:section>
        <p14:section name="ASCII und XOR" id="{949664e7-7d3f-9080-594c-f75be8ea4e22}">
          <p14:sldIdLst>
            <p14:sldId id="258"/>
            <p14:sldId id="259"/>
          </p14:sldIdLst>
        </p14:section>
        <p14:section name="One-Time-Pad" id="{8f2777f0-0541-ad71-1385-808df4d149c6}">
          <p14:sldIdLst>
            <p14:sldId id="260"/>
          </p14:sldIdLst>
        </p14:section>
        <p14:section name="Der doppelte Schlüssel" id="{1f3ddbd1-f2eb-22c8-9a47-be0863a66a6e}">
          <p14:sldIdLst>
            <p14:sldId id="261"/>
          </p14:sldIdLst>
        </p14:section>
        <p14:section name="Selbst ausprobieren" id="{b5dcd3b1-7758-22be-d57d-d805375e9030}">
          <p14:sldIdLst>
            <p14:sldId id="262"/>
            <p14:sldId id="263"/>
          </p14:sldIdLst>
        </p14:section>
        <p14:section name="Blockchiffre" id="{4c315e81-81e9-6f9d-9131-6f130c483a8d}">
          <p14:sldIdLst>
            <p14:sldId id="264"/>
            <p14:sldId id="265"/>
            <p14:sldId id="266"/>
          </p14:sldIdLst>
        </p14:section>
        <p14:section name="Lawineneffekt" id="{a46af21d-e9b9-a39d-6e82-388a58dbecc3}">
          <p14:sldIdLst>
            <p14:sldId id="267"/>
            <p14:sldId id="268"/>
          </p14:sldIdLst>
        </p14:section>
        <p14:section name="ECB und CBC" id="{804dd822-3961-435f-5a9d-e61fa00edac4}">
          <p14:sldIdLst>
            <p14:sldId id="269"/>
          </p14:sldIdLst>
        </p14:section>
        <p14:section name="Typische Fehler" id="{6f398573-10da-9b79-00f8-04b0f5b858e2}">
          <p14:sldIdLst>
            <p14:sldId id="270"/>
          </p14:sldIdLst>
        </p14:section>
        <p14:section name="Zusammenfassung" id="{7a7c9e6a-8307-8bb5-f2f7-3573a87d1ce3}">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Einstieg]
REGIE: Kamera unten rechts, Titelfolie mit Lochstreifen-Ornament. Kurzer Ton eines Fernschreibers als Einstieg (optional).
SPRECHERTEXT: Willkommen im Maschinenzeitalter! Statt Buchstaben auf Pergament rattern jetzt Fernschreiber, und Nachrichten werden zu Löchern im Papierstreifen – also zu Bits. Heute lernst du das einzige Verfahren kennen, das beweisbar nicht zu knacken ist. Du siehst, wie man es trotzdem knackt, wenn jemand schlampt. Und du baust mit mir eine kleine Blockchiffre, so wie sie im Abitur von Hand gerechnet wird.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Im Abitur kommen Bits und XOR immer wieder vor. Du sollst ein Verfahren auf einen Block anwenden, also von Hand rechnen. Du sollst begründen, ob ein Verfahren Diffusion erfüllt. Und du sollst erläutern, wie man beliebig lange Texte verschlüsselt. XOR und das One-Time-Pad gehören zum Kern. Die Blockchiffre ist Stoff für das erhöhte Niveau – im Grundkurs schaust du dir den zweiten Teil als Ausblick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ASCII und XOR]
SPRECHERTEXT: Ein Computer kennt keine Buchstaben, nur Zahlen. Welche Zahl zu welchem Zeichen gehört, legt der ASCII-Code fest. Die Tabelle findest du in der Anlage zum Abitur. Großes A ist 65, J ist 74. Als Dualzahl mit acht Bit schreiben wir die Bits in Vierergruppen, das höchstwertige Bit links: J ist null eins null null, eins null eins null. Achtung, Falle P1: ASCII zählt A als 65, das Alphabet der Anlage zählt A als 1. Prüf also immer zuerst, welche Nummerierung das Material verwendet.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Beispiel rechts Zeile für Zeile einblenden; bei der zweiten ⊕-Zeile auf „derselbe Schlüssel“ zeigen.
SPRECHERTEXT: XOR heißt exklusives Oder und wird mit einem Plus im Kreis geschrieben. Die Regel ist einfach: Sind beide Bits gleich, kommt null heraus. Sind sie verschieden, kommt eins heraus. Man kann auch sagen: Eine Eins im Schlüssel kippt das Bit, eine Null lässt es stehen. Rechts verschlüsseln wir das J mit einem Schlüsselbyte und erhalten eins eins null eins, null eins eins null. Jetzt der Trick: Wir verknüpfen das Ergebnis noch einmal mit demselben Schlüssel – und das J ist wieder da. Denn jedes Bit wird zweimal gekippt. XOR ist also seine eigene Umkehrung. Derselbe Schlüssel verschlüsselt und entschlüsselt – ein symmetrisches Verfahren.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One-Time-Pad]
SPRECHERTEXT: Gilbert Vernam hat um 1917 Fernschreibzeichen auf genau diese Weise mit einem Schlüsselstreifen verknüpft. Die Forderung, dass der Schlüssel zufällig sein und nur einmal benutzt werden darf, wird Joseph Mauborgne zugeschrieben. So entsteht das One-Time-Pad. Der Schlüssel ist zufällig, mindestens so lang wie die Nachricht, geheim, und er wird nur ein einziges Mal benutzt. Dann ist das Verfahren perfekt sicher, das hat Claude Shannon später bewiesen. Warum? Zu jedem denkbaren Klartext gleicher Länge gibt es einen Schlüssel, der genau diesen Geheimtext erzeugt. Probiert Eve alle Schlüssel durch, bekommt sie alle Klartexte – und weiß nicht, welcher stimmt. Der Haken: Für jede Nachricht braucht man neues Schlüsselmaterial, und das muss erst einmal sicher zu Bob.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Der doppelte Schlüssel]
REGIE: Erst nur K, M1, C1 zeigen, dann M2, C2; zuletzt die markierte Zeile. Eve sieht in der Story nur C1 und C2.
SPRECHERTEXT: Jetzt schlampt jemand. Alice schickt zwei Nachrichten, NEU und ALT, und benutzt dafür zweimal denselben Schlüssel. Eve fängt beide Geheimtexte ab. Den Schlüssel kennt sie nicht. Aber sie verknüpft die beiden Geheimtexte miteinander. Schau rechts: Der Schlüssel steckt in beiden drin und hebt sich weg. Übrig bleibt M1 XOR M2 – eine Mischung aus zwei Klartexten, ganz ohne Schlüssel. Und das ist kein Zufall der Zahlen, das klappt immer. Schon die Mischung verrät etwas: Vorne stehen lauter Nullen, weil alle Großbuchstaben mit null eins null beginnen. Eve weiß also: Hier wurden Buchstaben verschlüsselt. Jetzt muss sie nur noch raten.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Selbst ausprobieren]
SPRECHERTEXT: Jetzt bist du Eve. Du kennst C1 XOR C2 und vermutest, dass die erste Nachricht NEU heißt. Halte das Video an und bestimme die zweite Nachricht. Tipp: Verknüpfe die Zeile oben mit deinem geratenen Wort und schlag die Ergebnisse in der ASCII-Tabelle nach.
PAUSE: 5 s Einblendung „⏸ Video anhalten“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Die Auflösung: Null null null null, eins eins eins eins XOR null eins null null, eins eins eins null ergibt null eins null null, null null null eins – das ist 65, also A. Genauso entstehen L und T. Die zweite Nachricht lautet ALT. Hätte Eve falsch geraten, zum Beispiel OST, käme Unsinn heraus – ein At-Zeichen, Z, U. Das zeigt ihr sofort: falsch geraten, nächstes Wort probieren. Genau so wurden in der Geschichte tatsächlich Nachrichten gelesen: Im sogenannten Venona-Projekt konnten Kryptoanalytiker Teile sowjetischer Nachrichten entschlüsseln, weil Schlüsselmaterial mehrfach verwendet worden war. One-Time heißt also wirklich: nur ein einziges 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Blockchiffre]
SPRECHERTEXT: Das One-Time-Pad ist perfekt, aber unpraktisch. Moderne Verfahren wie AES sind Blockchiffren. Sie zerlegen den Klartext in Blöcke fester Länge und verschlüsseln jeden Block in mehreren Runden. Aus einem kurzen Schlüssel werden Rundenschlüssel gebildet. In jeder Runde passiert dreierlei: Der Rundenschlüssel wird per XOR eingemischt. Eine S-Box ersetzt kleine Bitgruppen – das ist eine Substitution. Und eine Permutation ordnet die Bits um – das ist eine Transposition. Claude Shannon hat dafür zwei Begriffe geprägt. Konfusion: Der Zusammenhang zwischen Schlüssel und Geheimtext soll möglichst verwickelt sein. Diffusion: Jedes Klartextbit soll viele Geheimtextbits beeinflussen.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Hinweis einblenden: „WIRBEL-8 ist nur für dieses Video erfunden und nicht sicher.“ S-Box-Tabelle oben, Kamera-Zone frei lassen.
SPRECHERTEXT: Damit du das von Hand rechnen kannst, habe ich eine Mini-Blockchiffre nur für dieses Video gebaut: WIRBEL-8. Sie ist natürlich nicht sicher, aber alle Bausteine sind echt. Ein Block hat acht Bit, es gibt zwei Runden mit den Rundenschlüsseln K1 und K2. In jeder Runde rechnest du erst XOR mit dem Rundenschlüssel. Dann schickst du beide Vierergruppen durch die S-Box: Du liest die Vierergruppe als Zahl, schlägst sie oben nach und schreibst das Ergebnis wieder als Bits. Zum Schluss die Permutation: Die neuen acht Bits sind Bit fünf, Bit eins, Bit sechs, Bit zwei und so weiter – die beiden Hälften werden also ineinander verzahnt.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Zeile für Zeile aufdecken; bei der Permutation die Bits b5 und b1 farbig markieren.
SPRECHERTEXT: Rechnen wir den Buchstaben W, ASCII 87. Erst XOR mit K1: Das ergibt null eins eins eins, eins eins null null. Die linke Vierergruppe ist die Zahl sieben, die rechte zwölf. In der S-Box wird aus sieben die Zehn und aus zwölf die Acht – also eins null eins null, eins null null null. Jetzt die Permutation, rechts im Kasten: Bit fünf ist eine Eins, Bit eins ist eine Eins, Bit sechs eine Null, Bit zwei eine Null, und so weiter. Ergebnis von Runde eins: eins eins null null, null eins null null. Runde zwei läuft genauso mit K2 und liefert den Geheimtext eins eins null eins, eins eins eins null.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Lawineneffekt]
SPRECHERTEXT: Jetzt das Spannende. Das V hat ASCII 86 und unterscheidet sich vom W in genau einem Bit, dem letzten. Nach der ersten Runde unterscheiden sich die Ergebnisse schon in drei Bits, nach der zweiten Runde in fünf. Ein winziger Unterschied am Anfang reißt immer mehr Bits mit – wie eine Lawine. Das ist der Lawineneffekt, und er zeigt Diffusion. Über alle Blöcke gemittelt ändern sich bei WIRBEL-8 nach zwei Runden etwa viereinhalb von acht Bits – ideal wäre ungefähr die Hälfte. Echte Verfahren brauchen dafür viel mehr Runden, AES je nach Schlüssellänge zehn bis vierzehn.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Im Abitur heißt es oft: Begründen Sie, ob das Verfahren Diffusion erfüllt. Eine Begründung braucht eine Weil-deshalb-Kette. Bei WIRBEL-8 klingt das so: Ein gekipptes Klartextbit ändert nach der S-Box mehrere Bits seiner Vierergruppe. Weil die Permutation diese Bits auf beide Hälften verteilt, landen sie in Runde zwei in beiden S-Boxen. Deshalb hängt am Ende fast jedes Geheimtextbit von jedem Klartextbit ab. Und die Gegenprobe: Lässt man die Permutation weg, bleibt eine Änderung in der linken Hälfte für immer links. Dann ist Diffusion nicht erfüllt – egal, wie viele Runden man rechnet.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ECB und CBC]
REGIE: Bei ECB die beiden gleichen Blöcke rot umranden. Optional Ausschnitt aus dem Runden-Labor: Pixelbild mit ECB (Umriss bleibt sichtbar) und CBC (Rauschen).
SPRECHERTEXT: Ein Block hat acht Bit, ein Text ist länger. Die einfachste Idee: Jeder Block wird einzeln verschlüsselt. Das heißt ECB. Schau auf die Nachricht O, H, O: Das erste und das dritte O werden zu genau demselben Geheimtext. Eve sieht also Muster, ohne den Schlüssel zu kennen. Bei einem Bild bleiben sogar die Umrisse sichtbar. Besser ist CBC: Bevor ein Block verschlüsselt wird, wird er mit dem vorherigen Geheimtextblock per XOR verknüpft, der erste Block mit einem Startwert. Jetzt sind alle drei Geheimtextblöcke verschieden. Der Preis: Ein Übertragungsfehler zerstört bei CBC nicht nur einen Block, sondern kippt auch ein Bit im nächsten.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Typische Fehler]
SPRECHERTEXT: Hier die typischen Fehler mit ihren Fallen-Nummern. P1: ASCII-Wert und Alphabet-Nummer verwechselt. P3: Beim Entschlüsseln einer Blockchiffre musst du alles rückwärts machen – Permutation zurück, S-Box rückwärts lesen, dann XOR, und mit K2 beginnen. P5: XOR und S-Box sind Substitutionen, die Permutation ist eine Transposition. P7: Ein Schlüssel aus lauter Nullen ändert gar nichts – ein schwacher Schlüssel. Und P8: Zweimal XOR mit demselben Schlüssel ist nicht doppelt sicher. Es ist wieder der Klartext.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Zusammenfassung]
SPRECHERTEXT: Das nimmst du mit. Erstens: XOR ergibt null bei gleichen und eins bei verschiedenen Bits, und derselbe Schlüssel ver- und entschlüsselt. Zweitens: Das One-Time-Pad ist perfekt sicher – aber nur mit zufälligem, langem, geheimem Schlüssel, der genau einmal benutzt wird. Drittens: Eine Blockchiffre besteht aus Runden mit Rundenschlüssel, S-Box und Permutation, das sorgt für Konfusion und Diffusion. Viertens: ECB verrät gleiche Blöcke, CBC verkettet sie.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Danach 20 s Endcard (siehe Kopf).
SPRECHERTEXT: Weiter geht es im Lab! In Level drei Punkt eins rechnest du mit Bits und XOR und knackst einen doppelt benutzten Schlüssel. Im eA-Level drei Punkt zwei baust du Blockchiffren-Runden selbst. Mit der Bit-Lupe und dem Runden-Labor kannst du alles ausprobieren. Und eine Frage bleibt offen: Wie bekommt Bob überhaupt den geheimen Schlüssel? Darum geht es im nächsten Video. Bis dann!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R Titel">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7498080" cy="1554480"/>
          </a:xfrm>
          <a:prstGeom prst="rect">
            <a:avLst/>
          </a:prstGeom>
          <a:noFill/>
          <a:ln/>
        </p:spPr>
        <p:txBody>
          <a:bodyPr wrap="square" rtlCol="0"/>
          <a:lstStyle>
            <a:lvl1pPr algn="l" indent="0" marL="0">
              <a:buNone/>
              <a:defRPr lang="en-US" sz="46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600" dirty="0"/>
          </a:p>
        </p:txBody>
      </p:sp>
      <p:sp>
        <p:nvSpPr>
          <p:cNvPr id="3" name="Text 0"/>
          <p:cNvSpPr/>
          <p:nvPr>
            <p:ph idx="101" type="body" hasCustomPrompt="1"/>
          </p:nvPr>
        </p:nvSpPr>
        <p:spPr>
          <a:xfrm>
            <a:off x="548640" y="3931920"/>
            <a:ext cx="7315200" cy="914400"/>
          </a:xfrm>
          <a:prstGeom prst="rect">
            <a:avLst/>
          </a:prstGeom>
          <a:noFill/>
          <a:ln/>
        </p:spPr>
        <p:txBody>
          <a:bodyPr wrap="square" rtlCol="0"/>
          <a:lstStyle>
            <a:lvl1pPr algn="l" indent="0" marL="0">
              <a:buNone/>
              <a:defRPr lang="en-US" sz="2200" dirty="0">
                <a:solidFill>
                  <a:srgbClr val="D9A441"/>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R Abschnitt">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645920" y="2651760"/>
            <a:ext cx="9601200" cy="1097280"/>
          </a:xfrm>
          <a:prstGeom prst="rect">
            <a:avLst/>
          </a:prstGeom>
          <a:noFill/>
          <a:ln/>
        </p:spPr>
        <p:txBody>
          <a:bodyPr wrap="square" rtlCol="0"/>
          <a:lstStyle>
            <a:lvl1pPr algn="l" indent="0" marL="0">
              <a:buNone/>
              <a:defRPr lang="en-US" sz="4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000" dirty="0"/>
          </a:p>
        </p:txBody>
      </p:sp>
      <p:pic>
        <p:nvPicPr>
          <p:cNvPr id="3" name="Image 0" descr="/tmp/kr_bildcache/siegel3_d1377e2871e621de.png">    </p:cNvPr>
          <p:cNvPicPr>
            <a:picLocks noChangeAspect="1"/>
          </p:cNvPicPr>
          <p:nvPr/>
        </p:nvPicPr>
        <p:blipFill>
          <a:blip r:embed="rId1"/>
          <a:stretch>
            <a:fillRect/>
          </a:stretch>
        </p:blipFill>
        <p:spPr>
          <a:xfrm>
            <a:off x="548640" y="2788920"/>
            <a:ext cx="868680" cy="868680"/>
          </a:xfrm>
          <a:prstGeom prst="rect">
            <a:avLst/>
          </a:prstGeom>
        </p:spPr>
      </p:pic>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3 · Das Maschinenzeitalter</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R Inhalt">
    <p:bg>
      <p:bgPr>
        <a:solidFill>
          <a:srgbClr val="FBF7EE"/>
        </a:solidFill>
      </p:bgPr>
    </p:bg>
    <p:spTree>
      <p:nvGrpSpPr>
        <p:cNvPr id="1" name=""/>
        <p:cNvGrpSpPr/>
        <p:nvPr/>
      </p:nvGrpSpPr>
      <p:grpSpPr>
        <a:xfrm>
          <a:off x="0" y="0"/>
          <a:ext cx="0" cy="0"/>
          <a:chOff x="0" y="0"/>
          <a:chExt cx="0" cy="0"/>
        </a:xfrm>
      </p:grpSpPr>
      <p:pic>
        <p:nvPicPr>
          <p:cNvPr id="2" name="Image 0" descr="/tmp/kr_bildcache/siegel3_d1377e2871e621de.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14213D"/>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4A4A55"/>
                </a:solidFill>
                <a:latin typeface="Calibri" pitchFamily="34" charset="0"/>
                <a:ea typeface="Calibri" pitchFamily="34" charset="-122"/>
                <a:cs typeface="Calibri" pitchFamily="34" charset="-120"/>
              </a:rPr>
              <a:t>Kryptos · Welt 3 · Das Maschinenzeitalter</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R Dunkel">
    <p:bg>
      <p:bgPr>
        <a:solidFill>
          <a:srgbClr val="0B1426"/>
        </a:solidFill>
      </p:bgPr>
    </p:bg>
    <p:spTree>
      <p:nvGrpSpPr>
        <p:cNvPr id="1" name=""/>
        <p:cNvGrpSpPr/>
        <p:nvPr/>
      </p:nvGrpSpPr>
      <p:grpSpPr>
        <a:xfrm>
          <a:off x="0" y="0"/>
          <a:ext cx="0" cy="0"/>
          <a:chOff x="0" y="0"/>
          <a:chExt cx="0" cy="0"/>
        </a:xfrm>
      </p:grpSpPr>
      <p:pic>
        <p:nvPicPr>
          <p:cNvPr id="2" name="Image 0" descr="/tmp/kr_bildcache/siegel3_d1377e2871e621de.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3 · Das Maschinenzeitalter</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hiffrierscheibe" descr="/tmp/kr_bildcache/scheibe_a6f14ff56f7750b7.png">    </p:cNvPr>
          <p:cNvPicPr>
            <a:picLocks noChangeAspect="1"/>
          </p:cNvPicPr>
          <p:nvPr/>
        </p:nvPicPr>
        <p:blipFill>
          <a:blip r:embed="rId1">
            <a:alphaModFix amt="45000"/>
          </a:blip>
          <a:stretch>
            <a:fillRect/>
          </a:stretch>
        </p:blipFill>
        <p:spPr>
          <a:xfrm>
            <a:off x="7223760" y="-1005840"/>
            <a:ext cx="6766560" cy="6766560"/>
          </a:xfrm>
          <a:prstGeom prst="rect">
            <a:avLst/>
          </a:prstGeom>
        </p:spPr>
      </p:pic>
      <p:pic>
        <p:nvPicPr>
          <p:cNvPr id="3" name="Image 1" descr="/tmp/kr_bildcache/siegel3_d1377e2871e621de.png">    </p:cNvPr>
          <p:cNvPicPr>
            <a:picLocks noChangeAspect="1"/>
          </p:cNvPicPr>
          <p:nvPr/>
        </p:nvPicPr>
        <p:blipFill>
          <a:blip r:embed="rId2"/>
          <a:stretch>
            <a:fillRect/>
          </a:stretch>
        </p:blipFill>
        <p:spPr>
          <a:xfrm>
            <a:off x="548640" y="685800"/>
            <a:ext cx="1005840" cy="1005840"/>
          </a:xfrm>
          <a:prstGeom prst="rect">
            <a:avLst/>
          </a:prstGeom>
        </p:spPr>
      </p:pic>
      <p:sp>
        <p:nvSpPr>
          <p:cNvPr id="4" name="Text 0"/>
          <p:cNvSpPr txBox="1"/>
          <p:nvPr/>
        </p:nvSpPr>
        <p:spPr>
          <a:xfrm>
            <a:off x="548640" y="1828800"/>
            <a:ext cx="7772400" cy="365760"/>
          </a:xfrm>
          <a:prstGeom prst="rect">
            <a:avLst/>
          </a:prstGeom>
          <a:noFill/>
          <a:ln/>
        </p:spPr>
        <p:txBody>
          <a:bodyPr wrap="square" lIns="0" tIns="0" rIns="0" bIns="0" rtlCol="0" anchor="ctr"/>
          <a:lstStyle/>
          <a:p>
            <a:pPr indent="0" marL="0">
              <a:buNone/>
            </a:pPr>
            <a:r>
              <a:rPr lang="en-US" sz="1600" b="1" spc="300" kern="0" dirty="0">
                <a:solidFill>
                  <a:srgbClr val="A9C27A"/>
                </a:solidFill>
                <a:latin typeface="Consolas" pitchFamily="34" charset="0"/>
                <a:ea typeface="Consolas" pitchFamily="34" charset="-122"/>
                <a:cs typeface="Consolas" pitchFamily="34" charset="-120"/>
              </a:rPr>
              <a:t>VIDEO 04 · MASCHINENZEITALTER · 1917–1977</a:t>
            </a:r>
            <a:endParaRPr lang="en-US" sz="1600" dirty="0"/>
          </a:p>
        </p:txBody>
      </p:sp>
      <p:sp>
        <p:nvSpPr>
          <p:cNvPr id="5" name="Text 0"/>
          <p:cNvSpPr/>
          <p:nvPr>
            <p:ph idx="100" type="title" hasCustomPrompt="1"/>
          </p:nvPr>
        </p:nvSpPr>
        <p:spPr>
          <a:xfrm>
            <a:off x="548640" y="2331720"/>
            <a:ext cx="7498080" cy="1554480"/>
          </a:xfrm>
          <a:prstGeom prst="rect">
            <a:avLst/>
          </a:prstGeom>
          <a:noFill/>
          <a:ln/>
        </p:spPr>
        <p:txBody>
          <a:bodyPr wrap="square" lIns="0" tIns="0" rIns="0" bIns="0" rtlCol="0" anchor="t"/>
          <a:lstStyle/>
          <a:p>
            <a:pPr algn="l" indent="0" marL="0">
              <a:buNone/>
            </a:pPr>
            <a:r>
              <a:rPr lang="en-US" sz="4600" b="1" dirty="0">
                <a:solidFill>
                  <a:srgbClr val="FBF7EE"/>
                </a:solidFill>
                <a:latin typeface="Georgia" pitchFamily="34" charset="0"/>
                <a:ea typeface="Georgia" pitchFamily="34" charset="-122"/>
                <a:cs typeface="Georgia" pitchFamily="34" charset="-120"/>
              </a:rPr>
              <a:t>XOR, One-Time-Pad und Blockchiffren</a:t>
            </a:r>
            <a:endParaRPr lang="en-US" sz="4600" dirty="0"/>
          </a:p>
        </p:txBody>
      </p:sp>
      <p:sp>
        <p:nvSpPr>
          <p:cNvPr id="6" name="Text 0"/>
          <p:cNvSpPr/>
          <p:nvPr>
            <p:ph idx="101" type="body" hasCustomPrompt="1"/>
          </p:nvPr>
        </p:nvSpPr>
        <p:spPr>
          <a:xfrm>
            <a:off x="548640" y="3931920"/>
            <a:ext cx="7315200" cy="914400"/>
          </a:xfrm>
          <a:prstGeom prst="rect">
            <a:avLst/>
          </a:prstGeom>
          <a:noFill/>
          <a:ln/>
        </p:spPr>
        <p:txBody>
          <a:bodyPr wrap="square" lIns="0" tIns="0" rIns="0" bIns="0" rtlCol="0" anchor="t"/>
          <a:lstStyle/>
          <a:p>
            <a:pPr algn="l" indent="0" marL="0">
              <a:buNone/>
            </a:pPr>
            <a:r>
              <a:rPr lang="en-US" sz="2200" dirty="0">
                <a:solidFill>
                  <a:srgbClr val="D9A441"/>
                </a:solidFill>
                <a:latin typeface="Calibri" pitchFamily="34" charset="0"/>
                <a:ea typeface="Calibri" pitchFamily="34" charset="-122"/>
                <a:cs typeface="Calibri" pitchFamily="34" charset="-120"/>
              </a:rPr>
              <a:t>Bits, das perfekte Verfahren, der doppelte Schlüssel und eine Mini-Blockchiffre von Hand</a:t>
            </a:r>
            <a:endParaRPr lang="en-US" sz="2200" dirty="0"/>
          </a:p>
        </p:txBody>
      </p:sp>
      <p:sp>
        <p:nvSpPr>
          <p:cNvPr id="7" name="Text 3"/>
          <p:cNvSpPr txBox="1"/>
          <p:nvPr/>
        </p:nvSpPr>
        <p:spPr>
          <a:xfrm>
            <a:off x="548640" y="6172200"/>
            <a:ext cx="7315200" cy="320040"/>
          </a:xfrm>
          <a:prstGeom prst="rect">
            <a:avLst/>
          </a:prstGeom>
          <a:noFill/>
          <a:ln/>
        </p:spPr>
        <p:txBody>
          <a:bodyPr wrap="square" lIns="0" tIns="0" rIns="0" bIns="0" rtlCol="0" anchor="ctr"/>
          <a:lstStyle/>
          <a:p>
            <a:pPr indent="0" marL="0">
              <a:buNone/>
            </a:pPr>
            <a:r>
              <a:rPr lang="en-US" sz="1200" spc="400" kern="0" dirty="0">
                <a:solidFill>
                  <a:srgbClr val="D9A441"/>
                </a:solidFill>
              </a:rPr>
              <a:t>KRYPTOS · DIE ZEITREISE DER GEHEIMSCHRIFTEN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fragt das Abitur</a:t>
            </a:r>
            <a:endParaRPr lang="en-US" sz="3000" dirty="0"/>
          </a:p>
        </p:txBody>
      </p:sp>
      <p:sp>
        <p:nvSpPr>
          <p:cNvPr id="3" name="Text 1"/>
          <p:cNvSpPr txBox="1"/>
          <p:nvPr/>
        </p:nvSpPr>
        <p:spPr>
          <a:xfrm>
            <a:off x="548640" y="1325880"/>
            <a:ext cx="4308653" cy="4124452"/>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a:t>
            </a:r>
            <a:r>
              <a:rPr lang="en-US" sz="2200" b="1" dirty="0">
                <a:solidFill>
                  <a:srgbClr val="1B1B1F"/>
                </a:solidFill>
              </a:rPr>
              <a:t>Wenden Sie</a:t>
            </a:r>
            <a:r>
              <a:rPr lang="en-US" sz="2200" dirty="0">
                <a:solidFill>
                  <a:srgbClr val="1B1B1F"/>
                </a:solidFill>
              </a:rPr>
              <a:t> das Verfahren auf den Block … </a:t>
            </a:r>
            <a:r>
              <a:rPr lang="en-US" sz="2200" b="1" dirty="0">
                <a:solidFill>
                  <a:srgbClr val="1B1B1F"/>
                </a:solidFill>
              </a:rPr>
              <a:t>an</a:t>
            </a:r>
            <a:r>
              <a:rPr lang="en-US" sz="2200" dirty="0">
                <a:solidFill>
                  <a:srgbClr val="1B1B1F"/>
                </a:solidFill>
              </a:rPr>
              <a:t>.“ – XOR und Runden von Hand</a:t>
            </a:r>
            <a:endParaRPr lang="en-US" sz="2200" dirty="0"/>
          </a:p>
          <a:p>
            <a:pPr marL="279400" indent="-279400">
              <a:spcAft>
                <a:spcPts val="600"/>
              </a:spcAft>
              <a:buSzPct val="100000"/>
              <a:buChar char="●"/>
            </a:pPr>
            <a:r>
              <a:rPr lang="en-US" sz="2200" dirty="0">
                <a:solidFill>
                  <a:srgbClr val="1B1B1F"/>
                </a:solidFill>
              </a:rPr>
              <a:t>„</a:t>
            </a:r>
            <a:r>
              <a:rPr lang="en-US" sz="2200" b="1" dirty="0">
                <a:solidFill>
                  <a:srgbClr val="1B1B1F"/>
                </a:solidFill>
              </a:rPr>
              <a:t>Begründen Sie</a:t>
            </a:r>
            <a:r>
              <a:rPr lang="en-US" sz="2200" dirty="0">
                <a:solidFill>
                  <a:srgbClr val="1B1B1F"/>
                </a:solidFill>
              </a:rPr>
              <a:t>, dass das Verfahren die Eigenschaft </a:t>
            </a:r>
            <a:r>
              <a:rPr lang="en-US" sz="2200" b="1" dirty="0">
                <a:solidFill>
                  <a:srgbClr val="1B1B1F"/>
                </a:solidFill>
              </a:rPr>
              <a:t>Diffusion</a:t>
            </a:r>
            <a:r>
              <a:rPr lang="en-US" sz="2200" dirty="0">
                <a:solidFill>
                  <a:srgbClr val="1B1B1F"/>
                </a:solidFill>
              </a:rPr>
              <a:t> (nicht) erfüllt.“</a:t>
            </a:r>
            <a:endParaRPr lang="en-US" sz="2200" dirty="0"/>
          </a:p>
          <a:p>
            <a:pPr marL="279400" indent="-279400">
              <a:spcAft>
                <a:spcPts val="600"/>
              </a:spcAft>
              <a:buSzPct val="100000"/>
              <a:buChar char="●"/>
            </a:pPr>
            <a:r>
              <a:rPr lang="en-US" sz="2200" dirty="0">
                <a:solidFill>
                  <a:srgbClr val="1B1B1F"/>
                </a:solidFill>
              </a:rPr>
              <a:t>„</a:t>
            </a:r>
            <a:r>
              <a:rPr lang="en-US" sz="2200" b="1" dirty="0">
                <a:solidFill>
                  <a:srgbClr val="1B1B1F"/>
                </a:solidFill>
              </a:rPr>
              <a:t>Erläutern Sie</a:t>
            </a:r>
            <a:r>
              <a:rPr lang="en-US" sz="2200" dirty="0">
                <a:solidFill>
                  <a:srgbClr val="1B1B1F"/>
                </a:solidFill>
              </a:rPr>
              <a:t>, wie beliebig lange Klartexte verschlüsselt werden können.“</a:t>
            </a:r>
            <a:endParaRPr lang="en-US" sz="2200" dirty="0"/>
          </a:p>
          <a:p>
            <a:pPr marL="279400" indent="-279400">
              <a:spcAft>
                <a:spcPts val="600"/>
              </a:spcAft>
              <a:buSzPct val="100000"/>
              <a:buChar char="●"/>
            </a:pPr>
            <a:r>
              <a:rPr lang="en-US" sz="2200" dirty="0">
                <a:solidFill>
                  <a:srgbClr val="1B1B1F"/>
                </a:solidFill>
              </a:rPr>
              <a:t>Kern: Bits, XOR, One-Time-Pad · </a:t>
            </a:r>
            <a:r>
              <a:rPr lang="en-US" sz="2200" b="1" dirty="0">
                <a:solidFill>
                  <a:srgbClr val="1B1B1F"/>
                </a:solidFill>
              </a:rPr>
              <a:t>eA</a:t>
            </a:r>
            <a:r>
              <a:rPr lang="en-US" sz="2200" dirty="0">
                <a:solidFill>
                  <a:srgbClr val="1B1B1F"/>
                </a:solidFill>
              </a:rPr>
              <a:t>: Blockchiffre</a:t>
            </a:r>
            <a:endParaRPr lang="en-US" sz="2200" dirty="0"/>
          </a:p>
        </p:txBody>
      </p:sp>
      <p:sp>
        <p:nvSpPr>
          <p:cNvPr id="4" name="Shape 2"/>
          <p:cNvSpPr/>
          <p:nvPr/>
        </p:nvSpPr>
        <p:spPr>
          <a:xfrm>
            <a:off x="5223053" y="1325880"/>
            <a:ext cx="2640787" cy="3632200"/>
          </a:xfrm>
          <a:prstGeom prst="roundRect">
            <a:avLst>
              <a:gd name="adj" fmla="val 2770"/>
            </a:avLst>
          </a:prstGeom>
          <a:solidFill>
            <a:srgbClr val="FBF3E2"/>
          </a:solidFill>
          <a:ln w="12700">
            <a:solidFill>
              <a:srgbClr val="8A5F1A"/>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HEUTE</a:t>
            </a:r>
            <a:endParaRPr lang="en-US" sz="1300" dirty="0"/>
          </a:p>
        </p:txBody>
      </p:sp>
      <p:sp>
        <p:nvSpPr>
          <p:cNvPr id="6" name="Text 4"/>
          <p:cNvSpPr txBox="1"/>
          <p:nvPr/>
        </p:nvSpPr>
        <p:spPr>
          <a:xfrm>
            <a:off x="5451653" y="1783080"/>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ASCII und XOR</a:t>
            </a:r>
            <a:endParaRPr lang="en-US" sz="2000" dirty="0"/>
          </a:p>
        </p:txBody>
      </p:sp>
      <p:sp>
        <p:nvSpPr>
          <p:cNvPr id="7" name="Text 5"/>
          <p:cNvSpPr txBox="1"/>
          <p:nvPr/>
        </p:nvSpPr>
        <p:spPr>
          <a:xfrm>
            <a:off x="5451653" y="2266696"/>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One-Time-Pad</a:t>
            </a:r>
            <a:endParaRPr lang="en-US" sz="2000" dirty="0"/>
          </a:p>
        </p:txBody>
      </p:sp>
      <p:sp>
        <p:nvSpPr>
          <p:cNvPr id="8" name="Text 6"/>
          <p:cNvSpPr txBox="1"/>
          <p:nvPr/>
        </p:nvSpPr>
        <p:spPr>
          <a:xfrm>
            <a:off x="5451653" y="2750312"/>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Der doppelte Schlüssel</a:t>
            </a:r>
            <a:endParaRPr lang="en-US" sz="2000" dirty="0"/>
          </a:p>
        </p:txBody>
      </p:sp>
      <p:sp>
        <p:nvSpPr>
          <p:cNvPr id="9" name="Text 7"/>
          <p:cNvSpPr txBox="1"/>
          <p:nvPr/>
        </p:nvSpPr>
        <p:spPr>
          <a:xfrm>
            <a:off x="5451653" y="3543808"/>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eA: Mini-Blockchiffre WIRBEL-8</a:t>
            </a:r>
            <a:endParaRPr lang="en-US" sz="2000" dirty="0"/>
          </a:p>
        </p:txBody>
      </p:sp>
      <p:sp>
        <p:nvSpPr>
          <p:cNvPr id="10" name="Text 8"/>
          <p:cNvSpPr txBox="1"/>
          <p:nvPr/>
        </p:nvSpPr>
        <p:spPr>
          <a:xfrm>
            <a:off x="5451653" y="4337304"/>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eA: ECB oder CBC</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Vom Buchstaben zum Bit: ASCII</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4308653" cy="914400"/>
        </p:xfrm>
        <a:graphic>
          <a:graphicData uri="http://schemas.openxmlformats.org/drawingml/2006/table">
            <a:tbl>
              <a:tblPr/>
              <a:tblGrid>
                <a:gridCol w="942518"/>
                <a:gridCol w="1615745"/>
                <a:gridCol w="1750390"/>
              </a:tblGrid>
              <a:tr h="0">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Zeichen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ASCII (dezimal)</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Bits</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A</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65</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0100 0001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J</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74</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0100 1010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78</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0100 1110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Z</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90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0101 1010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Shape 1"/>
          <p:cNvSpPr/>
          <p:nvPr/>
        </p:nvSpPr>
        <p:spPr>
          <a:xfrm>
            <a:off x="5223053" y="1325880"/>
            <a:ext cx="2640787" cy="3284728"/>
          </a:xfrm>
          <a:prstGeom prst="roundRect">
            <a:avLst>
              <a:gd name="adj" fmla="val 2770"/>
            </a:avLst>
          </a:prstGeom>
          <a:solidFill>
            <a:srgbClr val="FDF3F2"/>
          </a:solidFill>
          <a:ln w="12700">
            <a:solidFill>
              <a:srgbClr val="B3261E"/>
            </a:solidFill>
            <a:prstDash val="solid"/>
          </a:ln>
        </p:spPr>
      </p:sp>
      <p:sp>
        <p:nvSpPr>
          <p:cNvPr id="5" name="Text 2"/>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B3261E"/>
                </a:solidFill>
              </a:rPr>
              <a:t>FALLE P1</a:t>
            </a:r>
            <a:endParaRPr lang="en-US" sz="1300" dirty="0"/>
          </a:p>
        </p:txBody>
      </p:sp>
      <p:sp>
        <p:nvSpPr>
          <p:cNvPr id="6" name="Text 3"/>
          <p:cNvSpPr txBox="1"/>
          <p:nvPr/>
        </p:nvSpPr>
        <p:spPr>
          <a:xfrm>
            <a:off x="5451653" y="1783080"/>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ASCII: A = </a:t>
            </a:r>
            <a:r>
              <a:rPr lang="en-US" sz="2000" b="1" dirty="0">
                <a:solidFill>
                  <a:srgbClr val="1B1B1F"/>
                </a:solidFill>
              </a:rPr>
              <a:t>65</a:t>
            </a:r>
            <a:endParaRPr lang="en-US" sz="2000" dirty="0"/>
          </a:p>
        </p:txBody>
      </p:sp>
      <p:sp>
        <p:nvSpPr>
          <p:cNvPr id="7" name="Text 4"/>
          <p:cNvSpPr txBox="1"/>
          <p:nvPr/>
        </p:nvSpPr>
        <p:spPr>
          <a:xfrm>
            <a:off x="5451653" y="2266696"/>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Alphabet der Abitur-Anlage: A = </a:t>
            </a:r>
            <a:r>
              <a:rPr lang="en-US" sz="2000" b="1" dirty="0">
                <a:solidFill>
                  <a:srgbClr val="1B1B1F"/>
                </a:solidFill>
              </a:rPr>
              <a:t>1</a:t>
            </a:r>
            <a:endParaRPr lang="en-US" sz="2000" dirty="0"/>
          </a:p>
        </p:txBody>
      </p:sp>
      <p:sp>
        <p:nvSpPr>
          <p:cNvPr id="8" name="Text 5"/>
          <p:cNvSpPr txBox="1"/>
          <p:nvPr/>
        </p:nvSpPr>
        <p:spPr>
          <a:xfrm>
            <a:off x="5451653" y="3060192"/>
            <a:ext cx="2183587" cy="1285240"/>
          </a:xfrm>
          <a:prstGeom prst="rect">
            <a:avLst/>
          </a:prstGeom>
          <a:noFill/>
          <a:ln/>
        </p:spPr>
        <p:txBody>
          <a:bodyPr wrap="square" lIns="0" tIns="0" rIns="0" bIns="0" rtlCol="0" anchor="t"/>
          <a:lstStyle/>
          <a:p>
            <a:pPr algn="l" indent="0" marL="0">
              <a:buNone/>
            </a:pPr>
            <a:r>
              <a:rPr lang="en-US" sz="2000" dirty="0">
                <a:solidFill>
                  <a:srgbClr val="1B1B1F"/>
                </a:solidFill>
              </a:rPr>
              <a:t>Immer zuerst prüfen, welche Nummerierung das Material nutzt.</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XOR – das exklusive Oder ⊕</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3108960" cy="914400"/>
        </p:xfrm>
        <a:graphic>
          <a:graphicData uri="http://schemas.openxmlformats.org/drawingml/2006/table">
            <a:tbl>
              <a:tblPr/>
              <a:tblGrid>
                <a:gridCol w="914400"/>
                <a:gridCol w="914400"/>
                <a:gridCol w="1280160"/>
              </a:tblGrid>
              <a:tr h="0">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a</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b</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a ⊕ b</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Shape 1"/>
          <p:cNvSpPr/>
          <p:nvPr/>
        </p:nvSpPr>
        <p:spPr>
          <a:xfrm>
            <a:off x="4041648" y="1325880"/>
            <a:ext cx="3822192" cy="3012440"/>
          </a:xfrm>
          <a:prstGeom prst="roundRect">
            <a:avLst>
              <a:gd name="adj" fmla="val 2428"/>
            </a:avLst>
          </a:prstGeom>
          <a:solidFill>
            <a:srgbClr val="EEF3FA"/>
          </a:solidFill>
          <a:ln w="12700">
            <a:solidFill>
              <a:srgbClr val="1F4E8C"/>
            </a:solidFill>
            <a:prstDash val="solid"/>
          </a:ln>
        </p:spPr>
      </p:sp>
      <p:sp>
        <p:nvSpPr>
          <p:cNvPr id="5" name="Text 2"/>
          <p:cNvSpPr txBox="1"/>
          <p:nvPr/>
        </p:nvSpPr>
        <p:spPr>
          <a:xfrm>
            <a:off x="4270248" y="1435608"/>
            <a:ext cx="3364992" cy="274320"/>
          </a:xfrm>
          <a:prstGeom prst="rect">
            <a:avLst/>
          </a:prstGeom>
          <a:noFill/>
          <a:ln/>
        </p:spPr>
        <p:txBody>
          <a:bodyPr wrap="square" lIns="0" tIns="0" rIns="0" bIns="0" rtlCol="0" anchor="ctr"/>
          <a:lstStyle/>
          <a:p>
            <a:pPr indent="0" marL="0">
              <a:buNone/>
            </a:pPr>
            <a:r>
              <a:rPr lang="en-US" sz="1300" b="1" spc="200" kern="0" dirty="0">
                <a:solidFill>
                  <a:srgbClr val="1F4E8C"/>
                </a:solidFill>
              </a:rPr>
              <a:t>BEISPIEL</a:t>
            </a:r>
            <a:endParaRPr lang="en-US" sz="1300" dirty="0"/>
          </a:p>
        </p:txBody>
      </p:sp>
      <p:sp>
        <p:nvSpPr>
          <p:cNvPr id="6" name="Text 3"/>
          <p:cNvSpPr txBox="1"/>
          <p:nvPr/>
        </p:nvSpPr>
        <p:spPr>
          <a:xfrm>
            <a:off x="4270248" y="1783080"/>
            <a:ext cx="3364992" cy="355600"/>
          </a:xfrm>
          <a:prstGeom prst="rect">
            <a:avLst/>
          </a:prstGeom>
          <a:noFill/>
          <a:ln/>
        </p:spPr>
        <p:txBody>
          <a:bodyPr wrap="square" lIns="0" tIns="0" rIns="0" bIns="0" rtlCol="0" anchor="t"/>
          <a:lstStyle/>
          <a:p>
            <a:pPr algn="l" indent="0" marL="0">
              <a:buNone/>
            </a:pPr>
            <a:r>
              <a:rPr lang="en-US" sz="2000" dirty="0">
                <a:solidFill>
                  <a:srgbClr val="1B1B1F"/>
                </a:solidFill>
                <a:latin typeface="Consolas" pitchFamily="34" charset="0"/>
                <a:ea typeface="Consolas" pitchFamily="34" charset="-122"/>
                <a:cs typeface="Consolas" pitchFamily="34" charset="-120"/>
              </a:rPr>
              <a:t>  0100 1010</a:t>
            </a:r>
            <a:r>
              <a:rPr lang="en-US" sz="2000" dirty="0">
                <a:solidFill>
                  <a:srgbClr val="1B1B1F"/>
                </a:solidFill>
              </a:rPr>
              <a:t> J</a:t>
            </a:r>
            <a:endParaRPr lang="en-US" sz="2000" dirty="0"/>
          </a:p>
        </p:txBody>
      </p:sp>
      <p:sp>
        <p:nvSpPr>
          <p:cNvPr id="7" name="Text 4"/>
          <p:cNvSpPr txBox="1"/>
          <p:nvPr/>
        </p:nvSpPr>
        <p:spPr>
          <a:xfrm>
            <a:off x="4270248" y="2266696"/>
            <a:ext cx="3364992" cy="355600"/>
          </a:xfrm>
          <a:prstGeom prst="rect">
            <a:avLst/>
          </a:prstGeom>
          <a:noFill/>
          <a:ln/>
        </p:spPr>
        <p:txBody>
          <a:bodyPr wrap="square" lIns="0" tIns="0" rIns="0" bIns="0" rtlCol="0" anchor="t"/>
          <a:lstStyle/>
          <a:p>
            <a:pPr algn="l" indent="0" marL="0">
              <a:buNone/>
            </a:pPr>
            <a:r>
              <a:rPr lang="en-US" sz="2000" dirty="0">
                <a:solidFill>
                  <a:srgbClr val="1B1B1F"/>
                </a:solidFill>
                <a:latin typeface="Consolas" pitchFamily="34" charset="0"/>
                <a:ea typeface="Consolas" pitchFamily="34" charset="-122"/>
                <a:cs typeface="Consolas" pitchFamily="34" charset="-120"/>
              </a:rPr>
              <a:t>⊕ 1001 1100</a:t>
            </a:r>
            <a:r>
              <a:rPr lang="en-US" sz="2000" dirty="0">
                <a:solidFill>
                  <a:srgbClr val="1B1B1F"/>
                </a:solidFill>
              </a:rPr>
              <a:t> Schlüssel</a:t>
            </a:r>
            <a:endParaRPr lang="en-US" sz="2000" dirty="0"/>
          </a:p>
        </p:txBody>
      </p:sp>
      <p:sp>
        <p:nvSpPr>
          <p:cNvPr id="8" name="Text 5"/>
          <p:cNvSpPr txBox="1"/>
          <p:nvPr/>
        </p:nvSpPr>
        <p:spPr>
          <a:xfrm>
            <a:off x="4270248" y="2750312"/>
            <a:ext cx="3364992" cy="355600"/>
          </a:xfrm>
          <a:prstGeom prst="rect">
            <a:avLst/>
          </a:prstGeom>
          <a:noFill/>
          <a:ln/>
        </p:spPr>
        <p:txBody>
          <a:bodyPr wrap="square" lIns="0" tIns="0" rIns="0" bIns="0" rtlCol="0" anchor="t"/>
          <a:lstStyle/>
          <a:p>
            <a:pPr algn="l" indent="0" marL="0">
              <a:buNone/>
            </a:pPr>
            <a:r>
              <a:rPr lang="en-US" sz="2000" dirty="0">
                <a:solidFill>
                  <a:srgbClr val="1B1B1F"/>
                </a:solidFill>
                <a:latin typeface="Consolas" pitchFamily="34" charset="0"/>
                <a:ea typeface="Consolas" pitchFamily="34" charset="-122"/>
                <a:cs typeface="Consolas" pitchFamily="34" charset="-120"/>
              </a:rPr>
              <a:t>= 1101 0110</a:t>
            </a:r>
            <a:r>
              <a:rPr lang="en-US" sz="2000" dirty="0">
                <a:solidFill>
                  <a:srgbClr val="1B1B1F"/>
                </a:solidFill>
              </a:rPr>
              <a:t> Geheimtext</a:t>
            </a:r>
            <a:endParaRPr lang="en-US" sz="2000" dirty="0"/>
          </a:p>
        </p:txBody>
      </p:sp>
      <p:sp>
        <p:nvSpPr>
          <p:cNvPr id="9" name="Text 6"/>
          <p:cNvSpPr txBox="1"/>
          <p:nvPr/>
        </p:nvSpPr>
        <p:spPr>
          <a:xfrm>
            <a:off x="4270248" y="3233928"/>
            <a:ext cx="3364992" cy="355600"/>
          </a:xfrm>
          <a:prstGeom prst="rect">
            <a:avLst/>
          </a:prstGeom>
          <a:noFill/>
          <a:ln/>
        </p:spPr>
        <p:txBody>
          <a:bodyPr wrap="square" lIns="0" tIns="0" rIns="0" bIns="0" rtlCol="0" anchor="t"/>
          <a:lstStyle/>
          <a:p>
            <a:pPr algn="l" indent="0" marL="0">
              <a:buNone/>
            </a:pPr>
            <a:r>
              <a:rPr lang="en-US" sz="2000" dirty="0">
                <a:solidFill>
                  <a:srgbClr val="1B1B1F"/>
                </a:solidFill>
                <a:latin typeface="Consolas" pitchFamily="34" charset="0"/>
                <a:ea typeface="Consolas" pitchFamily="34" charset="-122"/>
                <a:cs typeface="Consolas" pitchFamily="34" charset="-120"/>
              </a:rPr>
              <a:t>⊕ 1001 1100</a:t>
            </a:r>
            <a:r>
              <a:rPr lang="en-US" sz="2000" dirty="0">
                <a:solidFill>
                  <a:srgbClr val="1B1B1F"/>
                </a:solidFill>
              </a:rPr>
              <a:t> Schlüssel</a:t>
            </a:r>
            <a:endParaRPr lang="en-US" sz="2000" dirty="0"/>
          </a:p>
        </p:txBody>
      </p:sp>
      <p:sp>
        <p:nvSpPr>
          <p:cNvPr id="10" name="Text 7"/>
          <p:cNvSpPr txBox="1"/>
          <p:nvPr/>
        </p:nvSpPr>
        <p:spPr>
          <a:xfrm>
            <a:off x="4270248" y="3717544"/>
            <a:ext cx="3364992" cy="355600"/>
          </a:xfrm>
          <a:prstGeom prst="rect">
            <a:avLst/>
          </a:prstGeom>
          <a:noFill/>
          <a:ln/>
        </p:spPr>
        <p:txBody>
          <a:bodyPr wrap="square" lIns="0" tIns="0" rIns="0" bIns="0" rtlCol="0" anchor="t"/>
          <a:lstStyle/>
          <a:p>
            <a:pPr algn="l" indent="0" marL="0">
              <a:buNone/>
            </a:pPr>
            <a:r>
              <a:rPr lang="en-US" sz="2000" dirty="0">
                <a:solidFill>
                  <a:srgbClr val="1B1B1F"/>
                </a:solidFill>
                <a:latin typeface="Consolas" pitchFamily="34" charset="0"/>
                <a:ea typeface="Consolas" pitchFamily="34" charset="-122"/>
                <a:cs typeface="Consolas" pitchFamily="34" charset="-120"/>
              </a:rPr>
              <a:t>= 0100 1010</a:t>
            </a:r>
            <a:r>
              <a:rPr lang="en-US" sz="2000" dirty="0">
                <a:solidFill>
                  <a:srgbClr val="1B1B1F"/>
                </a:solidFill>
              </a:rPr>
              <a:t> wieder J</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One-Time-Pad</a:t>
            </a:r>
            <a:endParaRPr lang="en-US" sz="3000" dirty="0"/>
          </a:p>
        </p:txBody>
      </p:sp>
      <p:sp>
        <p:nvSpPr>
          <p:cNvPr id="3" name="Text 1"/>
          <p:cNvSpPr txBox="1"/>
          <p:nvPr/>
        </p:nvSpPr>
        <p:spPr>
          <a:xfrm>
            <a:off x="548640" y="1325880"/>
            <a:ext cx="4308653" cy="3968496"/>
          </a:xfrm>
          <a:prstGeom prst="rect">
            <a:avLst/>
          </a:prstGeom>
          <a:noFill/>
          <a:ln/>
        </p:spPr>
        <p:txBody>
          <a:bodyPr wrap="square" lIns="0" tIns="0" rIns="0" bIns="0" rtlCol="0" anchor="t"/>
          <a:lstStyle/>
          <a:p>
            <a:pPr marL="279400" indent="-279400">
              <a:spcAft>
                <a:spcPts val="600"/>
              </a:spcAft>
              <a:buSzPct val="100000"/>
              <a:buChar char="●"/>
            </a:pPr>
            <a:r>
              <a:rPr lang="en-US" sz="1800" dirty="0">
                <a:solidFill>
                  <a:srgbClr val="1B1B1F"/>
                </a:solidFill>
              </a:rPr>
              <a:t>Klartext ⊕ Schlüssel = Geheimtext (Fernschreiber, Lochstreifen)</a:t>
            </a:r>
            <a:endParaRPr lang="en-US" sz="1800" dirty="0"/>
          </a:p>
          <a:p>
            <a:pPr marL="279400" indent="-279400">
              <a:spcAft>
                <a:spcPts val="600"/>
              </a:spcAft>
              <a:buSzPct val="100000"/>
              <a:buChar char="●"/>
            </a:pPr>
            <a:r>
              <a:rPr lang="en-US" sz="1800" dirty="0">
                <a:solidFill>
                  <a:srgbClr val="1B1B1F"/>
                </a:solidFill>
              </a:rPr>
              <a:t>Der Schlüssel ist</a:t>
            </a:r>
            <a:endParaRPr lang="en-US" sz="1800" dirty="0"/>
          </a:p>
          <a:p>
            <a:pPr marL="279400" indent="-279400">
              <a:spcAft>
                <a:spcPts val="600"/>
              </a:spcAft>
              <a:buSzPct val="100000"/>
              <a:buChar char="●"/>
            </a:pPr>
            <a:r>
              <a:rPr lang="en-US" sz="1800" dirty="0">
                <a:solidFill>
                  <a:srgbClr val="1B1B1F"/>
                </a:solidFill>
              </a:rPr>
              <a:t>  - </a:t>
            </a:r>
            <a:r>
              <a:rPr lang="en-US" sz="1800" b="1" dirty="0">
                <a:solidFill>
                  <a:srgbClr val="1B1B1F"/>
                </a:solidFill>
              </a:rPr>
              <a:t>zufällig</a:t>
            </a:r>
            <a:r>
              <a:rPr lang="en-US" sz="1800" dirty="0">
                <a:solidFill>
                  <a:srgbClr val="1B1B1F"/>
                </a:solidFill>
              </a:rPr>
              <a:t>,</a:t>
            </a:r>
            <a:endParaRPr lang="en-US" sz="1800" dirty="0"/>
          </a:p>
          <a:p>
            <a:pPr marL="279400" indent="-279400">
              <a:spcAft>
                <a:spcPts val="600"/>
              </a:spcAft>
              <a:buSzPct val="100000"/>
              <a:buChar char="●"/>
            </a:pPr>
            <a:r>
              <a:rPr lang="en-US" sz="1800" dirty="0">
                <a:solidFill>
                  <a:srgbClr val="1B1B1F"/>
                </a:solidFill>
              </a:rPr>
              <a:t>  - </a:t>
            </a:r>
            <a:r>
              <a:rPr lang="en-US" sz="1800" b="1" dirty="0">
                <a:solidFill>
                  <a:srgbClr val="1B1B1F"/>
                </a:solidFill>
              </a:rPr>
              <a:t>mindestens so lang</a:t>
            </a:r>
            <a:r>
              <a:rPr lang="en-US" sz="1800" dirty="0">
                <a:solidFill>
                  <a:srgbClr val="1B1B1F"/>
                </a:solidFill>
              </a:rPr>
              <a:t> wie die Nachricht,</a:t>
            </a:r>
            <a:endParaRPr lang="en-US" sz="1800" dirty="0"/>
          </a:p>
          <a:p>
            <a:pPr marL="279400" indent="-279400">
              <a:spcAft>
                <a:spcPts val="600"/>
              </a:spcAft>
              <a:buSzPct val="100000"/>
              <a:buChar char="●"/>
            </a:pPr>
            <a:r>
              <a:rPr lang="en-US" sz="1800" dirty="0">
                <a:solidFill>
                  <a:srgbClr val="1B1B1F"/>
                </a:solidFill>
              </a:rPr>
              <a:t>  - </a:t>
            </a:r>
            <a:r>
              <a:rPr lang="en-US" sz="1800" b="1" dirty="0">
                <a:solidFill>
                  <a:srgbClr val="1B1B1F"/>
                </a:solidFill>
              </a:rPr>
              <a:t>geheim</a:t>
            </a:r>
            <a:r>
              <a:rPr lang="en-US" sz="1800" dirty="0">
                <a:solidFill>
                  <a:srgbClr val="1B1B1F"/>
                </a:solidFill>
              </a:rPr>
              <a:t> und wird </a:t>
            </a:r>
            <a:r>
              <a:rPr lang="en-US" sz="1800" b="1" dirty="0">
                <a:solidFill>
                  <a:srgbClr val="1B1B1F"/>
                </a:solidFill>
              </a:rPr>
              <a:t>nur einmal</a:t>
            </a:r>
            <a:r>
              <a:rPr lang="en-US" sz="1800" dirty="0">
                <a:solidFill>
                  <a:srgbClr val="1B1B1F"/>
                </a:solidFill>
              </a:rPr>
              <a:t> benutzt.</a:t>
            </a:r>
            <a:endParaRPr lang="en-US" sz="1800" dirty="0"/>
          </a:p>
          <a:p>
            <a:pPr marL="279400" indent="-279400">
              <a:spcAft>
                <a:spcPts val="600"/>
              </a:spcAft>
              <a:buSzPct val="100000"/>
              <a:buChar char="●"/>
            </a:pPr>
            <a:r>
              <a:rPr lang="en-US" sz="1800" dirty="0">
                <a:solidFill>
                  <a:srgbClr val="1B1B1F"/>
                </a:solidFill>
              </a:rPr>
              <a:t>Dann: </a:t>
            </a:r>
            <a:r>
              <a:rPr lang="en-US" sz="1800" b="1" dirty="0">
                <a:solidFill>
                  <a:srgbClr val="1B1B1F"/>
                </a:solidFill>
              </a:rPr>
              <a:t>perfekt sicher</a:t>
            </a:r>
            <a:r>
              <a:rPr lang="en-US" sz="1800" dirty="0">
                <a:solidFill>
                  <a:srgbClr val="1B1B1F"/>
                </a:solidFill>
              </a:rPr>
              <a:t> – auch mit unbegrenzter Rechenkraft</a:t>
            </a:r>
            <a:endParaRPr lang="en-US" sz="1800" dirty="0"/>
          </a:p>
          <a:p>
            <a:pPr marL="279400" indent="-279400">
              <a:spcAft>
                <a:spcPts val="600"/>
              </a:spcAft>
              <a:buSzPct val="100000"/>
              <a:buChar char="●"/>
            </a:pPr>
            <a:r>
              <a:rPr lang="en-US" sz="1800" dirty="0">
                <a:solidFill>
                  <a:srgbClr val="1B1B1F"/>
                </a:solidFill>
              </a:rPr>
              <a:t>Haken: Schlüsselverteilung – für jede Nachricht neues Material</a:t>
            </a:r>
            <a:endParaRPr lang="en-US" sz="1800" dirty="0"/>
          </a:p>
        </p:txBody>
      </p:sp>
      <p:sp>
        <p:nvSpPr>
          <p:cNvPr id="4" name="Shape 2"/>
          <p:cNvSpPr/>
          <p:nvPr/>
        </p:nvSpPr>
        <p:spPr>
          <a:xfrm>
            <a:off x="5223053" y="1325880"/>
            <a:ext cx="2640787" cy="2677160"/>
          </a:xfrm>
          <a:prstGeom prst="roundRect">
            <a:avLst>
              <a:gd name="adj" fmla="val 2770"/>
            </a:avLst>
          </a:prstGeom>
          <a:solidFill>
            <a:srgbClr val="FBF3E2"/>
          </a:solidFill>
          <a:ln w="12700">
            <a:solidFill>
              <a:srgbClr val="8A5F1A"/>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WARUM PERFEKT?</a:t>
            </a:r>
            <a:endParaRPr lang="en-US" sz="1300" dirty="0"/>
          </a:p>
        </p:txBody>
      </p:sp>
      <p:sp>
        <p:nvSpPr>
          <p:cNvPr id="6" name="Text 4"/>
          <p:cNvSpPr txBox="1"/>
          <p:nvPr/>
        </p:nvSpPr>
        <p:spPr>
          <a:xfrm>
            <a:off x="5451653" y="1783080"/>
            <a:ext cx="2183587" cy="1037336"/>
          </a:xfrm>
          <a:prstGeom prst="rect">
            <a:avLst/>
          </a:prstGeom>
          <a:noFill/>
          <a:ln/>
        </p:spPr>
        <p:txBody>
          <a:bodyPr wrap="square" lIns="0" tIns="0" rIns="0" bIns="0" rtlCol="0" anchor="t"/>
          <a:lstStyle/>
          <a:p>
            <a:pPr algn="l" indent="0" marL="0">
              <a:buNone/>
            </a:pPr>
            <a:r>
              <a:rPr lang="en-US" sz="1600" dirty="0">
                <a:solidFill>
                  <a:srgbClr val="1B1B1F"/>
                </a:solidFill>
              </a:rPr>
              <a:t>Zu </a:t>
            </a:r>
            <a:r>
              <a:rPr lang="en-US" sz="1600" b="1" dirty="0">
                <a:solidFill>
                  <a:srgbClr val="1B1B1F"/>
                </a:solidFill>
              </a:rPr>
              <a:t>jedem</a:t>
            </a:r>
            <a:r>
              <a:rPr lang="en-US" sz="1600" dirty="0">
                <a:solidFill>
                  <a:srgbClr val="1B1B1F"/>
                </a:solidFill>
              </a:rPr>
              <a:t> denkbaren Klartext gleicher Länge gibt es einen passenden Schlüssel.</a:t>
            </a:r>
            <a:endParaRPr lang="en-US" sz="1600" dirty="0"/>
          </a:p>
        </p:txBody>
      </p:sp>
      <p:sp>
        <p:nvSpPr>
          <p:cNvPr id="7" name="Text 5"/>
          <p:cNvSpPr txBox="1"/>
          <p:nvPr/>
        </p:nvSpPr>
        <p:spPr>
          <a:xfrm>
            <a:off x="5451653" y="2948432"/>
            <a:ext cx="2183587" cy="789432"/>
          </a:xfrm>
          <a:prstGeom prst="rect">
            <a:avLst/>
          </a:prstGeom>
          <a:noFill/>
          <a:ln/>
        </p:spPr>
        <p:txBody>
          <a:bodyPr wrap="square" lIns="0" tIns="0" rIns="0" bIns="0" rtlCol="0" anchor="t"/>
          <a:lstStyle/>
          <a:p>
            <a:pPr algn="l" indent="0" marL="0">
              <a:buNone/>
            </a:pPr>
            <a:r>
              <a:rPr lang="en-US" sz="1600" dirty="0">
                <a:solidFill>
                  <a:srgbClr val="1B1B1F"/>
                </a:solidFill>
              </a:rPr>
              <a:t>Brute Force liefert </a:t>
            </a:r>
            <a:r>
              <a:rPr lang="en-US" sz="1600" b="1" dirty="0">
                <a:solidFill>
                  <a:srgbClr val="1B1B1F"/>
                </a:solidFill>
              </a:rPr>
              <a:t>alle</a:t>
            </a:r>
            <a:r>
              <a:rPr lang="en-US" sz="1600" dirty="0">
                <a:solidFill>
                  <a:srgbClr val="1B1B1F"/>
                </a:solidFill>
              </a:rPr>
              <a:t> Klartexte – und damit keinen.</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Der doppelte Schlüssel</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003597" cy="914400"/>
        </p:xfrm>
        <a:graphic>
          <a:graphicData uri="http://schemas.openxmlformats.org/drawingml/2006/table">
            <a:tbl>
              <a:tblPr/>
              <a:tblGrid>
                <a:gridCol w="1234654"/>
                <a:gridCol w="2989162"/>
                <a:gridCol w="779781"/>
              </a:tblGrid>
              <a:tr h="0">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Bits</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Text</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Schlüssel K</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1101 0011 | 0110 1001 | 1010 1110</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M1</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0100 1110 | 0100 0101 | 0101 0101</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NEU</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C1 = M1 ⊕ K</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1001 1101 | 0010 1100 | 1111 1011</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M2</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0100 0001 | 0100 1100 | 0101 0100</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ALT</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C2 = M2 ⊕ K</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1001 0010 | 0010 0101 | 1111 1010</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C1 ⊕ C2</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0000 1111 | 0000 1001 | 0000 0001</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 M1 ⊕ M2</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r>
            </a:tbl>
          </a:graphicData>
        </a:graphic>
      </p:graphicFrame>
      <p:sp>
        <p:nvSpPr>
          <p:cNvPr id="4" name="Shape 1"/>
          <p:cNvSpPr/>
          <p:nvPr/>
        </p:nvSpPr>
        <p:spPr>
          <a:xfrm>
            <a:off x="5917997" y="1325880"/>
            <a:ext cx="1945843" cy="2355088"/>
          </a:xfrm>
          <a:prstGeom prst="roundRect">
            <a:avLst>
              <a:gd name="adj" fmla="val 3759"/>
            </a:avLst>
          </a:prstGeom>
          <a:solidFill>
            <a:srgbClr val="FDF3F2"/>
          </a:solidFill>
          <a:ln w="12700">
            <a:solidFill>
              <a:srgbClr val="B3261E"/>
            </a:solidFill>
            <a:prstDash val="solid"/>
          </a:ln>
        </p:spPr>
      </p:sp>
      <p:sp>
        <p:nvSpPr>
          <p:cNvPr id="5" name="Text 2"/>
          <p:cNvSpPr txBox="1"/>
          <p:nvPr/>
        </p:nvSpPr>
        <p:spPr>
          <a:xfrm>
            <a:off x="6146597" y="1435608"/>
            <a:ext cx="1488643" cy="274320"/>
          </a:xfrm>
          <a:prstGeom prst="rect">
            <a:avLst/>
          </a:prstGeom>
          <a:noFill/>
          <a:ln/>
        </p:spPr>
        <p:txBody>
          <a:bodyPr wrap="square" lIns="0" tIns="0" rIns="0" bIns="0" rtlCol="0" anchor="ctr"/>
          <a:lstStyle/>
          <a:p>
            <a:pPr indent="0" marL="0">
              <a:buNone/>
            </a:pPr>
            <a:r>
              <a:rPr lang="en-US" sz="1300" b="1" spc="200" kern="0" dirty="0">
                <a:solidFill>
                  <a:srgbClr val="B3261E"/>
                </a:solidFill>
              </a:rPr>
              <a:t>DER SCHLÜSSEL FÄLLT HERAUS</a:t>
            </a:r>
            <a:endParaRPr lang="en-US" sz="1300" dirty="0"/>
          </a:p>
        </p:txBody>
      </p:sp>
      <p:sp>
        <p:nvSpPr>
          <p:cNvPr id="6" name="Text 3"/>
          <p:cNvSpPr txBox="1"/>
          <p:nvPr/>
        </p:nvSpPr>
        <p:spPr>
          <a:xfrm>
            <a:off x="6146597" y="1783080"/>
            <a:ext cx="1488643" cy="355600"/>
          </a:xfrm>
          <a:prstGeom prst="rect">
            <a:avLst/>
          </a:prstGeom>
          <a:noFill/>
          <a:ln/>
        </p:spPr>
        <p:txBody>
          <a:bodyPr wrap="square" lIns="0" tIns="0" rIns="0" bIns="0" rtlCol="0" anchor="t"/>
          <a:lstStyle/>
          <a:p>
            <a:pPr algn="l" indent="0" marL="0">
              <a:buNone/>
            </a:pPr>
            <a:r>
              <a:rPr lang="en-US" sz="2000" dirty="0">
                <a:solidFill>
                  <a:srgbClr val="1B1B1F"/>
                </a:solidFill>
              </a:rPr>
              <a:t>C1 ⊕ C2</a:t>
            </a:r>
            <a:endParaRPr lang="en-US" sz="2000" dirty="0"/>
          </a:p>
        </p:txBody>
      </p:sp>
      <p:sp>
        <p:nvSpPr>
          <p:cNvPr id="7" name="Text 4"/>
          <p:cNvSpPr txBox="1"/>
          <p:nvPr/>
        </p:nvSpPr>
        <p:spPr>
          <a:xfrm>
            <a:off x="6146597" y="2266696"/>
            <a:ext cx="1488643" cy="665480"/>
          </a:xfrm>
          <a:prstGeom prst="rect">
            <a:avLst/>
          </a:prstGeom>
          <a:noFill/>
          <a:ln/>
        </p:spPr>
        <p:txBody>
          <a:bodyPr wrap="square" lIns="0" tIns="0" rIns="0" bIns="0" rtlCol="0" anchor="t"/>
          <a:lstStyle/>
          <a:p>
            <a:pPr algn="l" indent="0" marL="0">
              <a:buNone/>
            </a:pPr>
            <a:r>
              <a:rPr lang="en-US" sz="2000" dirty="0">
                <a:solidFill>
                  <a:srgbClr val="1B1B1F"/>
                </a:solidFill>
              </a:rPr>
              <a:t>= (M1 ⊕ K) ⊕ (M2 ⊕ K)</a:t>
            </a:r>
            <a:endParaRPr lang="en-US" sz="2000" dirty="0"/>
          </a:p>
        </p:txBody>
      </p:sp>
      <p:sp>
        <p:nvSpPr>
          <p:cNvPr id="8" name="Text 5"/>
          <p:cNvSpPr txBox="1"/>
          <p:nvPr/>
        </p:nvSpPr>
        <p:spPr>
          <a:xfrm>
            <a:off x="6146597" y="3060192"/>
            <a:ext cx="1488643" cy="355600"/>
          </a:xfrm>
          <a:prstGeom prst="rect">
            <a:avLst/>
          </a:prstGeom>
          <a:noFill/>
          <a:ln/>
        </p:spPr>
        <p:txBody>
          <a:bodyPr wrap="square" lIns="0" tIns="0" rIns="0" bIns="0" rtlCol="0" anchor="t"/>
          <a:lstStyle/>
          <a:p>
            <a:pPr algn="l" indent="0" marL="0">
              <a:buNone/>
            </a:pPr>
            <a:r>
              <a:rPr lang="en-US" sz="2000" dirty="0">
                <a:solidFill>
                  <a:srgbClr val="1B1B1F"/>
                </a:solidFill>
              </a:rPr>
              <a:t>= M1 ⊕ M2</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Jetzt du: Eve rät ein Wort</a:t>
            </a:r>
            <a:endParaRPr lang="en-US" sz="3000" dirty="0"/>
          </a:p>
        </p:txBody>
      </p:sp>
      <p:sp>
        <p:nvSpPr>
          <p:cNvPr id="3" name="Text 1"/>
          <p:cNvSpPr txBox="1"/>
          <p:nvPr/>
        </p:nvSpPr>
        <p:spPr>
          <a:xfrm>
            <a:off x="548640" y="1325880"/>
            <a:ext cx="1463040" cy="384048"/>
          </a:xfrm>
          <a:prstGeom prst="rect">
            <a:avLst/>
          </a:prstGeom>
          <a:solidFill>
            <a:srgbClr val="556B2F"/>
          </a:solidFill>
          <a:ln/>
        </p:spPr>
        <p:txBody>
          <a:bodyPr wrap="square" lIns="0" tIns="0" rIns="0" bIns="0" rtlCol="0" anchor="ctr"/>
          <a:lstStyle/>
          <a:p>
            <a:pPr algn="ctr" indent="0" marL="0">
              <a:buNone/>
            </a:pPr>
            <a:r>
              <a:rPr lang="en-US" sz="1400" b="1" spc="300" kern="0" dirty="0">
                <a:solidFill>
                  <a:srgbClr val="FFFFFF"/>
                </a:solidFill>
              </a:rPr>
              <a:t>AUFTRAG</a:t>
            </a:r>
            <a:endParaRPr lang="en-US" sz="1400" dirty="0"/>
          </a:p>
        </p:txBody>
      </p:sp>
      <p:sp>
        <p:nvSpPr>
          <p:cNvPr id="4" name="Text 2"/>
          <p:cNvSpPr txBox="1"/>
          <p:nvPr/>
        </p:nvSpPr>
        <p:spPr>
          <a:xfrm>
            <a:off x="2148840" y="1325880"/>
            <a:ext cx="207568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 Video anhalten</a:t>
            </a:r>
            <a:endParaRPr lang="en-US" sz="1400" dirty="0"/>
          </a:p>
        </p:txBody>
      </p:sp>
      <p:sp>
        <p:nvSpPr>
          <p:cNvPr id="5" name="Text 3"/>
          <p:cNvSpPr txBox="1"/>
          <p:nvPr/>
        </p:nvSpPr>
        <p:spPr>
          <a:xfrm>
            <a:off x="4361688" y="1325880"/>
            <a:ext cx="207568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selbst probieren</a:t>
            </a:r>
            <a:endParaRPr lang="en-US" sz="1400" dirty="0"/>
          </a:p>
        </p:txBody>
      </p:sp>
      <p:sp>
        <p:nvSpPr>
          <p:cNvPr id="6" name="Text 4"/>
          <p:cNvSpPr txBox="1"/>
          <p:nvPr/>
        </p:nvSpPr>
        <p:spPr>
          <a:xfrm>
            <a:off x="548640" y="1965960"/>
            <a:ext cx="4308653" cy="1409192"/>
          </a:xfrm>
          <a:prstGeom prst="rect">
            <a:avLst/>
          </a:prstGeom>
          <a:noFill/>
          <a:ln/>
        </p:spPr>
        <p:txBody>
          <a:bodyPr wrap="square" lIns="0" tIns="0" rIns="0" bIns="0" rtlCol="0" anchor="t"/>
          <a:lstStyle/>
          <a:p>
            <a:pPr algn="l" indent="0" marL="0">
              <a:buNone/>
            </a:pPr>
            <a:r>
              <a:rPr lang="en-US" sz="2200" dirty="0">
                <a:solidFill>
                  <a:srgbClr val="1B1B1F"/>
                </a:solidFill>
              </a:rPr>
              <a:t>Eve kennt C1 ⊕ C2 und vermutet, dass die erste Nachricht </a:t>
            </a:r>
            <a:r>
              <a:rPr lang="en-US" sz="2200" b="1" dirty="0">
                <a:solidFill>
                  <a:srgbClr val="1B1B1F"/>
                </a:solidFill>
              </a:rPr>
              <a:t>NEU</a:t>
            </a:r>
            <a:r>
              <a:rPr lang="en-US" sz="2200" dirty="0">
                <a:solidFill>
                  <a:srgbClr val="1B1B1F"/>
                </a:solidFill>
              </a:rPr>
              <a:t> lautet. </a:t>
            </a:r>
            <a:r>
              <a:rPr lang="en-US" sz="2200" b="1" dirty="0">
                <a:solidFill>
                  <a:srgbClr val="1B1B1F"/>
                </a:solidFill>
              </a:rPr>
              <a:t>Bestimme</a:t>
            </a:r>
            <a:r>
              <a:rPr lang="en-US" sz="2200" dirty="0">
                <a:solidFill>
                  <a:srgbClr val="1B1B1F"/>
                </a:solidFill>
              </a:rPr>
              <a:t> die zweite Nachricht M2.</a:t>
            </a:r>
            <a:endParaRPr lang="en-US" sz="2200" dirty="0"/>
          </a:p>
        </p:txBody>
      </p:sp>
      <p:sp>
        <p:nvSpPr>
          <p:cNvPr id="7" name="Shape 5"/>
          <p:cNvSpPr/>
          <p:nvPr/>
        </p:nvSpPr>
        <p:spPr>
          <a:xfrm>
            <a:off x="548640" y="3503168"/>
            <a:ext cx="4308653" cy="990600"/>
          </a:xfrm>
          <a:prstGeom prst="rect">
            <a:avLst/>
          </a:prstGeom>
          <a:solidFill>
            <a:srgbClr val="F6F4EF"/>
          </a:solidFill>
          <a:ln w="9525">
            <a:solidFill>
              <a:srgbClr val="D8CDB8"/>
            </a:solidFill>
            <a:prstDash val="solid"/>
          </a:ln>
        </p:spPr>
      </p:sp>
      <p:sp>
        <p:nvSpPr>
          <p:cNvPr id="8" name="Text 6"/>
          <p:cNvSpPr txBox="1"/>
          <p:nvPr/>
        </p:nvSpPr>
        <p:spPr>
          <a:xfrm>
            <a:off x="685800" y="3594608"/>
            <a:ext cx="4034333" cy="807720"/>
          </a:xfrm>
          <a:prstGeom prst="rect">
            <a:avLst/>
          </a:prstGeom>
          <a:noFill/>
          <a:ln/>
        </p:spPr>
        <p:txBody>
          <a:bodyPr wrap="square" lIns="0" tIns="0" rIns="0" bIns="0" rtlCol="0" anchor="t"/>
          <a:lstStyle/>
          <a:p>
            <a:pPr indent="0" marL="0">
              <a:buNone/>
            </a:pPr>
            <a:r>
              <a:rPr lang="en-US" sz="1600" dirty="0">
                <a:solidFill>
                  <a:srgbClr val="1B1B1F"/>
                </a:solidFill>
                <a:latin typeface="Consolas" pitchFamily="34" charset="0"/>
                <a:ea typeface="Consolas" pitchFamily="34" charset="-122"/>
                <a:cs typeface="Consolas" pitchFamily="34" charset="-120"/>
              </a:rPr>
              <a:t>C1 ⊕ C2   0000 1111 | 0000 1001 | 0000 0001</a:t>
            </a:r>
            <a:endParaRPr lang="en-US" sz="1600" dirty="0"/>
          </a:p>
          <a:p>
            <a:pPr indent="0" marL="0">
              <a:buNone/>
            </a:pPr>
            <a:r>
              <a:rPr lang="en-US" sz="1600" dirty="0">
                <a:solidFill>
                  <a:srgbClr val="1B1B1F"/>
                </a:solidFill>
                <a:latin typeface="Consolas" pitchFamily="34" charset="0"/>
                <a:ea typeface="Consolas" pitchFamily="34" charset="-122"/>
                <a:cs typeface="Consolas" pitchFamily="34" charset="-120"/>
              </a:rPr>
              <a:t>M1 (NEU)  0100 1110 | 0100 0101 | 0101 0101</a:t>
            </a:r>
            <a:endParaRPr lang="en-US" sz="1600" dirty="0"/>
          </a:p>
          <a:p>
            <a:pPr indent="0" marL="0">
              <a:buNone/>
            </a:pPr>
            <a:r>
              <a:rPr lang="en-US" sz="1600" dirty="0">
                <a:solidFill>
                  <a:srgbClr val="1B1B1F"/>
                </a:solidFill>
                <a:latin typeface="Consolas" pitchFamily="34" charset="0"/>
                <a:ea typeface="Consolas" pitchFamily="34" charset="-122"/>
                <a:cs typeface="Consolas" pitchFamily="34" charset="-120"/>
              </a:rPr>
              <a:t>M2 = ?</a:t>
            </a:r>
            <a:endParaRPr lang="en-US" sz="1600" dirty="0"/>
          </a:p>
        </p:txBody>
      </p:sp>
      <p:sp>
        <p:nvSpPr>
          <p:cNvPr id="9" name="Shape 7"/>
          <p:cNvSpPr/>
          <p:nvPr/>
        </p:nvSpPr>
        <p:spPr>
          <a:xfrm>
            <a:off x="5223053" y="1965960"/>
            <a:ext cx="2640787" cy="2491232"/>
          </a:xfrm>
          <a:prstGeom prst="roundRect">
            <a:avLst>
              <a:gd name="adj" fmla="val 2936"/>
            </a:avLst>
          </a:prstGeom>
          <a:solidFill>
            <a:srgbClr val="FBF3E2"/>
          </a:solidFill>
          <a:ln w="12700">
            <a:solidFill>
              <a:srgbClr val="8A5F1A"/>
            </a:solidFill>
            <a:prstDash val="solid"/>
          </a:ln>
        </p:spPr>
      </p:sp>
      <p:sp>
        <p:nvSpPr>
          <p:cNvPr id="10" name="Text 8"/>
          <p:cNvSpPr txBox="1"/>
          <p:nvPr/>
        </p:nvSpPr>
        <p:spPr>
          <a:xfrm>
            <a:off x="5451653" y="207568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TIPP</a:t>
            </a:r>
            <a:endParaRPr lang="en-US" sz="1300" dirty="0"/>
          </a:p>
        </p:txBody>
      </p:sp>
      <p:sp>
        <p:nvSpPr>
          <p:cNvPr id="11" name="Text 9"/>
          <p:cNvSpPr txBox="1"/>
          <p:nvPr/>
        </p:nvSpPr>
        <p:spPr>
          <a:xfrm>
            <a:off x="5451653" y="2423160"/>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M2 = (M1 ⊕ M2) ⊕ M1</a:t>
            </a:r>
            <a:endParaRPr lang="en-US" sz="2000" dirty="0"/>
          </a:p>
        </p:txBody>
      </p:sp>
      <p:sp>
        <p:nvSpPr>
          <p:cNvPr id="12" name="Text 10"/>
          <p:cNvSpPr txBox="1"/>
          <p:nvPr/>
        </p:nvSpPr>
        <p:spPr>
          <a:xfrm>
            <a:off x="5451653" y="3216656"/>
            <a:ext cx="2183587" cy="975360"/>
          </a:xfrm>
          <a:prstGeom prst="rect">
            <a:avLst/>
          </a:prstGeom>
          <a:noFill/>
          <a:ln/>
        </p:spPr>
        <p:txBody>
          <a:bodyPr wrap="square" lIns="0" tIns="0" rIns="0" bIns="0" rtlCol="0" anchor="t"/>
          <a:lstStyle/>
          <a:p>
            <a:pPr algn="l" indent="0" marL="0">
              <a:buNone/>
            </a:pPr>
            <a:r>
              <a:rPr lang="en-US" sz="2000" dirty="0">
                <a:solidFill>
                  <a:srgbClr val="1B1B1F"/>
                </a:solidFill>
              </a:rPr>
              <a:t>Dann mit der ASCII-Tabelle zurück in Buchstaben</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Auflösung: M2 = ALT</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003597" cy="914400"/>
        </p:xfrm>
        <a:graphic>
          <a:graphicData uri="http://schemas.openxmlformats.org/drawingml/2006/table">
            <a:tbl>
              <a:tblPr/>
              <a:tblGrid>
                <a:gridCol w="1081859"/>
                <a:gridCol w="3110344"/>
                <a:gridCol w="811394"/>
              </a:tblGrid>
              <a:tr h="0">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Bits</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Text</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C1 ⊕ C2</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0000 1111 | 0000 1001 | 0000 0001</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 geraten</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0100 1110 | 0100 0101 | 0101 0101</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NEU</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 M2</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0100 0001 | 0100 1100 | 0101 0100</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ALT ✓</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 geraten</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0100 1111 | 0101 0011 | 0101 0100</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OST</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 ?</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0100 0000 | 0101 1010 | 0101 0101</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@ZU ✗</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Shape 1"/>
          <p:cNvSpPr/>
          <p:nvPr/>
        </p:nvSpPr>
        <p:spPr>
          <a:xfrm>
            <a:off x="5917997" y="1325880"/>
            <a:ext cx="1945843" cy="4040632"/>
          </a:xfrm>
          <a:prstGeom prst="roundRect">
            <a:avLst>
              <a:gd name="adj" fmla="val 3759"/>
            </a:avLst>
          </a:prstGeom>
          <a:solidFill>
            <a:srgbClr val="EEF6EE"/>
          </a:solidFill>
          <a:ln w="12700">
            <a:solidFill>
              <a:srgbClr val="2E7D32"/>
            </a:solidFill>
            <a:prstDash val="solid"/>
          </a:ln>
        </p:spPr>
      </p:sp>
      <p:sp>
        <p:nvSpPr>
          <p:cNvPr id="5" name="Text 2"/>
          <p:cNvSpPr txBox="1"/>
          <p:nvPr/>
        </p:nvSpPr>
        <p:spPr>
          <a:xfrm>
            <a:off x="6146597" y="1435608"/>
            <a:ext cx="1488643" cy="274320"/>
          </a:xfrm>
          <a:prstGeom prst="rect">
            <a:avLst/>
          </a:prstGeom>
          <a:noFill/>
          <a:ln/>
        </p:spPr>
        <p:txBody>
          <a:bodyPr wrap="square" lIns="0" tIns="0" rIns="0" bIns="0" rtlCol="0" anchor="ctr"/>
          <a:lstStyle/>
          <a:p>
            <a:pPr indent="0" marL="0">
              <a:buNone/>
            </a:pPr>
            <a:r>
              <a:rPr lang="en-US" sz="1300" b="1" spc="200" kern="0" dirty="0">
                <a:solidFill>
                  <a:srgbClr val="2E7D32"/>
                </a:solidFill>
              </a:rPr>
              <a:t>MERKE</a:t>
            </a:r>
            <a:endParaRPr lang="en-US" sz="1300" dirty="0"/>
          </a:p>
        </p:txBody>
      </p:sp>
      <p:sp>
        <p:nvSpPr>
          <p:cNvPr id="6" name="Text 3"/>
          <p:cNvSpPr txBox="1"/>
          <p:nvPr/>
        </p:nvSpPr>
        <p:spPr>
          <a:xfrm>
            <a:off x="6146597" y="1783080"/>
            <a:ext cx="1488643" cy="1595120"/>
          </a:xfrm>
          <a:prstGeom prst="rect">
            <a:avLst/>
          </a:prstGeom>
          <a:noFill/>
          <a:ln/>
        </p:spPr>
        <p:txBody>
          <a:bodyPr wrap="square" lIns="0" tIns="0" rIns="0" bIns="0" rtlCol="0" anchor="t"/>
          <a:lstStyle/>
          <a:p>
            <a:pPr algn="l" indent="0" marL="0">
              <a:buNone/>
            </a:pPr>
            <a:r>
              <a:rPr lang="en-US" sz="2000" dirty="0">
                <a:solidFill>
                  <a:srgbClr val="1B1B1F"/>
                </a:solidFill>
              </a:rPr>
              <a:t>Ein richtig geratenes Wort liefert das andere.</a:t>
            </a:r>
            <a:endParaRPr lang="en-US" sz="2000" dirty="0"/>
          </a:p>
        </p:txBody>
      </p:sp>
      <p:sp>
        <p:nvSpPr>
          <p:cNvPr id="7" name="Text 4"/>
          <p:cNvSpPr txBox="1"/>
          <p:nvPr/>
        </p:nvSpPr>
        <p:spPr>
          <a:xfrm>
            <a:off x="6146597" y="3506216"/>
            <a:ext cx="1488643" cy="1595120"/>
          </a:xfrm>
          <a:prstGeom prst="rect">
            <a:avLst/>
          </a:prstGeom>
          <a:noFill/>
          <a:ln/>
        </p:spPr>
        <p:txBody>
          <a:bodyPr wrap="square" lIns="0" tIns="0" rIns="0" bIns="0" rtlCol="0" anchor="t"/>
          <a:lstStyle/>
          <a:p>
            <a:pPr algn="l" indent="0" marL="0">
              <a:buNone/>
            </a:pPr>
            <a:r>
              <a:rPr lang="en-US" sz="2000" dirty="0">
                <a:solidFill>
                  <a:srgbClr val="1B1B1F"/>
                </a:solidFill>
              </a:rPr>
              <a:t>Ein falsches liefert Unsinn – Eve merkt es sofort.</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eA · Blockchiffre: das Prinzip</a:t>
            </a:r>
            <a:endParaRPr lang="en-US" sz="3000" dirty="0"/>
          </a:p>
        </p:txBody>
      </p:sp>
      <p:sp>
        <p:nvSpPr>
          <p:cNvPr id="3" name="Text 1"/>
          <p:cNvSpPr txBox="1"/>
          <p:nvPr/>
        </p:nvSpPr>
        <p:spPr>
          <a:xfrm>
            <a:off x="548640" y="1325880"/>
            <a:ext cx="4308653" cy="3689604"/>
          </a:xfrm>
          <a:prstGeom prst="rect">
            <a:avLst/>
          </a:prstGeom>
          <a:noFill/>
          <a:ln/>
        </p:spPr>
        <p:txBody>
          <a:bodyPr wrap="square" lIns="0" tIns="0" rIns="0" bIns="0" rtlCol="0" anchor="t"/>
          <a:lstStyle/>
          <a:p>
            <a:pPr marL="279400" indent="-279400">
              <a:spcAft>
                <a:spcPts val="600"/>
              </a:spcAft>
              <a:buSzPct val="100000"/>
              <a:buChar char="●"/>
            </a:pPr>
            <a:r>
              <a:rPr lang="en-US" sz="1800" dirty="0">
                <a:solidFill>
                  <a:srgbClr val="1B1B1F"/>
                </a:solidFill>
              </a:rPr>
              <a:t>Klartext in </a:t>
            </a:r>
            <a:r>
              <a:rPr lang="en-US" sz="1800" b="1" dirty="0">
                <a:solidFill>
                  <a:srgbClr val="1B1B1F"/>
                </a:solidFill>
              </a:rPr>
              <a:t>Blöcke fester Länge</a:t>
            </a:r>
            <a:r>
              <a:rPr lang="en-US" sz="1800" dirty="0">
                <a:solidFill>
                  <a:srgbClr val="1B1B1F"/>
                </a:solidFill>
              </a:rPr>
              <a:t> zerlegen (z. B. AES: 128 Bit)</a:t>
            </a:r>
            <a:endParaRPr lang="en-US" sz="1800" dirty="0"/>
          </a:p>
          <a:p>
            <a:pPr marL="279400" indent="-279400">
              <a:spcAft>
                <a:spcPts val="600"/>
              </a:spcAft>
              <a:buSzPct val="100000"/>
              <a:buChar char="●"/>
            </a:pPr>
            <a:r>
              <a:rPr lang="en-US" sz="1800" dirty="0">
                <a:solidFill>
                  <a:srgbClr val="1B1B1F"/>
                </a:solidFill>
              </a:rPr>
              <a:t>Ein kurzer Schlüssel → mehrere </a:t>
            </a:r>
            <a:r>
              <a:rPr lang="en-US" sz="1800" b="1" dirty="0">
                <a:solidFill>
                  <a:srgbClr val="1B1B1F"/>
                </a:solidFill>
              </a:rPr>
              <a:t>Rundenschlüssel</a:t>
            </a:r>
            <a:endParaRPr lang="en-US" sz="1800" dirty="0"/>
          </a:p>
          <a:p>
            <a:pPr marL="279400" indent="-279400">
              <a:spcAft>
                <a:spcPts val="600"/>
              </a:spcAft>
              <a:buSzPct val="100000"/>
              <a:buChar char="●"/>
            </a:pPr>
            <a:r>
              <a:rPr lang="en-US" sz="1800" dirty="0">
                <a:solidFill>
                  <a:srgbClr val="1B1B1F"/>
                </a:solidFill>
              </a:rPr>
              <a:t>Jede </a:t>
            </a:r>
            <a:r>
              <a:rPr lang="en-US" sz="1800" b="1" dirty="0">
                <a:solidFill>
                  <a:srgbClr val="1B1B1F"/>
                </a:solidFill>
              </a:rPr>
              <a:t>Runde</a:t>
            </a:r>
            <a:r>
              <a:rPr lang="en-US" sz="1800" dirty="0">
                <a:solidFill>
                  <a:srgbClr val="1B1B1F"/>
                </a:solidFill>
              </a:rPr>
              <a:t>:</a:t>
            </a:r>
            <a:endParaRPr lang="en-US" sz="1800" dirty="0"/>
          </a:p>
          <a:p>
            <a:pPr marL="279400" indent="-279400">
              <a:spcAft>
                <a:spcPts val="600"/>
              </a:spcAft>
              <a:buSzPct val="100000"/>
              <a:buChar char="●"/>
            </a:pPr>
            <a:r>
              <a:rPr lang="en-US" sz="1800" dirty="0">
                <a:solidFill>
                  <a:srgbClr val="1B1B1F"/>
                </a:solidFill>
              </a:rPr>
              <a:t>  - Rundenschlüssel einmischen (⊕)</a:t>
            </a:r>
            <a:endParaRPr lang="en-US" sz="1800" dirty="0"/>
          </a:p>
          <a:p>
            <a:pPr marL="279400" indent="-279400">
              <a:spcAft>
                <a:spcPts val="600"/>
              </a:spcAft>
              <a:buSzPct val="100000"/>
              <a:buChar char="●"/>
            </a:pPr>
            <a:r>
              <a:rPr lang="en-US" sz="1800" dirty="0">
                <a:solidFill>
                  <a:srgbClr val="1B1B1F"/>
                </a:solidFill>
              </a:rPr>
              <a:t>  - </a:t>
            </a:r>
            <a:r>
              <a:rPr lang="en-US" sz="1800" b="1" dirty="0">
                <a:solidFill>
                  <a:srgbClr val="1B1B1F"/>
                </a:solidFill>
              </a:rPr>
              <a:t>Substitution</a:t>
            </a:r>
            <a:r>
              <a:rPr lang="en-US" sz="1800" dirty="0">
                <a:solidFill>
                  <a:srgbClr val="1B1B1F"/>
                </a:solidFill>
              </a:rPr>
              <a:t> mit einer S-Box</a:t>
            </a:r>
            <a:endParaRPr lang="en-US" sz="1800" dirty="0"/>
          </a:p>
          <a:p>
            <a:pPr marL="279400" indent="-279400">
              <a:spcAft>
                <a:spcPts val="600"/>
              </a:spcAft>
              <a:buSzPct val="100000"/>
              <a:buChar char="●"/>
            </a:pPr>
            <a:r>
              <a:rPr lang="en-US" sz="1800" dirty="0">
                <a:solidFill>
                  <a:srgbClr val="1B1B1F"/>
                </a:solidFill>
              </a:rPr>
              <a:t>  - </a:t>
            </a:r>
            <a:r>
              <a:rPr lang="en-US" sz="1800" b="1" dirty="0">
                <a:solidFill>
                  <a:srgbClr val="1B1B1F"/>
                </a:solidFill>
              </a:rPr>
              <a:t>Permutation</a:t>
            </a:r>
            <a:r>
              <a:rPr lang="en-US" sz="1800" dirty="0">
                <a:solidFill>
                  <a:srgbClr val="1B1B1F"/>
                </a:solidFill>
              </a:rPr>
              <a:t>: Bits umordnen (Transposition)</a:t>
            </a:r>
            <a:endParaRPr lang="en-US" sz="1800" dirty="0"/>
          </a:p>
          <a:p>
            <a:pPr marL="279400" indent="-279400">
              <a:spcAft>
                <a:spcPts val="600"/>
              </a:spcAft>
              <a:buSzPct val="100000"/>
              <a:buChar char="●"/>
            </a:pPr>
            <a:r>
              <a:rPr lang="en-US" sz="1800" dirty="0">
                <a:solidFill>
                  <a:srgbClr val="1B1B1F"/>
                </a:solidFill>
              </a:rPr>
              <a:t>Viele einfache Runden → ein starkes Verfahren</a:t>
            </a:r>
            <a:endParaRPr lang="en-US" sz="1800" dirty="0"/>
          </a:p>
        </p:txBody>
      </p:sp>
      <p:sp>
        <p:nvSpPr>
          <p:cNvPr id="4" name="Shape 2"/>
          <p:cNvSpPr/>
          <p:nvPr/>
        </p:nvSpPr>
        <p:spPr>
          <a:xfrm>
            <a:off x="5223053" y="1325880"/>
            <a:ext cx="2640787" cy="2925064"/>
          </a:xfrm>
          <a:prstGeom prst="roundRect">
            <a:avLst>
              <a:gd name="adj" fmla="val 2770"/>
            </a:avLst>
          </a:prstGeom>
          <a:solidFill>
            <a:srgbClr val="EEF3FA"/>
          </a:solidFill>
          <a:ln w="12700">
            <a:solidFill>
              <a:srgbClr val="1F4E8C"/>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1F4E8C"/>
                </a:solidFill>
              </a:rPr>
              <a:t>ZIELE NACH SHANNON</a:t>
            </a:r>
            <a:endParaRPr lang="en-US" sz="1300" dirty="0"/>
          </a:p>
        </p:txBody>
      </p:sp>
      <p:sp>
        <p:nvSpPr>
          <p:cNvPr id="6" name="Text 4"/>
          <p:cNvSpPr txBox="1"/>
          <p:nvPr/>
        </p:nvSpPr>
        <p:spPr>
          <a:xfrm>
            <a:off x="5451653" y="1783080"/>
            <a:ext cx="2183587" cy="1037336"/>
          </a:xfrm>
          <a:prstGeom prst="rect">
            <a:avLst/>
          </a:prstGeom>
          <a:noFill/>
          <a:ln/>
        </p:spPr>
        <p:txBody>
          <a:bodyPr wrap="square" lIns="0" tIns="0" rIns="0" bIns="0" rtlCol="0" anchor="t"/>
          <a:lstStyle/>
          <a:p>
            <a:pPr algn="l" indent="0" marL="0">
              <a:buNone/>
            </a:pPr>
            <a:r>
              <a:rPr lang="en-US" sz="1600" b="1" dirty="0">
                <a:solidFill>
                  <a:srgbClr val="1B1B1F"/>
                </a:solidFill>
              </a:rPr>
              <a:t>Konfusion</a:t>
            </a:r>
            <a:r>
              <a:rPr lang="en-US" sz="1600" dirty="0">
                <a:solidFill>
                  <a:srgbClr val="1B1B1F"/>
                </a:solidFill>
              </a:rPr>
              <a:t>: Zusammenhang Schlüssel ↔ Geheimtext verwischen (S-Box)</a:t>
            </a:r>
            <a:endParaRPr lang="en-US" sz="1600" dirty="0"/>
          </a:p>
        </p:txBody>
      </p:sp>
      <p:sp>
        <p:nvSpPr>
          <p:cNvPr id="7" name="Text 5"/>
          <p:cNvSpPr txBox="1"/>
          <p:nvPr/>
        </p:nvSpPr>
        <p:spPr>
          <a:xfrm>
            <a:off x="5451653" y="2948432"/>
            <a:ext cx="2183587" cy="1037336"/>
          </a:xfrm>
          <a:prstGeom prst="rect">
            <a:avLst/>
          </a:prstGeom>
          <a:noFill/>
          <a:ln/>
        </p:spPr>
        <p:txBody>
          <a:bodyPr wrap="square" lIns="0" tIns="0" rIns="0" bIns="0" rtlCol="0" anchor="t"/>
          <a:lstStyle/>
          <a:p>
            <a:pPr algn="l" indent="0" marL="0">
              <a:buNone/>
            </a:pPr>
            <a:r>
              <a:rPr lang="en-US" sz="1600" b="1" dirty="0">
                <a:solidFill>
                  <a:srgbClr val="1B1B1F"/>
                </a:solidFill>
              </a:rPr>
              <a:t>Diffusion</a:t>
            </a:r>
            <a:r>
              <a:rPr lang="en-US" sz="1600" dirty="0">
                <a:solidFill>
                  <a:srgbClr val="1B1B1F"/>
                </a:solidFill>
              </a:rPr>
              <a:t>: jedes Klartextbit beeinflusst viele Geheimtextbits (Permutation)</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eA · WIRBEL-8: unsere Mini-Blockchiffre</a:t>
            </a:r>
            <a:endParaRPr lang="en-US" sz="3000" dirty="0"/>
          </a:p>
        </p:txBody>
      </p:sp>
      <p:sp>
        <p:nvSpPr>
          <p:cNvPr id="3" name="Text 1"/>
          <p:cNvSpPr txBox="1"/>
          <p:nvPr/>
        </p:nvSpPr>
        <p:spPr>
          <a:xfrm>
            <a:off x="548640" y="1325880"/>
            <a:ext cx="7315200" cy="1068324"/>
          </a:xfrm>
          <a:prstGeom prst="rect">
            <a:avLst/>
          </a:prstGeom>
          <a:noFill/>
          <a:ln/>
        </p:spPr>
        <p:txBody>
          <a:bodyPr wrap="square" lIns="0" tIns="0" rIns="0" bIns="0" rtlCol="0" anchor="t"/>
          <a:lstStyle/>
          <a:p>
            <a:pPr algn="l" indent="0" marL="0">
              <a:buNone/>
            </a:pPr>
            <a:r>
              <a:rPr lang="en-US" sz="2200" dirty="0">
                <a:solidFill>
                  <a:srgbClr val="1B1B1F"/>
                </a:solidFill>
              </a:rPr>
              <a:t>Block 8 Bit · 2 Runden · K1 = </a:t>
            </a:r>
            <a:r>
              <a:rPr lang="en-US" sz="2200" dirty="0">
                <a:solidFill>
                  <a:srgbClr val="1B1B1F"/>
                </a:solidFill>
                <a:latin typeface="Consolas" pitchFamily="34" charset="0"/>
                <a:ea typeface="Consolas" pitchFamily="34" charset="-122"/>
                <a:cs typeface="Consolas" pitchFamily="34" charset="-120"/>
              </a:rPr>
              <a:t>0010 1011</a:t>
            </a:r>
            <a:r>
              <a:rPr lang="en-US" sz="2200" dirty="0">
                <a:solidFill>
                  <a:srgbClr val="1B1B1F"/>
                </a:solidFill>
              </a:rPr>
              <a:t> · K2 = </a:t>
            </a:r>
            <a:r>
              <a:rPr lang="en-US" sz="2200" dirty="0">
                <a:solidFill>
                  <a:srgbClr val="1B1B1F"/>
                </a:solidFill>
                <a:latin typeface="Consolas" pitchFamily="34" charset="0"/>
                <a:ea typeface="Consolas" pitchFamily="34" charset="-122"/>
                <a:cs typeface="Consolas" pitchFamily="34" charset="-120"/>
              </a:rPr>
              <a:t>1100 0110</a:t>
            </a:r>
            <a:r>
              <a:rPr lang="en-US" sz="2200" dirty="0">
                <a:solidFill>
                  <a:srgbClr val="1B1B1F"/>
                </a:solidFill>
              </a:rPr>
              <a:t> · Runde: ⊕ Ki → S-Box (beide Vierergruppen) → Permutation</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522220"/>
          <a:ext cx="6940296" cy="914400"/>
        </p:xfrm>
        <a:graphic>
          <a:graphicData uri="http://schemas.openxmlformats.org/drawingml/2006/table">
            <a:tbl>
              <a:tblPr/>
              <a:tblGrid>
                <a:gridCol w="502920"/>
                <a:gridCol w="402336"/>
                <a:gridCol w="402336"/>
                <a:gridCol w="402336"/>
                <a:gridCol w="402336"/>
                <a:gridCol w="402336"/>
                <a:gridCol w="402336"/>
                <a:gridCol w="402336"/>
                <a:gridCol w="402336"/>
                <a:gridCol w="402336"/>
                <a:gridCol w="402336"/>
                <a:gridCol w="402336"/>
                <a:gridCol w="402336"/>
                <a:gridCol w="402336"/>
                <a:gridCol w="402336"/>
                <a:gridCol w="402336"/>
                <a:gridCol w="402336"/>
              </a:tblGrid>
              <a:tr h="0">
                <a:tc>
                  <a:txBody>
                    <a:bodyPr/>
                    <a:lstStyle/>
                    <a:p>
                      <a:pPr algn="l" indent="0" marL="0">
                        <a:buNone/>
                      </a:pPr>
                      <a:r>
                        <a:rPr lang="en-US" sz="1400" b="1" dirty="0">
                          <a:solidFill>
                            <a:srgbClr val="1B1B1F"/>
                          </a:solidFill>
                          <a:latin typeface="Calibri" pitchFamily="34" charset="0"/>
                          <a:ea typeface="Calibri" pitchFamily="34" charset="-122"/>
                          <a:cs typeface="Calibri" pitchFamily="34" charset="-120"/>
                        </a:rPr>
                        <a:t>ein</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400" b="1" dirty="0">
                          <a:solidFill>
                            <a:srgbClr val="1B1B1F"/>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400" b="1" dirty="0">
                          <a:solidFill>
                            <a:srgbClr val="1B1B1F"/>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400" b="1" dirty="0">
                          <a:solidFill>
                            <a:srgbClr val="1B1B1F"/>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400" b="1" dirty="0">
                          <a:solidFill>
                            <a:srgbClr val="1B1B1F"/>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400" b="1" dirty="0">
                          <a:solidFill>
                            <a:srgbClr val="1B1B1F"/>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400" b="1" dirty="0">
                          <a:solidFill>
                            <a:srgbClr val="1B1B1F"/>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400" b="1" dirty="0">
                          <a:solidFill>
                            <a:srgbClr val="1B1B1F"/>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400" b="1" dirty="0">
                          <a:solidFill>
                            <a:srgbClr val="1B1B1F"/>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400" b="1" dirty="0">
                          <a:solidFill>
                            <a:srgbClr val="1B1B1F"/>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400" b="1" dirty="0">
                          <a:solidFill>
                            <a:srgbClr val="1B1B1F"/>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400" b="1" dirty="0">
                          <a:solidFill>
                            <a:srgbClr val="1B1B1F"/>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400" b="1" dirty="0">
                          <a:solidFill>
                            <a:srgbClr val="1B1B1F"/>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400" b="1" dirty="0">
                          <a:solidFill>
                            <a:srgbClr val="1B1B1F"/>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400" b="1" dirty="0">
                          <a:solidFill>
                            <a:srgbClr val="1B1B1F"/>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400" b="1" dirty="0">
                          <a:solidFill>
                            <a:srgbClr val="1B1B1F"/>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400" b="1" dirty="0">
                          <a:solidFill>
                            <a:srgbClr val="1B1B1F"/>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400" dirty="0">
                          <a:solidFill>
                            <a:srgbClr val="1B1B1F"/>
                          </a:solidFill>
                          <a:latin typeface="Calibri" pitchFamily="34" charset="0"/>
                          <a:ea typeface="Calibri" pitchFamily="34" charset="-122"/>
                          <a:cs typeface="Calibri" pitchFamily="34" charset="-120"/>
                        </a:rPr>
                        <a:t>aus</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B1F"/>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B1F"/>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B1F"/>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B1F"/>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B1F"/>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B1F"/>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B1F"/>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B1F"/>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B1F"/>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B1F"/>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B1F"/>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B1F"/>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B1F"/>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B1F"/>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B1F"/>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B1F"/>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3266948"/>
            <a:ext cx="7315200" cy="727456"/>
          </a:xfrm>
          <a:prstGeom prst="rect">
            <a:avLst/>
          </a:prstGeom>
          <a:noFill/>
          <a:ln/>
        </p:spPr>
        <p:txBody>
          <a:bodyPr wrap="square" lIns="0" tIns="0" rIns="0" bIns="0" rtlCol="0" anchor="t"/>
          <a:lstStyle/>
          <a:p>
            <a:pPr algn="l" indent="0" marL="0">
              <a:buNone/>
            </a:pPr>
            <a:r>
              <a:rPr lang="en-US" sz="2200" b="1" dirty="0">
                <a:solidFill>
                  <a:srgbClr val="1B1B1F"/>
                </a:solidFill>
              </a:rPr>
              <a:t>S-Box</a:t>
            </a:r>
            <a:r>
              <a:rPr lang="en-US" sz="2200" dirty="0">
                <a:solidFill>
                  <a:srgbClr val="1B1B1F"/>
                </a:solidFill>
              </a:rPr>
              <a:t>: Vierergruppe als Zahl lesen (0111 = 7), nachschlagen (7 → 10), zurück in Bits (1010)</a:t>
            </a:r>
            <a:endParaRPr lang="en-US" sz="2200" dirty="0"/>
          </a:p>
        </p:txBody>
      </p:sp>
      <p:sp>
        <p:nvSpPr>
          <p:cNvPr id="6" name="Text 3"/>
          <p:cNvSpPr txBox="1"/>
          <p:nvPr/>
        </p:nvSpPr>
        <p:spPr>
          <a:xfrm>
            <a:off x="548640" y="4122420"/>
            <a:ext cx="7315200" cy="386588"/>
          </a:xfrm>
          <a:prstGeom prst="rect">
            <a:avLst/>
          </a:prstGeom>
          <a:noFill/>
          <a:ln/>
        </p:spPr>
        <p:txBody>
          <a:bodyPr wrap="square" lIns="0" tIns="0" rIns="0" bIns="0" rtlCol="0" anchor="t"/>
          <a:lstStyle/>
          <a:p>
            <a:pPr algn="l" indent="0" marL="0">
              <a:buNone/>
            </a:pPr>
            <a:r>
              <a:rPr lang="en-US" sz="2200" b="1" dirty="0">
                <a:solidFill>
                  <a:srgbClr val="1B1B1F"/>
                </a:solidFill>
              </a:rPr>
              <a:t>Permutation</a:t>
            </a:r>
            <a:r>
              <a:rPr lang="en-US" sz="2200" dirty="0">
                <a:solidFill>
                  <a:srgbClr val="1B1B1F"/>
                </a:solidFill>
              </a:rPr>
              <a:t>: b1 b2 … b8 → </a:t>
            </a:r>
            <a:r>
              <a:rPr lang="en-US" sz="2200" b="1" dirty="0">
                <a:solidFill>
                  <a:srgbClr val="1B1B1F"/>
                </a:solidFill>
              </a:rPr>
              <a:t>b5 b1 b6 b2 b7 b3 b8 b4</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eA · Runde 1 von Hand: der Block W</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003597" cy="914400"/>
        </p:xfrm>
        <a:graphic>
          <a:graphicData uri="http://schemas.openxmlformats.org/drawingml/2006/table">
            <a:tbl>
              <a:tblPr/>
              <a:tblGrid>
                <a:gridCol w="2207469"/>
                <a:gridCol w="1398064"/>
                <a:gridCol w="1398064"/>
              </a:tblGrid>
              <a:tr h="0">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Schritt</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Bits</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Notiz</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Klartext W</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0101 0111</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ASCII 87</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 K1</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0010 1011</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0111 1100</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7 | 12</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S-Box</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1010 1000</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10 | 8</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Permutation</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1100 0100</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Ende Runde 1</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Runde 2 (⊕ K2, S-Box, P)</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1101 1110</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Geheimtext</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r>
            </a:tbl>
          </a:graphicData>
        </a:graphic>
      </p:graphicFrame>
      <p:sp>
        <p:nvSpPr>
          <p:cNvPr id="4" name="Shape 1"/>
          <p:cNvSpPr/>
          <p:nvPr/>
        </p:nvSpPr>
        <p:spPr>
          <a:xfrm>
            <a:off x="5917997" y="1325880"/>
            <a:ext cx="1945843" cy="3594608"/>
          </a:xfrm>
          <a:prstGeom prst="roundRect">
            <a:avLst>
              <a:gd name="adj" fmla="val 3759"/>
            </a:avLst>
          </a:prstGeom>
          <a:solidFill>
            <a:srgbClr val="EEF3FA"/>
          </a:solidFill>
          <a:ln w="12700">
            <a:solidFill>
              <a:srgbClr val="1F4E8C"/>
            </a:solidFill>
            <a:prstDash val="solid"/>
          </a:ln>
        </p:spPr>
      </p:sp>
      <p:sp>
        <p:nvSpPr>
          <p:cNvPr id="5" name="Text 2"/>
          <p:cNvSpPr txBox="1"/>
          <p:nvPr/>
        </p:nvSpPr>
        <p:spPr>
          <a:xfrm>
            <a:off x="6146597" y="1435608"/>
            <a:ext cx="1488643" cy="274320"/>
          </a:xfrm>
          <a:prstGeom prst="rect">
            <a:avLst/>
          </a:prstGeom>
          <a:noFill/>
          <a:ln/>
        </p:spPr>
        <p:txBody>
          <a:bodyPr wrap="square" lIns="0" tIns="0" rIns="0" bIns="0" rtlCol="0" anchor="ctr"/>
          <a:lstStyle/>
          <a:p>
            <a:pPr indent="0" marL="0">
              <a:buNone/>
            </a:pPr>
            <a:r>
              <a:rPr lang="en-US" sz="1300" b="1" spc="200" kern="0" dirty="0">
                <a:solidFill>
                  <a:srgbClr val="1F4E8C"/>
                </a:solidFill>
              </a:rPr>
              <a:t>PERMUTATION</a:t>
            </a:r>
            <a:endParaRPr lang="en-US" sz="1300" dirty="0"/>
          </a:p>
        </p:txBody>
      </p:sp>
      <p:sp>
        <p:nvSpPr>
          <p:cNvPr id="6" name="Text 3"/>
          <p:cNvSpPr txBox="1"/>
          <p:nvPr/>
        </p:nvSpPr>
        <p:spPr>
          <a:xfrm>
            <a:off x="6146597" y="1783080"/>
            <a:ext cx="1488643" cy="975360"/>
          </a:xfrm>
          <a:prstGeom prst="rect">
            <a:avLst/>
          </a:prstGeom>
          <a:noFill/>
          <a:ln/>
        </p:spPr>
        <p:txBody>
          <a:bodyPr wrap="square" lIns="0" tIns="0" rIns="0" bIns="0" rtlCol="0" anchor="t"/>
          <a:lstStyle/>
          <a:p>
            <a:pPr algn="l" indent="0" marL="0">
              <a:buNone/>
            </a:pPr>
            <a:r>
              <a:rPr lang="en-US" sz="2000" dirty="0">
                <a:solidFill>
                  <a:srgbClr val="1B1B1F"/>
                </a:solidFill>
              </a:rPr>
              <a:t>S-Box-Ausgabe 1 0 1 0 | 1 0 0 0</a:t>
            </a:r>
            <a:endParaRPr lang="en-US" sz="2000" dirty="0"/>
          </a:p>
        </p:txBody>
      </p:sp>
      <p:sp>
        <p:nvSpPr>
          <p:cNvPr id="7" name="Text 4"/>
          <p:cNvSpPr txBox="1"/>
          <p:nvPr/>
        </p:nvSpPr>
        <p:spPr>
          <a:xfrm>
            <a:off x="6146597" y="2886456"/>
            <a:ext cx="1488643" cy="975360"/>
          </a:xfrm>
          <a:prstGeom prst="rect">
            <a:avLst/>
          </a:prstGeom>
          <a:noFill/>
          <a:ln/>
        </p:spPr>
        <p:txBody>
          <a:bodyPr wrap="square" lIns="0" tIns="0" rIns="0" bIns="0" rtlCol="0" anchor="t"/>
          <a:lstStyle/>
          <a:p>
            <a:pPr algn="l" indent="0" marL="0">
              <a:buNone/>
            </a:pPr>
            <a:r>
              <a:rPr lang="en-US" sz="2000" dirty="0">
                <a:solidFill>
                  <a:srgbClr val="1B1B1F"/>
                </a:solidFill>
              </a:rPr>
              <a:t>b5 b1 b6 b2 | b7 b3 b8 b4</a:t>
            </a:r>
            <a:endParaRPr lang="en-US" sz="2000" dirty="0"/>
          </a:p>
        </p:txBody>
      </p:sp>
      <p:sp>
        <p:nvSpPr>
          <p:cNvPr id="8" name="Text 5"/>
          <p:cNvSpPr txBox="1"/>
          <p:nvPr/>
        </p:nvSpPr>
        <p:spPr>
          <a:xfrm>
            <a:off x="6146597" y="3989832"/>
            <a:ext cx="1488643" cy="665480"/>
          </a:xfrm>
          <a:prstGeom prst="rect">
            <a:avLst/>
          </a:prstGeom>
          <a:noFill/>
          <a:ln/>
        </p:spPr>
        <p:txBody>
          <a:bodyPr wrap="square" lIns="0" tIns="0" rIns="0" bIns="0" rtlCol="0" anchor="t"/>
          <a:lstStyle/>
          <a:p>
            <a:pPr algn="l" indent="0" marL="0">
              <a:buNone/>
            </a:pPr>
            <a:r>
              <a:rPr lang="en-US" sz="2000" dirty="0">
                <a:solidFill>
                  <a:srgbClr val="1B1B1F"/>
                </a:solidFill>
              </a:rPr>
              <a:t>= 1 1 0 0 | 0 1 0 0</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eA · Lawineneffekt: ein Bit kippt</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003597" cy="914400"/>
        </p:xfrm>
        <a:graphic>
          <a:graphicData uri="http://schemas.openxmlformats.org/drawingml/2006/table">
            <a:tbl>
              <a:tblPr/>
              <a:tblGrid>
                <a:gridCol w="1370848"/>
                <a:gridCol w="1165221"/>
                <a:gridCol w="1165221"/>
                <a:gridCol w="1302306"/>
              </a:tblGrid>
              <a:tr h="0">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W</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V</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verschiedene Bits</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Klartext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0101 0111</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0101 0110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nach Runde 1</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1100 0100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0110 0110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nach Runde 2</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1101 1110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1010 1000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r>
            </a:tbl>
          </a:graphicData>
        </a:graphic>
      </p:graphicFrame>
      <p:sp>
        <p:nvSpPr>
          <p:cNvPr id="4" name="Shape 1"/>
          <p:cNvSpPr/>
          <p:nvPr/>
        </p:nvSpPr>
        <p:spPr>
          <a:xfrm>
            <a:off x="5917997" y="1325880"/>
            <a:ext cx="1945843" cy="4288536"/>
          </a:xfrm>
          <a:prstGeom prst="roundRect">
            <a:avLst>
              <a:gd name="adj" fmla="val 3759"/>
            </a:avLst>
          </a:prstGeom>
          <a:solidFill>
            <a:srgbClr val="EEF6EE"/>
          </a:solidFill>
          <a:ln w="12700">
            <a:solidFill>
              <a:srgbClr val="2E7D32"/>
            </a:solidFill>
            <a:prstDash val="solid"/>
          </a:ln>
        </p:spPr>
      </p:sp>
      <p:sp>
        <p:nvSpPr>
          <p:cNvPr id="5" name="Text 2"/>
          <p:cNvSpPr txBox="1"/>
          <p:nvPr/>
        </p:nvSpPr>
        <p:spPr>
          <a:xfrm>
            <a:off x="6146597" y="1435608"/>
            <a:ext cx="1488643" cy="274320"/>
          </a:xfrm>
          <a:prstGeom prst="rect">
            <a:avLst/>
          </a:prstGeom>
          <a:noFill/>
          <a:ln/>
        </p:spPr>
        <p:txBody>
          <a:bodyPr wrap="square" lIns="0" tIns="0" rIns="0" bIns="0" rtlCol="0" anchor="ctr"/>
          <a:lstStyle/>
          <a:p>
            <a:pPr indent="0" marL="0">
              <a:buNone/>
            </a:pPr>
            <a:r>
              <a:rPr lang="en-US" sz="1300" b="1" spc="200" kern="0" dirty="0">
                <a:solidFill>
                  <a:srgbClr val="2E7D32"/>
                </a:solidFill>
              </a:rPr>
              <a:t>DIFFUSION</a:t>
            </a:r>
            <a:endParaRPr lang="en-US" sz="1300" dirty="0"/>
          </a:p>
        </p:txBody>
      </p:sp>
      <p:sp>
        <p:nvSpPr>
          <p:cNvPr id="6" name="Text 3"/>
          <p:cNvSpPr txBox="1"/>
          <p:nvPr/>
        </p:nvSpPr>
        <p:spPr>
          <a:xfrm>
            <a:off x="6146597" y="1783080"/>
            <a:ext cx="1488643" cy="1440180"/>
          </a:xfrm>
          <a:prstGeom prst="rect">
            <a:avLst/>
          </a:prstGeom>
          <a:noFill/>
          <a:ln/>
        </p:spPr>
        <p:txBody>
          <a:bodyPr wrap="square" lIns="0" tIns="0" rIns="0" bIns="0" rtlCol="0" anchor="t"/>
          <a:lstStyle/>
          <a:p>
            <a:pPr algn="l" indent="0" marL="0">
              <a:buNone/>
            </a:pPr>
            <a:r>
              <a:rPr lang="en-US" sz="1800" dirty="0">
                <a:solidFill>
                  <a:srgbClr val="1B1B1F"/>
                </a:solidFill>
              </a:rPr>
              <a:t>Ein Bit Unterschied verteilt sich über den ganzen Block.</a:t>
            </a:r>
            <a:endParaRPr lang="en-US" sz="1800" dirty="0"/>
          </a:p>
        </p:txBody>
      </p:sp>
      <p:sp>
        <p:nvSpPr>
          <p:cNvPr id="7" name="Text 4"/>
          <p:cNvSpPr txBox="1"/>
          <p:nvPr/>
        </p:nvSpPr>
        <p:spPr>
          <a:xfrm>
            <a:off x="6146597" y="3351276"/>
            <a:ext cx="1488643" cy="1997964"/>
          </a:xfrm>
          <a:prstGeom prst="rect">
            <a:avLst/>
          </a:prstGeom>
          <a:noFill/>
          <a:ln/>
        </p:spPr>
        <p:txBody>
          <a:bodyPr wrap="square" lIns="0" tIns="0" rIns="0" bIns="0" rtlCol="0" anchor="t"/>
          <a:lstStyle/>
          <a:p>
            <a:pPr algn="l" indent="0" marL="0">
              <a:buNone/>
            </a:pPr>
            <a:r>
              <a:rPr lang="en-US" sz="1800" dirty="0">
                <a:solidFill>
                  <a:srgbClr val="1B1B1F"/>
                </a:solidFill>
              </a:rPr>
              <a:t>WIRBEL-8 im Mittel: 2,6 Bit nach 1 Runde, 4,5 Bit nach 2 Runden (ideal: etwa die Hälfte)</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eA · So begründest du Diffusion</a:t>
            </a:r>
            <a:endParaRPr lang="en-US" sz="3000" dirty="0"/>
          </a:p>
        </p:txBody>
      </p:sp>
      <p:sp>
        <p:nvSpPr>
          <p:cNvPr id="3" name="Text 1"/>
          <p:cNvSpPr txBox="1"/>
          <p:nvPr/>
        </p:nvSpPr>
        <p:spPr>
          <a:xfrm>
            <a:off x="548640" y="1325880"/>
            <a:ext cx="4308653" cy="4197096"/>
          </a:xfrm>
          <a:prstGeom prst="rect">
            <a:avLst/>
          </a:prstGeom>
          <a:noFill/>
          <a:ln/>
        </p:spPr>
        <p:txBody>
          <a:bodyPr wrap="square" lIns="0" tIns="0" rIns="0" bIns="0" rtlCol="0" anchor="t"/>
          <a:lstStyle/>
          <a:p>
            <a:pPr marL="279400" indent="-279400">
              <a:spcAft>
                <a:spcPts val="600"/>
              </a:spcAft>
              <a:buSzPct val="100000"/>
              <a:buChar char="●"/>
            </a:pPr>
            <a:r>
              <a:rPr lang="en-US" sz="1800" dirty="0">
                <a:solidFill>
                  <a:srgbClr val="1B1B1F"/>
                </a:solidFill>
              </a:rPr>
              <a:t>„</a:t>
            </a:r>
            <a:r>
              <a:rPr lang="en-US" sz="1800" b="1" dirty="0">
                <a:solidFill>
                  <a:srgbClr val="1B1B1F"/>
                </a:solidFill>
              </a:rPr>
              <a:t>Begründen Sie</a:t>
            </a:r>
            <a:r>
              <a:rPr lang="en-US" sz="1800" dirty="0">
                <a:solidFill>
                  <a:srgbClr val="1B1B1F"/>
                </a:solidFill>
              </a:rPr>
              <a:t>, ob das Verfahren Diffusion erfüllt.“</a:t>
            </a:r>
            <a:endParaRPr lang="en-US" sz="1800" dirty="0"/>
          </a:p>
          <a:p>
            <a:pPr marL="279400" indent="-279400">
              <a:spcAft>
                <a:spcPts val="600"/>
              </a:spcAft>
              <a:buSzPct val="100000"/>
              <a:buChar char="●"/>
            </a:pPr>
            <a:r>
              <a:rPr lang="en-US" sz="1800" dirty="0">
                <a:solidFill>
                  <a:srgbClr val="1B1B1F"/>
                </a:solidFill>
              </a:rPr>
              <a:t>✓ Mit Permutation: „Ein gekipptes Klartextbit ändert nach der S-Box mehrere Bits seiner Vierergruppe. </a:t>
            </a:r>
            <a:r>
              <a:rPr lang="en-US" sz="1800" b="1" dirty="0">
                <a:solidFill>
                  <a:srgbClr val="1B1B1F"/>
                </a:solidFill>
              </a:rPr>
              <a:t>Weil</a:t>
            </a:r>
            <a:r>
              <a:rPr lang="en-US" sz="1800" dirty="0">
                <a:solidFill>
                  <a:srgbClr val="1B1B1F"/>
                </a:solidFill>
              </a:rPr>
              <a:t> die Permutation diese Bits auf </a:t>
            </a:r>
            <a:r>
              <a:rPr lang="en-US" sz="1800" b="1" dirty="0">
                <a:solidFill>
                  <a:srgbClr val="1B1B1F"/>
                </a:solidFill>
              </a:rPr>
              <a:t>beide</a:t>
            </a:r>
            <a:r>
              <a:rPr lang="en-US" sz="1800" dirty="0">
                <a:solidFill>
                  <a:srgbClr val="1B1B1F"/>
                </a:solidFill>
              </a:rPr>
              <a:t> Hälften verteilt, gelangen sie in Runde 2 in </a:t>
            </a:r>
            <a:r>
              <a:rPr lang="en-US" sz="1800" b="1" dirty="0">
                <a:solidFill>
                  <a:srgbClr val="1B1B1F"/>
                </a:solidFill>
              </a:rPr>
              <a:t>beide</a:t>
            </a:r>
            <a:r>
              <a:rPr lang="en-US" sz="1800" dirty="0">
                <a:solidFill>
                  <a:srgbClr val="1B1B1F"/>
                </a:solidFill>
              </a:rPr>
              <a:t> S-Boxen. </a:t>
            </a:r>
            <a:r>
              <a:rPr lang="en-US" sz="1800" b="1" dirty="0">
                <a:solidFill>
                  <a:srgbClr val="1B1B1F"/>
                </a:solidFill>
              </a:rPr>
              <a:t>Deshalb</a:t>
            </a:r>
            <a:r>
              <a:rPr lang="en-US" sz="1800" dirty="0">
                <a:solidFill>
                  <a:srgbClr val="1B1B1F"/>
                </a:solidFill>
              </a:rPr>
              <a:t> hängt am Ende fast jedes Geheimtextbit von jedem Klartextbit ab.“</a:t>
            </a:r>
            <a:endParaRPr lang="en-US" sz="1800" dirty="0"/>
          </a:p>
          <a:p>
            <a:pPr marL="279400" indent="-279400">
              <a:spcAft>
                <a:spcPts val="600"/>
              </a:spcAft>
              <a:buSzPct val="100000"/>
              <a:buChar char="●"/>
            </a:pPr>
            <a:r>
              <a:rPr lang="en-US" sz="1800" dirty="0">
                <a:solidFill>
                  <a:srgbClr val="1B1B1F"/>
                </a:solidFill>
              </a:rPr>
              <a:t>✗ Ohne Permutation: Eine Änderung links bleibt </a:t>
            </a:r>
            <a:r>
              <a:rPr lang="en-US" sz="1800" b="1" dirty="0">
                <a:solidFill>
                  <a:srgbClr val="1B1B1F"/>
                </a:solidFill>
              </a:rPr>
              <a:t>immer links</a:t>
            </a:r>
            <a:r>
              <a:rPr lang="en-US" sz="1800" dirty="0">
                <a:solidFill>
                  <a:srgbClr val="1B1B1F"/>
                </a:solidFill>
              </a:rPr>
              <a:t> – Diffusion nicht erfüllt.</a:t>
            </a:r>
            <a:endParaRPr lang="en-US" sz="1800" dirty="0"/>
          </a:p>
        </p:txBody>
      </p:sp>
      <p:sp>
        <p:nvSpPr>
          <p:cNvPr id="4" name="Shape 2"/>
          <p:cNvSpPr/>
          <p:nvPr/>
        </p:nvSpPr>
        <p:spPr>
          <a:xfrm>
            <a:off x="5223053" y="1325880"/>
            <a:ext cx="2640787" cy="1859280"/>
          </a:xfrm>
          <a:prstGeom prst="roundRect">
            <a:avLst>
              <a:gd name="adj" fmla="val 3934"/>
            </a:avLst>
          </a:prstGeom>
          <a:solidFill>
            <a:srgbClr val="FBF3E2"/>
          </a:solidFill>
          <a:ln w="12700">
            <a:solidFill>
              <a:srgbClr val="8A5F1A"/>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MUSTER</a:t>
            </a:r>
            <a:endParaRPr lang="en-US" sz="1300" dirty="0"/>
          </a:p>
        </p:txBody>
      </p:sp>
      <p:sp>
        <p:nvSpPr>
          <p:cNvPr id="6" name="Text 4"/>
          <p:cNvSpPr txBox="1"/>
          <p:nvPr/>
        </p:nvSpPr>
        <p:spPr>
          <a:xfrm>
            <a:off x="5451653" y="1783080"/>
            <a:ext cx="2183587" cy="293624"/>
          </a:xfrm>
          <a:prstGeom prst="rect">
            <a:avLst/>
          </a:prstGeom>
          <a:noFill/>
          <a:ln/>
        </p:spPr>
        <p:txBody>
          <a:bodyPr wrap="square" lIns="0" tIns="0" rIns="0" bIns="0" rtlCol="0" anchor="t"/>
          <a:lstStyle/>
          <a:p>
            <a:pPr algn="l" indent="0" marL="0">
              <a:buNone/>
            </a:pPr>
            <a:r>
              <a:rPr lang="en-US" sz="1600" dirty="0">
                <a:solidFill>
                  <a:srgbClr val="1B1B1F"/>
                </a:solidFill>
              </a:rPr>
              <a:t>Beobachtung</a:t>
            </a:r>
            <a:endParaRPr lang="en-US" sz="1600" dirty="0"/>
          </a:p>
        </p:txBody>
      </p:sp>
      <p:sp>
        <p:nvSpPr>
          <p:cNvPr id="7" name="Text 5"/>
          <p:cNvSpPr txBox="1"/>
          <p:nvPr/>
        </p:nvSpPr>
        <p:spPr>
          <a:xfrm>
            <a:off x="5451653" y="2204720"/>
            <a:ext cx="2183587" cy="293624"/>
          </a:xfrm>
          <a:prstGeom prst="rect">
            <a:avLst/>
          </a:prstGeom>
          <a:noFill/>
          <a:ln/>
        </p:spPr>
        <p:txBody>
          <a:bodyPr wrap="square" lIns="0" tIns="0" rIns="0" bIns="0" rtlCol="0" anchor="t"/>
          <a:lstStyle/>
          <a:p>
            <a:pPr algn="l" indent="0" marL="0">
              <a:buNone/>
            </a:pPr>
            <a:r>
              <a:rPr lang="en-US" sz="1600" b="1" dirty="0">
                <a:solidFill>
                  <a:srgbClr val="1B1B1F"/>
                </a:solidFill>
              </a:rPr>
              <a:t>weil</a:t>
            </a:r>
            <a:r>
              <a:rPr lang="en-US" sz="1600" dirty="0">
                <a:solidFill>
                  <a:srgbClr val="1B1B1F"/>
                </a:solidFill>
              </a:rPr>
              <a:t> Baustein …</a:t>
            </a:r>
            <a:endParaRPr lang="en-US" sz="1600" dirty="0"/>
          </a:p>
        </p:txBody>
      </p:sp>
      <p:sp>
        <p:nvSpPr>
          <p:cNvPr id="8" name="Text 6"/>
          <p:cNvSpPr txBox="1"/>
          <p:nvPr/>
        </p:nvSpPr>
        <p:spPr>
          <a:xfrm>
            <a:off x="5451653" y="2626360"/>
            <a:ext cx="2183587" cy="293624"/>
          </a:xfrm>
          <a:prstGeom prst="rect">
            <a:avLst/>
          </a:prstGeom>
          <a:noFill/>
          <a:ln/>
        </p:spPr>
        <p:txBody>
          <a:bodyPr wrap="square" lIns="0" tIns="0" rIns="0" bIns="0" rtlCol="0" anchor="t"/>
          <a:lstStyle/>
          <a:p>
            <a:pPr algn="l" indent="0" marL="0">
              <a:buNone/>
            </a:pPr>
            <a:r>
              <a:rPr lang="en-US" sz="1600" b="1" dirty="0">
                <a:solidFill>
                  <a:srgbClr val="1B1B1F"/>
                </a:solidFill>
              </a:rPr>
              <a:t>deshalb</a:t>
            </a:r>
            <a:r>
              <a:rPr lang="en-US" sz="1600" dirty="0">
                <a:solidFill>
                  <a:srgbClr val="1B1B1F"/>
                </a:solidFill>
              </a:rPr>
              <a:t> Eigenschaft</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eA · Lange Texte: ECB oder CBC?</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583680" cy="914400"/>
        </p:xfrm>
        <a:graphic>
          <a:graphicData uri="http://schemas.openxmlformats.org/drawingml/2006/table">
            <a:tbl>
              <a:tblPr/>
              <a:tblGrid>
                <a:gridCol w="2194560"/>
                <a:gridCol w="1463040"/>
                <a:gridCol w="1463040"/>
                <a:gridCol w="1463040"/>
              </a:tblGrid>
              <a:tr h="0">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O</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H</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O</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Klartext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0100 1111</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0100 1000</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0100 1111</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ECB</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1101 0101</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0010 1110</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1101 0101</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CBC (IV 1010 0101)</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1010 0000</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0111 1011</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0001 1110</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2811272"/>
            <a:ext cx="7315200" cy="727456"/>
          </a:xfrm>
          <a:prstGeom prst="rect">
            <a:avLst/>
          </a:prstGeom>
          <a:noFill/>
          <a:ln/>
        </p:spPr>
        <p:txBody>
          <a:bodyPr wrap="square" lIns="0" tIns="0" rIns="0" bIns="0" rtlCol="0" anchor="t"/>
          <a:lstStyle/>
          <a:p>
            <a:pPr algn="l" indent="0" marL="0">
              <a:buNone/>
            </a:pPr>
            <a:r>
              <a:rPr lang="en-US" sz="2200" b="1" dirty="0">
                <a:solidFill>
                  <a:srgbClr val="1B1B1F"/>
                </a:solidFill>
              </a:rPr>
              <a:t>ECB</a:t>
            </a:r>
            <a:r>
              <a:rPr lang="en-US" sz="2200" dirty="0">
                <a:solidFill>
                  <a:srgbClr val="1B1B1F"/>
                </a:solidFill>
              </a:rPr>
              <a:t>: jeder Block einzeln → gleiche Blöcke, gleicher Geheimtext</a:t>
            </a:r>
            <a:endParaRPr lang="en-US" sz="2200" dirty="0"/>
          </a:p>
        </p:txBody>
      </p:sp>
      <p:sp>
        <p:nvSpPr>
          <p:cNvPr id="5" name="Text 2"/>
          <p:cNvSpPr txBox="1"/>
          <p:nvPr/>
        </p:nvSpPr>
        <p:spPr>
          <a:xfrm>
            <a:off x="548640" y="3666744"/>
            <a:ext cx="7315200" cy="727456"/>
          </a:xfrm>
          <a:prstGeom prst="rect">
            <a:avLst/>
          </a:prstGeom>
          <a:noFill/>
          <a:ln/>
        </p:spPr>
        <p:txBody>
          <a:bodyPr wrap="square" lIns="0" tIns="0" rIns="0" bIns="0" rtlCol="0" anchor="t"/>
          <a:lstStyle/>
          <a:p>
            <a:pPr algn="l" indent="0" marL="0">
              <a:buNone/>
            </a:pPr>
            <a:r>
              <a:rPr lang="en-US" sz="2200" b="1" dirty="0">
                <a:solidFill>
                  <a:srgbClr val="1B1B1F"/>
                </a:solidFill>
              </a:rPr>
              <a:t>CBC</a:t>
            </a:r>
            <a:r>
              <a:rPr lang="en-US" sz="2200" dirty="0">
                <a:solidFill>
                  <a:srgbClr val="1B1B1F"/>
                </a:solidFill>
              </a:rPr>
              <a:t>: Block vorher ⊕ vorheriger Geheimtextblock (erster: ⊕ Startwert IV)</a:t>
            </a:r>
            <a:endParaRPr lang="en-US" sz="2200" dirty="0"/>
          </a:p>
        </p:txBody>
      </p:sp>
      <p:sp>
        <p:nvSpPr>
          <p:cNvPr id="6" name="Text 3"/>
          <p:cNvSpPr txBox="1"/>
          <p:nvPr/>
        </p:nvSpPr>
        <p:spPr>
          <a:xfrm>
            <a:off x="548640" y="4522216"/>
            <a:ext cx="7315200" cy="727456"/>
          </a:xfrm>
          <a:prstGeom prst="rect">
            <a:avLst/>
          </a:prstGeom>
          <a:noFill/>
          <a:ln/>
        </p:spPr>
        <p:txBody>
          <a:bodyPr wrap="square" lIns="0" tIns="0" rIns="0" bIns="0" rtlCol="0" anchor="t"/>
          <a:lstStyle/>
          <a:p>
            <a:pPr algn="l" indent="0" marL="0">
              <a:buNone/>
            </a:pPr>
            <a:r>
              <a:rPr lang="en-US" sz="2200" dirty="0">
                <a:solidFill>
                  <a:srgbClr val="1B1B1F"/>
                </a:solidFill>
              </a:rPr>
              <a:t>Bitfehler im Geheimtext: ECB → 1 Block kaputt · CBC → dieser Block + 1 Bit im nächsten</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Typische Fehler – und wie du sie vermeidest</a:t>
            </a:r>
            <a:endParaRPr lang="en-US" sz="3000" dirty="0"/>
          </a:p>
        </p:txBody>
      </p:sp>
      <p:sp>
        <p:nvSpPr>
          <p:cNvPr id="3" name="Text 1"/>
          <p:cNvSpPr txBox="1"/>
          <p:nvPr/>
        </p:nvSpPr>
        <p:spPr>
          <a:xfrm>
            <a:off x="548640" y="1325880"/>
            <a:ext cx="4308653" cy="3803904"/>
          </a:xfrm>
          <a:prstGeom prst="rect">
            <a:avLst/>
          </a:prstGeom>
          <a:noFill/>
          <a:ln/>
        </p:spPr>
        <p:txBody>
          <a:bodyPr wrap="square" lIns="0" tIns="0" rIns="0" bIns="0" rtlCol="0" anchor="t"/>
          <a:lstStyle/>
          <a:p>
            <a:pPr marL="279400" indent="-279400">
              <a:spcAft>
                <a:spcPts val="600"/>
              </a:spcAft>
              <a:buSzPct val="100000"/>
              <a:buChar char="●"/>
            </a:pPr>
            <a:r>
              <a:rPr lang="en-US" sz="1800" b="1" dirty="0">
                <a:solidFill>
                  <a:srgbClr val="1B1B1F"/>
                </a:solidFill>
              </a:rPr>
              <a:t>P1</a:t>
            </a:r>
            <a:r>
              <a:rPr lang="en-US" sz="1800" dirty="0">
                <a:solidFill>
                  <a:srgbClr val="1B1B1F"/>
                </a:solidFill>
              </a:rPr>
              <a:t> ASCII (A = 65) mit Alphabet-Nummer (A = 1) verwechselt</a:t>
            </a:r>
            <a:endParaRPr lang="en-US" sz="1800" dirty="0"/>
          </a:p>
          <a:p>
            <a:pPr marL="279400" indent="-279400">
              <a:spcAft>
                <a:spcPts val="600"/>
              </a:spcAft>
              <a:buSzPct val="100000"/>
              <a:buChar char="●"/>
            </a:pPr>
            <a:r>
              <a:rPr lang="en-US" sz="1800" b="1" dirty="0">
                <a:solidFill>
                  <a:srgbClr val="1B1B1F"/>
                </a:solidFill>
              </a:rPr>
              <a:t>P3</a:t>
            </a:r>
            <a:r>
              <a:rPr lang="en-US" sz="1800" dirty="0">
                <a:solidFill>
                  <a:srgbClr val="1B1B1F"/>
                </a:solidFill>
              </a:rPr>
              <a:t> Entschlüsseln: Runden </a:t>
            </a:r>
            <a:r>
              <a:rPr lang="en-US" sz="1800" b="1" dirty="0">
                <a:solidFill>
                  <a:srgbClr val="1B1B1F"/>
                </a:solidFill>
              </a:rPr>
              <a:t>rückwärts</a:t>
            </a:r>
            <a:r>
              <a:rPr lang="en-US" sz="1800" dirty="0">
                <a:solidFill>
                  <a:srgbClr val="1B1B1F"/>
                </a:solidFill>
              </a:rPr>
              <a:t> – Permutation zurück, S-Box rückwärts, dann ⊕ – erst K2, dann K1</a:t>
            </a:r>
            <a:endParaRPr lang="en-US" sz="1800" dirty="0"/>
          </a:p>
          <a:p>
            <a:pPr marL="279400" indent="-279400">
              <a:spcAft>
                <a:spcPts val="600"/>
              </a:spcAft>
              <a:buSzPct val="100000"/>
              <a:buChar char="●"/>
            </a:pPr>
            <a:r>
              <a:rPr lang="en-US" sz="1800" b="1" dirty="0">
                <a:solidFill>
                  <a:srgbClr val="1B1B1F"/>
                </a:solidFill>
              </a:rPr>
              <a:t>P5</a:t>
            </a:r>
            <a:r>
              <a:rPr lang="en-US" sz="1800" dirty="0">
                <a:solidFill>
                  <a:srgbClr val="1B1B1F"/>
                </a:solidFill>
              </a:rPr>
              <a:t> ⊕ und S-Box sind </a:t>
            </a:r>
            <a:r>
              <a:rPr lang="en-US" sz="1800" b="1" dirty="0">
                <a:solidFill>
                  <a:srgbClr val="1B1B1F"/>
                </a:solidFill>
              </a:rPr>
              <a:t>Substitution</a:t>
            </a:r>
            <a:r>
              <a:rPr lang="en-US" sz="1800" dirty="0">
                <a:solidFill>
                  <a:srgbClr val="1B1B1F"/>
                </a:solidFill>
              </a:rPr>
              <a:t>, die Permutation ist </a:t>
            </a:r>
            <a:r>
              <a:rPr lang="en-US" sz="1800" b="1" dirty="0">
                <a:solidFill>
                  <a:srgbClr val="1B1B1F"/>
                </a:solidFill>
              </a:rPr>
              <a:t>Transposition</a:t>
            </a:r>
            <a:endParaRPr lang="en-US" sz="1800" dirty="0"/>
          </a:p>
          <a:p>
            <a:pPr marL="279400" indent="-279400">
              <a:spcAft>
                <a:spcPts val="600"/>
              </a:spcAft>
              <a:buSzPct val="100000"/>
              <a:buChar char="●"/>
            </a:pPr>
            <a:r>
              <a:rPr lang="en-US" sz="1800" b="1" dirty="0">
                <a:solidFill>
                  <a:srgbClr val="1B1B1F"/>
                </a:solidFill>
              </a:rPr>
              <a:t>P7</a:t>
            </a:r>
            <a:r>
              <a:rPr lang="en-US" sz="1800" dirty="0">
                <a:solidFill>
                  <a:srgbClr val="1B1B1F"/>
                </a:solidFill>
              </a:rPr>
              <a:t> Schlüssel </a:t>
            </a:r>
            <a:r>
              <a:rPr lang="en-US" sz="1800" dirty="0">
                <a:solidFill>
                  <a:srgbClr val="1B1B1F"/>
                </a:solidFill>
                <a:latin typeface="Consolas" pitchFamily="34" charset="0"/>
                <a:ea typeface="Consolas" pitchFamily="34" charset="-122"/>
                <a:cs typeface="Consolas" pitchFamily="34" charset="-120"/>
              </a:rPr>
              <a:t>0000 0000</a:t>
            </a:r>
            <a:r>
              <a:rPr lang="en-US" sz="1800" dirty="0">
                <a:solidFill>
                  <a:srgbClr val="1B1B1F"/>
                </a:solidFill>
              </a:rPr>
              <a:t> ist schwach: ⊕ ändert nichts</a:t>
            </a:r>
            <a:endParaRPr lang="en-US" sz="1800" dirty="0"/>
          </a:p>
          <a:p>
            <a:pPr marL="279400" indent="-279400">
              <a:spcAft>
                <a:spcPts val="600"/>
              </a:spcAft>
              <a:buSzPct val="100000"/>
              <a:buChar char="●"/>
            </a:pPr>
            <a:r>
              <a:rPr lang="en-US" sz="1800" b="1" dirty="0">
                <a:solidFill>
                  <a:srgbClr val="1B1B1F"/>
                </a:solidFill>
              </a:rPr>
              <a:t>P8</a:t>
            </a:r>
            <a:r>
              <a:rPr lang="en-US" sz="1800" dirty="0">
                <a:solidFill>
                  <a:srgbClr val="1B1B1F"/>
                </a:solidFill>
              </a:rPr>
              <a:t> Zweimal ⊕ mit demselben Schlüssel ist nicht „doppelt sicher“ – es ist wieder der Klartext</a:t>
            </a:r>
            <a:endParaRPr lang="en-US" sz="1800" dirty="0"/>
          </a:p>
        </p:txBody>
      </p:sp>
      <p:sp>
        <p:nvSpPr>
          <p:cNvPr id="4" name="Shape 2"/>
          <p:cNvSpPr/>
          <p:nvPr/>
        </p:nvSpPr>
        <p:spPr>
          <a:xfrm>
            <a:off x="5223053" y="1325880"/>
            <a:ext cx="2640787" cy="2602992"/>
          </a:xfrm>
          <a:prstGeom prst="roundRect">
            <a:avLst>
              <a:gd name="adj" fmla="val 2810"/>
            </a:avLst>
          </a:prstGeom>
          <a:solidFill>
            <a:srgbClr val="FDF3F2"/>
          </a:solidFill>
          <a:ln w="12700">
            <a:solidFill>
              <a:srgbClr val="B3261E"/>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B3261E"/>
                </a:solidFill>
              </a:rPr>
              <a:t>ABI-CHECK</a:t>
            </a:r>
            <a:endParaRPr lang="en-US" sz="1300" dirty="0"/>
          </a:p>
        </p:txBody>
      </p:sp>
      <p:sp>
        <p:nvSpPr>
          <p:cNvPr id="6" name="Text 4"/>
          <p:cNvSpPr txBox="1"/>
          <p:nvPr/>
        </p:nvSpPr>
        <p:spPr>
          <a:xfrm>
            <a:off x="5451653" y="1783080"/>
            <a:ext cx="2183587" cy="541528"/>
          </a:xfrm>
          <a:prstGeom prst="rect">
            <a:avLst/>
          </a:prstGeom>
          <a:noFill/>
          <a:ln/>
        </p:spPr>
        <p:txBody>
          <a:bodyPr wrap="square" lIns="0" tIns="0" rIns="0" bIns="0" rtlCol="0" anchor="t"/>
          <a:lstStyle/>
          <a:p>
            <a:pPr algn="l" indent="0" marL="0">
              <a:buNone/>
            </a:pPr>
            <a:r>
              <a:rPr lang="en-US" sz="1600" dirty="0">
                <a:solidFill>
                  <a:srgbClr val="1B1B1F"/>
                </a:solidFill>
              </a:rPr>
              <a:t>Bits in Vierergruppen?</a:t>
            </a:r>
            <a:endParaRPr lang="en-US" sz="1600" dirty="0"/>
          </a:p>
        </p:txBody>
      </p:sp>
      <p:sp>
        <p:nvSpPr>
          <p:cNvPr id="7" name="Text 5"/>
          <p:cNvSpPr txBox="1"/>
          <p:nvPr/>
        </p:nvSpPr>
        <p:spPr>
          <a:xfrm>
            <a:off x="5451653" y="2452624"/>
            <a:ext cx="2183587" cy="541528"/>
          </a:xfrm>
          <a:prstGeom prst="rect">
            <a:avLst/>
          </a:prstGeom>
          <a:noFill/>
          <a:ln/>
        </p:spPr>
        <p:txBody>
          <a:bodyPr wrap="square" lIns="0" tIns="0" rIns="0" bIns="0" rtlCol="0" anchor="t"/>
          <a:lstStyle/>
          <a:p>
            <a:pPr algn="l" indent="0" marL="0">
              <a:buNone/>
            </a:pPr>
            <a:r>
              <a:rPr lang="en-US" sz="1600" dirty="0">
                <a:solidFill>
                  <a:srgbClr val="1B1B1F"/>
                </a:solidFill>
              </a:rPr>
              <a:t>Reihenfolge der Schritte?</a:t>
            </a:r>
            <a:endParaRPr lang="en-US" sz="1600" dirty="0"/>
          </a:p>
        </p:txBody>
      </p:sp>
      <p:sp>
        <p:nvSpPr>
          <p:cNvPr id="8" name="Text 6"/>
          <p:cNvSpPr txBox="1"/>
          <p:nvPr/>
        </p:nvSpPr>
        <p:spPr>
          <a:xfrm>
            <a:off x="5451653" y="3122168"/>
            <a:ext cx="2183587" cy="541528"/>
          </a:xfrm>
          <a:prstGeom prst="rect">
            <a:avLst/>
          </a:prstGeom>
          <a:noFill/>
          <a:ln/>
        </p:spPr>
        <p:txBody>
          <a:bodyPr wrap="square" lIns="0" tIns="0" rIns="0" bIns="0" rtlCol="0" anchor="t"/>
          <a:lstStyle/>
          <a:p>
            <a:pPr algn="l" indent="0" marL="0">
              <a:buNone/>
            </a:pPr>
            <a:r>
              <a:rPr lang="en-US" sz="1600" dirty="0">
                <a:solidFill>
                  <a:srgbClr val="1B1B1F"/>
                </a:solidFill>
              </a:rPr>
              <a:t>Jede Stufe eingeordnet?</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nimmst du mit</a:t>
            </a:r>
            <a:endParaRPr lang="en-US" sz="3000" dirty="0"/>
          </a:p>
        </p:txBody>
      </p:sp>
      <p:sp>
        <p:nvSpPr>
          <p:cNvPr id="3" name="Merke-Kasten"/>
          <p:cNvSpPr/>
          <p:nvPr/>
        </p:nvSpPr>
        <p:spPr>
          <a:xfrm>
            <a:off x="1097280" y="1508760"/>
            <a:ext cx="6217920" cy="4663440"/>
          </a:xfrm>
          <a:prstGeom prst="roundRect">
            <a:avLst>
              <a:gd name="adj" fmla="val 1961"/>
            </a:avLst>
          </a:prstGeom>
          <a:solidFill>
            <a:srgbClr val="FBF3E2"/>
          </a:solidFill>
          <a:ln w="19050">
            <a:solidFill>
              <a:srgbClr val="B07D2B"/>
            </a:solidFill>
            <a:prstDash val="solid"/>
          </a:ln>
        </p:spPr>
      </p:sp>
      <p:sp>
        <p:nvSpPr>
          <p:cNvPr id="4" name="Text 2"/>
          <p:cNvSpPr txBox="1"/>
          <p:nvPr/>
        </p:nvSpPr>
        <p:spPr>
          <a:xfrm>
            <a:off x="1508760" y="1737360"/>
            <a:ext cx="3657600" cy="411480"/>
          </a:xfrm>
          <a:prstGeom prst="rect">
            <a:avLst/>
          </a:prstGeom>
          <a:noFill/>
          <a:ln/>
        </p:spPr>
        <p:txBody>
          <a:bodyPr wrap="square" lIns="0" tIns="0" rIns="0" bIns="0" rtlCol="0" anchor="ctr"/>
          <a:lstStyle/>
          <a:p>
            <a:pPr indent="0" marL="0">
              <a:buNone/>
            </a:pPr>
            <a:r>
              <a:rPr lang="en-US" sz="2000" b="1" spc="400" kern="0" dirty="0">
                <a:solidFill>
                  <a:srgbClr val="8A5F1A"/>
                </a:solidFill>
                <a:latin typeface="Georgia" pitchFamily="34" charset="0"/>
                <a:ea typeface="Georgia" pitchFamily="34" charset="-122"/>
                <a:cs typeface="Georgia" pitchFamily="34" charset="-120"/>
              </a:rPr>
              <a:t>MERKE</a:t>
            </a:r>
            <a:endParaRPr lang="en-US" sz="2000" dirty="0"/>
          </a:p>
        </p:txBody>
      </p:sp>
      <p:sp>
        <p:nvSpPr>
          <p:cNvPr id="5" name="Text 3"/>
          <p:cNvSpPr txBox="1"/>
          <p:nvPr/>
        </p:nvSpPr>
        <p:spPr>
          <a:xfrm>
            <a:off x="1508760" y="2240280"/>
            <a:ext cx="5394960" cy="603504"/>
          </a:xfrm>
          <a:prstGeom prst="rect">
            <a:avLst/>
          </a:prstGeom>
          <a:noFill/>
          <a:ln/>
        </p:spPr>
        <p:txBody>
          <a:bodyPr wrap="square" lIns="0" tIns="0" rIns="0" bIns="0" rtlCol="0" anchor="t"/>
          <a:lstStyle/>
          <a:p>
            <a:pPr algn="l" indent="0" marL="0">
              <a:buNone/>
            </a:pPr>
            <a:r>
              <a:rPr lang="en-US" sz="1800" dirty="0">
                <a:solidFill>
                  <a:srgbClr val="1B1B1F"/>
                </a:solidFill>
              </a:rPr>
              <a:t>XOR: gleich → 0, verschieden → 1; derselbe Schlüssel ver- und entschlüsselt</a:t>
            </a:r>
            <a:endParaRPr lang="en-US" sz="1800" dirty="0"/>
          </a:p>
        </p:txBody>
      </p:sp>
      <p:sp>
        <p:nvSpPr>
          <p:cNvPr id="6" name="Text 4"/>
          <p:cNvSpPr txBox="1"/>
          <p:nvPr/>
        </p:nvSpPr>
        <p:spPr>
          <a:xfrm>
            <a:off x="1508760" y="2971800"/>
            <a:ext cx="5394960" cy="882396"/>
          </a:xfrm>
          <a:prstGeom prst="rect">
            <a:avLst/>
          </a:prstGeom>
          <a:noFill/>
          <a:ln/>
        </p:spPr>
        <p:txBody>
          <a:bodyPr wrap="square" lIns="0" tIns="0" rIns="0" bIns="0" rtlCol="0" anchor="t"/>
          <a:lstStyle/>
          <a:p>
            <a:pPr algn="l" indent="0" marL="0">
              <a:buNone/>
            </a:pPr>
            <a:r>
              <a:rPr lang="en-US" sz="1800" dirty="0">
                <a:solidFill>
                  <a:srgbClr val="1B1B1F"/>
                </a:solidFill>
              </a:rPr>
              <a:t>One-Time-Pad: zufällig, so lang wie die Nachricht, geheim, </a:t>
            </a:r>
            <a:r>
              <a:rPr lang="en-US" sz="1800" b="1" dirty="0">
                <a:solidFill>
                  <a:srgbClr val="1B1B1F"/>
                </a:solidFill>
              </a:rPr>
              <a:t>nur einmal</a:t>
            </a:r>
            <a:r>
              <a:rPr lang="en-US" sz="1800" dirty="0">
                <a:solidFill>
                  <a:srgbClr val="1B1B1F"/>
                </a:solidFill>
              </a:rPr>
              <a:t> – sonst C1 ⊕ C2 = M1 ⊕ M2</a:t>
            </a:r>
            <a:endParaRPr lang="en-US" sz="1800" dirty="0"/>
          </a:p>
        </p:txBody>
      </p:sp>
      <p:sp>
        <p:nvSpPr>
          <p:cNvPr id="7" name="Text 5"/>
          <p:cNvSpPr txBox="1"/>
          <p:nvPr/>
        </p:nvSpPr>
        <p:spPr>
          <a:xfrm>
            <a:off x="1508760" y="3982212"/>
            <a:ext cx="5394960" cy="603504"/>
          </a:xfrm>
          <a:prstGeom prst="rect">
            <a:avLst/>
          </a:prstGeom>
          <a:noFill/>
          <a:ln/>
        </p:spPr>
        <p:txBody>
          <a:bodyPr wrap="square" lIns="0" tIns="0" rIns="0" bIns="0" rtlCol="0" anchor="t"/>
          <a:lstStyle/>
          <a:p>
            <a:pPr algn="l" indent="0" marL="0">
              <a:buNone/>
            </a:pPr>
            <a:r>
              <a:rPr lang="en-US" sz="1800" dirty="0">
                <a:solidFill>
                  <a:srgbClr val="1B1B1F"/>
                </a:solidFill>
              </a:rPr>
              <a:t>Blockchiffre: Runden aus ⊕ Rundenschlüssel, S-Box (Konfusion) und Permutation (Diffusion)</a:t>
            </a:r>
            <a:endParaRPr lang="en-US" sz="1800" dirty="0"/>
          </a:p>
        </p:txBody>
      </p:sp>
      <p:sp>
        <p:nvSpPr>
          <p:cNvPr id="8" name="Text 6"/>
          <p:cNvSpPr txBox="1"/>
          <p:nvPr/>
        </p:nvSpPr>
        <p:spPr>
          <a:xfrm>
            <a:off x="1508760" y="4713732"/>
            <a:ext cx="5394960" cy="603504"/>
          </a:xfrm>
          <a:prstGeom prst="rect">
            <a:avLst/>
          </a:prstGeom>
          <a:noFill/>
          <a:ln/>
        </p:spPr>
        <p:txBody>
          <a:bodyPr wrap="square" lIns="0" tIns="0" rIns="0" bIns="0" rtlCol="0" anchor="t"/>
          <a:lstStyle/>
          <a:p>
            <a:pPr algn="l" indent="0" marL="0">
              <a:buNone/>
            </a:pPr>
            <a:r>
              <a:rPr lang="en-US" sz="1800" dirty="0">
                <a:solidFill>
                  <a:srgbClr val="1B1B1F"/>
                </a:solidFill>
              </a:rPr>
              <a:t>ECB zeigt gleiche Blöcke, CBC verkettet die Blöcke</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Weiter im Lab</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1828800"/>
                <a:gridCol w="5486400"/>
              </a:tblGrid>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Lab</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Level 3.1 „Vernams Lochstreifen“ und Level 3.2 „Der Blockchiffre-Baukasten“ (eA)</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Akte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Akten W3·1 und W3·2</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Kryptolabor</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Bit-Lupe (XOR, OTP-Doppelnutzung) und Runden-Labor (Lawineneffekt, ECB/CBC)</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Funkraum</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Szenario „Der doppelte Schlüssel“ im Unterricht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Online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kryptos.frankjuchim.de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646424"/>
            <a:ext cx="7315200" cy="727456"/>
          </a:xfrm>
          <a:prstGeom prst="rect">
            <a:avLst/>
          </a:prstGeom>
          <a:noFill/>
          <a:ln/>
        </p:spPr>
        <p:txBody>
          <a:bodyPr wrap="square" lIns="0" tIns="0" rIns="0" bIns="0" rtlCol="0" anchor="t"/>
          <a:lstStyle/>
          <a:p>
            <a:pPr algn="l" indent="0" marL="0">
              <a:buNone/>
            </a:pPr>
            <a:r>
              <a:rPr lang="en-US" sz="2200" b="1" dirty="0">
                <a:solidFill>
                  <a:srgbClr val="1B1B1F"/>
                </a:solidFill>
              </a:rPr>
              <a:t>Nächstes Video:</a:t>
            </a:r>
            <a:r>
              <a:rPr lang="en-US" sz="2200" dirty="0">
                <a:solidFill>
                  <a:srgbClr val="1B1B1F"/>
                </a:solidFill>
              </a:rPr>
              <a:t> 05 · Das Schlüsselproblem: asymmetrisch, Diffie-Hellman, RSA, hybrid</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Kryptos Maschinen">
  <a:themeElements>
    <a:clrScheme name="Kryptos Maschinen">
      <a:dk1>
        <a:srgbClr val="1B1B1F"/>
      </a:dk1>
      <a:lt1>
        <a:srgbClr val="FFFFFF"/>
      </a:lt1>
      <a:dk2>
        <a:srgbClr val="14213D"/>
      </a:dk2>
      <a:lt2>
        <a:srgbClr val="FBF7EE"/>
      </a:lt2>
      <a:accent1>
        <a:srgbClr val="556B2F"/>
      </a:accent1>
      <a:accent2>
        <a:srgbClr val="B07D2B"/>
      </a:accent2>
      <a:accent3>
        <a:srgbClr val="1F4E8C"/>
      </a:accent3>
      <a:accent4>
        <a:srgbClr val="2E7D32"/>
      </a:accent4>
      <a:accent5>
        <a:srgbClr val="B3261E"/>
      </a:accent5>
      <a:accent6>
        <a:srgbClr val="4A4A55"/>
      </a:accent6>
      <a:hlink>
        <a:srgbClr val="1F4E8C"/>
      </a:hlink>
      <a:folHlink>
        <a:srgbClr val="8A5F1A"/>
      </a:folHlink>
    </a:clrScheme>
    <a:fontScheme name="Kryptos Maschin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Kryptos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XOR, One-Time-Pad und Blockchiffren</dc:title>
  <dc:subject>Kryptos – Die Zeitreise der Geheimschriften</dc:subject>
  <dc:creator>Frank Juchim</dc:creator>
  <cp:lastModifiedBy>Frank Juchim</cp:lastModifiedBy>
  <cp:revision>1</cp:revision>
  <dcterms:created xsi:type="dcterms:W3CDTF">2026-10-14T19:25:02Z</dcterms:created>
  <dcterms:modified xsi:type="dcterms:W3CDTF">2026-10-14T19:25:02Z</dcterms:modified>
</cp:coreProperties>
</file>