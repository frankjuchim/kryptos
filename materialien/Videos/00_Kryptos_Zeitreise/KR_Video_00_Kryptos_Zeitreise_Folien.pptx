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7ec11c04-cf35-cdae-6508-eb84f4499785}">
          <p14:sldIdLst>
            <p14:sldId id="256"/>
            <p14:sldId id="257"/>
          </p14:sldIdLst>
        </p14:section>
        <p14:section name="Anmelden über InfoLabs" id="{2d40699e-d08d-9719-e9e0-83c335fd7782}">
          <p14:sldIdLst>
            <p14:sldId id="258"/>
            <p14:sldId id="259"/>
          </p14:sldIdLst>
        </p14:section>
        <p14:section name="Zeitleiste und Level" id="{30281641-67ad-7fc3-c97a-bf7642ff2929}">
          <p14:sldIdLst>
            <p14:sldId id="260"/>
            <p14:sldId id="261"/>
          </p14:sldIdLst>
        </p14:section>
        <p14:section name="Punkte und Fallen" id="{98b93141-3159-0595-39e3-b4a34264b8e8}">
          <p14:sldIdLst>
            <p14:sldId id="262"/>
            <p14:sldId id="263"/>
          </p14:sldIdLst>
        </p14:section>
        <p14:section name="Boss, Training, Warm-up" id="{43aadc69-a4d4-f98d-2fb5-702e3f432c5e}">
          <p14:sldIdLst>
            <p14:sldId id="264"/>
          </p14:sldIdLst>
        </p14:section>
        <p14:section name="Labor und Funkraum" id="{8c08cccf-6f5a-1e1e-7d36-f0bcaf3bb3a7}">
          <p14:sldIdLst>
            <p14:sldId id="265"/>
            <p14:sldId id="266"/>
          </p14:sldIdLst>
        </p14:section>
        <p14:section name="Ränge und Artefakte" id="{49f46d75-8eeb-f59e-c586-d335ea357f5d}">
          <p14:sldIdLst>
            <p14:sldId id="267"/>
          </p14:sldIdLst>
        </p14:section>
        <p14:section name="Gastmodus" id="{4fbf6ed4-0c9b-f576-f30d-10a935c66d6a}">
          <p14:sldIdLst>
            <p14:sldId id="268"/>
            <p14:sldId id="269"/>
          </p14:sldIdLst>
        </p14:section>
        <p14:section name="Zusammenfassung" id="{bbc2bf8e-afbf-2e77-f44d-1126ccbadc8b}">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Einstieg]
REGIE: Kamera unten rechts, Titelfolie in Tinte und Messing (Kickoff-Thema).
SPRECHERTEXT: Willkommen im Archiv der verborgenen Schriften! In dieser Einheit reist du durch zweieinhalbtausend Jahre Geheimschriften – vom Holzstab in Sparta bis zum Smartphone. In diesem kurzen Video zeige ich dir, wie die Plattform Kryptos funktioniert.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Stichpunkte nacheinander einblenden, den Kasten rechts zum Schluss.
SPRECHERTEXT: Die Geschichte: Seit Jahrtausenden schreiben sich Alice und Bob geheime Botschaften, und Eve lauscht. Du bist Chronistin oder Chronist im Archiv und wechselst die Seiten: Mal hilfst du beim Verschlüsseln, mal knackst du mit Eve. Am Ende wartet Eves eigene Chiffre – genau wie im Abitur.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Anmelden über InfoLabs]
REGIE: Erst auf „Kurs beitreten“ zeigen, dann auf den Reiter für die spätere Anmeldung.
SPRECHERTEXT: Angemeldet wirst du immer im Portal InfoLabs: labs punkt frankjuchim punkt de – oder du scannst den QR-Code aus dem Unterricht. Beim ersten Mal trittst du mit dem Kurscode deiner Lehrkraft und deinem Namen bei. Dann bekommst du deinen persönlichen Code: drei Buchstaben, Bindestrich, drei Ziffern. Schreib ihn sofort auf und behalte ihn für dich. Danach meldest du dich immer mit Name und Code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Auf die genannten Bildteile zeigen; Kasten rechts nach dem ersten Satz einblenden.
SPRECHERTEXT: Unter Meine Plattformen klickst du auf Weiter zu Kryptos – und bist drin, ohne weiteres Passwort. Mit demselben Konto erreichst du auch die anderen Plattformen deines Kurses. Das Haus-Symbol oben führt zurück zum Portal. Und an fremden Geräten meldest du dich am Ende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Zeitleiste und Level]
REGIE: Auf die genannten Bildteile zeigen; Kasten rechts nach dem ersten Satz einblenden.
SPRECHERTEXT: Kryptos beginnt mit der Zeitleiste: sieben Epochen, von der Antike bis zur Zeitmaschine. Gesperrte Epochen sind noch verschlüsselt und entschlüsseln sich Buchstabe für Buchstabe, sobald sie freigeschaltet werden. Jede Epoche hat einen Archivfund zum Einstieg, mehrere Level, einen Trainingsplatz und einen Boss.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Auf die genannten Bildteile zeigen; Kasten rechts nach dem ersten Satz einblenden.
SPRECHERTEXT: Ein Level gehört zu einer Doppelstunde. Oben steht das Archivwissen zum Nachlesen, darunter folgen sechs bis acht Aufgaben mit einem bis drei Sternen. Oft ist ein Werkzeug direkt eingebaut. Dazu gibt es jeweils eine Akte – das Arbeitsblatt.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Punkte und Fallen]
REGIE: Tabelle zeilenweise aufdecken und beim Sprechen mit dem Zeiger mitgehen.
SPRECHERTEXT: In jeder Aufgabe prüfst du deine Antwort und bekommst sofort Rückmeldung. Ein Tipp kostet ein Fünftel der Punkte, ein Fehlversuch ein Viertel – ein Viertel bleibt aber immer. Zwanzig Punkte werden mit einem Tipp also zu sechzehn. Lösung zeigen bringt null Punkte, dafür die Erklärung.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Tabelle zeilenweise aufdecken und beim Sprechen mit dem Zeiger mitgehen.
SPRECHERTEXT: Oft nennt die Rückmeldung eine Falle, zum Beispiel P3, Umkehrung. Die zehn Fallen P1 bis P10 sind die häufigsten Punktverluste im Abitur – im Lab, in den Akten und in den Videos gleich nummeriert. Im Profil siehst du unter Deine Fallen, wo du noch aufpassen musst.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Boss, Training, Warm-up]
REGIE: Auf die genannten Bildteile zeigen; Kasten rechts nach dem ersten Satz einblenden.
SPRECHERTEXT: Am Ende jeder Epoche wartet der Boss: eine Abiturprobe mit acht Aufgaben in fünfundzwanzig Minuten, ohne Werkzeuge. Ab fünfzig Prozent ist er besiegt, dein bester Versuch zählt. Auf dem Trainingsplatz gibt es immer neue Zufallsaufgaben, einen Punkt je Aufgabe. Und die Warm-up-Karten lösen wir zum Stundenbeginn auf Papier, ohne Punkte.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Labor und Funkraum]
REGIE: Auf die genannten Bildteile zeigen; Kasten rechts nach dem ersten Satz einblenden.
SPRECHERTEXT: Im Kryptolabor findest du Werkzeuge wie die Chiffrierscheibe oder die Vigenère-Werkbank. Im Funkraum spielen wir im Unterricht live: Teams schicken sich Geheimbotschaften, ein Eve-Team lauscht und versucht zu knacken. Die Nachrichten bleiben im Kurs und werden danach gelöscht.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Labor und Funkraum]
REGIE: Auf Quadrat und Panel zeigen; Kasten rechts nach dem zweiten Satz einblenden.
SPRECHERTEXT: Viele Werkzeuge im Kryptolabor sind Objekte zum Anfassen: das Polybios-Quadrat, die Skytale, die Chiffrierscheibe oder die Enigma. Du tippst direkt auf das Objekt, und mit Nachspielen siehst du jeden Schritt noch einmal in Ruhe. Die Ideen dafür stammen aus der Krypto-Werkstatt von A. Bodendiek.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Ränge und Artefakte]
REGIE: Auf die genannten Bildteile zeigen; Kasten rechts nach dem ersten Satz einblenden.
SPRECHERTEXT: Mit deinen Punkten steigst du auf – vom Lehrling bis zum Meister der Chiffren. Jeder besiegte Boss bringt ein Artefakt, von der Skytale bis zum Kern des Chronoskops. Und auf der Zeitleiste entsiegelt sich mit jeder Epoche ein Kapitel Kryptogeschichte.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Gastmodus]
REGIE: Stichpunkte nacheinander einblenden, den Kasten rechts zum Schluss.
SPRECHERTEXT: Noch kein Kurscode? Im Gastmodus unter kryptos punkt frankjuchim punkt de Schrägstrich gast probierst du sechs Demo-Aufgaben ohne Anmeldung aus. Gespeichert wird dort nichts.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Einblendung „⏸ Video anhalten“.
SPRECHERTEXT: Jetzt du: Halte das Video an, melde dich an und notiere deinen Code. Dann weiter zu Kryptos, in die Antike und zur ersten Aufgabe in Level null Punkt eins.
PAUSE: 3 s Einblendung „⏸ Video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Zusammenfassung]
REGIE: Merksätze nacheinander einblenden; ruhig und etwas langsamer sprechen.
SPRECHERTEXT: Kurz gesagt: anmelden über InfoLabs, Code notieren, weiter zu Kryptos. Tipps und Fehlversuche kosten etwas, die Fallen zeigen dir deine Stolpersteine, und jede Epoche endet mit einem Boss.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Endcard über die letzten 20 s legen.
SPRECHERTEXT: Deine erste Station ist Level null Punkt eins, die Skytale von Sparta. Im nächsten Video geht es um Caesar, das Alphabet und das Rechnen mit Modulo. Gute Reise durch die Zeit – wir sehen uns im Archiv!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9_a9b9f2782df071fd.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Die Zeitreise der Geheimschriften</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9_a9b9f2782df071fd.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Die Zeitreise der Geheimschriften</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9_a9b9f2782df071fd.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Die Zeitreise der Geheimschriften</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24333bb42ce7248c.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9_a9b9f2782df071fd.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D9A441"/>
                </a:solidFill>
                <a:latin typeface="Consolas" pitchFamily="34" charset="0"/>
                <a:ea typeface="Consolas" pitchFamily="34" charset="-122"/>
                <a:cs typeface="Consolas" pitchFamily="34" charset="-120"/>
              </a:rPr>
              <a:t>VIDEO 00 · −500 … HEUTE</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Kryptos: So funktioniert die Zeitreise</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Anmelden über InfoLabs, Zeitleiste, Level, Punkte, Fallen, Boss – dein Start in die Plattform</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Worum geht es?</a:t>
            </a:r>
            <a:endParaRPr lang="en-US" sz="3000" dirty="0"/>
          </a:p>
        </p:txBody>
      </p:sp>
      <p:sp>
        <p:nvSpPr>
          <p:cNvPr id="3" name="Text 1"/>
          <p:cNvSpPr txBox="1"/>
          <p:nvPr/>
        </p:nvSpPr>
        <p:spPr>
          <a:xfrm>
            <a:off x="548640" y="1325880"/>
            <a:ext cx="4308653" cy="4175760"/>
          </a:xfrm>
          <a:prstGeom prst="rect">
            <a:avLst/>
          </a:prstGeom>
          <a:noFill/>
          <a:ln/>
        </p:spPr>
        <p:txBody>
          <a:bodyPr wrap="square" lIns="0" tIns="0" rIns="0" bIns="0" rtlCol="0" anchor="t"/>
          <a:lstStyle/>
          <a:p>
            <a:pPr marL="279400" indent="-279400">
              <a:spcAft>
                <a:spcPts val="600"/>
              </a:spcAft>
              <a:buSzPct val="100000"/>
              <a:buChar char="●"/>
            </a:pPr>
            <a:r>
              <a:rPr lang="en-US" sz="2000" dirty="0">
                <a:solidFill>
                  <a:srgbClr val="1B1B1F"/>
                </a:solidFill>
              </a:rPr>
              <a:t>Seit Jahrtausenden schreiben sich </a:t>
            </a:r>
            <a:r>
              <a:rPr lang="en-US" sz="2000" b="1" dirty="0">
                <a:solidFill>
                  <a:srgbClr val="1B1B1F"/>
                </a:solidFill>
              </a:rPr>
              <a:t>Alice und Bob</a:t>
            </a:r>
            <a:r>
              <a:rPr lang="en-US" sz="2000" dirty="0">
                <a:solidFill>
                  <a:srgbClr val="1B1B1F"/>
                </a:solidFill>
              </a:rPr>
              <a:t> Geheimbotschaften – und </a:t>
            </a:r>
            <a:r>
              <a:rPr lang="en-US" sz="2000" b="1" dirty="0">
                <a:solidFill>
                  <a:srgbClr val="1B1B1F"/>
                </a:solidFill>
              </a:rPr>
              <a:t>Eve</a:t>
            </a:r>
            <a:r>
              <a:rPr lang="en-US" sz="2000" dirty="0">
                <a:solidFill>
                  <a:srgbClr val="1B1B1F"/>
                </a:solidFill>
              </a:rPr>
              <a:t> lauscht</a:t>
            </a:r>
            <a:endParaRPr lang="en-US" sz="2000" dirty="0"/>
          </a:p>
          <a:p>
            <a:pPr marL="279400" indent="-279400">
              <a:spcAft>
                <a:spcPts val="600"/>
              </a:spcAft>
              <a:buSzPct val="100000"/>
              <a:buChar char="●"/>
            </a:pPr>
            <a:r>
              <a:rPr lang="en-US" sz="2000" dirty="0">
                <a:solidFill>
                  <a:srgbClr val="1B1B1F"/>
                </a:solidFill>
              </a:rPr>
              <a:t>Du bist </a:t>
            </a:r>
            <a:r>
              <a:rPr lang="en-US" sz="2000" b="1" dirty="0">
                <a:solidFill>
                  <a:srgbClr val="1B1B1F"/>
                </a:solidFill>
              </a:rPr>
              <a:t>Chronistin oder Chronist</a:t>
            </a:r>
            <a:r>
              <a:rPr lang="en-US" sz="2000" dirty="0">
                <a:solidFill>
                  <a:srgbClr val="1B1B1F"/>
                </a:solidFill>
              </a:rPr>
              <a:t> des Archivs und wechselst die Seiten:</a:t>
            </a:r>
            <a:endParaRPr lang="en-US" sz="2000" dirty="0"/>
          </a:p>
          <a:p>
            <a:pPr marL="279400" indent="-279400">
              <a:spcAft>
                <a:spcPts val="600"/>
              </a:spcAft>
              <a:buSzPct val="100000"/>
              <a:buChar char="●"/>
            </a:pPr>
            <a:r>
              <a:rPr lang="en-US" sz="2000" dirty="0">
                <a:solidFill>
                  <a:srgbClr val="1B1B1F"/>
                </a:solidFill>
              </a:rPr>
              <a:t>  - 🛡 </a:t>
            </a:r>
            <a:r>
              <a:rPr lang="en-US" sz="2000" b="1" dirty="0">
                <a:solidFill>
                  <a:srgbClr val="1B1B1F"/>
                </a:solidFill>
              </a:rPr>
              <a:t>Kryptografie</a:t>
            </a:r>
            <a:r>
              <a:rPr lang="en-US" sz="2000" dirty="0">
                <a:solidFill>
                  <a:srgbClr val="1B1B1F"/>
                </a:solidFill>
              </a:rPr>
              <a:t>: Alice und Bob beim Verschlüsseln helfen</a:t>
            </a:r>
            <a:endParaRPr lang="en-US" sz="2000" dirty="0"/>
          </a:p>
          <a:p>
            <a:pPr marL="279400" indent="-279400">
              <a:spcAft>
                <a:spcPts val="600"/>
              </a:spcAft>
              <a:buSzPct val="100000"/>
              <a:buChar char="●"/>
            </a:pPr>
            <a:r>
              <a:rPr lang="en-US" sz="2000" dirty="0">
                <a:solidFill>
                  <a:srgbClr val="1B1B1F"/>
                </a:solidFill>
              </a:rPr>
              <a:t>  - 🔍 </a:t>
            </a:r>
            <a:r>
              <a:rPr lang="en-US" sz="2000" b="1" dirty="0">
                <a:solidFill>
                  <a:srgbClr val="1B1B1F"/>
                </a:solidFill>
              </a:rPr>
              <a:t>Kryptoanalyse</a:t>
            </a:r>
            <a:r>
              <a:rPr lang="en-US" sz="2000" dirty="0">
                <a:solidFill>
                  <a:srgbClr val="1B1B1F"/>
                </a:solidFill>
              </a:rPr>
              <a:t>: mit Eve Geheimtexte knacken</a:t>
            </a:r>
            <a:endParaRPr lang="en-US" sz="2000" dirty="0"/>
          </a:p>
          <a:p>
            <a:pPr marL="279400" indent="-279400">
              <a:spcAft>
                <a:spcPts val="600"/>
              </a:spcAft>
              <a:buSzPct val="100000"/>
              <a:buChar char="●"/>
            </a:pPr>
            <a:r>
              <a:rPr lang="en-US" sz="2000" dirty="0">
                <a:solidFill>
                  <a:srgbClr val="1B1B1F"/>
                </a:solidFill>
              </a:rPr>
              <a:t>Am Ende wartet </a:t>
            </a:r>
            <a:r>
              <a:rPr lang="en-US" sz="2000" b="1" dirty="0">
                <a:solidFill>
                  <a:srgbClr val="1B1B1F"/>
                </a:solidFill>
              </a:rPr>
              <a:t>Eves eigene Chiffre</a:t>
            </a:r>
            <a:r>
              <a:rPr lang="en-US" sz="2000" dirty="0">
                <a:solidFill>
                  <a:srgbClr val="1B1B1F"/>
                </a:solidFill>
              </a:rPr>
              <a:t> – genau das Abiturformat</a:t>
            </a:r>
            <a:endParaRPr lang="en-US" sz="2000" dirty="0"/>
          </a:p>
        </p:txBody>
      </p:sp>
      <p:sp>
        <p:nvSpPr>
          <p:cNvPr id="4" name="Shape 2"/>
          <p:cNvSpPr/>
          <p:nvPr/>
        </p:nvSpPr>
        <p:spPr>
          <a:xfrm>
            <a:off x="5223053" y="1325880"/>
            <a:ext cx="2640787" cy="4146804"/>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HEUTE</a:t>
            </a:r>
            <a:endParaRPr lang="en-US" sz="1300" dirty="0"/>
          </a:p>
        </p:txBody>
      </p:sp>
      <p:sp>
        <p:nvSpPr>
          <p:cNvPr id="6" name="Text 4"/>
          <p:cNvSpPr txBox="1"/>
          <p:nvPr/>
        </p:nvSpPr>
        <p:spPr>
          <a:xfrm>
            <a:off x="5451653" y="178308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Anmelden über InfoLabs</a:t>
            </a:r>
            <a:endParaRPr lang="en-US" sz="1800" dirty="0"/>
          </a:p>
        </p:txBody>
      </p:sp>
      <p:sp>
        <p:nvSpPr>
          <p:cNvPr id="7" name="Text 5"/>
          <p:cNvSpPr txBox="1"/>
          <p:nvPr/>
        </p:nvSpPr>
        <p:spPr>
          <a:xfrm>
            <a:off x="5451653" y="251460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Zeitleiste und Level</a:t>
            </a:r>
            <a:endParaRPr lang="en-US" sz="1800" dirty="0"/>
          </a:p>
        </p:txBody>
      </p:sp>
      <p:sp>
        <p:nvSpPr>
          <p:cNvPr id="8" name="Text 6"/>
          <p:cNvSpPr txBox="1"/>
          <p:nvPr/>
        </p:nvSpPr>
        <p:spPr>
          <a:xfrm>
            <a:off x="5451653" y="3246120"/>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Punkte und Fallen</a:t>
            </a:r>
            <a:endParaRPr lang="en-US" sz="1800" dirty="0"/>
          </a:p>
        </p:txBody>
      </p:sp>
      <p:sp>
        <p:nvSpPr>
          <p:cNvPr id="9" name="Text 7"/>
          <p:cNvSpPr txBox="1"/>
          <p:nvPr/>
        </p:nvSpPr>
        <p:spPr>
          <a:xfrm>
            <a:off x="5451653" y="3698748"/>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Boss, Training, Warm-up</a:t>
            </a:r>
            <a:endParaRPr lang="en-US" sz="1800" dirty="0"/>
          </a:p>
        </p:txBody>
      </p:sp>
      <p:sp>
        <p:nvSpPr>
          <p:cNvPr id="10" name="Text 8"/>
          <p:cNvSpPr txBox="1"/>
          <p:nvPr/>
        </p:nvSpPr>
        <p:spPr>
          <a:xfrm>
            <a:off x="5451653" y="4430268"/>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Labor und Funkraum</a:t>
            </a:r>
            <a:endParaRPr lang="en-US" sz="1800" dirty="0"/>
          </a:p>
        </p:txBody>
      </p:sp>
      <p:sp>
        <p:nvSpPr>
          <p:cNvPr id="11" name="Text 9"/>
          <p:cNvSpPr txBox="1"/>
          <p:nvPr/>
        </p:nvSpPr>
        <p:spPr>
          <a:xfrm>
            <a:off x="5451653" y="4882896"/>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Gastmodus</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Schritt 1: Anmelden im Portal InfoLabs</a:t>
            </a:r>
            <a:endParaRPr lang="en-US" sz="3000" dirty="0"/>
          </a:p>
        </p:txBody>
      </p:sp>
      <p:pic>
        <p:nvPicPr>
          <p:cNvPr id="3" name="Image 0" descr="Screenshot Portal labs.frankjuchim.de, Reiter „Kurs beitreten“: Felder „Kurscode“ und „Name“; daneben Reiter „Anmelden“ (Name + persönlicher Code). Demo-Kurs, alle Codes unkenntlich.">    </p:cNvPr>
          <p:cNvPicPr>
            <a:picLocks noChangeAspect="1"/>
          </p:cNvPicPr>
          <p:nvPr/>
        </p:nvPicPr>
        <p:blipFill>
          <a:blip r:embed="rId1"/>
          <a:stretch>
            <a:fillRect/>
          </a:stretch>
        </p:blipFill>
        <p:spPr>
          <a:xfrm>
            <a:off x="548640" y="1325880"/>
            <a:ext cx="4586630" cy="2866644"/>
          </a:xfrm>
          <a:prstGeom prst="rect">
            <a:avLst/>
          </a:prstGeom>
        </p:spPr>
      </p:pic>
      <p:sp>
        <p:nvSpPr>
          <p:cNvPr id="4" name="Shape 1"/>
          <p:cNvSpPr/>
          <p:nvPr/>
        </p:nvSpPr>
        <p:spPr>
          <a:xfrm>
            <a:off x="5501030" y="1325880"/>
            <a:ext cx="2362810" cy="4357116"/>
          </a:xfrm>
          <a:prstGeom prst="roundRect">
            <a:avLst>
              <a:gd name="adj" fmla="val 3096"/>
            </a:avLst>
          </a:prstGeom>
          <a:solidFill>
            <a:srgbClr val="F2EADB"/>
          </a:solidFill>
          <a:ln w="12700">
            <a:solidFill>
              <a:srgbClr val="8A5F1A"/>
            </a:solidFill>
            <a:prstDash val="solid"/>
          </a:ln>
        </p:spPr>
      </p:sp>
      <p:sp>
        <p:nvSpPr>
          <p:cNvPr id="5" name="Text 2"/>
          <p:cNvSpPr txBox="1"/>
          <p:nvPr/>
        </p:nvSpPr>
        <p:spPr>
          <a:xfrm>
            <a:off x="5729630" y="1435608"/>
            <a:ext cx="1905610" cy="274320"/>
          </a:xfrm>
          <a:prstGeom prst="rect">
            <a:avLst/>
          </a:prstGeom>
          <a:noFill/>
          <a:ln/>
        </p:spPr>
        <p:txBody>
          <a:bodyPr wrap="square" lIns="0" tIns="0" rIns="0" bIns="0" rtlCol="0" anchor="ctr"/>
          <a:lstStyle/>
          <a:p>
            <a:pPr indent="0" marL="0">
              <a:buNone/>
            </a:pPr>
            <a:r>
              <a:rPr lang="en-US" sz="1300" b="1" spc="200" kern="0" dirty="0">
                <a:solidFill>
                  <a:srgbClr val="14213D"/>
                </a:solidFill>
              </a:rPr>
              <a:t>SO GEHT’S</a:t>
            </a:r>
            <a:endParaRPr lang="en-US" sz="1300" dirty="0"/>
          </a:p>
        </p:txBody>
      </p:sp>
      <p:sp>
        <p:nvSpPr>
          <p:cNvPr id="6" name="Text 3"/>
          <p:cNvSpPr txBox="1"/>
          <p:nvPr/>
        </p:nvSpPr>
        <p:spPr>
          <a:xfrm>
            <a:off x="5729630" y="1783080"/>
            <a:ext cx="1905610" cy="882396"/>
          </a:xfrm>
          <a:prstGeom prst="rect">
            <a:avLst/>
          </a:prstGeom>
          <a:noFill/>
          <a:ln/>
        </p:spPr>
        <p:txBody>
          <a:bodyPr wrap="square" lIns="0" tIns="0" rIns="0" bIns="0" rtlCol="0" anchor="t"/>
          <a:lstStyle/>
          <a:p>
            <a:pPr algn="l" indent="0" marL="0">
              <a:buNone/>
            </a:pPr>
            <a:r>
              <a:rPr lang="en-US" sz="1800" b="1" dirty="0">
                <a:solidFill>
                  <a:srgbClr val="1B1B1F"/>
                </a:solidFill>
              </a:rPr>
              <a:t>labs.frankjuchim.de</a:t>
            </a:r>
            <a:r>
              <a:rPr lang="en-US" sz="1800" dirty="0">
                <a:solidFill>
                  <a:srgbClr val="1B1B1F"/>
                </a:solidFill>
              </a:rPr>
              <a:t> öffnen oder QR-Code scannen</a:t>
            </a:r>
            <a:endParaRPr lang="en-US" sz="1800" dirty="0"/>
          </a:p>
        </p:txBody>
      </p:sp>
      <p:sp>
        <p:nvSpPr>
          <p:cNvPr id="7" name="Text 4"/>
          <p:cNvSpPr txBox="1"/>
          <p:nvPr/>
        </p:nvSpPr>
        <p:spPr>
          <a:xfrm>
            <a:off x="5729630" y="2793492"/>
            <a:ext cx="1905610" cy="603504"/>
          </a:xfrm>
          <a:prstGeom prst="rect">
            <a:avLst/>
          </a:prstGeom>
          <a:noFill/>
          <a:ln/>
        </p:spPr>
        <p:txBody>
          <a:bodyPr wrap="square" lIns="0" tIns="0" rIns="0" bIns="0" rtlCol="0" anchor="t"/>
          <a:lstStyle/>
          <a:p>
            <a:pPr algn="l" indent="0" marL="0">
              <a:buNone/>
            </a:pPr>
            <a:r>
              <a:rPr lang="en-US" sz="1800" dirty="0">
                <a:solidFill>
                  <a:srgbClr val="1B1B1F"/>
                </a:solidFill>
              </a:rPr>
              <a:t>Beim ersten Mal: </a:t>
            </a:r>
            <a:r>
              <a:rPr lang="en-US" sz="1800" b="1" dirty="0">
                <a:solidFill>
                  <a:srgbClr val="1B1B1F"/>
                </a:solidFill>
              </a:rPr>
              <a:t>Kurscode</a:t>
            </a:r>
            <a:r>
              <a:rPr lang="en-US" sz="1800" dirty="0">
                <a:solidFill>
                  <a:srgbClr val="1B1B1F"/>
                </a:solidFill>
              </a:rPr>
              <a:t> + </a:t>
            </a:r>
            <a:r>
              <a:rPr lang="en-US" sz="1800" b="1" dirty="0">
                <a:solidFill>
                  <a:srgbClr val="1B1B1F"/>
                </a:solidFill>
              </a:rPr>
              <a:t>Name</a:t>
            </a:r>
            <a:endParaRPr lang="en-US" sz="1800" dirty="0"/>
          </a:p>
        </p:txBody>
      </p:sp>
      <p:sp>
        <p:nvSpPr>
          <p:cNvPr id="8" name="Text 5"/>
          <p:cNvSpPr txBox="1"/>
          <p:nvPr/>
        </p:nvSpPr>
        <p:spPr>
          <a:xfrm>
            <a:off x="5729630" y="3525012"/>
            <a:ext cx="1905610" cy="882396"/>
          </a:xfrm>
          <a:prstGeom prst="rect">
            <a:avLst/>
          </a:prstGeom>
          <a:noFill/>
          <a:ln/>
        </p:spPr>
        <p:txBody>
          <a:bodyPr wrap="square" lIns="0" tIns="0" rIns="0" bIns="0" rtlCol="0" anchor="t"/>
          <a:lstStyle/>
          <a:p>
            <a:pPr algn="l" indent="0" marL="0">
              <a:buNone/>
            </a:pPr>
            <a:r>
              <a:rPr lang="en-US" sz="1800" b="1" dirty="0">
                <a:solidFill>
                  <a:srgbClr val="1B1B1F"/>
                </a:solidFill>
              </a:rPr>
              <a:t>persönlichen Code</a:t>
            </a:r>
            <a:r>
              <a:rPr lang="en-US" sz="1800" dirty="0">
                <a:solidFill>
                  <a:srgbClr val="1B1B1F"/>
                </a:solidFill>
              </a:rPr>
              <a:t> sofort notieren</a:t>
            </a:r>
            <a:endParaRPr lang="en-US" sz="1800" dirty="0"/>
          </a:p>
        </p:txBody>
      </p:sp>
      <p:sp>
        <p:nvSpPr>
          <p:cNvPr id="9" name="Text 6"/>
          <p:cNvSpPr txBox="1"/>
          <p:nvPr/>
        </p:nvSpPr>
        <p:spPr>
          <a:xfrm>
            <a:off x="5729630" y="4535424"/>
            <a:ext cx="1905610" cy="882396"/>
          </a:xfrm>
          <a:prstGeom prst="rect">
            <a:avLst/>
          </a:prstGeom>
          <a:noFill/>
          <a:ln/>
        </p:spPr>
        <p:txBody>
          <a:bodyPr wrap="square" lIns="0" tIns="0" rIns="0" bIns="0" rtlCol="0" anchor="t"/>
          <a:lstStyle/>
          <a:p>
            <a:pPr algn="l" indent="0" marL="0">
              <a:buNone/>
            </a:pPr>
            <a:r>
              <a:rPr lang="en-US" sz="1800" dirty="0">
                <a:solidFill>
                  <a:srgbClr val="1B1B1F"/>
                </a:solidFill>
              </a:rPr>
              <a:t>danach immer: </a:t>
            </a:r>
            <a:r>
              <a:rPr lang="en-US" sz="1800" b="1" dirty="0">
                <a:solidFill>
                  <a:srgbClr val="1B1B1F"/>
                </a:solidFill>
              </a:rPr>
              <a:t>Name + persönlicher Code</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Schritt 2: Weiter zu Kryptos</a:t>
            </a:r>
            <a:endParaRPr lang="en-US" sz="3000" dirty="0"/>
          </a:p>
        </p:txBody>
      </p:sp>
      <p:pic>
        <p:nvPicPr>
          <p:cNvPr id="3" name="Image 0" descr="Screenshot Portal „Meine Plattformen“: Karte „Kryptos – Die Zeitreise der Geheimschriften“ (Messing auf Tintenblau) mit Knopf „Weiter zu Kryptos“.">    </p:cNvPr>
          <p:cNvPicPr>
            <a:picLocks noChangeAspect="1"/>
          </p:cNvPicPr>
          <p:nvPr/>
        </p:nvPicPr>
        <p:blipFill>
          <a:blip r:embed="rId1"/>
          <a:stretch>
            <a:fillRect/>
          </a:stretch>
        </p:blipFill>
        <p:spPr>
          <a:xfrm>
            <a:off x="548640" y="1325880"/>
            <a:ext cx="4586630" cy="2866644"/>
          </a:xfrm>
          <a:prstGeom prst="rect">
            <a:avLst/>
          </a:prstGeom>
        </p:spPr>
      </p:pic>
      <p:sp>
        <p:nvSpPr>
          <p:cNvPr id="4" name="Shape 1"/>
          <p:cNvSpPr/>
          <p:nvPr/>
        </p:nvSpPr>
        <p:spPr>
          <a:xfrm>
            <a:off x="5501030" y="1325880"/>
            <a:ext cx="2362810" cy="4388104"/>
          </a:xfrm>
          <a:prstGeom prst="roundRect">
            <a:avLst>
              <a:gd name="adj" fmla="val 3096"/>
            </a:avLst>
          </a:prstGeom>
          <a:solidFill>
            <a:srgbClr val="EEF6EE"/>
          </a:solidFill>
          <a:ln w="12700">
            <a:solidFill>
              <a:srgbClr val="2E7D32"/>
            </a:solidFill>
            <a:prstDash val="solid"/>
          </a:ln>
        </p:spPr>
      </p:sp>
      <p:sp>
        <p:nvSpPr>
          <p:cNvPr id="5" name="Text 2"/>
          <p:cNvSpPr txBox="1"/>
          <p:nvPr/>
        </p:nvSpPr>
        <p:spPr>
          <a:xfrm>
            <a:off x="5729630" y="1435608"/>
            <a:ext cx="1905610" cy="274320"/>
          </a:xfrm>
          <a:prstGeom prst="rect">
            <a:avLst/>
          </a:prstGeom>
          <a:noFill/>
          <a:ln/>
        </p:spPr>
        <p:txBody>
          <a:bodyPr wrap="square" lIns="0" tIns="0" rIns="0" bIns="0" rtlCol="0" anchor="ctr"/>
          <a:lstStyle/>
          <a:p>
            <a:pPr indent="0" marL="0">
              <a:buNone/>
            </a:pPr>
            <a:r>
              <a:rPr lang="en-US" sz="1300" b="1" spc="200" kern="0" dirty="0">
                <a:solidFill>
                  <a:srgbClr val="2E7D32"/>
                </a:solidFill>
              </a:rPr>
              <a:t>EIN KONTO FÜR ALLES</a:t>
            </a:r>
            <a:endParaRPr lang="en-US" sz="1300" dirty="0"/>
          </a:p>
        </p:txBody>
      </p:sp>
      <p:sp>
        <p:nvSpPr>
          <p:cNvPr id="6" name="Text 3"/>
          <p:cNvSpPr txBox="1"/>
          <p:nvPr/>
        </p:nvSpPr>
        <p:spPr>
          <a:xfrm>
            <a:off x="5729630" y="1783080"/>
            <a:ext cx="1905610" cy="975360"/>
          </a:xfrm>
          <a:prstGeom prst="rect">
            <a:avLst/>
          </a:prstGeom>
          <a:noFill/>
          <a:ln/>
        </p:spPr>
        <p:txBody>
          <a:bodyPr wrap="square" lIns="0" tIns="0" rIns="0" bIns="0" rtlCol="0" anchor="t"/>
          <a:lstStyle/>
          <a:p>
            <a:pPr algn="l" indent="0" marL="0">
              <a:buNone/>
            </a:pPr>
            <a:r>
              <a:rPr lang="en-US" sz="2000" dirty="0">
                <a:solidFill>
                  <a:srgbClr val="1B1B1F"/>
                </a:solidFill>
              </a:rPr>
              <a:t>„</a:t>
            </a:r>
            <a:r>
              <a:rPr lang="en-US" sz="2000" b="1" dirty="0">
                <a:solidFill>
                  <a:srgbClr val="1B1B1F"/>
                </a:solidFill>
              </a:rPr>
              <a:t>Weiter zu Kryptos</a:t>
            </a:r>
            <a:r>
              <a:rPr lang="en-US" sz="2000" dirty="0">
                <a:solidFill>
                  <a:srgbClr val="1B1B1F"/>
                </a:solidFill>
              </a:rPr>
              <a:t>“ → automatisch angemeldet</a:t>
            </a:r>
            <a:endParaRPr lang="en-US" sz="2000" dirty="0"/>
          </a:p>
        </p:txBody>
      </p:sp>
      <p:sp>
        <p:nvSpPr>
          <p:cNvPr id="7" name="Text 4"/>
          <p:cNvSpPr txBox="1"/>
          <p:nvPr/>
        </p:nvSpPr>
        <p:spPr>
          <a:xfrm>
            <a:off x="5729630" y="2886456"/>
            <a:ext cx="1905610" cy="975360"/>
          </a:xfrm>
          <a:prstGeom prst="rect">
            <a:avLst/>
          </a:prstGeom>
          <a:noFill/>
          <a:ln/>
        </p:spPr>
        <p:txBody>
          <a:bodyPr wrap="square" lIns="0" tIns="0" rIns="0" bIns="0" rtlCol="0" anchor="t"/>
          <a:lstStyle/>
          <a:p>
            <a:pPr algn="l" indent="0" marL="0">
              <a:buNone/>
            </a:pPr>
            <a:r>
              <a:rPr lang="en-US" sz="2000" dirty="0">
                <a:solidFill>
                  <a:srgbClr val="1B1B1F"/>
                </a:solidFill>
              </a:rPr>
              <a:t>kein eigenes Passwort in Kryptos</a:t>
            </a:r>
            <a:endParaRPr lang="en-US" sz="2000" dirty="0"/>
          </a:p>
        </p:txBody>
      </p:sp>
      <p:sp>
        <p:nvSpPr>
          <p:cNvPr id="8" name="Text 5"/>
          <p:cNvSpPr txBox="1"/>
          <p:nvPr/>
        </p:nvSpPr>
        <p:spPr>
          <a:xfrm>
            <a:off x="5729630" y="3989832"/>
            <a:ext cx="1905610" cy="665480"/>
          </a:xfrm>
          <a:prstGeom prst="rect">
            <a:avLst/>
          </a:prstGeom>
          <a:noFill/>
          <a:ln/>
        </p:spPr>
        <p:txBody>
          <a:bodyPr wrap="square" lIns="0" tIns="0" rIns="0" bIns="0" rtlCol="0" anchor="t"/>
          <a:lstStyle/>
          <a:p>
            <a:pPr algn="l" indent="0" marL="0">
              <a:buNone/>
            </a:pPr>
            <a:r>
              <a:rPr lang="en-US" sz="2000" dirty="0">
                <a:solidFill>
                  <a:srgbClr val="1B1B1F"/>
                </a:solidFill>
              </a:rPr>
              <a:t>oben „⌂ Portal“: zurück</a:t>
            </a:r>
            <a:endParaRPr lang="en-US" sz="2000" dirty="0"/>
          </a:p>
        </p:txBody>
      </p:sp>
      <p:sp>
        <p:nvSpPr>
          <p:cNvPr id="9" name="Text 6"/>
          <p:cNvSpPr txBox="1"/>
          <p:nvPr/>
        </p:nvSpPr>
        <p:spPr>
          <a:xfrm>
            <a:off x="5729630" y="4783328"/>
            <a:ext cx="1905610" cy="665480"/>
          </a:xfrm>
          <a:prstGeom prst="rect">
            <a:avLst/>
          </a:prstGeom>
          <a:noFill/>
          <a:ln/>
        </p:spPr>
        <p:txBody>
          <a:bodyPr wrap="square" lIns="0" tIns="0" rIns="0" bIns="0" rtlCol="0" anchor="t"/>
          <a:lstStyle/>
          <a:p>
            <a:pPr algn="l" indent="0" marL="0">
              <a:buNone/>
            </a:pPr>
            <a:r>
              <a:rPr lang="en-US" sz="2000" dirty="0">
                <a:solidFill>
                  <a:srgbClr val="1B1B1F"/>
                </a:solidFill>
              </a:rPr>
              <a:t>fremdes Gerät: </a:t>
            </a:r>
            <a:r>
              <a:rPr lang="en-US" sz="2000" b="1" dirty="0">
                <a:solidFill>
                  <a:srgbClr val="1B1B1F"/>
                </a:solidFill>
              </a:rPr>
              <a:t>Abmelden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Zeitleiste</a:t>
            </a:r>
            <a:endParaRPr lang="en-US" sz="3000" dirty="0"/>
          </a:p>
        </p:txBody>
      </p:sp>
      <p:pic>
        <p:nvPicPr>
          <p:cNvPr id="3" name="Image 0" descr="Screenshot Kryptos-Startseite: Zeitleiste von 500 v. Chr. bis heute auf Nachtblau, sieben Epochen-Tore (Antike, Bagdad, Renaissance, Maschinenzeitalter, Stanford 1976, Das Netz, Zeitmaschine) mit Fortschrittsring und Artefakt-Symbol; gesperrte Tore in Geheimtext-Optik mit „noch verschlüsselt“; Kopfzeile mit „⌂ Portal“, Labor, Profil.">    </p:cNvPr>
          <p:cNvPicPr>
            <a:picLocks noChangeAspect="1"/>
          </p:cNvPicPr>
          <p:nvPr/>
        </p:nvPicPr>
        <p:blipFill>
          <a:blip r:embed="rId1"/>
          <a:stretch>
            <a:fillRect/>
          </a:stretch>
        </p:blipFill>
        <p:spPr>
          <a:xfrm>
            <a:off x="548640" y="1325880"/>
            <a:ext cx="5003597" cy="2814523"/>
          </a:xfrm>
          <a:prstGeom prst="rect">
            <a:avLst/>
          </a:prstGeom>
        </p:spPr>
      </p:pic>
      <p:sp>
        <p:nvSpPr>
          <p:cNvPr id="4" name="Shape 1"/>
          <p:cNvSpPr/>
          <p:nvPr/>
        </p:nvSpPr>
        <p:spPr>
          <a:xfrm>
            <a:off x="5917997" y="1325880"/>
            <a:ext cx="1945843" cy="4388104"/>
          </a:xfrm>
          <a:prstGeom prst="roundRect">
            <a:avLst>
              <a:gd name="adj" fmla="val 3759"/>
            </a:avLst>
          </a:prstGeom>
          <a:solidFill>
            <a:srgbClr val="FBF3E2"/>
          </a:solidFill>
          <a:ln w="12700">
            <a:solidFill>
              <a:srgbClr val="8A5F1A"/>
            </a:solidFill>
            <a:prstDash val="solid"/>
          </a:ln>
        </p:spPr>
      </p:sp>
      <p:sp>
        <p:nvSpPr>
          <p:cNvPr id="5" name="Text 2"/>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8A5F1A"/>
                </a:solidFill>
              </a:rPr>
              <a:t>SIEBEN EPOCHEN</a:t>
            </a:r>
            <a:endParaRPr lang="en-US" sz="1300" dirty="0"/>
          </a:p>
        </p:txBody>
      </p:sp>
      <p:sp>
        <p:nvSpPr>
          <p:cNvPr id="6" name="Text 3"/>
          <p:cNvSpPr txBox="1"/>
          <p:nvPr/>
        </p:nvSpPr>
        <p:spPr>
          <a:xfrm>
            <a:off x="6146597" y="1783080"/>
            <a:ext cx="1488643" cy="665480"/>
          </a:xfrm>
          <a:prstGeom prst="rect">
            <a:avLst/>
          </a:prstGeom>
          <a:noFill/>
          <a:ln/>
        </p:spPr>
        <p:txBody>
          <a:bodyPr wrap="square" lIns="0" tIns="0" rIns="0" bIns="0" rtlCol="0" anchor="t"/>
          <a:lstStyle/>
          <a:p>
            <a:pPr algn="l" indent="0" marL="0">
              <a:buNone/>
            </a:pPr>
            <a:r>
              <a:rPr lang="en-US" sz="2000" dirty="0">
                <a:solidFill>
                  <a:srgbClr val="1B1B1F"/>
                </a:solidFill>
              </a:rPr>
              <a:t>0 Antike · 1 Bagdad</a:t>
            </a:r>
            <a:endParaRPr lang="en-US" sz="2000" dirty="0"/>
          </a:p>
        </p:txBody>
      </p:sp>
      <p:sp>
        <p:nvSpPr>
          <p:cNvPr id="7" name="Text 4"/>
          <p:cNvSpPr txBox="1"/>
          <p:nvPr/>
        </p:nvSpPr>
        <p:spPr>
          <a:xfrm>
            <a:off x="6146597" y="2576576"/>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2 Renaissance · 3 Maschinen</a:t>
            </a:r>
            <a:endParaRPr lang="en-US" sz="2000" dirty="0"/>
          </a:p>
        </p:txBody>
      </p:sp>
      <p:sp>
        <p:nvSpPr>
          <p:cNvPr id="8" name="Text 5"/>
          <p:cNvSpPr txBox="1"/>
          <p:nvPr/>
        </p:nvSpPr>
        <p:spPr>
          <a:xfrm>
            <a:off x="6146597" y="3679952"/>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4 Stanford 1976 · 5 Das Netz</a:t>
            </a:r>
            <a:endParaRPr lang="en-US" sz="2000" dirty="0"/>
          </a:p>
        </p:txBody>
      </p:sp>
      <p:sp>
        <p:nvSpPr>
          <p:cNvPr id="9" name="Text 6"/>
          <p:cNvSpPr txBox="1"/>
          <p:nvPr/>
        </p:nvSpPr>
        <p:spPr>
          <a:xfrm>
            <a:off x="6146597" y="4783328"/>
            <a:ext cx="1488643" cy="665480"/>
          </a:xfrm>
          <a:prstGeom prst="rect">
            <a:avLst/>
          </a:prstGeom>
          <a:noFill/>
          <a:ln/>
        </p:spPr>
        <p:txBody>
          <a:bodyPr wrap="square" lIns="0" tIns="0" rIns="0" bIns="0" rtlCol="0" anchor="t"/>
          <a:lstStyle/>
          <a:p>
            <a:pPr algn="l" indent="0" marL="0">
              <a:buNone/>
            </a:pPr>
            <a:r>
              <a:rPr lang="en-US" sz="2000" dirty="0">
                <a:solidFill>
                  <a:srgbClr val="1B1B1F"/>
                </a:solidFill>
              </a:rPr>
              <a:t>6 Zeitmaschine</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Ein Level von innen</a:t>
            </a:r>
            <a:endParaRPr lang="en-US" sz="3000" dirty="0"/>
          </a:p>
        </p:txBody>
      </p:sp>
      <p:pic>
        <p:nvPicPr>
          <p:cNvPr id="3" name="Image 0" descr="Screenshot Level-Seite „Caesars Botschaft“ (Akte W0·2): Kasten „Archivwissen“, Rollen-Chip 🛡/🔍, Aufgabenliste mit ★ bis ★★★ und Fortschritt, eingebettete Chiffrierscheibe, Karte „Akte als PDF“ mit QR-Code.">    </p:cNvPr>
          <p:cNvPicPr>
            <a:picLocks noChangeAspect="1"/>
          </p:cNvPicPr>
          <p:nvPr/>
        </p:nvPicPr>
        <p:blipFill>
          <a:blip r:embed="rId1"/>
          <a:stretch>
            <a:fillRect/>
          </a:stretch>
        </p:blipFill>
        <p:spPr>
          <a:xfrm>
            <a:off x="548640" y="1325880"/>
            <a:ext cx="5003597" cy="2814523"/>
          </a:xfrm>
          <a:prstGeom prst="rect">
            <a:avLst/>
          </a:prstGeom>
        </p:spPr>
      </p:pic>
      <p:sp>
        <p:nvSpPr>
          <p:cNvPr id="4" name="Shape 1"/>
          <p:cNvSpPr/>
          <p:nvPr/>
        </p:nvSpPr>
        <p:spPr>
          <a:xfrm>
            <a:off x="5917997" y="1325880"/>
            <a:ext cx="1945843" cy="4078224"/>
          </a:xfrm>
          <a:prstGeom prst="roundRect">
            <a:avLst>
              <a:gd name="adj" fmla="val 3759"/>
            </a:avLst>
          </a:prstGeom>
          <a:solidFill>
            <a:srgbClr val="F2EADB"/>
          </a:solidFill>
          <a:ln w="12700">
            <a:solidFill>
              <a:srgbClr val="8A5F1A"/>
            </a:solidFill>
            <a:prstDash val="solid"/>
          </a:ln>
        </p:spPr>
      </p:sp>
      <p:sp>
        <p:nvSpPr>
          <p:cNvPr id="5" name="Text 2"/>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14213D"/>
                </a:solidFill>
              </a:rPr>
              <a:t>IM LEVEL</a:t>
            </a:r>
            <a:endParaRPr lang="en-US" sz="1300" dirty="0"/>
          </a:p>
        </p:txBody>
      </p:sp>
      <p:sp>
        <p:nvSpPr>
          <p:cNvPr id="6" name="Text 3"/>
          <p:cNvSpPr txBox="1"/>
          <p:nvPr/>
        </p:nvSpPr>
        <p:spPr>
          <a:xfrm>
            <a:off x="6146597" y="1783080"/>
            <a:ext cx="1488643" cy="665480"/>
          </a:xfrm>
          <a:prstGeom prst="rect">
            <a:avLst/>
          </a:prstGeom>
          <a:noFill/>
          <a:ln/>
        </p:spPr>
        <p:txBody>
          <a:bodyPr wrap="square" lIns="0" tIns="0" rIns="0" bIns="0" rtlCol="0" anchor="t"/>
          <a:lstStyle/>
          <a:p>
            <a:pPr algn="l" indent="0" marL="0">
              <a:buNone/>
            </a:pPr>
            <a:r>
              <a:rPr lang="en-US" sz="2000" dirty="0">
                <a:solidFill>
                  <a:srgbClr val="1B1B1F"/>
                </a:solidFill>
              </a:rPr>
              <a:t>eine Doppelstunde</a:t>
            </a:r>
            <a:endParaRPr lang="en-US" sz="2000" dirty="0"/>
          </a:p>
        </p:txBody>
      </p:sp>
      <p:sp>
        <p:nvSpPr>
          <p:cNvPr id="7" name="Text 4"/>
          <p:cNvSpPr txBox="1"/>
          <p:nvPr/>
        </p:nvSpPr>
        <p:spPr>
          <a:xfrm>
            <a:off x="6146597" y="2576576"/>
            <a:ext cx="1488643" cy="665480"/>
          </a:xfrm>
          <a:prstGeom prst="rect">
            <a:avLst/>
          </a:prstGeom>
          <a:noFill/>
          <a:ln/>
        </p:spPr>
        <p:txBody>
          <a:bodyPr wrap="square" lIns="0" tIns="0" rIns="0" bIns="0" rtlCol="0" anchor="t"/>
          <a:lstStyle/>
          <a:p>
            <a:pPr algn="l" indent="0" marL="0">
              <a:buNone/>
            </a:pPr>
            <a:r>
              <a:rPr lang="en-US" sz="2000" b="1" dirty="0">
                <a:solidFill>
                  <a:srgbClr val="1B1B1F"/>
                </a:solidFill>
              </a:rPr>
              <a:t>Archivwissen</a:t>
            </a:r>
            <a:endParaRPr lang="en-US" sz="2000" dirty="0"/>
          </a:p>
        </p:txBody>
      </p:sp>
      <p:sp>
        <p:nvSpPr>
          <p:cNvPr id="8" name="Text 5"/>
          <p:cNvSpPr txBox="1"/>
          <p:nvPr/>
        </p:nvSpPr>
        <p:spPr>
          <a:xfrm>
            <a:off x="6146597" y="3370072"/>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6–8 Aufgaben, ★ bis ★★★</a:t>
            </a:r>
            <a:endParaRPr lang="en-US" sz="2000" dirty="0"/>
          </a:p>
        </p:txBody>
      </p:sp>
      <p:sp>
        <p:nvSpPr>
          <p:cNvPr id="9" name="Text 6"/>
          <p:cNvSpPr txBox="1"/>
          <p:nvPr/>
        </p:nvSpPr>
        <p:spPr>
          <a:xfrm>
            <a:off x="6146597" y="4473448"/>
            <a:ext cx="1488643" cy="665480"/>
          </a:xfrm>
          <a:prstGeom prst="rect">
            <a:avLst/>
          </a:prstGeom>
          <a:noFill/>
          <a:ln/>
        </p:spPr>
        <p:txBody>
          <a:bodyPr wrap="square" lIns="0" tIns="0" rIns="0" bIns="0" rtlCol="0" anchor="t"/>
          <a:lstStyle/>
          <a:p>
            <a:pPr algn="l" indent="0" marL="0">
              <a:buNone/>
            </a:pPr>
            <a:r>
              <a:rPr lang="en-US" sz="2000" dirty="0">
                <a:solidFill>
                  <a:srgbClr val="1B1B1F"/>
                </a:solidFill>
              </a:rPr>
              <a:t>dazu die </a:t>
            </a:r>
            <a:r>
              <a:rPr lang="en-US" sz="2000" b="1" dirty="0">
                <a:solidFill>
                  <a:srgbClr val="1B1B1F"/>
                </a:solidFill>
              </a:rPr>
              <a:t>Akte</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Prüfen, Tipp, Lösung zeigen</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754880" cy="914400"/>
        </p:xfrm>
        <a:graphic>
          <a:graphicData uri="http://schemas.openxmlformats.org/drawingml/2006/table">
            <a:tbl>
              <a:tblPr/>
              <a:tblGrid>
                <a:gridCol w="3840480"/>
                <a:gridCol w="914400"/>
              </a:tblGrid>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Aufgabe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Punkte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 10 P., sofort richtig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 20 P., mit 1 Tipp</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16</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 20 P., 1 Tipp + 1 Fehlversuch</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 30 P., 2 Fehlversuche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15</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 20 P., 4 Fehlversuche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„Lösung zeigen“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Shape 1"/>
          <p:cNvSpPr/>
          <p:nvPr/>
        </p:nvSpPr>
        <p:spPr>
          <a:xfrm>
            <a:off x="5779008" y="1325880"/>
            <a:ext cx="2084832" cy="3768344"/>
          </a:xfrm>
          <a:prstGeom prst="roundRect">
            <a:avLst>
              <a:gd name="adj" fmla="val 3509"/>
            </a:avLst>
          </a:prstGeom>
          <a:solidFill>
            <a:srgbClr val="FBF3E2"/>
          </a:solidFill>
          <a:ln w="12700">
            <a:solidFill>
              <a:srgbClr val="8A5F1A"/>
            </a:solidFill>
            <a:prstDash val="solid"/>
          </a:ln>
        </p:spPr>
      </p:sp>
      <p:sp>
        <p:nvSpPr>
          <p:cNvPr id="5" name="Text 2"/>
          <p:cNvSpPr txBox="1"/>
          <p:nvPr/>
        </p:nvSpPr>
        <p:spPr>
          <a:xfrm>
            <a:off x="6007608" y="1435608"/>
            <a:ext cx="1627632" cy="274320"/>
          </a:xfrm>
          <a:prstGeom prst="rect">
            <a:avLst/>
          </a:prstGeom>
          <a:noFill/>
          <a:ln/>
        </p:spPr>
        <p:txBody>
          <a:bodyPr wrap="square" lIns="0" tIns="0" rIns="0" bIns="0" rtlCol="0" anchor="ctr"/>
          <a:lstStyle/>
          <a:p>
            <a:pPr indent="0" marL="0">
              <a:buNone/>
            </a:pPr>
            <a:r>
              <a:rPr lang="en-US" sz="1300" b="1" spc="200" kern="0" dirty="0">
                <a:solidFill>
                  <a:srgbClr val="8A5F1A"/>
                </a:solidFill>
              </a:rPr>
              <a:t>DIE REGELN</a:t>
            </a:r>
            <a:endParaRPr lang="en-US" sz="1300" dirty="0"/>
          </a:p>
        </p:txBody>
      </p:sp>
      <p:sp>
        <p:nvSpPr>
          <p:cNvPr id="6" name="Text 3"/>
          <p:cNvSpPr txBox="1"/>
          <p:nvPr/>
        </p:nvSpPr>
        <p:spPr>
          <a:xfrm>
            <a:off x="6007608" y="1783080"/>
            <a:ext cx="1627632" cy="665480"/>
          </a:xfrm>
          <a:prstGeom prst="rect">
            <a:avLst/>
          </a:prstGeom>
          <a:noFill/>
          <a:ln/>
        </p:spPr>
        <p:txBody>
          <a:bodyPr wrap="square" lIns="0" tIns="0" rIns="0" bIns="0" rtlCol="0" anchor="t"/>
          <a:lstStyle/>
          <a:p>
            <a:pPr algn="l" indent="0" marL="0">
              <a:buNone/>
            </a:pPr>
            <a:r>
              <a:rPr lang="en-US" sz="2000" dirty="0">
                <a:solidFill>
                  <a:srgbClr val="1B1B1F"/>
                </a:solidFill>
              </a:rPr>
              <a:t>je Tipp </a:t>
            </a:r>
            <a:r>
              <a:rPr lang="en-US" sz="2000" b="1" dirty="0">
                <a:solidFill>
                  <a:srgbClr val="1B1B1F"/>
                </a:solidFill>
              </a:rPr>
              <a:t>− 20 %</a:t>
            </a:r>
            <a:endParaRPr lang="en-US" sz="2000" dirty="0"/>
          </a:p>
        </p:txBody>
      </p:sp>
      <p:sp>
        <p:nvSpPr>
          <p:cNvPr id="7" name="Text 4"/>
          <p:cNvSpPr txBox="1"/>
          <p:nvPr/>
        </p:nvSpPr>
        <p:spPr>
          <a:xfrm>
            <a:off x="6007608" y="2576576"/>
            <a:ext cx="1627632" cy="665480"/>
          </a:xfrm>
          <a:prstGeom prst="rect">
            <a:avLst/>
          </a:prstGeom>
          <a:noFill/>
          <a:ln/>
        </p:spPr>
        <p:txBody>
          <a:bodyPr wrap="square" lIns="0" tIns="0" rIns="0" bIns="0" rtlCol="0" anchor="t"/>
          <a:lstStyle/>
          <a:p>
            <a:pPr algn="l" indent="0" marL="0">
              <a:buNone/>
            </a:pPr>
            <a:r>
              <a:rPr lang="en-US" sz="2000" dirty="0">
                <a:solidFill>
                  <a:srgbClr val="1B1B1F"/>
                </a:solidFill>
              </a:rPr>
              <a:t>je Fehlversuch </a:t>
            </a:r>
            <a:r>
              <a:rPr lang="en-US" sz="2000" b="1" dirty="0">
                <a:solidFill>
                  <a:srgbClr val="1B1B1F"/>
                </a:solidFill>
              </a:rPr>
              <a:t>− 25 %</a:t>
            </a:r>
            <a:endParaRPr lang="en-US" sz="2000" dirty="0"/>
          </a:p>
        </p:txBody>
      </p:sp>
      <p:sp>
        <p:nvSpPr>
          <p:cNvPr id="8" name="Text 5"/>
          <p:cNvSpPr txBox="1"/>
          <p:nvPr/>
        </p:nvSpPr>
        <p:spPr>
          <a:xfrm>
            <a:off x="6007608" y="3370072"/>
            <a:ext cx="1627632" cy="665480"/>
          </a:xfrm>
          <a:prstGeom prst="rect">
            <a:avLst/>
          </a:prstGeom>
          <a:noFill/>
          <a:ln/>
        </p:spPr>
        <p:txBody>
          <a:bodyPr wrap="square" lIns="0" tIns="0" rIns="0" bIns="0" rtlCol="0" anchor="t"/>
          <a:lstStyle/>
          <a:p>
            <a:pPr algn="l" indent="0" marL="0">
              <a:buNone/>
            </a:pPr>
            <a:r>
              <a:rPr lang="en-US" sz="2000" dirty="0">
                <a:solidFill>
                  <a:srgbClr val="1B1B1F"/>
                </a:solidFill>
              </a:rPr>
              <a:t>mindestens </a:t>
            </a:r>
            <a:r>
              <a:rPr lang="en-US" sz="2000" b="1" dirty="0">
                <a:solidFill>
                  <a:srgbClr val="1B1B1F"/>
                </a:solidFill>
              </a:rPr>
              <a:t>25 %</a:t>
            </a:r>
            <a:r>
              <a:rPr lang="en-US" sz="2000" dirty="0">
                <a:solidFill>
                  <a:srgbClr val="1B1B1F"/>
                </a:solidFill>
              </a:rPr>
              <a:t> bleiben</a:t>
            </a:r>
            <a:endParaRPr lang="en-US" sz="2000" dirty="0"/>
          </a:p>
        </p:txBody>
      </p:sp>
      <p:sp>
        <p:nvSpPr>
          <p:cNvPr id="9" name="Text 6"/>
          <p:cNvSpPr txBox="1"/>
          <p:nvPr/>
        </p:nvSpPr>
        <p:spPr>
          <a:xfrm>
            <a:off x="6007608" y="4163568"/>
            <a:ext cx="1627632" cy="665480"/>
          </a:xfrm>
          <a:prstGeom prst="rect">
            <a:avLst/>
          </a:prstGeom>
          <a:noFill/>
          <a:ln/>
        </p:spPr>
        <p:txBody>
          <a:bodyPr wrap="square" lIns="0" tIns="0" rIns="0" bIns="0" rtlCol="0" anchor="t"/>
          <a:lstStyle/>
          <a:p>
            <a:pPr algn="l" indent="0" marL="0">
              <a:buNone/>
            </a:pPr>
            <a:r>
              <a:rPr lang="en-US" sz="2000" dirty="0">
                <a:solidFill>
                  <a:srgbClr val="1B1B1F"/>
                </a:solidFill>
              </a:rPr>
              <a:t>„Lösung zeigen“: </a:t>
            </a:r>
            <a:r>
              <a:rPr lang="en-US" sz="2000" b="1" dirty="0">
                <a:solidFill>
                  <a:srgbClr val="1B1B1F"/>
                </a:solidFill>
              </a:rPr>
              <a:t>0</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zehn Fallen P1–P10</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308653" cy="914400"/>
        </p:xfrm>
        <a:graphic>
          <a:graphicData uri="http://schemas.openxmlformats.org/drawingml/2006/table">
            <a:tbl>
              <a:tblPr/>
              <a:tblGrid>
                <a:gridCol w="364112"/>
                <a:gridCol w="1759872"/>
                <a:gridCol w="424797"/>
                <a:gridCol w="1759872"/>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Nr.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Falle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Nr.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Falle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Zählbasis verwechselt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P6</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Häufigkeitsanalyse pauschal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P2</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Modulo falsch</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P7</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Schlüsselraum falsch</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P3</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Umkehrung falsch</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P8</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Kombination überschätzt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P4</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Verfahrensregel übersehen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P9</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Schlüsselrollen verwechselt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P5</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Falsch eingeordnet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P10</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Operator verfehlt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Shape 1"/>
          <p:cNvSpPr/>
          <p:nvPr/>
        </p:nvSpPr>
        <p:spPr>
          <a:xfrm>
            <a:off x="5223053" y="1325880"/>
            <a:ext cx="2640787" cy="2491232"/>
          </a:xfrm>
          <a:prstGeom prst="roundRect">
            <a:avLst>
              <a:gd name="adj" fmla="val 2936"/>
            </a:avLst>
          </a:prstGeom>
          <a:solidFill>
            <a:srgbClr val="FDF3F2"/>
          </a:solidFill>
          <a:ln w="12700">
            <a:solidFill>
              <a:srgbClr val="B3261E"/>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IM LAB</a:t>
            </a:r>
            <a:endParaRPr lang="en-US" sz="1300" dirty="0"/>
          </a:p>
        </p:txBody>
      </p:sp>
      <p:sp>
        <p:nvSpPr>
          <p:cNvPr id="6" name="Text 3"/>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Rückmeldung nennt die Falle, z. B. </a:t>
            </a:r>
            <a:r>
              <a:rPr lang="en-US" sz="2000" b="1" dirty="0">
                <a:solidFill>
                  <a:srgbClr val="1B1B1F"/>
                </a:solidFill>
              </a:rPr>
              <a:t>P3 Umkehrung</a:t>
            </a:r>
            <a:endParaRPr lang="en-US" sz="2000" dirty="0"/>
          </a:p>
        </p:txBody>
      </p:sp>
      <p:sp>
        <p:nvSpPr>
          <p:cNvPr id="7" name="Text 4"/>
          <p:cNvSpPr txBox="1"/>
          <p:nvPr/>
        </p:nvSpPr>
        <p:spPr>
          <a:xfrm>
            <a:off x="5451653" y="288645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Profil: </a:t>
            </a:r>
            <a:r>
              <a:rPr lang="en-US" sz="2000" b="1" dirty="0">
                <a:solidFill>
                  <a:srgbClr val="1B1B1F"/>
                </a:solidFill>
              </a:rPr>
              <a:t>Deine Fallen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Boss, Trainingsplatz, Warm-up</a:t>
            </a:r>
            <a:endParaRPr lang="en-US" sz="3000" dirty="0"/>
          </a:p>
        </p:txBody>
      </p:sp>
      <p:sp>
        <p:nvSpPr>
          <p:cNvPr id="3" name="Text 1"/>
          <p:cNvSpPr txBox="1"/>
          <p:nvPr/>
        </p:nvSpPr>
        <p:spPr>
          <a:xfrm>
            <a:off x="548640" y="1325880"/>
            <a:ext cx="5003597" cy="975360"/>
          </a:xfrm>
          <a:prstGeom prst="rect">
            <a:avLst/>
          </a:prstGeom>
          <a:noFill/>
          <a:ln/>
        </p:spPr>
        <p:txBody>
          <a:bodyPr wrap="square" lIns="0" tIns="0" rIns="0" bIns="0" rtlCol="0" anchor="t"/>
          <a:lstStyle/>
          <a:p>
            <a:pPr algn="l" indent="0" marL="0">
              <a:buNone/>
            </a:pPr>
            <a:r>
              <a:rPr lang="en-US" sz="2000" dirty="0">
                <a:solidFill>
                  <a:srgbClr val="1B1B1F"/>
                </a:solidFill>
              </a:rPr>
              <a:t>Trainingsplatz: Zufallsaufgaben, 1 Punkt, max. 30/Tag · Warm-up: Karten auf Papier, ohne Punkte</a:t>
            </a:r>
            <a:endParaRPr lang="en-US" sz="2000" dirty="0"/>
          </a:p>
        </p:txBody>
      </p:sp>
      <p:pic>
        <p:nvPicPr>
          <p:cNvPr id="4" name="Image 0" descr="Screenshot Boss-Startseite einer Epoche: „8 Aufgaben · 25 Minuten · ohne Werkzeuge“, Siegel-Symbol, bester Versuch, Knopf „Boss herausfordern“.">    </p:cNvPr>
          <p:cNvPicPr>
            <a:picLocks noChangeAspect="1"/>
          </p:cNvPicPr>
          <p:nvPr/>
        </p:nvPicPr>
        <p:blipFill>
          <a:blip r:embed="rId1"/>
          <a:stretch>
            <a:fillRect/>
          </a:stretch>
        </p:blipFill>
        <p:spPr>
          <a:xfrm>
            <a:off x="548640" y="2429256"/>
            <a:ext cx="5003597" cy="2814523"/>
          </a:xfrm>
          <a:prstGeom prst="rect">
            <a:avLst/>
          </a:prstGeom>
        </p:spPr>
      </p:pic>
      <p:sp>
        <p:nvSpPr>
          <p:cNvPr id="5" name="Shape 2"/>
          <p:cNvSpPr/>
          <p:nvPr/>
        </p:nvSpPr>
        <p:spPr>
          <a:xfrm>
            <a:off x="5917997" y="1325880"/>
            <a:ext cx="1945843" cy="4357116"/>
          </a:xfrm>
          <a:prstGeom prst="roundRect">
            <a:avLst>
              <a:gd name="adj" fmla="val 3759"/>
            </a:avLst>
          </a:prstGeom>
          <a:solidFill>
            <a:srgbClr val="FDF3F2"/>
          </a:solidFill>
          <a:ln w="12700">
            <a:solidFill>
              <a:srgbClr val="B3261E"/>
            </a:solidFill>
            <a:prstDash val="solid"/>
          </a:ln>
        </p:spPr>
      </p:sp>
      <p:sp>
        <p:nvSpPr>
          <p:cNvPr id="6" name="Text 3"/>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B3261E"/>
                </a:solidFill>
              </a:rPr>
              <a:t>BOSS</a:t>
            </a:r>
            <a:endParaRPr lang="en-US" sz="1300" dirty="0"/>
          </a:p>
        </p:txBody>
      </p:sp>
      <p:sp>
        <p:nvSpPr>
          <p:cNvPr id="7" name="Text 4"/>
          <p:cNvSpPr txBox="1"/>
          <p:nvPr/>
        </p:nvSpPr>
        <p:spPr>
          <a:xfrm>
            <a:off x="6146597" y="1783080"/>
            <a:ext cx="1488643" cy="882396"/>
          </a:xfrm>
          <a:prstGeom prst="rect">
            <a:avLst/>
          </a:prstGeom>
          <a:noFill/>
          <a:ln/>
        </p:spPr>
        <p:txBody>
          <a:bodyPr wrap="square" lIns="0" tIns="0" rIns="0" bIns="0" rtlCol="0" anchor="t"/>
          <a:lstStyle/>
          <a:p>
            <a:pPr algn="l" indent="0" marL="0">
              <a:buNone/>
            </a:pPr>
            <a:r>
              <a:rPr lang="en-US" sz="1800" dirty="0">
                <a:solidFill>
                  <a:srgbClr val="1B1B1F"/>
                </a:solidFill>
              </a:rPr>
              <a:t>8 Aufgaben, 25 min, </a:t>
            </a:r>
            <a:r>
              <a:rPr lang="en-US" sz="1800" b="1" dirty="0">
                <a:solidFill>
                  <a:srgbClr val="1B1B1F"/>
                </a:solidFill>
              </a:rPr>
              <a:t>ohne</a:t>
            </a:r>
            <a:r>
              <a:rPr lang="en-US" sz="1800" dirty="0">
                <a:solidFill>
                  <a:srgbClr val="1B1B1F"/>
                </a:solidFill>
              </a:rPr>
              <a:t> Werkzeuge</a:t>
            </a:r>
            <a:endParaRPr lang="en-US" sz="1800" dirty="0"/>
          </a:p>
        </p:txBody>
      </p:sp>
      <p:sp>
        <p:nvSpPr>
          <p:cNvPr id="8" name="Text 5"/>
          <p:cNvSpPr txBox="1"/>
          <p:nvPr/>
        </p:nvSpPr>
        <p:spPr>
          <a:xfrm>
            <a:off x="6146597" y="2793492"/>
            <a:ext cx="1488643" cy="603504"/>
          </a:xfrm>
          <a:prstGeom prst="rect">
            <a:avLst/>
          </a:prstGeom>
          <a:noFill/>
          <a:ln/>
        </p:spPr>
        <p:txBody>
          <a:bodyPr wrap="square" lIns="0" tIns="0" rIns="0" bIns="0" rtlCol="0" anchor="t"/>
          <a:lstStyle/>
          <a:p>
            <a:pPr algn="l" indent="0" marL="0">
              <a:buNone/>
            </a:pPr>
            <a:r>
              <a:rPr lang="en-US" sz="1800" dirty="0">
                <a:solidFill>
                  <a:srgbClr val="1B1B1F"/>
                </a:solidFill>
              </a:rPr>
              <a:t>besiegt ab </a:t>
            </a:r>
            <a:r>
              <a:rPr lang="en-US" sz="1800" b="1" dirty="0">
                <a:solidFill>
                  <a:srgbClr val="1B1B1F"/>
                </a:solidFill>
              </a:rPr>
              <a:t>50 %</a:t>
            </a:r>
            <a:endParaRPr lang="en-US" sz="1800" dirty="0"/>
          </a:p>
        </p:txBody>
      </p:sp>
      <p:sp>
        <p:nvSpPr>
          <p:cNvPr id="9" name="Text 6"/>
          <p:cNvSpPr txBox="1"/>
          <p:nvPr/>
        </p:nvSpPr>
        <p:spPr>
          <a:xfrm>
            <a:off x="6146597" y="3525012"/>
            <a:ext cx="1488643" cy="882396"/>
          </a:xfrm>
          <a:prstGeom prst="rect">
            <a:avLst/>
          </a:prstGeom>
          <a:noFill/>
          <a:ln/>
        </p:spPr>
        <p:txBody>
          <a:bodyPr wrap="square" lIns="0" tIns="0" rIns="0" bIns="0" rtlCol="0" anchor="t"/>
          <a:lstStyle/>
          <a:p>
            <a:pPr algn="l" indent="0" marL="0">
              <a:buNone/>
            </a:pPr>
            <a:r>
              <a:rPr lang="en-US" sz="1800" dirty="0">
                <a:solidFill>
                  <a:srgbClr val="1B1B1F"/>
                </a:solidFill>
              </a:rPr>
              <a:t>bester Versuch zählt, dann 12 h Pause</a:t>
            </a:r>
            <a:endParaRPr lang="en-US" sz="1800" dirty="0"/>
          </a:p>
        </p:txBody>
      </p:sp>
      <p:sp>
        <p:nvSpPr>
          <p:cNvPr id="10" name="Text 7"/>
          <p:cNvSpPr txBox="1"/>
          <p:nvPr/>
        </p:nvSpPr>
        <p:spPr>
          <a:xfrm>
            <a:off x="6146597" y="4535424"/>
            <a:ext cx="1488643" cy="882396"/>
          </a:xfrm>
          <a:prstGeom prst="rect">
            <a:avLst/>
          </a:prstGeom>
          <a:noFill/>
          <a:ln/>
        </p:spPr>
        <p:txBody>
          <a:bodyPr wrap="square" lIns="0" tIns="0" rIns="0" bIns="0" rtlCol="0" anchor="t"/>
          <a:lstStyle/>
          <a:p>
            <a:pPr algn="l" indent="0" marL="0">
              <a:buNone/>
            </a:pPr>
            <a:r>
              <a:rPr lang="en-US" sz="1800" dirty="0">
                <a:solidFill>
                  <a:srgbClr val="1B1B1F"/>
                </a:solidFill>
              </a:rPr>
              <a:t>frei ab 60 % der Level-Punkte</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Kryptolabor und Funkraum</a:t>
            </a:r>
            <a:endParaRPr lang="en-US" sz="3000" dirty="0"/>
          </a:p>
        </p:txBody>
      </p:sp>
      <p:pic>
        <p:nvPicPr>
          <p:cNvPr id="3" name="Image 0" descr="Links: Übersicht Kryptolabor mit Werkzeug-Kacheln (Chiffrierscheibe, Häufigkeits-Analysator, Substitutions-Werkbank, Vigenère-Werkbank, Bit-Lupe, Hash-Labor …). Rechts: Funkraum-Beameransicht auf Nachtblau – Teams als Knoten mit Namen aus der festen Liste (z. B. „Team Skytale“), Nachrichten als wandernde Punkte, Eve-Knoten rot umrandet.">    </p:cNvPr>
          <p:cNvPicPr>
            <a:picLocks noChangeAspect="1"/>
          </p:cNvPicPr>
          <p:nvPr/>
        </p:nvPicPr>
        <p:blipFill>
          <a:blip r:embed="rId1"/>
          <a:stretch>
            <a:fillRect/>
          </a:stretch>
        </p:blipFill>
        <p:spPr>
          <a:xfrm>
            <a:off x="548640" y="1325880"/>
            <a:ext cx="5003597" cy="2814523"/>
          </a:xfrm>
          <a:prstGeom prst="rect">
            <a:avLst/>
          </a:prstGeom>
        </p:spPr>
      </p:pic>
      <p:sp>
        <p:nvSpPr>
          <p:cNvPr id="4" name="Shape 1"/>
          <p:cNvSpPr/>
          <p:nvPr/>
        </p:nvSpPr>
        <p:spPr>
          <a:xfrm>
            <a:off x="5917997" y="1325880"/>
            <a:ext cx="1945843" cy="3904488"/>
          </a:xfrm>
          <a:prstGeom prst="roundRect">
            <a:avLst>
              <a:gd name="adj" fmla="val 3759"/>
            </a:avLst>
          </a:prstGeom>
          <a:solidFill>
            <a:srgbClr val="EEF3FA"/>
          </a:solidFill>
          <a:ln w="12700">
            <a:solidFill>
              <a:srgbClr val="1F4E8C"/>
            </a:solidFill>
            <a:prstDash val="solid"/>
          </a:ln>
        </p:spPr>
      </p:sp>
      <p:sp>
        <p:nvSpPr>
          <p:cNvPr id="5" name="Text 2"/>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1F4E8C"/>
                </a:solidFill>
              </a:rPr>
              <a:t>FUNKRAUM</a:t>
            </a:r>
            <a:endParaRPr lang="en-US" sz="1300" dirty="0"/>
          </a:p>
        </p:txBody>
      </p:sp>
      <p:sp>
        <p:nvSpPr>
          <p:cNvPr id="6" name="Text 3"/>
          <p:cNvSpPr txBox="1"/>
          <p:nvPr/>
        </p:nvSpPr>
        <p:spPr>
          <a:xfrm>
            <a:off x="6146597" y="1783080"/>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live im Unterricht, in Teams</a:t>
            </a:r>
            <a:endParaRPr lang="en-US" sz="2000" dirty="0"/>
          </a:p>
        </p:txBody>
      </p:sp>
      <p:sp>
        <p:nvSpPr>
          <p:cNvPr id="7" name="Text 4"/>
          <p:cNvSpPr txBox="1"/>
          <p:nvPr/>
        </p:nvSpPr>
        <p:spPr>
          <a:xfrm>
            <a:off x="6146597" y="2886456"/>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nur Großbuchstaben und Ziffern</a:t>
            </a:r>
            <a:endParaRPr lang="en-US" sz="2000" dirty="0"/>
          </a:p>
        </p:txBody>
      </p:sp>
      <p:sp>
        <p:nvSpPr>
          <p:cNvPr id="8" name="Text 5"/>
          <p:cNvSpPr txBox="1"/>
          <p:nvPr/>
        </p:nvSpPr>
        <p:spPr>
          <a:xfrm>
            <a:off x="6146597" y="3989832"/>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nur im Kurs, danach gelöscht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Werkzeuge zum Anfassen</a:t>
            </a:r>
            <a:endParaRPr lang="en-US" sz="3000" dirty="0"/>
          </a:p>
        </p:txBody>
      </p:sp>
      <p:pic>
        <p:nvPicPr>
          <p:cNvPr id="3" name="Image 0" descr="Kryptolabor, Werkzeug „Polybios &amp; Playfair“: Polybios-Quadrat auf Papier mit Ziffernköpfen, daneben das Panel „Aktueller Buchstabe“ mit Zahlenpaar; Namensnennung als Bildunterschrift.">    </p:cNvPr>
          <p:cNvPicPr>
            <a:picLocks noChangeAspect="1"/>
          </p:cNvPicPr>
          <p:nvPr/>
        </p:nvPicPr>
        <p:blipFill>
          <a:blip r:embed="rId1"/>
          <a:stretch>
            <a:fillRect/>
          </a:stretch>
        </p:blipFill>
        <p:spPr>
          <a:xfrm>
            <a:off x="692350" y="1325880"/>
            <a:ext cx="4716177" cy="4206240"/>
          </a:xfrm>
          <a:prstGeom prst="rect">
            <a:avLst/>
          </a:prstGeom>
        </p:spPr>
      </p:pic>
      <p:sp>
        <p:nvSpPr>
          <p:cNvPr id="4" name="Text 1"/>
          <p:cNvSpPr txBox="1"/>
          <p:nvPr/>
        </p:nvSpPr>
        <p:spPr>
          <a:xfrm>
            <a:off x="548640" y="5568696"/>
            <a:ext cx="5003597" cy="274320"/>
          </a:xfrm>
          <a:prstGeom prst="rect">
            <a:avLst/>
          </a:prstGeom>
          <a:noFill/>
          <a:ln/>
        </p:spPr>
        <p:txBody>
          <a:bodyPr wrap="square" lIns="0" tIns="0" rIns="0" bIns="0" rtlCol="0" anchor="ctr"/>
          <a:lstStyle/>
          <a:p>
            <a:pPr algn="ctr" indent="0" marL="0">
              <a:buNone/>
            </a:pPr>
            <a:r>
              <a:rPr lang="en-US" sz="1200" i="1" dirty="0">
                <a:solidFill>
                  <a:srgbClr val="4A4A55"/>
                </a:solidFill>
              </a:rPr>
              <a:t>Kryptolabor · Ideen von A. Bodendiek (Krypto-Werkstatt)</a:t>
            </a:r>
            <a:endParaRPr lang="en-US" sz="1200" dirty="0"/>
          </a:p>
        </p:txBody>
      </p:sp>
      <p:sp>
        <p:nvSpPr>
          <p:cNvPr id="5" name="Shape 2"/>
          <p:cNvSpPr/>
          <p:nvPr/>
        </p:nvSpPr>
        <p:spPr>
          <a:xfrm>
            <a:off x="5917997" y="1325880"/>
            <a:ext cx="1945843" cy="3594608"/>
          </a:xfrm>
          <a:prstGeom prst="roundRect">
            <a:avLst>
              <a:gd name="adj" fmla="val 3759"/>
            </a:avLst>
          </a:prstGeom>
          <a:solidFill>
            <a:srgbClr val="FBF3E2"/>
          </a:solidFill>
          <a:ln w="12700">
            <a:solidFill>
              <a:srgbClr val="8A5F1A"/>
            </a:solidFill>
            <a:prstDash val="solid"/>
          </a:ln>
        </p:spPr>
      </p:sp>
      <p:sp>
        <p:nvSpPr>
          <p:cNvPr id="6" name="Text 3"/>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8A5F1A"/>
                </a:solidFill>
              </a:rPr>
              <a:t>AM OBJEKT</a:t>
            </a:r>
            <a:endParaRPr lang="en-US" sz="1300" dirty="0"/>
          </a:p>
        </p:txBody>
      </p:sp>
      <p:sp>
        <p:nvSpPr>
          <p:cNvPr id="7" name="Text 4"/>
          <p:cNvSpPr txBox="1"/>
          <p:nvPr/>
        </p:nvSpPr>
        <p:spPr>
          <a:xfrm>
            <a:off x="6146597" y="1783080"/>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direkt antippen und drehen</a:t>
            </a:r>
            <a:endParaRPr lang="en-US" sz="2000" dirty="0"/>
          </a:p>
        </p:txBody>
      </p:sp>
      <p:sp>
        <p:nvSpPr>
          <p:cNvPr id="8" name="Text 5"/>
          <p:cNvSpPr txBox="1"/>
          <p:nvPr/>
        </p:nvSpPr>
        <p:spPr>
          <a:xfrm>
            <a:off x="6146597" y="2886456"/>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Nachspielen Schritt für Schritt</a:t>
            </a:r>
            <a:endParaRPr lang="en-US" sz="2000" dirty="0"/>
          </a:p>
        </p:txBody>
      </p:sp>
      <p:sp>
        <p:nvSpPr>
          <p:cNvPr id="9" name="Text 6"/>
          <p:cNvSpPr txBox="1"/>
          <p:nvPr/>
        </p:nvSpPr>
        <p:spPr>
          <a:xfrm>
            <a:off x="6146597" y="3989832"/>
            <a:ext cx="1488643" cy="665480"/>
          </a:xfrm>
          <a:prstGeom prst="rect">
            <a:avLst/>
          </a:prstGeom>
          <a:noFill/>
          <a:ln/>
        </p:spPr>
        <p:txBody>
          <a:bodyPr wrap="square" lIns="0" tIns="0" rIns="0" bIns="0" rtlCol="0" anchor="t"/>
          <a:lstStyle/>
          <a:p>
            <a:pPr algn="l" indent="0" marL="0">
              <a:buNone/>
            </a:pPr>
            <a:r>
              <a:rPr lang="en-US" sz="2000" dirty="0">
                <a:solidFill>
                  <a:srgbClr val="1B1B1F"/>
                </a:solidFill>
              </a:rPr>
              <a:t>Ideen von A. Bodendiek</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Ränge, Artefakte, Abzeichen</a:t>
            </a:r>
            <a:endParaRPr lang="en-US" sz="3000" dirty="0"/>
          </a:p>
        </p:txBody>
      </p:sp>
      <p:pic>
        <p:nvPicPr>
          <p:cNvPr id="3" name="Image 0" descr="Screenshot Profil: Rang-Abzeichen, Punkte, Reihe der sieben Artefakte (Skytale bis Chronoskop-Kern, gesperrte als Umriss), Abzeichen, Radar „Deine Fallen“ P1–P10.">    </p:cNvPr>
          <p:cNvPicPr>
            <a:picLocks noChangeAspect="1"/>
          </p:cNvPicPr>
          <p:nvPr/>
        </p:nvPicPr>
        <p:blipFill>
          <a:blip r:embed="rId1"/>
          <a:stretch>
            <a:fillRect/>
          </a:stretch>
        </p:blipFill>
        <p:spPr>
          <a:xfrm>
            <a:off x="548640" y="1325880"/>
            <a:ext cx="5003597" cy="2814523"/>
          </a:xfrm>
          <a:prstGeom prst="rect">
            <a:avLst/>
          </a:prstGeom>
        </p:spPr>
      </p:pic>
      <p:sp>
        <p:nvSpPr>
          <p:cNvPr id="4" name="Shape 1"/>
          <p:cNvSpPr/>
          <p:nvPr/>
        </p:nvSpPr>
        <p:spPr>
          <a:xfrm>
            <a:off x="5917997" y="1325880"/>
            <a:ext cx="1945843" cy="3284728"/>
          </a:xfrm>
          <a:prstGeom prst="roundRect">
            <a:avLst>
              <a:gd name="adj" fmla="val 3759"/>
            </a:avLst>
          </a:prstGeom>
          <a:solidFill>
            <a:srgbClr val="FBF3E2"/>
          </a:solidFill>
          <a:ln w="12700">
            <a:solidFill>
              <a:srgbClr val="8A5F1A"/>
            </a:solidFill>
            <a:prstDash val="solid"/>
          </a:ln>
        </p:spPr>
      </p:sp>
      <p:sp>
        <p:nvSpPr>
          <p:cNvPr id="5" name="Text 2"/>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8A5F1A"/>
                </a:solidFill>
              </a:rPr>
              <a:t>RÄNGE</a:t>
            </a:r>
            <a:endParaRPr lang="en-US" sz="1300" dirty="0"/>
          </a:p>
        </p:txBody>
      </p:sp>
      <p:sp>
        <p:nvSpPr>
          <p:cNvPr id="6" name="Text 3"/>
          <p:cNvSpPr txBox="1"/>
          <p:nvPr/>
        </p:nvSpPr>
        <p:spPr>
          <a:xfrm>
            <a:off x="6146597" y="1783080"/>
            <a:ext cx="1488643" cy="665480"/>
          </a:xfrm>
          <a:prstGeom prst="rect">
            <a:avLst/>
          </a:prstGeom>
          <a:noFill/>
          <a:ln/>
        </p:spPr>
        <p:txBody>
          <a:bodyPr wrap="square" lIns="0" tIns="0" rIns="0" bIns="0" rtlCol="0" anchor="t"/>
          <a:lstStyle/>
          <a:p>
            <a:pPr algn="l" indent="0" marL="0">
              <a:buNone/>
            </a:pPr>
            <a:r>
              <a:rPr lang="en-US" sz="2000" dirty="0">
                <a:solidFill>
                  <a:srgbClr val="1B1B1F"/>
                </a:solidFill>
              </a:rPr>
              <a:t>Lehrling → Schreiber</a:t>
            </a:r>
            <a:endParaRPr lang="en-US" sz="2000" dirty="0"/>
          </a:p>
        </p:txBody>
      </p:sp>
      <p:sp>
        <p:nvSpPr>
          <p:cNvPr id="7" name="Text 4"/>
          <p:cNvSpPr txBox="1"/>
          <p:nvPr/>
        </p:nvSpPr>
        <p:spPr>
          <a:xfrm>
            <a:off x="6146597" y="2576576"/>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 Chiffreur → Kryptoanalytiker</a:t>
            </a:r>
            <a:endParaRPr lang="en-US" sz="2000" dirty="0"/>
          </a:p>
        </p:txBody>
      </p:sp>
      <p:sp>
        <p:nvSpPr>
          <p:cNvPr id="8" name="Text 5"/>
          <p:cNvSpPr txBox="1"/>
          <p:nvPr/>
        </p:nvSpPr>
        <p:spPr>
          <a:xfrm>
            <a:off x="6146597" y="3679952"/>
            <a:ext cx="1488643" cy="665480"/>
          </a:xfrm>
          <a:prstGeom prst="rect">
            <a:avLst/>
          </a:prstGeom>
          <a:noFill/>
          <a:ln/>
        </p:spPr>
        <p:txBody>
          <a:bodyPr wrap="square" lIns="0" tIns="0" rIns="0" bIns="0" rtlCol="0" anchor="t"/>
          <a:lstStyle/>
          <a:p>
            <a:pPr algn="l" indent="0" marL="0">
              <a:buNone/>
            </a:pPr>
            <a:r>
              <a:rPr lang="en-US" sz="2000" dirty="0">
                <a:solidFill>
                  <a:srgbClr val="1B1B1F"/>
                </a:solidFill>
              </a:rPr>
              <a:t>→ </a:t>
            </a:r>
            <a:r>
              <a:rPr lang="en-US" sz="2000" b="1" dirty="0">
                <a:solidFill>
                  <a:srgbClr val="1B1B1F"/>
                </a:solidFill>
              </a:rPr>
              <a:t>Meister der Chiffren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Gastmodus: ohne Anmeldung reinschnuppern</a:t>
            </a:r>
            <a:endParaRPr lang="en-US" sz="3000" dirty="0"/>
          </a:p>
        </p:txBody>
      </p:sp>
      <p:sp>
        <p:nvSpPr>
          <p:cNvPr id="3" name="Text 1"/>
          <p:cNvSpPr txBox="1"/>
          <p:nvPr/>
        </p:nvSpPr>
        <p:spPr>
          <a:xfrm>
            <a:off x="548640" y="1325880"/>
            <a:ext cx="7315200" cy="1738376"/>
          </a:xfrm>
          <a:prstGeom prst="rect">
            <a:avLst/>
          </a:prstGeom>
          <a:noFill/>
          <a:ln/>
        </p:spPr>
        <p:txBody>
          <a:bodyPr wrap="square" lIns="0" tIns="0" rIns="0" bIns="0" rtlCol="0" anchor="t"/>
          <a:lstStyle/>
          <a:p>
            <a:pPr marL="279400" indent="-279400">
              <a:spcAft>
                <a:spcPts val="600"/>
              </a:spcAft>
              <a:buSzPct val="100000"/>
              <a:buChar char="●"/>
            </a:pPr>
            <a:r>
              <a:rPr lang="en-US" sz="2200" b="1" dirty="0">
                <a:solidFill>
                  <a:srgbClr val="1B1B1F"/>
                </a:solidFill>
              </a:rPr>
              <a:t>kryptos.frankjuchim.de/gast</a:t>
            </a:r>
            <a:endParaRPr lang="en-US" sz="2200" dirty="0"/>
          </a:p>
          <a:p>
            <a:pPr marL="279400" indent="-279400">
              <a:spcAft>
                <a:spcPts val="600"/>
              </a:spcAft>
              <a:buSzPct val="100000"/>
              <a:buChar char="●"/>
            </a:pPr>
            <a:r>
              <a:rPr lang="en-US" sz="2200" dirty="0">
                <a:solidFill>
                  <a:srgbClr val="1B1B1F"/>
                </a:solidFill>
              </a:rPr>
              <a:t>6 Demo-Aufgaben und die Chiffrierscheibe</a:t>
            </a:r>
            <a:endParaRPr lang="en-US" sz="2200" dirty="0"/>
          </a:p>
          <a:p>
            <a:pPr marL="279400" indent="-279400">
              <a:spcAft>
                <a:spcPts val="600"/>
              </a:spcAft>
              <a:buSzPct val="100000"/>
              <a:buChar char="●"/>
            </a:pPr>
            <a:r>
              <a:rPr lang="en-US" sz="2200" dirty="0">
                <a:solidFill>
                  <a:srgbClr val="1B1B1F"/>
                </a:solidFill>
              </a:rPr>
              <a:t>Nichts wird gespeichert</a:t>
            </a:r>
            <a:endParaRPr lang="en-US" sz="2200" dirty="0"/>
          </a:p>
          <a:p>
            <a:pPr marL="279400" indent="-279400">
              <a:spcAft>
                <a:spcPts val="600"/>
              </a:spcAft>
              <a:buSzPct val="100000"/>
              <a:buChar char="●"/>
            </a:pPr>
            <a:r>
              <a:rPr lang="en-US" sz="2200" dirty="0">
                <a:solidFill>
                  <a:srgbClr val="1B1B1F"/>
                </a:solidFill>
              </a:rPr>
              <a:t>Für Lehrkräfte: ein erfundener Demo-Kurs</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Probier es aus!</a:t>
            </a:r>
            <a:endParaRPr lang="en-US" sz="3000" dirty="0"/>
          </a:p>
        </p:txBody>
      </p:sp>
      <p:sp>
        <p:nvSpPr>
          <p:cNvPr id="3" name="Text 1"/>
          <p:cNvSpPr txBox="1"/>
          <p:nvPr/>
        </p:nvSpPr>
        <p:spPr>
          <a:xfrm>
            <a:off x="548640" y="1325880"/>
            <a:ext cx="1463040" cy="384048"/>
          </a:xfrm>
          <a:prstGeom prst="rect">
            <a:avLst/>
          </a:prstGeom>
          <a:solidFill>
            <a:srgbClr val="8A5F1A"/>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 Video anhalten</a:t>
            </a:r>
            <a:endParaRPr lang="en-US" sz="1400" dirty="0"/>
          </a:p>
        </p:txBody>
      </p:sp>
      <p:sp>
        <p:nvSpPr>
          <p:cNvPr id="5" name="Text 3"/>
          <p:cNvSpPr txBox="1"/>
          <p:nvPr/>
        </p:nvSpPr>
        <p:spPr>
          <a:xfrm>
            <a:off x="4361688"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selbst probieren</a:t>
            </a:r>
            <a:endParaRPr lang="en-US" sz="1400" dirty="0"/>
          </a:p>
        </p:txBody>
      </p:sp>
      <p:sp>
        <p:nvSpPr>
          <p:cNvPr id="6" name="Text 4"/>
          <p:cNvSpPr txBox="1"/>
          <p:nvPr/>
        </p:nvSpPr>
        <p:spPr>
          <a:xfrm>
            <a:off x="548640" y="1965960"/>
            <a:ext cx="4308653" cy="2090928"/>
          </a:xfrm>
          <a:prstGeom prst="rect">
            <a:avLst/>
          </a:prstGeom>
          <a:noFill/>
          <a:ln/>
        </p:spPr>
        <p:txBody>
          <a:bodyPr wrap="square" lIns="0" tIns="0" rIns="0" bIns="0" rtlCol="0" anchor="t"/>
          <a:lstStyle/>
          <a:p>
            <a:pPr algn="l" indent="0" marL="0">
              <a:buNone/>
            </a:pPr>
            <a:r>
              <a:rPr lang="en-US" sz="2200" dirty="0">
                <a:solidFill>
                  <a:srgbClr val="1B1B1F"/>
                </a:solidFill>
              </a:rPr>
              <a:t>Melde dich im Portal an und </a:t>
            </a:r>
            <a:r>
              <a:rPr lang="en-US" sz="2200" b="1" dirty="0">
                <a:solidFill>
                  <a:srgbClr val="1B1B1F"/>
                </a:solidFill>
              </a:rPr>
              <a:t>notiere deinen persönlichen Code</a:t>
            </a:r>
            <a:r>
              <a:rPr lang="en-US" sz="2200" dirty="0">
                <a:solidFill>
                  <a:srgbClr val="1B1B1F"/>
                </a:solidFill>
              </a:rPr>
              <a:t>. Wechsle mit „Weiter zu Kryptos“ in die Plattform, öffne die Epoche </a:t>
            </a:r>
            <a:r>
              <a:rPr lang="en-US" sz="2200" b="1" dirty="0">
                <a:solidFill>
                  <a:srgbClr val="1B1B1F"/>
                </a:solidFill>
              </a:rPr>
              <a:t>Antike</a:t>
            </a:r>
            <a:r>
              <a:rPr lang="en-US" sz="2200" dirty="0">
                <a:solidFill>
                  <a:srgbClr val="1B1B1F"/>
                </a:solidFill>
              </a:rPr>
              <a:t> und löse die erste Aufgabe in </a:t>
            </a:r>
            <a:r>
              <a:rPr lang="en-US" sz="2200" b="1" dirty="0">
                <a:solidFill>
                  <a:srgbClr val="1B1B1F"/>
                </a:solidFill>
              </a:rPr>
              <a:t>Level 0.1</a:t>
            </a:r>
            <a:r>
              <a:rPr lang="en-US" sz="2200" dirty="0">
                <a:solidFill>
                  <a:srgbClr val="1B1B1F"/>
                </a:solidFill>
              </a:rPr>
              <a:t>.</a:t>
            </a:r>
            <a:endParaRPr lang="en-US" sz="2200" dirty="0"/>
          </a:p>
        </p:txBody>
      </p:sp>
      <p:sp>
        <p:nvSpPr>
          <p:cNvPr id="7" name="Shape 5"/>
          <p:cNvSpPr/>
          <p:nvPr/>
        </p:nvSpPr>
        <p:spPr>
          <a:xfrm>
            <a:off x="5223053" y="1965960"/>
            <a:ext cx="2640787" cy="2974848"/>
          </a:xfrm>
          <a:prstGeom prst="roundRect">
            <a:avLst>
              <a:gd name="adj" fmla="val 2770"/>
            </a:avLst>
          </a:prstGeom>
          <a:solidFill>
            <a:srgbClr val="EEF6EE"/>
          </a:solidFill>
          <a:ln w="12700">
            <a:solidFill>
              <a:srgbClr val="2E7D32"/>
            </a:solidFill>
            <a:prstDash val="solid"/>
          </a:ln>
        </p:spPr>
      </p:sp>
      <p:sp>
        <p:nvSpPr>
          <p:cNvPr id="8" name="Text 6"/>
          <p:cNvSpPr txBox="1"/>
          <p:nvPr/>
        </p:nvSpPr>
        <p:spPr>
          <a:xfrm>
            <a:off x="5451653" y="2075688"/>
            <a:ext cx="2183587" cy="274320"/>
          </a:xfrm>
          <a:prstGeom prst="rect">
            <a:avLst/>
          </a:prstGeom>
          <a:noFill/>
          <a:ln/>
        </p:spPr>
        <p:txBody>
          <a:bodyPr wrap="square" lIns="0" tIns="0" rIns="0" bIns="0" rtlCol="0" anchor="ctr"/>
          <a:lstStyle/>
          <a:p>
            <a:pPr indent="0" marL="0">
              <a:buNone/>
            </a:pPr>
            <a:r>
              <a:rPr lang="en-US" sz="1300" b="1" spc="200" kern="0" dirty="0">
                <a:solidFill>
                  <a:srgbClr val="2E7D32"/>
                </a:solidFill>
              </a:rPr>
              <a:t>GESCHAFFT, WENN …</a:t>
            </a:r>
            <a:endParaRPr lang="en-US" sz="1300" dirty="0"/>
          </a:p>
        </p:txBody>
      </p:sp>
      <p:sp>
        <p:nvSpPr>
          <p:cNvPr id="9" name="Text 7"/>
          <p:cNvSpPr txBox="1"/>
          <p:nvPr/>
        </p:nvSpPr>
        <p:spPr>
          <a:xfrm>
            <a:off x="5451653" y="242316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dein Code im Heft steht</a:t>
            </a:r>
            <a:endParaRPr lang="en-US" sz="2000" dirty="0"/>
          </a:p>
        </p:txBody>
      </p:sp>
      <p:sp>
        <p:nvSpPr>
          <p:cNvPr id="10" name="Text 8"/>
          <p:cNvSpPr txBox="1"/>
          <p:nvPr/>
        </p:nvSpPr>
        <p:spPr>
          <a:xfrm>
            <a:off x="5451653" y="321665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du die Zeitleiste siehst</a:t>
            </a:r>
            <a:endParaRPr lang="en-US" sz="2000" dirty="0"/>
          </a:p>
        </p:txBody>
      </p:sp>
      <p:sp>
        <p:nvSpPr>
          <p:cNvPr id="11" name="Text 9"/>
          <p:cNvSpPr txBox="1"/>
          <p:nvPr/>
        </p:nvSpPr>
        <p:spPr>
          <a:xfrm>
            <a:off x="5451653" y="401015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die ersten Punkte da sind</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nimmst du mit</a:t>
            </a:r>
            <a:endParaRPr lang="en-US" sz="3000" dirty="0"/>
          </a:p>
        </p:txBody>
      </p:sp>
      <p:sp>
        <p:nvSpPr>
          <p:cNvPr id="3" name="Merke-Kasten"/>
          <p:cNvSpPr/>
          <p:nvPr/>
        </p:nvSpPr>
        <p:spPr>
          <a:xfrm>
            <a:off x="1097280" y="1508760"/>
            <a:ext cx="6217920" cy="4663440"/>
          </a:xfrm>
          <a:prstGeom prst="roundRect">
            <a:avLst>
              <a:gd name="adj" fmla="val 1961"/>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5394960" cy="603504"/>
          </a:xfrm>
          <a:prstGeom prst="rect">
            <a:avLst/>
          </a:prstGeom>
          <a:noFill/>
          <a:ln/>
        </p:spPr>
        <p:txBody>
          <a:bodyPr wrap="square" lIns="0" tIns="0" rIns="0" bIns="0" rtlCol="0" anchor="t"/>
          <a:lstStyle/>
          <a:p>
            <a:pPr algn="l" indent="0" marL="0">
              <a:buNone/>
            </a:pPr>
            <a:r>
              <a:rPr lang="en-US" sz="1800" dirty="0">
                <a:solidFill>
                  <a:srgbClr val="1B1B1F"/>
                </a:solidFill>
              </a:rPr>
              <a:t>Anmelden immer über </a:t>
            </a:r>
            <a:r>
              <a:rPr lang="en-US" sz="1800" b="1" dirty="0">
                <a:solidFill>
                  <a:srgbClr val="1B1B1F"/>
                </a:solidFill>
              </a:rPr>
              <a:t>InfoLabs</a:t>
            </a:r>
            <a:r>
              <a:rPr lang="en-US" sz="1800" dirty="0">
                <a:solidFill>
                  <a:srgbClr val="1B1B1F"/>
                </a:solidFill>
              </a:rPr>
              <a:t>: einmal Kurscode + Name, danach </a:t>
            </a:r>
            <a:r>
              <a:rPr lang="en-US" sz="1800" b="1" dirty="0">
                <a:solidFill>
                  <a:srgbClr val="1B1B1F"/>
                </a:solidFill>
              </a:rPr>
              <a:t>Name + persönlicher Code</a:t>
            </a:r>
            <a:endParaRPr lang="en-US" sz="1800" dirty="0"/>
          </a:p>
        </p:txBody>
      </p:sp>
      <p:sp>
        <p:nvSpPr>
          <p:cNvPr id="6" name="Text 4"/>
          <p:cNvSpPr txBox="1"/>
          <p:nvPr/>
        </p:nvSpPr>
        <p:spPr>
          <a:xfrm>
            <a:off x="1508760" y="2971800"/>
            <a:ext cx="5394960" cy="603504"/>
          </a:xfrm>
          <a:prstGeom prst="rect">
            <a:avLst/>
          </a:prstGeom>
          <a:noFill/>
          <a:ln/>
        </p:spPr>
        <p:txBody>
          <a:bodyPr wrap="square" lIns="0" tIns="0" rIns="0" bIns="0" rtlCol="0" anchor="t"/>
          <a:lstStyle/>
          <a:p>
            <a:pPr algn="l" indent="0" marL="0">
              <a:buNone/>
            </a:pPr>
            <a:r>
              <a:rPr lang="en-US" sz="1800" dirty="0">
                <a:solidFill>
                  <a:srgbClr val="1B1B1F"/>
                </a:solidFill>
              </a:rPr>
              <a:t>„</a:t>
            </a:r>
            <a:r>
              <a:rPr lang="en-US" sz="1800" b="1" dirty="0">
                <a:solidFill>
                  <a:srgbClr val="1B1B1F"/>
                </a:solidFill>
              </a:rPr>
              <a:t>Weiter zu Kryptos</a:t>
            </a:r>
            <a:r>
              <a:rPr lang="en-US" sz="1800" dirty="0">
                <a:solidFill>
                  <a:srgbClr val="1B1B1F"/>
                </a:solidFill>
              </a:rPr>
              <a:t>“ – kein eigenes Passwort; Code notieren und für dich behalten</a:t>
            </a:r>
            <a:endParaRPr lang="en-US" sz="1800" dirty="0"/>
          </a:p>
        </p:txBody>
      </p:sp>
      <p:sp>
        <p:nvSpPr>
          <p:cNvPr id="7" name="Text 5"/>
          <p:cNvSpPr txBox="1"/>
          <p:nvPr/>
        </p:nvSpPr>
        <p:spPr>
          <a:xfrm>
            <a:off x="1508760" y="3703320"/>
            <a:ext cx="5394960" cy="882396"/>
          </a:xfrm>
          <a:prstGeom prst="rect">
            <a:avLst/>
          </a:prstGeom>
          <a:noFill/>
          <a:ln/>
        </p:spPr>
        <p:txBody>
          <a:bodyPr wrap="square" lIns="0" tIns="0" rIns="0" bIns="0" rtlCol="0" anchor="t"/>
          <a:lstStyle/>
          <a:p>
            <a:pPr algn="l" indent="0" marL="0">
              <a:buNone/>
            </a:pPr>
            <a:r>
              <a:rPr lang="en-US" sz="1800" dirty="0">
                <a:solidFill>
                  <a:srgbClr val="1B1B1F"/>
                </a:solidFill>
              </a:rPr>
              <a:t>Tipp − 20 %, Fehlversuch − 25 %, „Lösung zeigen“ 0 – die </a:t>
            </a:r>
            <a:r>
              <a:rPr lang="en-US" sz="1800" b="1" dirty="0">
                <a:solidFill>
                  <a:srgbClr val="1B1B1F"/>
                </a:solidFill>
              </a:rPr>
              <a:t>Fallen P1–P10</a:t>
            </a:r>
            <a:r>
              <a:rPr lang="en-US" sz="1800" dirty="0">
                <a:solidFill>
                  <a:srgbClr val="1B1B1F"/>
                </a:solidFill>
              </a:rPr>
              <a:t> zeigen deine Stolpersteine</a:t>
            </a:r>
            <a:endParaRPr lang="en-US" sz="1800" dirty="0"/>
          </a:p>
        </p:txBody>
      </p:sp>
      <p:sp>
        <p:nvSpPr>
          <p:cNvPr id="8" name="Text 6"/>
          <p:cNvSpPr txBox="1"/>
          <p:nvPr/>
        </p:nvSpPr>
        <p:spPr>
          <a:xfrm>
            <a:off x="1508760" y="4713732"/>
            <a:ext cx="5394960" cy="603504"/>
          </a:xfrm>
          <a:prstGeom prst="rect">
            <a:avLst/>
          </a:prstGeom>
          <a:noFill/>
          <a:ln/>
        </p:spPr>
        <p:txBody>
          <a:bodyPr wrap="square" lIns="0" tIns="0" rIns="0" bIns="0" rtlCol="0" anchor="t"/>
          <a:lstStyle/>
          <a:p>
            <a:pPr algn="l" indent="0" marL="0">
              <a:buNone/>
            </a:pPr>
            <a:r>
              <a:rPr lang="en-US" sz="1800" dirty="0">
                <a:solidFill>
                  <a:srgbClr val="1B1B1F"/>
                </a:solidFill>
              </a:rPr>
              <a:t>Jede Epoche: Level, Trainingsplatz, </a:t>
            </a:r>
            <a:r>
              <a:rPr lang="en-US" sz="1800" b="1" dirty="0">
                <a:solidFill>
                  <a:srgbClr val="1B1B1F"/>
                </a:solidFill>
              </a:rPr>
              <a:t>Boss</a:t>
            </a:r>
            <a:r>
              <a:rPr lang="en-US" sz="1800" dirty="0">
                <a:solidFill>
                  <a:srgbClr val="1B1B1F"/>
                </a:solidFill>
              </a:rPr>
              <a:t> – dazu Kryptolabor, Funkraum und Gastmodus</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Weiter im Lab</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828800"/>
                <a:gridCol w="5486400"/>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Lab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Level 0.1 „Die Skytale von Sparta“ (Epoche Antike)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Akte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Akte W0·1 „Die Skytale von Sparta“</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Portal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labs.frankjuchim.de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Gastmodus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kryptos.frankjuchim.de/gast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811272"/>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Nächstes Video:</a:t>
            </a:r>
            <a:r>
              <a:rPr lang="en-US" sz="2200" dirty="0">
                <a:solidFill>
                  <a:srgbClr val="1B1B1F"/>
                </a:solidFill>
              </a:rPr>
              <a:t> 01 · Caesar, das Alphabet A = 1 und Modulo</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Kryptos Werkzeuge">
  <a:themeElements>
    <a:clrScheme name="Kryptos Werkzeuge">
      <a:dk1>
        <a:srgbClr val="1B1B1F"/>
      </a:dk1>
      <a:lt1>
        <a:srgbClr val="FFFFFF"/>
      </a:lt1>
      <a:dk2>
        <a:srgbClr val="14213D"/>
      </a:dk2>
      <a:lt2>
        <a:srgbClr val="FBF7EE"/>
      </a:lt2>
      <a:accent1>
        <a:srgbClr val="8A5F1A"/>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Werkzeug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Kryptos: So funktioniert die Zeitreise</dc:title>
  <dc:subject>Kryptos – Die Zeitreise der Geheimschriften</dc:subject>
  <dc:creator>Frank Juchim</dc:creator>
  <cp:lastModifiedBy>Frank Juchim</cp:lastModifiedBy>
  <cp:revision>1</cp:revision>
  <dcterms:created xsi:type="dcterms:W3CDTF">2026-10-15T16:43:58Z</dcterms:created>
  <dcterms:modified xsi:type="dcterms:W3CDTF">2026-10-15T16:43:58Z</dcterms:modified>
</cp:coreProperties>
</file>