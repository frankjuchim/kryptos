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77526a50-c516-a5d9-b689-80087ab8506f}">
          <p14:sldIdLst>
            <p14:sldId id="256"/>
            <p14:sldId id="257"/>
          </p14:sldIdLst>
        </p14:section>
        <p14:section name="Grundbegriffe" id="{2039fb4f-f37d-aa5b-eb38-5cb8e8f9b1f3}">
          <p14:sldIdLst>
            <p14:sldId id="258"/>
          </p14:sldIdLst>
        </p14:section>
        <p14:section name="Das Caesar-Verfahren" id="{7d00b84d-0632-cb15-8d17-34a067f0ce22}">
          <p14:sldIdLst>
            <p14:sldId id="259"/>
          </p14:sldIdLst>
        </p14:section>
        <p14:section name="Alphabet A = 1" id="{a2dfa475-f682-6e5d-ecd0-7fce1eccd44e}">
          <p14:sldIdLst>
            <p14:sldId id="260"/>
          </p14:sldIdLst>
        </p14:section>
        <p14:section name="Verschlüsseln" id="{2f38a3dc-32e2-a230-bb63-3b31d6b04273}">
          <p14:sldIdLst>
            <p14:sldId id="261"/>
          </p14:sldIdLst>
        </p14:section>
        <p14:section name="Modulo" id="{90236574-fd83-1864-45fa-1a1f728a90be}">
          <p14:sldIdLst>
            <p14:sldId id="262"/>
          </p14:sldIdLst>
        </p14:section>
        <p14:section name="Die Formel" id="{4371812a-834f-56fb-e36c-beba69bde3e5}">
          <p14:sldIdLst>
            <p14:sldId id="263"/>
          </p14:sldIdLst>
        </p14:section>
        <p14:section name="Fallen beim Rechnen" id="{08a649d5-390e-4511-7197-742e89b4ca9f}">
          <p14:sldIdLst>
            <p14:sldId id="264"/>
          </p14:sldIdLst>
        </p14:section>
        <p14:section name="Selbst ausprobieren" id="{1c8777b3-fdc9-5345-9211-0d27e11829b2}">
          <p14:sldIdLst>
            <p14:sldId id="265"/>
            <p14:sldId id="266"/>
            <p14:sldId id="267"/>
          </p14:sldIdLst>
        </p14:section>
        <p14:section name="Brute Force" id="{9afb9405-e3b8-3b29-7476-3d0001b6cb48}">
          <p14:sldIdLst>
            <p14:sldId id="268"/>
          </p14:sldIdLst>
        </p14:section>
        <p14:section name="Sicherheit beurteilen" id="{ccdbca2f-b447-e04b-991e-fc1f6c53ab46}">
          <p14:sldIdLst>
            <p14:sldId id="269"/>
          </p14:sldIdLst>
        </p14:section>
        <p14:section name="Typische Fehler" id="{deee7cfc-d1d7-db8f-9eec-296f2946f176}">
          <p14:sldIdLst>
            <p14:sldId id="270"/>
          </p14:sldIdLst>
        </p14:section>
        <p14:section name="Zusammenfassung" id="{75145860-1f9e-89e2-075b-1c35ed722e3a}">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Einstieg]
REGIE: Kamera unten rechts, Titelfolie mit Terrakotta-Akzent. Locker, ohne Vorlauf.
SPRECHERTEXT: Rom, um fünfzig vor Christus. Ein Bote trägt eine Nachricht durch feindliches Gebiet – und wenn er abgefangen wird, darf niemand sie lesen können. Willkommen in der Antike! Heute geht es um das Caesar-Verfahren. Klingt einfach, ist es auch. Aber genau hier entscheidet sich im Abitur, ob du sicher mit dem Alphabet und mit Modulo rechnest. Denn fast jedes fremde Verfahren in der Prüfung verschiebt irgendwo Buchstaben.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Stichpunkte nacheinander einblenden, den Kasten rechts zum Schluss.
SPRECHERTEXT: In sieben von siebzehn Abituraufgaben auf erhöhtem Niveau der letzten Jahre steckt Caesar als Baustein oder Vergleich. Typisch: Das Material beschreibt ein Verfahren, das du von Hand anwendest – mit dem Alphabet der Anlage, A gleich eins bis Z gleich sechsundzwanzig. Danach sollst du fast immer die Sicherheit beurteilen. Rechts der Plan für heute.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Grundbegriffe]
REGIE: Pfeile nacheinander einblenden (1 bis 4).
SPRECHERTEXT: Kurz die Begriffe, die im Abitur zählen. Alice will Bob eine Nachricht schicken. Die lesbare Nachricht heißt Klartext. Alice verschlüsselt sie mit einem Schlüssel – heraus kommt der Geheimtext. Den schickt sie los, und unterwegs kann ihn jemand abfangen: Eve. Bob entschlüsselt den Geheimtext mit demselben Schlüssel. Die Kryptologie hat zwei Seiten: Kryptografie heißt Verfahren entwickeln – das ist die Seite von Alice und Bob. Kryptoanalyse heißt Verfahren knacken – das ist Eves Seite. In Kryptos spielst du beide Rollen.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Das Caesar-Verfahren]
REGIE: Stichpunkte nacheinander einblenden, den Kasten rechts zum Schluss.
SPRECHERTEXT: Das Caesar-Verfahren ist schnell erklärt: Jeder Buchstabe des Klartextes wird durch den Buchstaben ersetzt, der k Stellen weiter im Alphabet steht. Der römische Geschichtsschreiber Sueton berichtet, dass Caesar um drei Stellen verschoben hat – aus a wird D. Weil Buchstaben ersetzt werden, ist das eine Substitution. Würden wir die Buchstaben nur umstellen, wäre es eine Transposition. Und weil derselbe Klartextbuchstabe immer durch denselben Geheimtextbuchstaben ersetzt wird, heißt das Verfahren monoalphabetisch. Zur Schreibweise: Klartext schreiben wir klein, Geheimtext groß und in Fünfergruppen, ohne Leer- und Satzzeichen.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Alphabet A = 1]
REGIE: Mit dem Zeiger die Spalte A → G zeigen, dann auf T und U (hervorgehoben) zeigen.
SPRECHERTEXT: Im Abitur bekommst du als Anlage eine Tabelle, in der jeder Buchstabe eine Zahl hat: A gleich eins, B gleich zwei, bis Z gleich sechsundzwanzig. Damit rechnen wir heute. Unser Schlüssel ist die Verschiebung k gleich sechs. Darunter siehst du das Geheimtextalphabet: Es ist einfach um sechs Stellen verrutscht. A wird zu G, B zu H und so weiter. Achtung, eine kleine Stolperfalle: Den Schlüssel schreibt man oft als Buchstaben. Der Schlüsselbuchstabe G bedeutet Verschiebung sechs – obwohl G in der Tabelle die Nummer sieben hat. Denn der Schlüsselbuchstabe A steht für Verschiebung null. Das ist Falle P1, die Zählbasis.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Verschlüsseln]
REGIE: Die Fünfergruppen erst nach dem Satz „in Fünfergruppen“ einblenden; vorher nur die ersten Buchstaben zeigen.
SPRECHERTEXT: Jetzt verschlüsseln wir unseren Klartext: treffpunkt am brunnen – zusammengeschrieben, versteht sich. Erster Buchstabe: t hat die Nummer zwanzig. Plus sechs ergibt sechsundzwanzig, das ist Z. Dann r: achtzehn plus sechs gleich vierundzwanzig, also X. Das e: fünf plus sechs gleich elf, also K. Spannend wird es beim u: einundzwanzig plus sechs ergibt siebenundzwanzig. Einen siebenundzwanzigsten Buchstaben gibt es nicht. Wir fangen also vorne wieder an: siebenundzwanzig minus sechsundzwanzig gleich eins – das ist A. Am Ende schreiben wir den Geheimtext in Fünfergruppen – so verrät er nicht einmal, wo ein Wort aufhört.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Modulo]
REGIE: Stichpunkte nacheinander einblenden, den Kasten rechts zum Schluss.
SPRECHERTEXT: Dieses Weiterzählen im Kreis heißt Modulo. a mod n ist der Rest bei der Division durch n. Du kennst das von der Uhr: Zehn Uhr plus fünf Stunden ist drei Uhr – fünfzehn mod zwölf ist drei. Genauso ist siebenundzwanzig mod sechsundzwanzig gleich eins. Aber aufgepasst: Sechsundzwanzig mod sechsundzwanzig ist null, denn es bleibt kein Rest. Und bei negativen Zahlen nimmst du den kleinsten nicht negativen Rest: Minus sechs mod sechsundzwanzig ist zwanzig, denn minus sechs plus sechsundzwanzig ergibt zwanzig. So ist es auch in den Ergänzenden Hinweisen zum Abitur festgelegt.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Die Formel]
REGIE: Stichpunkte nacheinander einblenden, den Kasten rechts zum Schluss.
SPRECHERTEXT: Für Struktogramme und Begründungen brauchst du das Ganze als Formel. Mit A gleich eins lautet sie: c gleich p plus k minus eins, davon mod sechsundzwanzig, und dann plus eins. p ist die Nummer des Klartextbuchstabens, c die des Geheimtextbuchstabens. Das minus eins schiebt die Nummern auf null bis fünfundzwanzig, dort rechnet mod sauber im Kreis, und plus eins schiebt zurück. Beim t ergibt das sechsundzwanzig, also Z. Beim u ist der Rest null, plus eins macht eins, also A. Zum Entschlüsseln ziehst du k ab. Übrigens: Im Java-Programm in Level null Punkt drei rechnest du bewusst mit A gleich null – auch das gehört zu Falle 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Fallen beim Rechnen]
REGIE: Erst die Spalte ✗ „So nicht“ zeigen, kurze Pause, dann ✓ „So geht’s“ und die Regel einblenden.
SPRECHERTEXT: Hier liegt die häufigste Falle beim Rechnen: P2, Modulo falsch. Wer einfach p plus k mod sechsundzwanzig rechnet, bekommt beim t: sechsundzwanzig mod sechsundzwanzig gleich null. Einen Buchstaben mit der Nummer null gibt es aber nicht – gemeint ist Z. Genauso beim Entschlüsseln: Das A aus unserem Beispiel hat die Nummer eins, minus sechs ergibt minus fünf. Auch das ist kein Buchstabe. Du musst sechsundzwanzig addieren und landest bei einundzwanzig – beim u, mit dem wir angefangen haben. Mein Tipp: Prüfe nach jeder Rechnung, ob das Ergebnis zwischen eins und sechsundzwanzig liegt. Dann passiert dir das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Selbst ausprobieren]
REGIE: Einblendung „⏸ Video anhalten“ für die Dauer der Pause.
SPRECHERTEXT: Jetzt bist du dran. Eve hat diesen Geheimtext abgefangen – und ausnahmsweise kennt sie den Schlüssel: Verschiebung elf, Schlüsselbuchstabe L. Halte das Video an und entschlüssele. Achte besonders auf die Buchstaben am Anfang des Alphabets. Danach geht es weiter mit der Auflösung.
PAUSE: 6 s Einblendung „⏸ Video anhalten“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Tabelle zeilenweise aufdecken und beim Sprechen mit dem Zeiger mitgehen.
SPRECHERTEXT: Die Auflösung. R hat die Nummer achtzehn, minus elf gleich sieben – das ist g. P: sechzehn minus elf gleich fünf, also e. So geht es weiter: h, e, i, m, b, o. Spannend wird es beim E: Fünf minus elf ist minus sechs. Plus sechsundzwanzig ergibt zwanzig, also t. Beim D genauso: vier minus elf ist minus sieben, plus sechsundzwanzig ergibt neunzehn, also s. Der Klartext lautet: geheimbotschaft. Wenn du an den markierten Stellen sechsundzwanzig addiert hast, hast du Falle P2 sicher umschifft.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Erst die Spalte ✗ „So nicht“ zeigen, kurze Pause, dann ✓ „So geht’s“ und die Regel einblenden.
SPRECHERTEXT: Falle P3: Umkehrung falsch. Wer beim Entschlüsseln aus Gewohnheit plus elf rechnet, macht aus R P S P T den Unsinn c a d a e. Entschlüsseln heißt zurück verschieben, also minus k. Zurück um elf ist übrigens dasselbe wie vorwärts um fünfzehn – einmal ganz herum. Mach am Ende die Probe: Verschlüssele deinen Klartext noch einmal. Kommt wieder der Geheimtext heraus, stimmt alles. Und bei Verfahren mit mehreren Stufen gilt: alle Schritte rückwärts, in umgekehrter Reihenfolge.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Brute Force]
REGIE: Zeile k = 19 mit dem Zeiger zeigen; kurz über den „Buchstabensalat“ der anderen Zeilen fahren.
SPRECHERTEXT: Was macht Eve, wenn sie den Schlüssel nicht kennt? Sie probiert einfach alle aus. Das nennt man einen Brute-Force-Angriff. Hier hat sie G T V A M P T V A X abgefangen. Sie entschlüsselt mit jeder möglichen Verschiebung und schaut, wo ein sinnvoller Klartext entsteht. Fast überall kommt Buchstabensalat heraus – nur bei k gleich neunzehn steht da: nachtwache. Mehr als fünfundzwanzig Versuche braucht sie nie. Von Hand dauert das ein paar Minuten, ein Computer schafft es im Augenblick.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Sicherheit beurteilen]
REGIE: Stichpunkte nacheinander einblenden, den Kasten rechts zum Schluss.
SPRECHERTEXT: Damit können wir die Sicherheit beurteilen. Die Menge aller möglichen Schlüssel heißt Schlüsselraum. Bei Caesar sind das die Verschiebungen null bis fünfundzwanzig, also sechsundzwanzig Schlüssel. Die Verschiebung null ändert aber gar nichts – ein schwacher Schlüssel. Sinnvoll sind also fünfundzwanzig. Und das Verfahren einfach geheim halten? Dagegen spricht ein Grundsatz, den Auguste Kerckhoffs achtzehnhundertdreiundachtzig formuliert hat: Die Sicherheit darf nur vom Schlüssel abhängen, nicht davon, dass das Verfahren geheim bleibt. Verfahren sprechen sich nämlich herum. Zum Beurteilen im Abitur brauchst du drei Dinge: ein Kriterium, eine Begründung und ein klares Urteil – rechts für Caesar.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Typische Fehler]
REGIE: Stichpunkte nacheinander einblenden, den Kasten rechts zum Schluss.
SPRECHERTEXT: Die Fallen im Überblick. P1: In der Anlage gilt A gleich eins, bei Verschiebungen und in Java zählst du ab null – lies also zuerst, wie das Material nummeriert. P2: Rest null heißt Z, negative Ergebnisse brauchen plus sechsundzwanzig. P3: Entschlüsseln heißt minus k. P5: Caesar ist eine monoalphabetische Substitution, keine Transposition. P7: fünfundzwanzig sinnvolle Schlüssel, nicht sechsundzwanzig. Und P10: Ein Urteil ohne Kriterium bringt keine Punkte. Rechts dein Abi-Check.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Zusammenfassung]
REGIE: Merksätze nacheinander einblenden; ruhig und etwas langsamer sprechen.
SPRECHERTEXT: Das nimmst du mit: Caesar ersetzt jeden Buchstaben durch den, der k Stellen weiter steht – eine monoalphabetische Substitution. Gerechnet wird mit A gleich eins bis Z gleich sechsundzwanzig, und jedes Ergebnis muss zwischen eins und sechsundzwanzig liegen. Modulo ist der kleinste nicht negative Rest, und entschlüsseln heißt zurück verschieben. Mit nur fünfundzwanzig sinnvollen Schlüsseln fällt Caesar jedem Brute-Force-Angriff zum Opfer.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Endcard über die letzten 20 s legen (nächstes Video, Playlist, Abo).
SPRECHERTEXT: Weiter geht es im Lab mit Level null Punkt zwei, Caesars Botschaft. Mit der Chiffrierscheibe im Kryptolabor kannst du jede Verschiebung ausprobieren. Im nächsten Video reisen wir nach Bagdad. Dort zeige ich dir, wie man ein Verfahren mit unvorstellbar vielen Schlüsseln trotzdem knackt. Bis dann im Archiv!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R Titel">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7498080" cy="1554480"/>
          </a:xfrm>
          <a:prstGeom prst="rect">
            <a:avLst/>
          </a:prstGeom>
          <a:noFill/>
          <a:ln/>
        </p:spPr>
        <p:txBody>
          <a:bodyPr wrap="square" rtlCol="0"/>
          <a:lstStyle>
            <a:lvl1pPr algn="l" indent="0" marL="0">
              <a:buNone/>
              <a:defRPr lang="en-US" sz="46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600" dirty="0"/>
          </a:p>
        </p:txBody>
      </p:sp>
      <p:sp>
        <p:nvSpPr>
          <p:cNvPr id="3" name="Text 0"/>
          <p:cNvSpPr/>
          <p:nvPr>
            <p:ph idx="101" type="body" hasCustomPrompt="1"/>
          </p:nvPr>
        </p:nvSpPr>
        <p:spPr>
          <a:xfrm>
            <a:off x="548640" y="3931920"/>
            <a:ext cx="7315200" cy="914400"/>
          </a:xfrm>
          <a:prstGeom prst="rect">
            <a:avLst/>
          </a:prstGeom>
          <a:noFill/>
          <a:ln/>
        </p:spPr>
        <p:txBody>
          <a:bodyPr wrap="square" rtlCol="0"/>
          <a:lstStyle>
            <a:lvl1pPr algn="l" indent="0" marL="0">
              <a:buNone/>
              <a:defRPr lang="en-US" sz="2200" dirty="0">
                <a:solidFill>
                  <a:srgbClr val="D9A44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R Abschnitt">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rtlCol="0"/>
          <a:lstStyle>
            <a:lvl1pPr algn="l" indent="0" marL="0">
              <a:buNone/>
              <a:defRPr lang="en-US" sz="4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000" dirty="0"/>
          </a:p>
        </p:txBody>
      </p:sp>
      <p:pic>
        <p:nvPicPr>
          <p:cNvPr id="3" name="Image 0" descr="/tmp/kr_bildcache/siegel0_a07de9411b5fd15d.png">    </p:cNvPr>
          <p:cNvPicPr>
            <a:picLocks noChangeAspect="1"/>
          </p:cNvPicPr>
          <p:nvPr/>
        </p:nvPicPr>
        <p:blipFill>
          <a:blip r:embed="rId1"/>
          <a:stretch>
            <a:fillRect/>
          </a:stretch>
        </p:blipFill>
        <p:spPr>
          <a:xfrm>
            <a:off x="548640" y="2788920"/>
            <a:ext cx="868680" cy="868680"/>
          </a:xfrm>
          <a:prstGeom prst="rect">
            <a:avLst/>
          </a:prstGeom>
        </p:spPr>
      </p:pic>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0 · Die Antike</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R Inhalt">
    <p:bg>
      <p:bgPr>
        <a:solidFill>
          <a:srgbClr val="FBF7EE"/>
        </a:solidFill>
      </p:bgPr>
    </p:bg>
    <p:spTree>
      <p:nvGrpSpPr>
        <p:cNvPr id="1" name=""/>
        <p:cNvGrpSpPr/>
        <p:nvPr/>
      </p:nvGrpSpPr>
      <p:grpSpPr>
        <a:xfrm>
          <a:off x="0" y="0"/>
          <a:ext cx="0" cy="0"/>
          <a:chOff x="0" y="0"/>
          <a:chExt cx="0" cy="0"/>
        </a:xfrm>
      </p:grpSpPr>
      <p:pic>
        <p:nvPicPr>
          <p:cNvPr id="2" name="Image 0" descr="/tmp/kr_bildcache/siegel0_a07de9411b5fd15d.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14213D"/>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4A4A55"/>
                </a:solidFill>
                <a:latin typeface="Calibri" pitchFamily="34" charset="0"/>
                <a:ea typeface="Calibri" pitchFamily="34" charset="-122"/>
                <a:cs typeface="Calibri" pitchFamily="34" charset="-120"/>
              </a:rPr>
              <a:t>Kryptos · Welt 0 · Die Antike</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R Dunkel">
    <p:bg>
      <p:bgPr>
        <a:solidFill>
          <a:srgbClr val="0B1426"/>
        </a:solidFill>
      </p:bgPr>
    </p:bg>
    <p:spTree>
      <p:nvGrpSpPr>
        <p:cNvPr id="1" name=""/>
        <p:cNvGrpSpPr/>
        <p:nvPr/>
      </p:nvGrpSpPr>
      <p:grpSpPr>
        <a:xfrm>
          <a:off x="0" y="0"/>
          <a:ext cx="0" cy="0"/>
          <a:chOff x="0" y="0"/>
          <a:chExt cx="0" cy="0"/>
        </a:xfrm>
      </p:grpSpPr>
      <p:pic>
        <p:nvPicPr>
          <p:cNvPr id="2" name="Image 0" descr="/tmp/kr_bildcache/siegel0_a07de9411b5fd15d.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0 · Die Antike</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hiffrierscheibe" descr="/tmp/kr_bildcache/scheibe_f457211a26c8047d.png">    </p:cNvPr>
          <p:cNvPicPr>
            <a:picLocks noChangeAspect="1"/>
          </p:cNvPicPr>
          <p:nvPr/>
        </p:nvPicPr>
        <p:blipFill>
          <a:blip r:embed="rId1">
            <a:alphaModFix amt="45000"/>
          </a:blip>
          <a:stretch>
            <a:fillRect/>
          </a:stretch>
        </p:blipFill>
        <p:spPr>
          <a:xfrm>
            <a:off x="7223760" y="-1005840"/>
            <a:ext cx="6766560" cy="6766560"/>
          </a:xfrm>
          <a:prstGeom prst="rect">
            <a:avLst/>
          </a:prstGeom>
        </p:spPr>
      </p:pic>
      <p:pic>
        <p:nvPicPr>
          <p:cNvPr id="3" name="Image 1" descr="/tmp/kr_bildcache/siegel0_a07de9411b5fd15d.png">    </p:cNvPr>
          <p:cNvPicPr>
            <a:picLocks noChangeAspect="1"/>
          </p:cNvPicPr>
          <p:nvPr/>
        </p:nvPicPr>
        <p:blipFill>
          <a:blip r:embed="rId2"/>
          <a:stretch>
            <a:fillRect/>
          </a:stretch>
        </p:blipFill>
        <p:spPr>
          <a:xfrm>
            <a:off x="548640" y="685800"/>
            <a:ext cx="1005840" cy="1005840"/>
          </a:xfrm>
          <a:prstGeom prst="rect">
            <a:avLst/>
          </a:prstGeom>
        </p:spPr>
      </p:pic>
      <p:sp>
        <p:nvSpPr>
          <p:cNvPr id="4" name="Text 0"/>
          <p:cNvSpPr txBox="1"/>
          <p:nvPr/>
        </p:nvSpPr>
        <p:spPr>
          <a:xfrm>
            <a:off x="548640" y="1828800"/>
            <a:ext cx="7772400" cy="365760"/>
          </a:xfrm>
          <a:prstGeom prst="rect">
            <a:avLst/>
          </a:prstGeom>
          <a:noFill/>
          <a:ln/>
        </p:spPr>
        <p:txBody>
          <a:bodyPr wrap="square" lIns="0" tIns="0" rIns="0" bIns="0" rtlCol="0" anchor="ctr"/>
          <a:lstStyle/>
          <a:p>
            <a:pPr indent="0" marL="0">
              <a:buNone/>
            </a:pPr>
            <a:r>
              <a:rPr lang="en-US" sz="1600" b="1" spc="300" kern="0" dirty="0">
                <a:solidFill>
                  <a:srgbClr val="E8957B"/>
                </a:solidFill>
                <a:latin typeface="Consolas" pitchFamily="34" charset="0"/>
                <a:ea typeface="Consolas" pitchFamily="34" charset="-122"/>
                <a:cs typeface="Consolas" pitchFamily="34" charset="-120"/>
              </a:rPr>
              <a:t>VIDEO 01 · ROM · UM 50 V. CHR.</a:t>
            </a:r>
            <a:endParaRPr lang="en-US" sz="1600" dirty="0"/>
          </a:p>
        </p:txBody>
      </p:sp>
      <p:sp>
        <p:nvSpPr>
          <p:cNvPr id="5" name="Text 0"/>
          <p:cNvSpPr/>
          <p:nvPr>
            <p:ph idx="100" type="title" hasCustomPrompt="1"/>
          </p:nvPr>
        </p:nvSpPr>
        <p:spPr>
          <a:xfrm>
            <a:off x="548640" y="2331720"/>
            <a:ext cx="7498080" cy="1554480"/>
          </a:xfrm>
          <a:prstGeom prst="rect">
            <a:avLst/>
          </a:prstGeom>
          <a:noFill/>
          <a:ln/>
        </p:spPr>
        <p:txBody>
          <a:bodyPr wrap="square" lIns="0" tIns="0" rIns="0" bIns="0" rtlCol="0" anchor="t"/>
          <a:lstStyle/>
          <a:p>
            <a:pPr algn="l" indent="0" marL="0">
              <a:buNone/>
            </a:pPr>
            <a:r>
              <a:rPr lang="en-US" sz="4600" b="1" dirty="0">
                <a:solidFill>
                  <a:srgbClr val="FBF7EE"/>
                </a:solidFill>
                <a:latin typeface="Georgia" pitchFamily="34" charset="0"/>
                <a:ea typeface="Georgia" pitchFamily="34" charset="-122"/>
                <a:cs typeface="Georgia" pitchFamily="34" charset="-120"/>
              </a:rPr>
              <a:t>Caesar, das Alphabet A = 1 und Modulo</a:t>
            </a:r>
            <a:endParaRPr lang="en-US" sz="4600" dirty="0"/>
          </a:p>
        </p:txBody>
      </p:sp>
      <p:sp>
        <p:nvSpPr>
          <p:cNvPr id="6" name="Text 0"/>
          <p:cNvSpPr/>
          <p:nvPr>
            <p:ph idx="101" type="body" hasCustomPrompt="1"/>
          </p:nvPr>
        </p:nvSpPr>
        <p:spPr>
          <a:xfrm>
            <a:off x="548640" y="3931920"/>
            <a:ext cx="7315200" cy="914400"/>
          </a:xfrm>
          <a:prstGeom prst="rect">
            <a:avLst/>
          </a:prstGeom>
          <a:noFill/>
          <a:ln/>
        </p:spPr>
        <p:txBody>
          <a:bodyPr wrap="square" lIns="0" tIns="0" rIns="0" bIns="0" rtlCol="0" anchor="t"/>
          <a:lstStyle/>
          <a:p>
            <a:pPr algn="l" indent="0" marL="0">
              <a:buNone/>
            </a:pPr>
            <a:r>
              <a:rPr lang="en-US" sz="2200" dirty="0">
                <a:solidFill>
                  <a:srgbClr val="D9A441"/>
                </a:solidFill>
                <a:latin typeface="Calibri" pitchFamily="34" charset="0"/>
                <a:ea typeface="Calibri" pitchFamily="34" charset="-122"/>
                <a:cs typeface="Calibri" pitchFamily="34" charset="-120"/>
              </a:rPr>
              <a:t>Verschieben, im Kreis rechnen, entschlüsseln – und warum Caesar trotzdem fällt</a:t>
            </a:r>
            <a:endParaRPr lang="en-US" sz="2200" dirty="0"/>
          </a:p>
        </p:txBody>
      </p:sp>
      <p:sp>
        <p:nvSpPr>
          <p:cNvPr id="7" name="Text 3"/>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200" spc="400" kern="0" dirty="0">
                <a:solidFill>
                  <a:srgbClr val="D9A441"/>
                </a:solidFill>
              </a:rPr>
              <a:t>KRYPTOS · DIE ZEITREISE DER GEHEIMSCHRIFTEN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Caesar im Abitur</a:t>
            </a:r>
            <a:endParaRPr lang="en-US" sz="3000" dirty="0"/>
          </a:p>
        </p:txBody>
      </p:sp>
      <p:sp>
        <p:nvSpPr>
          <p:cNvPr id="3" name="Text 1"/>
          <p:cNvSpPr txBox="1"/>
          <p:nvPr/>
        </p:nvSpPr>
        <p:spPr>
          <a:xfrm>
            <a:off x="548640" y="1325880"/>
            <a:ext cx="4308653" cy="3783584"/>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In </a:t>
            </a:r>
            <a:r>
              <a:rPr lang="en-US" sz="2200" b="1" dirty="0">
                <a:solidFill>
                  <a:srgbClr val="1B1B1F"/>
                </a:solidFill>
              </a:rPr>
              <a:t>7 von 17</a:t>
            </a:r>
            <a:r>
              <a:rPr lang="en-US" sz="2200" dirty="0">
                <a:solidFill>
                  <a:srgbClr val="1B1B1F"/>
                </a:solidFill>
              </a:rPr>
              <a:t> eA-Abituraufgaben (2021–2026) steckt Caesar als Baustein oder Vergleich</a:t>
            </a:r>
            <a:endParaRPr lang="en-US" sz="2200" dirty="0"/>
          </a:p>
          <a:p>
            <a:pPr marL="279400" indent="-279400">
              <a:spcAft>
                <a:spcPts val="600"/>
              </a:spcAft>
              <a:buSzPct val="100000"/>
              <a:buChar char="●"/>
            </a:pPr>
            <a:r>
              <a:rPr lang="en-US" sz="2200" dirty="0">
                <a:solidFill>
                  <a:srgbClr val="1B1B1F"/>
                </a:solidFill>
              </a:rPr>
              <a:t>Typisch: ein </a:t>
            </a:r>
            <a:r>
              <a:rPr lang="en-US" sz="2200" b="1" dirty="0">
                <a:solidFill>
                  <a:srgbClr val="1B1B1F"/>
                </a:solidFill>
              </a:rPr>
              <a:t>fremdes Verfahren</a:t>
            </a:r>
            <a:r>
              <a:rPr lang="en-US" sz="2200" dirty="0">
                <a:solidFill>
                  <a:srgbClr val="1B1B1F"/>
                </a:solidFill>
              </a:rPr>
              <a:t> von Hand </a:t>
            </a:r>
            <a:r>
              <a:rPr lang="en-US" sz="2200" b="1" dirty="0">
                <a:solidFill>
                  <a:srgbClr val="1B1B1F"/>
                </a:solidFill>
              </a:rPr>
              <a:t>anwenden</a:t>
            </a:r>
            <a:r>
              <a:rPr lang="en-US" sz="2200" dirty="0">
                <a:solidFill>
                  <a:srgbClr val="1B1B1F"/>
                </a:solidFill>
              </a:rPr>
              <a:t> – Nummerierung steht im Material</a:t>
            </a:r>
            <a:endParaRPr lang="en-US" sz="2200" dirty="0"/>
          </a:p>
          <a:p>
            <a:pPr marL="279400" indent="-279400">
              <a:spcAft>
                <a:spcPts val="600"/>
              </a:spcAft>
              <a:buSzPct val="100000"/>
              <a:buChar char="●"/>
            </a:pPr>
            <a:r>
              <a:rPr lang="en-US" sz="2200" dirty="0">
                <a:solidFill>
                  <a:srgbClr val="1B1B1F"/>
                </a:solidFill>
              </a:rPr>
              <a:t>Die Anlage nummeriert: </a:t>
            </a:r>
            <a:r>
              <a:rPr lang="en-US" sz="2200" b="1" dirty="0">
                <a:solidFill>
                  <a:srgbClr val="1B1B1F"/>
                </a:solidFill>
              </a:rPr>
              <a:t>A = 1 … Z = 26</a:t>
            </a:r>
            <a:endParaRPr lang="en-US" sz="2200" dirty="0"/>
          </a:p>
          <a:p>
            <a:pPr marL="279400" indent="-279400">
              <a:spcAft>
                <a:spcPts val="600"/>
              </a:spcAft>
              <a:buSzPct val="100000"/>
              <a:buChar char="●"/>
            </a:pPr>
            <a:r>
              <a:rPr lang="en-US" sz="2200" dirty="0">
                <a:solidFill>
                  <a:srgbClr val="1B1B1F"/>
                </a:solidFill>
              </a:rPr>
              <a:t>Danach fast immer: Sicherheit </a:t>
            </a:r>
            <a:r>
              <a:rPr lang="en-US" sz="2200" b="1" dirty="0">
                <a:solidFill>
                  <a:srgbClr val="1B1B1F"/>
                </a:solidFill>
              </a:rPr>
              <a:t>beurteilen</a:t>
            </a:r>
            <a:endParaRPr lang="en-US" sz="2200" dirty="0"/>
          </a:p>
        </p:txBody>
      </p:sp>
      <p:sp>
        <p:nvSpPr>
          <p:cNvPr id="4" name="Shape 2"/>
          <p:cNvSpPr/>
          <p:nvPr/>
        </p:nvSpPr>
        <p:spPr>
          <a:xfrm>
            <a:off x="5223053" y="1325880"/>
            <a:ext cx="2640787" cy="4425696"/>
          </a:xfrm>
          <a:prstGeom prst="roundRect">
            <a:avLst>
              <a:gd name="adj" fmla="val 2770"/>
            </a:avLst>
          </a:prstGeom>
          <a:solidFill>
            <a:srgbClr val="FBF3E2"/>
          </a:solidFill>
          <a:ln w="12700">
            <a:solidFill>
              <a:srgbClr val="8A5F1A"/>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HEUTE</a:t>
            </a:r>
            <a:endParaRPr lang="en-US" sz="1300" dirty="0"/>
          </a:p>
        </p:txBody>
      </p:sp>
      <p:sp>
        <p:nvSpPr>
          <p:cNvPr id="6" name="Text 4"/>
          <p:cNvSpPr txBox="1"/>
          <p:nvPr/>
        </p:nvSpPr>
        <p:spPr>
          <a:xfrm>
            <a:off x="5451653" y="1783080"/>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Grundbegriffe</a:t>
            </a:r>
            <a:endParaRPr lang="en-US" sz="2000" dirty="0"/>
          </a:p>
        </p:txBody>
      </p:sp>
      <p:sp>
        <p:nvSpPr>
          <p:cNvPr id="7" name="Text 5"/>
          <p:cNvSpPr txBox="1"/>
          <p:nvPr/>
        </p:nvSpPr>
        <p:spPr>
          <a:xfrm>
            <a:off x="5451653" y="2266696"/>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Caesar mit A = 1</a:t>
            </a:r>
            <a:endParaRPr lang="en-US" sz="2000" dirty="0"/>
          </a:p>
        </p:txBody>
      </p:sp>
      <p:sp>
        <p:nvSpPr>
          <p:cNvPr id="8" name="Text 6"/>
          <p:cNvSpPr txBox="1"/>
          <p:nvPr/>
        </p:nvSpPr>
        <p:spPr>
          <a:xfrm>
            <a:off x="5451653" y="2750312"/>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Modulo und die Formel</a:t>
            </a:r>
            <a:endParaRPr lang="en-US" sz="2000" dirty="0"/>
          </a:p>
        </p:txBody>
      </p:sp>
      <p:sp>
        <p:nvSpPr>
          <p:cNvPr id="9" name="Text 7"/>
          <p:cNvSpPr txBox="1"/>
          <p:nvPr/>
        </p:nvSpPr>
        <p:spPr>
          <a:xfrm>
            <a:off x="5451653" y="3543808"/>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Entschlüsseln</a:t>
            </a:r>
            <a:endParaRPr lang="en-US" sz="2000" dirty="0"/>
          </a:p>
        </p:txBody>
      </p:sp>
      <p:sp>
        <p:nvSpPr>
          <p:cNvPr id="10" name="Text 8"/>
          <p:cNvSpPr txBox="1"/>
          <p:nvPr/>
        </p:nvSpPr>
        <p:spPr>
          <a:xfrm>
            <a:off x="5451653" y="4027424"/>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Brute Force, Schlüsselraum</a:t>
            </a:r>
            <a:endParaRPr lang="en-US" sz="2000" dirty="0"/>
          </a:p>
        </p:txBody>
      </p:sp>
      <p:sp>
        <p:nvSpPr>
          <p:cNvPr id="11" name="Text 9"/>
          <p:cNvSpPr txBox="1"/>
          <p:nvPr/>
        </p:nvSpPr>
        <p:spPr>
          <a:xfrm>
            <a:off x="5451653" y="4820920"/>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Kerckhoffs-Prinzip</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Wer ist wer?</a:t>
            </a:r>
            <a:endParaRPr lang="en-US" sz="3000" dirty="0"/>
          </a:p>
        </p:txBody>
      </p:sp>
      <p:pic>
        <p:nvPicPr>
          <p:cNvPr id="3" name="Image 0" descr="schaubild">    </p:cNvPr>
          <p:cNvPicPr>
            <a:picLocks noChangeAspect="1"/>
          </p:cNvPicPr>
          <p:nvPr/>
        </p:nvPicPr>
        <p:blipFill>
          <a:blip r:embed="rId1"/>
          <a:stretch>
            <a:fillRect/>
          </a:stretch>
        </p:blipFill>
        <p:spPr>
          <a:xfrm>
            <a:off x="548640" y="1325880"/>
            <a:ext cx="4308653" cy="2851648"/>
          </a:xfrm>
          <a:prstGeom prst="rect">
            <a:avLst/>
          </a:prstGeom>
        </p:spPr>
      </p:pic>
      <p:sp>
        <p:nvSpPr>
          <p:cNvPr id="4" name="Shape 1"/>
          <p:cNvSpPr/>
          <p:nvPr/>
        </p:nvSpPr>
        <p:spPr>
          <a:xfrm>
            <a:off x="5223053" y="1325880"/>
            <a:ext cx="2640787" cy="2801112"/>
          </a:xfrm>
          <a:prstGeom prst="roundRect">
            <a:avLst>
              <a:gd name="adj" fmla="val 2770"/>
            </a:avLst>
          </a:prstGeom>
          <a:solidFill>
            <a:srgbClr val="F2EADB"/>
          </a:solidFill>
          <a:ln w="12700">
            <a:solidFill>
              <a:srgbClr val="B5523B"/>
            </a:solidFill>
            <a:prstDash val="solid"/>
          </a:ln>
        </p:spPr>
      </p:sp>
      <p:sp>
        <p:nvSpPr>
          <p:cNvPr id="5" name="Text 2"/>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4213D"/>
                </a:solidFill>
              </a:rPr>
              <a:t>KRYPTOLOGIE</a:t>
            </a:r>
            <a:endParaRPr lang="en-US" sz="1300" dirty="0"/>
          </a:p>
        </p:txBody>
      </p:sp>
      <p:sp>
        <p:nvSpPr>
          <p:cNvPr id="6" name="Text 3"/>
          <p:cNvSpPr txBox="1"/>
          <p:nvPr/>
        </p:nvSpPr>
        <p:spPr>
          <a:xfrm>
            <a:off x="5451653" y="1783080"/>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 </a:t>
            </a:r>
            <a:r>
              <a:rPr lang="en-US" sz="2000" b="1" dirty="0">
                <a:solidFill>
                  <a:srgbClr val="1B1B1F"/>
                </a:solidFill>
              </a:rPr>
              <a:t>Kryptografie</a:t>
            </a:r>
            <a:r>
              <a:rPr lang="en-US" sz="2000" dirty="0">
                <a:solidFill>
                  <a:srgbClr val="1B1B1F"/>
                </a:solidFill>
              </a:rPr>
              <a:t> 🛡 (Verfahren entwickeln)</a:t>
            </a:r>
            <a:endParaRPr lang="en-US" sz="2000" dirty="0"/>
          </a:p>
        </p:txBody>
      </p:sp>
      <p:sp>
        <p:nvSpPr>
          <p:cNvPr id="7" name="Text 4"/>
          <p:cNvSpPr txBox="1"/>
          <p:nvPr/>
        </p:nvSpPr>
        <p:spPr>
          <a:xfrm>
            <a:off x="5451653" y="2886456"/>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 </a:t>
            </a:r>
            <a:r>
              <a:rPr lang="en-US" sz="2000" b="1" dirty="0">
                <a:solidFill>
                  <a:srgbClr val="1B1B1F"/>
                </a:solidFill>
              </a:rPr>
              <a:t>Kryptoanalyse</a:t>
            </a:r>
            <a:r>
              <a:rPr lang="en-US" sz="2000" dirty="0">
                <a:solidFill>
                  <a:srgbClr val="1B1B1F"/>
                </a:solidFill>
              </a:rPr>
              <a:t> 🔍 (Verfahren knacken)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Die Idee: Jeder Buchstabe rückt weiter</a:t>
            </a:r>
            <a:endParaRPr lang="en-US" sz="3000" dirty="0"/>
          </a:p>
        </p:txBody>
      </p:sp>
      <p:sp>
        <p:nvSpPr>
          <p:cNvPr id="3" name="Text 1"/>
          <p:cNvSpPr txBox="1"/>
          <p:nvPr/>
        </p:nvSpPr>
        <p:spPr>
          <a:xfrm>
            <a:off x="548640" y="1325880"/>
            <a:ext cx="4308653" cy="3783584"/>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Jeder Klartextbuchstabe wird durch den Buchstaben </a:t>
            </a:r>
            <a:r>
              <a:rPr lang="en-US" sz="2200" b="1" dirty="0">
                <a:solidFill>
                  <a:srgbClr val="1B1B1F"/>
                </a:solidFill>
              </a:rPr>
              <a:t>k Stellen weiter</a:t>
            </a:r>
            <a:r>
              <a:rPr lang="en-US" sz="2200" dirty="0">
                <a:solidFill>
                  <a:srgbClr val="1B1B1F"/>
                </a:solidFill>
              </a:rPr>
              <a:t> ersetzt</a:t>
            </a:r>
            <a:endParaRPr lang="en-US" sz="2200" dirty="0"/>
          </a:p>
          <a:p>
            <a:pPr marL="279400" indent="-279400">
              <a:spcAft>
                <a:spcPts val="600"/>
              </a:spcAft>
              <a:buSzPct val="100000"/>
              <a:buChar char="●"/>
            </a:pPr>
            <a:r>
              <a:rPr lang="en-US" sz="2200" dirty="0">
                <a:solidFill>
                  <a:srgbClr val="1B1B1F"/>
                </a:solidFill>
              </a:rPr>
              <a:t>Nach Sueton verschob Caesar um </a:t>
            </a:r>
            <a:r>
              <a:rPr lang="en-US" sz="2200" b="1" dirty="0">
                <a:solidFill>
                  <a:srgbClr val="1B1B1F"/>
                </a:solidFill>
              </a:rPr>
              <a:t>drei</a:t>
            </a:r>
            <a:r>
              <a:rPr lang="en-US" sz="2200" dirty="0">
                <a:solidFill>
                  <a:srgbClr val="1B1B1F"/>
                </a:solidFill>
              </a:rPr>
              <a:t> Stellen: a → D</a:t>
            </a:r>
            <a:endParaRPr lang="en-US" sz="2200" dirty="0"/>
          </a:p>
          <a:p>
            <a:pPr marL="279400" indent="-279400">
              <a:spcAft>
                <a:spcPts val="600"/>
              </a:spcAft>
              <a:buSzPct val="100000"/>
              <a:buChar char="●"/>
            </a:pPr>
            <a:r>
              <a:rPr lang="en-US" sz="2200" dirty="0">
                <a:solidFill>
                  <a:srgbClr val="1B1B1F"/>
                </a:solidFill>
              </a:rPr>
              <a:t>Ersetzen = </a:t>
            </a:r>
            <a:r>
              <a:rPr lang="en-US" sz="2200" b="1" dirty="0">
                <a:solidFill>
                  <a:srgbClr val="1B1B1F"/>
                </a:solidFill>
              </a:rPr>
              <a:t>Substitution</a:t>
            </a:r>
            <a:r>
              <a:rPr lang="en-US" sz="2200" dirty="0">
                <a:solidFill>
                  <a:srgbClr val="1B1B1F"/>
                </a:solidFill>
              </a:rPr>
              <a:t> (Umstellen wäre </a:t>
            </a:r>
            <a:r>
              <a:rPr lang="en-US" sz="2200" b="1" dirty="0">
                <a:solidFill>
                  <a:srgbClr val="1B1B1F"/>
                </a:solidFill>
              </a:rPr>
              <a:t>Transposition</a:t>
            </a:r>
            <a:r>
              <a:rPr lang="en-US" sz="2200" dirty="0">
                <a:solidFill>
                  <a:srgbClr val="1B1B1F"/>
                </a:solidFill>
              </a:rPr>
              <a:t>)</a:t>
            </a:r>
            <a:endParaRPr lang="en-US" sz="2200" dirty="0"/>
          </a:p>
          <a:p>
            <a:pPr marL="279400" indent="-279400">
              <a:spcAft>
                <a:spcPts val="600"/>
              </a:spcAft>
              <a:buSzPct val="100000"/>
              <a:buChar char="●"/>
            </a:pPr>
            <a:r>
              <a:rPr lang="en-US" sz="2200" dirty="0">
                <a:solidFill>
                  <a:srgbClr val="1B1B1F"/>
                </a:solidFill>
              </a:rPr>
              <a:t>Derselbe Klartextbuchstabe wird </a:t>
            </a:r>
            <a:r>
              <a:rPr lang="en-US" sz="2200" b="1" dirty="0">
                <a:solidFill>
                  <a:srgbClr val="1B1B1F"/>
                </a:solidFill>
              </a:rPr>
              <a:t>immer gleich</a:t>
            </a:r>
            <a:r>
              <a:rPr lang="en-US" sz="2200" dirty="0">
                <a:solidFill>
                  <a:srgbClr val="1B1B1F"/>
                </a:solidFill>
              </a:rPr>
              <a:t> ersetzt: </a:t>
            </a:r>
            <a:r>
              <a:rPr lang="en-US" sz="2200" b="1" dirty="0">
                <a:solidFill>
                  <a:srgbClr val="1B1B1F"/>
                </a:solidFill>
              </a:rPr>
              <a:t>monoalphabetisch</a:t>
            </a:r>
            <a:endParaRPr lang="en-US" sz="2200" dirty="0"/>
          </a:p>
        </p:txBody>
      </p:sp>
      <p:sp>
        <p:nvSpPr>
          <p:cNvPr id="4" name="Shape 2"/>
          <p:cNvSpPr/>
          <p:nvPr/>
        </p:nvSpPr>
        <p:spPr>
          <a:xfrm>
            <a:off x="5223053" y="1325880"/>
            <a:ext cx="2640787" cy="2974848"/>
          </a:xfrm>
          <a:prstGeom prst="roundRect">
            <a:avLst>
              <a:gd name="adj" fmla="val 2770"/>
            </a:avLst>
          </a:prstGeom>
          <a:solidFill>
            <a:srgbClr val="EEF3FA"/>
          </a:solidFill>
          <a:ln w="12700">
            <a:solidFill>
              <a:srgbClr val="1F4E8C"/>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F4E8C"/>
                </a:solidFill>
              </a:rPr>
              <a:t>SCHREIBWEISE</a:t>
            </a:r>
            <a:endParaRPr lang="en-US" sz="1300" dirty="0"/>
          </a:p>
        </p:txBody>
      </p:sp>
      <p:sp>
        <p:nvSpPr>
          <p:cNvPr id="6" name="Text 4"/>
          <p:cNvSpPr txBox="1"/>
          <p:nvPr/>
        </p:nvSpPr>
        <p:spPr>
          <a:xfrm>
            <a:off x="5451653" y="1783080"/>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Klartext klein: </a:t>
            </a:r>
            <a:r>
              <a:rPr lang="en-US" sz="2000" dirty="0">
                <a:solidFill>
                  <a:srgbClr val="1B1B1F"/>
                </a:solidFill>
                <a:latin typeface="Consolas" pitchFamily="34" charset="0"/>
                <a:ea typeface="Consolas" pitchFamily="34" charset="-122"/>
                <a:cs typeface="Consolas" pitchFamily="34" charset="-120"/>
              </a:rPr>
              <a:t>treffpunkt</a:t>
            </a:r>
            <a:endParaRPr lang="en-US" sz="2000" dirty="0"/>
          </a:p>
        </p:txBody>
      </p:sp>
      <p:sp>
        <p:nvSpPr>
          <p:cNvPr id="7" name="Text 5"/>
          <p:cNvSpPr txBox="1"/>
          <p:nvPr/>
        </p:nvSpPr>
        <p:spPr>
          <a:xfrm>
            <a:off x="5451653" y="257657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Geheimtext GROSS in Fünfergruppen</a:t>
            </a:r>
            <a:endParaRPr lang="en-US" sz="2000" dirty="0"/>
          </a:p>
        </p:txBody>
      </p:sp>
      <p:sp>
        <p:nvSpPr>
          <p:cNvPr id="8" name="Text 6"/>
          <p:cNvSpPr txBox="1"/>
          <p:nvPr/>
        </p:nvSpPr>
        <p:spPr>
          <a:xfrm>
            <a:off x="5451653" y="3370072"/>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ohne Leer- und Satzzeichen, ä → ae</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Alphabet der Anlage: A = 1 … Z = 26</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gridCol w="281354"/>
              </a:tblGrid>
              <a:tr h="0">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A</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B</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C</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D</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E</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F</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G</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H</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I</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J</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K</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L</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M</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N</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O</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P</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Q</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R</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S</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T</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U</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V</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W</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X</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Y</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Z</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3</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4</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5</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6</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7</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8</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9</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10</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11</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12</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13</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14</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15</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16</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17</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18</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19</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20</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21</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22</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23</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24</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25</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914" dirty="0">
                          <a:solidFill>
                            <a:srgbClr val="4A4A55"/>
                          </a:solidFill>
                          <a:latin typeface="Calibri" pitchFamily="34" charset="0"/>
                          <a:ea typeface="Calibri" pitchFamily="34" charset="-122"/>
                          <a:cs typeface="Calibri" pitchFamily="34" charset="-120"/>
                        </a:rPr>
                        <a:t>26</a:t>
                      </a:r>
                      <a:endParaRPr lang="en-US" sz="914" dirty="0">
                        <a:latin typeface="Calibri" charset="0"/>
                        <a:ea typeface="Calibri" charset="0"/>
                        <a:cs typeface="Calibri"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G</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H</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I</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J</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K</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L</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M</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N</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O</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P</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Q</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R</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S</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T</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U</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V</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W</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X</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Y</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Z</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A</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B</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C</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D</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E</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218" b="1" dirty="0">
                          <a:solidFill>
                            <a:srgbClr val="1B1B1F"/>
                          </a:solidFill>
                          <a:latin typeface="Consolas" pitchFamily="34" charset="0"/>
                          <a:ea typeface="Consolas" pitchFamily="34" charset="-122"/>
                          <a:cs typeface="Consolas" pitchFamily="34" charset="-120"/>
                        </a:rPr>
                        <a:t>F</a:t>
                      </a:r>
                      <a:endParaRPr lang="en-US" sz="1218" dirty="0">
                        <a:latin typeface="Consolas" charset="0"/>
                        <a:ea typeface="Consolas" charset="0"/>
                        <a:cs typeface="Consolas" charset="0"/>
                      </a:endParaRPr>
                    </a:p>
                  </a:txBody>
                  <a:tcPr marL="9144" marR="9144" marT="9144" marB="9144" anchor="ctr">
                    <a:lnL w="6350" cap="flat" cmpd="sng" algn="ctr">
                      <a:solidFill>
                        <a:srgbClr val="D8CDB8"/>
                      </a:solidFill>
                      <a:prstDash val="solid"/>
                      <a:round/>
                      <a:headEnd type="none" w="med" len="med"/>
                      <a:tailEnd type="none" w="med" len="med"/>
                    </a:lnL>
                    <a:lnR w="6350" cap="flat" cmpd="sng" algn="ctr">
                      <a:solidFill>
                        <a:srgbClr val="D8CDB8"/>
                      </a:solidFill>
                      <a:prstDash val="solid"/>
                      <a:round/>
                      <a:headEnd type="none" w="med" len="med"/>
                      <a:tailEnd type="none" w="med" len="med"/>
                    </a:lnR>
                    <a:lnT w="6350" cap="flat" cmpd="sng" algn="ctr">
                      <a:solidFill>
                        <a:srgbClr val="D8CDB8"/>
                      </a:solidFill>
                      <a:prstDash val="solid"/>
                      <a:round/>
                      <a:headEnd type="none" w="med" len="med"/>
                      <a:tailEnd type="none" w="med" len="med"/>
                    </a:lnT>
                    <a:lnB w="6350"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2243094"/>
            <a:ext cx="7315200" cy="727456"/>
          </a:xfrm>
          <a:prstGeom prst="rect">
            <a:avLst/>
          </a:prstGeom>
          <a:noFill/>
          <a:ln/>
        </p:spPr>
        <p:txBody>
          <a:bodyPr wrap="square" lIns="0" tIns="0" rIns="0" bIns="0" rtlCol="0" anchor="t"/>
          <a:lstStyle/>
          <a:p>
            <a:pPr algn="l" indent="0" marL="0">
              <a:buNone/>
            </a:pPr>
            <a:r>
              <a:rPr lang="en-US" sz="2200" dirty="0">
                <a:solidFill>
                  <a:srgbClr val="1B1B1F"/>
                </a:solidFill>
              </a:rPr>
              <a:t>Schlüssel: Verschiebung </a:t>
            </a:r>
            <a:r>
              <a:rPr lang="en-US" sz="2200" b="1" dirty="0">
                <a:solidFill>
                  <a:srgbClr val="1B1B1F"/>
                </a:solidFill>
              </a:rPr>
              <a:t>k = 6</a:t>
            </a:r>
            <a:r>
              <a:rPr lang="en-US" sz="2200" dirty="0">
                <a:solidFill>
                  <a:srgbClr val="1B1B1F"/>
                </a:solidFill>
              </a:rPr>
              <a:t> – Schlüsselbuchstabe </a:t>
            </a:r>
            <a:r>
              <a:rPr lang="en-US" sz="2200" b="1" dirty="0">
                <a:solidFill>
                  <a:srgbClr val="1B1B1F"/>
                </a:solidFill>
              </a:rPr>
              <a:t>G</a:t>
            </a:r>
            <a:r>
              <a:rPr lang="en-US" sz="2200" dirty="0">
                <a:solidFill>
                  <a:srgbClr val="1B1B1F"/>
                </a:solidFill>
              </a:rPr>
              <a:t> (A = Verschiebung 0)</a:t>
            </a:r>
            <a:endParaRPr lang="en-US" sz="2200" dirty="0"/>
          </a:p>
        </p:txBody>
      </p:sp>
      <p:sp>
        <p:nvSpPr>
          <p:cNvPr id="5" name="Text 2"/>
          <p:cNvSpPr txBox="1"/>
          <p:nvPr/>
        </p:nvSpPr>
        <p:spPr>
          <a:xfrm>
            <a:off x="548640" y="3098566"/>
            <a:ext cx="7315200" cy="386588"/>
          </a:xfrm>
          <a:prstGeom prst="rect">
            <a:avLst/>
          </a:prstGeom>
          <a:noFill/>
          <a:ln/>
        </p:spPr>
        <p:txBody>
          <a:bodyPr wrap="square" lIns="0" tIns="0" rIns="0" bIns="0" rtlCol="0" anchor="t"/>
          <a:lstStyle/>
          <a:p>
            <a:pPr algn="l" indent="0" marL="0">
              <a:buNone/>
            </a:pPr>
            <a:r>
              <a:rPr lang="en-US" sz="2200" dirty="0">
                <a:solidFill>
                  <a:srgbClr val="1B1B1F"/>
                </a:solidFill>
              </a:rPr>
              <a:t>Mögliche Verschiebungen: k ∈ {0, 1, …, 25}</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Unser Beispiel: Treffpunkt am Brunnen</a:t>
            </a:r>
            <a:endParaRPr lang="en-US" sz="3000" dirty="0"/>
          </a:p>
        </p:txBody>
      </p:sp>
      <p:sp>
        <p:nvSpPr>
          <p:cNvPr id="3" name="Text 1"/>
          <p:cNvSpPr txBox="1"/>
          <p:nvPr/>
        </p:nvSpPr>
        <p:spPr>
          <a:xfrm>
            <a:off x="548640" y="1325880"/>
            <a:ext cx="4308653" cy="1068324"/>
          </a:xfrm>
          <a:prstGeom prst="rect">
            <a:avLst/>
          </a:prstGeom>
          <a:noFill/>
          <a:ln/>
        </p:spPr>
        <p:txBody>
          <a:bodyPr wrap="square" lIns="0" tIns="0" rIns="0" bIns="0" rtlCol="0" anchor="t"/>
          <a:lstStyle/>
          <a:p>
            <a:pPr algn="l" indent="0" marL="0">
              <a:buNone/>
            </a:pPr>
            <a:r>
              <a:rPr lang="en-US" sz="2200" dirty="0">
                <a:solidFill>
                  <a:srgbClr val="1B1B1F"/>
                </a:solidFill>
              </a:rPr>
              <a:t>Klartext </a:t>
            </a:r>
            <a:r>
              <a:rPr lang="en-US" sz="2200" dirty="0">
                <a:solidFill>
                  <a:srgbClr val="1B1B1F"/>
                </a:solidFill>
                <a:latin typeface="Consolas" pitchFamily="34" charset="0"/>
                <a:ea typeface="Consolas" pitchFamily="34" charset="-122"/>
                <a:cs typeface="Consolas" pitchFamily="34" charset="-120"/>
              </a:rPr>
              <a:t>treffpunktambrunnen</a:t>
            </a:r>
            <a:r>
              <a:rPr lang="en-US" sz="2200" dirty="0">
                <a:solidFill>
                  <a:srgbClr val="1B1B1F"/>
                </a:solidFill>
              </a:rPr>
              <a:t> · Schlüssel k = 6 · Nummerierung A = 1 … Z = 26</a:t>
            </a:r>
            <a:endParaRPr lang="en-US" sz="2200" dirty="0"/>
          </a:p>
        </p:txBody>
      </p:sp>
      <p:sp>
        <p:nvSpPr>
          <p:cNvPr id="4" name="Geheimtext-Kasten"/>
          <p:cNvSpPr/>
          <p:nvPr/>
        </p:nvSpPr>
        <p:spPr>
          <a:xfrm>
            <a:off x="548640" y="2522220"/>
            <a:ext cx="4308653" cy="1379220"/>
          </a:xfrm>
          <a:prstGeom prst="rect">
            <a:avLst/>
          </a:prstGeom>
          <a:solidFill>
            <a:srgbClr val="F2EADB"/>
          </a:solidFill>
          <a:ln w="9525">
            <a:solidFill>
              <a:srgbClr val="D8CDB8"/>
            </a:solidFill>
            <a:prstDash val="solid"/>
          </a:ln>
        </p:spPr>
      </p:sp>
      <p:sp>
        <p:nvSpPr>
          <p:cNvPr id="5" name="Text 3"/>
          <p:cNvSpPr txBox="1"/>
          <p:nvPr/>
        </p:nvSpPr>
        <p:spPr>
          <a:xfrm>
            <a:off x="777240" y="2631948"/>
            <a:ext cx="3851453" cy="1159764"/>
          </a:xfrm>
          <a:prstGeom prst="rect">
            <a:avLst/>
          </a:prstGeom>
          <a:noFill/>
          <a:ln/>
        </p:spPr>
        <p:txBody>
          <a:bodyPr wrap="square" lIns="0" tIns="0" rIns="0" bIns="0" rtlCol="0" anchor="t"/>
          <a:lstStyle/>
          <a:p>
            <a:pPr indent="0" marL="0">
              <a:lnSpc>
                <a:spcPct val="115000"/>
              </a:lnSpc>
              <a:buNone/>
            </a:pPr>
            <a:r>
              <a:rPr lang="en-US" sz="3000" b="1" spc="200" kern="0" dirty="0">
                <a:solidFill>
                  <a:srgbClr val="1B1B1F"/>
                </a:solidFill>
                <a:latin typeface="Consolas" pitchFamily="34" charset="0"/>
                <a:ea typeface="Consolas" pitchFamily="34" charset="-122"/>
                <a:cs typeface="Consolas" pitchFamily="34" charset="-120"/>
              </a:rPr>
              <a:t>ZXKLL VATQZ</a:t>
            </a:r>
            <a:endParaRPr lang="en-US" sz="3000" dirty="0"/>
          </a:p>
          <a:p>
            <a:pPr indent="0" marL="0">
              <a:lnSpc>
                <a:spcPct val="115000"/>
              </a:lnSpc>
              <a:buNone/>
            </a:pPr>
            <a:r>
              <a:rPr lang="en-US" sz="3000" b="1" spc="200" kern="0" dirty="0">
                <a:solidFill>
                  <a:srgbClr val="1B1B1F"/>
                </a:solidFill>
                <a:latin typeface="Consolas" pitchFamily="34" charset="0"/>
                <a:ea typeface="Consolas" pitchFamily="34" charset="-122"/>
                <a:cs typeface="Consolas" pitchFamily="34" charset="-120"/>
              </a:rPr>
              <a:t>GSHXA TTKT</a:t>
            </a:r>
            <a:endParaRPr lang="en-US" sz="3000" dirty="0"/>
          </a:p>
        </p:txBody>
      </p:sp>
      <p:sp>
        <p:nvSpPr>
          <p:cNvPr id="6" name="Geheimtext-Kasten"/>
          <p:cNvSpPr/>
          <p:nvPr/>
        </p:nvSpPr>
        <p:spPr>
          <a:xfrm>
            <a:off x="548640" y="4029456"/>
            <a:ext cx="4308653" cy="716280"/>
          </a:xfrm>
          <a:prstGeom prst="rect">
            <a:avLst/>
          </a:prstGeom>
          <a:solidFill>
            <a:srgbClr val="F2EADB"/>
          </a:solidFill>
          <a:ln w="9525">
            <a:solidFill>
              <a:srgbClr val="D8CDB8"/>
            </a:solidFill>
            <a:prstDash val="solid"/>
          </a:ln>
        </p:spPr>
      </p:sp>
      <p:sp>
        <p:nvSpPr>
          <p:cNvPr id="7" name="Text 5"/>
          <p:cNvSpPr txBox="1"/>
          <p:nvPr/>
        </p:nvSpPr>
        <p:spPr>
          <a:xfrm>
            <a:off x="777240" y="4139184"/>
            <a:ext cx="3851453" cy="496824"/>
          </a:xfrm>
          <a:prstGeom prst="rect">
            <a:avLst/>
          </a:prstGeom>
          <a:noFill/>
          <a:ln/>
        </p:spPr>
        <p:txBody>
          <a:bodyPr wrap="square" lIns="0" tIns="0" rIns="0" bIns="0" rtlCol="0" anchor="t"/>
          <a:lstStyle/>
          <a:p>
            <a:pPr indent="0" marL="0">
              <a:lnSpc>
                <a:spcPct val="115000"/>
              </a:lnSpc>
              <a:buNone/>
            </a:pPr>
            <a:r>
              <a:rPr lang="en-US" sz="2400" spc="200" kern="0" dirty="0">
                <a:solidFill>
                  <a:srgbClr val="4A4A55"/>
                </a:solidFill>
                <a:latin typeface="Consolas" pitchFamily="34" charset="0"/>
                <a:ea typeface="Consolas" pitchFamily="34" charset="-122"/>
                <a:cs typeface="Consolas" pitchFamily="34" charset="-120"/>
              </a:rPr>
              <a:t>treffpunktambrunnen</a:t>
            </a:r>
            <a:endParaRPr lang="en-US" sz="2400" dirty="0"/>
          </a:p>
        </p:txBody>
      </p:sp>
      <p:sp>
        <p:nvSpPr>
          <p:cNvPr id="8" name="Shape 6"/>
          <p:cNvSpPr/>
          <p:nvPr/>
        </p:nvSpPr>
        <p:spPr>
          <a:xfrm>
            <a:off x="5223053" y="1325880"/>
            <a:ext cx="2640787" cy="3632200"/>
          </a:xfrm>
          <a:prstGeom prst="roundRect">
            <a:avLst>
              <a:gd name="adj" fmla="val 2770"/>
            </a:avLst>
          </a:prstGeom>
          <a:solidFill>
            <a:srgbClr val="F2EADB"/>
          </a:solidFill>
          <a:ln w="12700">
            <a:solidFill>
              <a:srgbClr val="B5523B"/>
            </a:solidFill>
            <a:prstDash val="solid"/>
          </a:ln>
        </p:spPr>
      </p:sp>
      <p:sp>
        <p:nvSpPr>
          <p:cNvPr id="9" name="Text 7"/>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4213D"/>
                </a:solidFill>
              </a:rPr>
              <a:t>RECHNEN</a:t>
            </a:r>
            <a:endParaRPr lang="en-US" sz="1300" dirty="0"/>
          </a:p>
        </p:txBody>
      </p:sp>
      <p:sp>
        <p:nvSpPr>
          <p:cNvPr id="10" name="Text 8"/>
          <p:cNvSpPr txBox="1"/>
          <p:nvPr/>
        </p:nvSpPr>
        <p:spPr>
          <a:xfrm>
            <a:off x="5451653" y="1783080"/>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t = 20 → 20 + 6 = </a:t>
            </a:r>
            <a:r>
              <a:rPr lang="en-US" sz="2000" b="1" dirty="0">
                <a:solidFill>
                  <a:srgbClr val="1B1B1F"/>
                </a:solidFill>
              </a:rPr>
              <a:t>26</a:t>
            </a:r>
            <a:r>
              <a:rPr lang="en-US" sz="2000" dirty="0">
                <a:solidFill>
                  <a:srgbClr val="1B1B1F"/>
                </a:solidFill>
              </a:rPr>
              <a:t> → Z</a:t>
            </a:r>
            <a:endParaRPr lang="en-US" sz="2000" dirty="0"/>
          </a:p>
        </p:txBody>
      </p:sp>
      <p:sp>
        <p:nvSpPr>
          <p:cNvPr id="11" name="Text 9"/>
          <p:cNvSpPr txBox="1"/>
          <p:nvPr/>
        </p:nvSpPr>
        <p:spPr>
          <a:xfrm>
            <a:off x="5451653" y="2576576"/>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r = 18 → 24 → X</a:t>
            </a:r>
            <a:endParaRPr lang="en-US" sz="2000" dirty="0"/>
          </a:p>
        </p:txBody>
      </p:sp>
      <p:sp>
        <p:nvSpPr>
          <p:cNvPr id="12" name="Text 10"/>
          <p:cNvSpPr txBox="1"/>
          <p:nvPr/>
        </p:nvSpPr>
        <p:spPr>
          <a:xfrm>
            <a:off x="5451653" y="3060192"/>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e = 5 → 11 → K</a:t>
            </a:r>
            <a:endParaRPr lang="en-US" sz="2000" dirty="0"/>
          </a:p>
        </p:txBody>
      </p:sp>
      <p:sp>
        <p:nvSpPr>
          <p:cNvPr id="13" name="Text 11"/>
          <p:cNvSpPr txBox="1"/>
          <p:nvPr/>
        </p:nvSpPr>
        <p:spPr>
          <a:xfrm>
            <a:off x="5451653" y="3543808"/>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u = 21 → </a:t>
            </a:r>
            <a:r>
              <a:rPr lang="en-US" sz="2000" b="1" dirty="0">
                <a:solidFill>
                  <a:srgbClr val="1B1B1F"/>
                </a:solidFill>
              </a:rPr>
              <a:t>27</a:t>
            </a:r>
            <a:r>
              <a:rPr lang="en-US" sz="2000" dirty="0">
                <a:solidFill>
                  <a:srgbClr val="1B1B1F"/>
                </a:solidFill>
              </a:rPr>
              <a:t> – zu groß!</a:t>
            </a:r>
            <a:endParaRPr lang="en-US" sz="2000" dirty="0"/>
          </a:p>
        </p:txBody>
      </p:sp>
      <p:sp>
        <p:nvSpPr>
          <p:cNvPr id="14" name="Text 12"/>
          <p:cNvSpPr txBox="1"/>
          <p:nvPr/>
        </p:nvSpPr>
        <p:spPr>
          <a:xfrm>
            <a:off x="5451653" y="4337304"/>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27 − 26 = 1 → A</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Modulo: Rechnen im Kreis</a:t>
            </a:r>
            <a:endParaRPr lang="en-US" sz="3000" dirty="0"/>
          </a:p>
        </p:txBody>
      </p:sp>
      <p:sp>
        <p:nvSpPr>
          <p:cNvPr id="3" name="Text 1"/>
          <p:cNvSpPr txBox="1"/>
          <p:nvPr/>
        </p:nvSpPr>
        <p:spPr>
          <a:xfrm>
            <a:off x="548640" y="1325880"/>
            <a:ext cx="7315200" cy="2843276"/>
          </a:xfrm>
          <a:prstGeom prst="rect">
            <a:avLst/>
          </a:prstGeom>
          <a:noFill/>
          <a:ln/>
        </p:spPr>
        <p:txBody>
          <a:bodyPr wrap="square" lIns="0" tIns="0" rIns="0" bIns="0" rtlCol="0" anchor="t"/>
          <a:lstStyle/>
          <a:p>
            <a:pPr marL="279400" indent="-279400">
              <a:spcAft>
                <a:spcPts val="600"/>
              </a:spcAft>
              <a:buSzPct val="100000"/>
              <a:buChar char="●"/>
            </a:pPr>
            <a:r>
              <a:rPr lang="en-US" sz="2200" b="1" dirty="0">
                <a:solidFill>
                  <a:srgbClr val="1B1B1F"/>
                </a:solidFill>
              </a:rPr>
              <a:t>a mod n</a:t>
            </a:r>
            <a:r>
              <a:rPr lang="en-US" sz="2200" dirty="0">
                <a:solidFill>
                  <a:srgbClr val="1B1B1F"/>
                </a:solidFill>
              </a:rPr>
              <a:t> = Rest bei der Division durch n – der </a:t>
            </a:r>
            <a:r>
              <a:rPr lang="en-US" sz="2200" b="1" dirty="0">
                <a:solidFill>
                  <a:srgbClr val="1B1B1F"/>
                </a:solidFill>
              </a:rPr>
              <a:t>kleinste nicht negative</a:t>
            </a:r>
            <a:r>
              <a:rPr lang="en-US" sz="2200" dirty="0">
                <a:solidFill>
                  <a:srgbClr val="1B1B1F"/>
                </a:solidFill>
              </a:rPr>
              <a:t> Rest</a:t>
            </a:r>
            <a:endParaRPr lang="en-US" sz="2200" dirty="0"/>
          </a:p>
          <a:p>
            <a:pPr marL="279400" indent="-279400">
              <a:spcAft>
                <a:spcPts val="600"/>
              </a:spcAft>
              <a:buSzPct val="100000"/>
              <a:buChar char="●"/>
            </a:pPr>
            <a:r>
              <a:rPr lang="en-US" sz="2200" dirty="0">
                <a:solidFill>
                  <a:srgbClr val="1B1B1F"/>
                </a:solidFill>
              </a:rPr>
              <a:t>Uhr: 10 Uhr + 5 Stunden = 3 Uhr, also 15 mod 12 = 3</a:t>
            </a:r>
            <a:endParaRPr lang="en-US" sz="2200" dirty="0"/>
          </a:p>
          <a:p>
            <a:pPr marL="279400" indent="-279400">
              <a:spcAft>
                <a:spcPts val="600"/>
              </a:spcAft>
              <a:buSzPct val="100000"/>
              <a:buChar char="●"/>
            </a:pPr>
            <a:r>
              <a:rPr lang="en-US" sz="2200" dirty="0">
                <a:solidFill>
                  <a:srgbClr val="1B1B1F"/>
                </a:solidFill>
              </a:rPr>
              <a:t>27 mod 26 = 1 · 26 mod 26 = </a:t>
            </a:r>
            <a:r>
              <a:rPr lang="en-US" sz="2200" b="1" dirty="0">
                <a:solidFill>
                  <a:srgbClr val="1B1B1F"/>
                </a:solidFill>
              </a:rPr>
              <a:t>0</a:t>
            </a:r>
            <a:endParaRPr lang="en-US" sz="2200" dirty="0"/>
          </a:p>
          <a:p>
            <a:pPr marL="279400" indent="-279400">
              <a:spcAft>
                <a:spcPts val="600"/>
              </a:spcAft>
              <a:buSzPct val="100000"/>
              <a:buChar char="●"/>
            </a:pPr>
            <a:r>
              <a:rPr lang="en-US" sz="2200" dirty="0">
                <a:solidFill>
                  <a:srgbClr val="1B1B1F"/>
                </a:solidFill>
              </a:rPr>
              <a:t>Negativ: −6 mod 26 = </a:t>
            </a:r>
            <a:r>
              <a:rPr lang="en-US" sz="2200" b="1" dirty="0">
                <a:solidFill>
                  <a:srgbClr val="1B1B1F"/>
                </a:solidFill>
              </a:rPr>
              <a:t>20</a:t>
            </a:r>
            <a:r>
              <a:rPr lang="en-US" sz="2200" dirty="0">
                <a:solidFill>
                  <a:srgbClr val="1B1B1F"/>
                </a:solidFill>
              </a:rPr>
              <a:t>, denn −6 + 26 = 20</a:t>
            </a:r>
            <a:endParaRPr lang="en-US" sz="2200" dirty="0"/>
          </a:p>
          <a:p>
            <a:pPr marL="279400" indent="-279400">
              <a:spcAft>
                <a:spcPts val="600"/>
              </a:spcAft>
              <a:buSzPct val="100000"/>
              <a:buChar char="●"/>
            </a:pPr>
            <a:r>
              <a:rPr lang="en-US" sz="2200" dirty="0">
                <a:solidFill>
                  <a:srgbClr val="1B1B1F"/>
                </a:solidFill>
              </a:rPr>
              <a:t>Das Alphabet ist ein Kreis: Nach Z kommt wieder A</a:t>
            </a:r>
            <a:endParaRPr lang="en-US" sz="2200" dirty="0"/>
          </a:p>
        </p:txBody>
      </p:sp>
      <p:pic>
        <p:nvPicPr>
          <p:cNvPr id="4" name="Image 0" descr="Ziffernring/Uhr mit 12 Stunden, Pfeil von 10 um 5 Schritte weiter auf 3 (Messing-Linien, Kryptos-Stil); daneben Alphabetring A … Z mit Pfeil von U um 6 weiter auf A">    </p:cNvPr>
          <p:cNvPicPr>
            <a:picLocks noChangeAspect="1"/>
          </p:cNvPicPr>
          <p:nvPr/>
        </p:nvPicPr>
        <p:blipFill>
          <a:blip r:embed="rId1"/>
          <a:stretch>
            <a:fillRect/>
          </a:stretch>
        </p:blipFill>
        <p:spPr>
          <a:xfrm>
            <a:off x="2511255" y="4297172"/>
            <a:ext cx="3389971" cy="1737360"/>
          </a:xfrm>
          <a:prstGeom prst="rect">
            <a:avLst/>
          </a:prstGeom>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Die Formel – sicher mit A = 1</a:t>
            </a:r>
            <a:endParaRPr lang="en-US" sz="3000" dirty="0"/>
          </a:p>
        </p:txBody>
      </p:sp>
      <p:sp>
        <p:nvSpPr>
          <p:cNvPr id="3" name="Text 1"/>
          <p:cNvSpPr txBox="1"/>
          <p:nvPr/>
        </p:nvSpPr>
        <p:spPr>
          <a:xfrm>
            <a:off x="548640" y="1325880"/>
            <a:ext cx="4308653" cy="3101848"/>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Verschlüsseln: </a:t>
            </a:r>
            <a:r>
              <a:rPr lang="en-US" sz="2200" b="1" dirty="0">
                <a:solidFill>
                  <a:srgbClr val="1B1B1F"/>
                </a:solidFill>
              </a:rPr>
              <a:t>c = ((p + k − 1) mod 26) + 1</a:t>
            </a:r>
            <a:endParaRPr lang="en-US" sz="2200" dirty="0"/>
          </a:p>
          <a:p>
            <a:pPr marL="279400" indent="-279400">
              <a:spcAft>
                <a:spcPts val="600"/>
              </a:spcAft>
              <a:buSzPct val="100000"/>
              <a:buChar char="●"/>
            </a:pPr>
            <a:r>
              <a:rPr lang="en-US" sz="2200" dirty="0">
                <a:solidFill>
                  <a:srgbClr val="1B1B1F"/>
                </a:solidFill>
              </a:rPr>
              <a:t>Entschlüsseln: </a:t>
            </a:r>
            <a:r>
              <a:rPr lang="en-US" sz="2200" b="1" dirty="0">
                <a:solidFill>
                  <a:srgbClr val="1B1B1F"/>
                </a:solidFill>
              </a:rPr>
              <a:t>p = ((c − k − 1) mod 26) + 1</a:t>
            </a:r>
            <a:endParaRPr lang="en-US" sz="2200" dirty="0"/>
          </a:p>
          <a:p>
            <a:pPr marL="279400" indent="-279400">
              <a:spcAft>
                <a:spcPts val="600"/>
              </a:spcAft>
              <a:buSzPct val="100000"/>
              <a:buChar char="●"/>
            </a:pPr>
            <a:r>
              <a:rPr lang="en-US" sz="2200" dirty="0">
                <a:solidFill>
                  <a:srgbClr val="1B1B1F"/>
                </a:solidFill>
              </a:rPr>
              <a:t>t: ((20 + 6 − 1) mod 26) + 1 = 25 + 1 = </a:t>
            </a:r>
            <a:r>
              <a:rPr lang="en-US" sz="2200" b="1" dirty="0">
                <a:solidFill>
                  <a:srgbClr val="1B1B1F"/>
                </a:solidFill>
              </a:rPr>
              <a:t>26</a:t>
            </a:r>
            <a:r>
              <a:rPr lang="en-US" sz="2200" dirty="0">
                <a:solidFill>
                  <a:srgbClr val="1B1B1F"/>
                </a:solidFill>
              </a:rPr>
              <a:t> → Z</a:t>
            </a:r>
            <a:endParaRPr lang="en-US" sz="2200" dirty="0"/>
          </a:p>
          <a:p>
            <a:pPr marL="279400" indent="-279400">
              <a:spcAft>
                <a:spcPts val="600"/>
              </a:spcAft>
              <a:buSzPct val="100000"/>
              <a:buChar char="●"/>
            </a:pPr>
            <a:r>
              <a:rPr lang="en-US" sz="2200" dirty="0">
                <a:solidFill>
                  <a:srgbClr val="1B1B1F"/>
                </a:solidFill>
              </a:rPr>
              <a:t>u: ((21 + 6 − 1) mod 26) + 1 = 0 + 1 = </a:t>
            </a:r>
            <a:r>
              <a:rPr lang="en-US" sz="2200" b="1" dirty="0">
                <a:solidFill>
                  <a:srgbClr val="1B1B1F"/>
                </a:solidFill>
              </a:rPr>
              <a:t>1</a:t>
            </a:r>
            <a:r>
              <a:rPr lang="en-US" sz="2200" dirty="0">
                <a:solidFill>
                  <a:srgbClr val="1B1B1F"/>
                </a:solidFill>
              </a:rPr>
              <a:t> → A</a:t>
            </a:r>
            <a:endParaRPr lang="en-US" sz="2200" dirty="0"/>
          </a:p>
        </p:txBody>
      </p:sp>
      <p:sp>
        <p:nvSpPr>
          <p:cNvPr id="4" name="Shape 2"/>
          <p:cNvSpPr/>
          <p:nvPr/>
        </p:nvSpPr>
        <p:spPr>
          <a:xfrm>
            <a:off x="5223053" y="1325880"/>
            <a:ext cx="2640787" cy="2974848"/>
          </a:xfrm>
          <a:prstGeom prst="roundRect">
            <a:avLst>
              <a:gd name="adj" fmla="val 2770"/>
            </a:avLst>
          </a:prstGeom>
          <a:solidFill>
            <a:srgbClr val="FBF3E2"/>
          </a:solidFill>
          <a:ln w="12700">
            <a:solidFill>
              <a:srgbClr val="8A5F1A"/>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WARUM − 1 UND + 1?</a:t>
            </a:r>
            <a:endParaRPr lang="en-US" sz="1300" dirty="0"/>
          </a:p>
        </p:txBody>
      </p:sp>
      <p:sp>
        <p:nvSpPr>
          <p:cNvPr id="6" name="Text 4"/>
          <p:cNvSpPr txBox="1"/>
          <p:nvPr/>
        </p:nvSpPr>
        <p:spPr>
          <a:xfrm>
            <a:off x="5451653" y="1783080"/>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− 1: A = 1 … Z = 26 wird zu 0 … 25</a:t>
            </a:r>
            <a:endParaRPr lang="en-US" sz="2000" dirty="0"/>
          </a:p>
        </p:txBody>
      </p:sp>
      <p:sp>
        <p:nvSpPr>
          <p:cNvPr id="7" name="Text 5"/>
          <p:cNvSpPr txBox="1"/>
          <p:nvPr/>
        </p:nvSpPr>
        <p:spPr>
          <a:xfrm>
            <a:off x="5451653" y="257657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mod 26 rechnet im Kreis</a:t>
            </a:r>
            <a:endParaRPr lang="en-US" sz="2000" dirty="0"/>
          </a:p>
        </p:txBody>
      </p:sp>
      <p:sp>
        <p:nvSpPr>
          <p:cNvPr id="8" name="Text 6"/>
          <p:cNvSpPr txBox="1"/>
          <p:nvPr/>
        </p:nvSpPr>
        <p:spPr>
          <a:xfrm>
            <a:off x="5451653" y="3370072"/>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+ 1: zurück zu 1 … 26 – nie eine 0</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Falle P2 · Modulo falsch</a:t>
            </a:r>
            <a:endParaRPr lang="en-US" sz="3000" dirty="0"/>
          </a:p>
        </p:txBody>
      </p:sp>
      <p:sp>
        <p:nvSpPr>
          <p:cNvPr id="3" name="Text 1"/>
          <p:cNvSpPr txBox="1"/>
          <p:nvPr/>
        </p:nvSpPr>
        <p:spPr>
          <a:xfrm>
            <a:off x="548640" y="1325880"/>
            <a:ext cx="7315200" cy="711200"/>
          </a:xfrm>
          <a:prstGeom prst="rect">
            <a:avLst/>
          </a:prstGeom>
          <a:noFill/>
          <a:ln/>
        </p:spPr>
        <p:txBody>
          <a:bodyPr wrap="square" lIns="0" tIns="0" rIns="0" bIns="0" rtlCol="0" anchor="t"/>
          <a:lstStyle/>
          <a:p>
            <a:pPr indent="0" marL="0">
              <a:buNone/>
            </a:pPr>
            <a:r>
              <a:rPr lang="en-US" sz="2000" dirty="0">
                <a:solidFill>
                  <a:srgbClr val="1B1B1F"/>
                </a:solidFill>
              </a:rPr>
              <a:t>Nach jeder Rechnung prüfen: Liegt das Ergebnis zwischen 1 und 26?</a:t>
            </a:r>
            <a:endParaRPr lang="en-US" sz="2000" dirty="0"/>
          </a:p>
        </p:txBody>
      </p:sp>
      <p:sp>
        <p:nvSpPr>
          <p:cNvPr id="4" name="Shape 2"/>
          <p:cNvSpPr/>
          <p:nvPr/>
        </p:nvSpPr>
        <p:spPr>
          <a:xfrm>
            <a:off x="548640" y="2219960"/>
            <a:ext cx="3474720" cy="3480816"/>
          </a:xfrm>
          <a:prstGeom prst="roundRect">
            <a:avLst>
              <a:gd name="adj" fmla="val 2105"/>
            </a:avLst>
          </a:prstGeom>
          <a:solidFill>
            <a:srgbClr val="FDF3F2"/>
          </a:solidFill>
          <a:ln w="15875">
            <a:solidFill>
              <a:srgbClr val="B3261E"/>
            </a:solidFill>
            <a:prstDash val="solid"/>
          </a:ln>
        </p:spPr>
      </p:sp>
      <p:sp>
        <p:nvSpPr>
          <p:cNvPr id="5" name="Text 3"/>
          <p:cNvSpPr txBox="1"/>
          <p:nvPr/>
        </p:nvSpPr>
        <p:spPr>
          <a:xfrm>
            <a:off x="822960" y="2402840"/>
            <a:ext cx="2926080" cy="365760"/>
          </a:xfrm>
          <a:prstGeom prst="rect">
            <a:avLst/>
          </a:prstGeom>
          <a:noFill/>
          <a:ln/>
        </p:spPr>
        <p:txBody>
          <a:bodyPr wrap="square" lIns="0" tIns="0" rIns="0" bIns="0" rtlCol="0" anchor="ctr"/>
          <a:lstStyle/>
          <a:p>
            <a:pPr indent="0" marL="0">
              <a:buNone/>
            </a:pPr>
            <a:r>
              <a:rPr lang="en-US" sz="1800" b="1" spc="200" kern="0" dirty="0">
                <a:solidFill>
                  <a:srgbClr val="B3261E"/>
                </a:solidFill>
              </a:rPr>
              <a:t>SO NICHT  ✗</a:t>
            </a:r>
            <a:endParaRPr lang="en-US" sz="1800" dirty="0"/>
          </a:p>
        </p:txBody>
      </p:sp>
      <p:sp>
        <p:nvSpPr>
          <p:cNvPr id="6" name="Text 4"/>
          <p:cNvSpPr txBox="1"/>
          <p:nvPr/>
        </p:nvSpPr>
        <p:spPr>
          <a:xfrm>
            <a:off x="822960" y="2905760"/>
            <a:ext cx="2926080" cy="386588"/>
          </a:xfrm>
          <a:prstGeom prst="rect">
            <a:avLst/>
          </a:prstGeom>
          <a:noFill/>
          <a:ln/>
        </p:spPr>
        <p:txBody>
          <a:bodyPr wrap="square" lIns="0" tIns="0" rIns="0" bIns="0" rtlCol="0" anchor="t"/>
          <a:lstStyle/>
          <a:p>
            <a:pPr algn="l" indent="0" marL="0">
              <a:buNone/>
            </a:pPr>
            <a:r>
              <a:rPr lang="en-US" sz="2200" dirty="0">
                <a:solidFill>
                  <a:srgbClr val="1B1B1F"/>
                </a:solidFill>
              </a:rPr>
              <a:t>c = (p + k) mod 26</a:t>
            </a:r>
            <a:endParaRPr lang="en-US" sz="2200" dirty="0"/>
          </a:p>
        </p:txBody>
      </p:sp>
      <p:sp>
        <p:nvSpPr>
          <p:cNvPr id="7" name="Text 5"/>
          <p:cNvSpPr txBox="1"/>
          <p:nvPr/>
        </p:nvSpPr>
        <p:spPr>
          <a:xfrm>
            <a:off x="822960" y="3420364"/>
            <a:ext cx="2926080" cy="727456"/>
          </a:xfrm>
          <a:prstGeom prst="rect">
            <a:avLst/>
          </a:prstGeom>
          <a:noFill/>
          <a:ln/>
        </p:spPr>
        <p:txBody>
          <a:bodyPr wrap="square" lIns="0" tIns="0" rIns="0" bIns="0" rtlCol="0" anchor="t"/>
          <a:lstStyle/>
          <a:p>
            <a:pPr algn="l" indent="0" marL="0">
              <a:buNone/>
            </a:pPr>
            <a:r>
              <a:rPr lang="en-US" sz="2200" dirty="0">
                <a:solidFill>
                  <a:srgbClr val="1B1B1F"/>
                </a:solidFill>
              </a:rPr>
              <a:t>t: (20 + 6) mod 26 = </a:t>
            </a:r>
            <a:r>
              <a:rPr lang="en-US" sz="2200" b="1" dirty="0">
                <a:solidFill>
                  <a:srgbClr val="1B1B1F"/>
                </a:solidFill>
              </a:rPr>
              <a:t>0</a:t>
            </a:r>
            <a:r>
              <a:rPr lang="en-US" sz="2200" dirty="0">
                <a:solidFill>
                  <a:srgbClr val="1B1B1F"/>
                </a:solidFill>
              </a:rPr>
              <a:t> → Buchstabe 0?</a:t>
            </a:r>
            <a:endParaRPr lang="en-US" sz="2200" dirty="0"/>
          </a:p>
        </p:txBody>
      </p:sp>
      <p:sp>
        <p:nvSpPr>
          <p:cNvPr id="8" name="Text 6"/>
          <p:cNvSpPr txBox="1"/>
          <p:nvPr/>
        </p:nvSpPr>
        <p:spPr>
          <a:xfrm>
            <a:off x="822960" y="4275836"/>
            <a:ext cx="2926080" cy="1068324"/>
          </a:xfrm>
          <a:prstGeom prst="rect">
            <a:avLst/>
          </a:prstGeom>
          <a:noFill/>
          <a:ln/>
        </p:spPr>
        <p:txBody>
          <a:bodyPr wrap="square" lIns="0" tIns="0" rIns="0" bIns="0" rtlCol="0" anchor="t"/>
          <a:lstStyle/>
          <a:p>
            <a:pPr algn="l" indent="0" marL="0">
              <a:buNone/>
            </a:pPr>
            <a:r>
              <a:rPr lang="en-US" sz="2200" dirty="0">
                <a:solidFill>
                  <a:srgbClr val="1B1B1F"/>
                </a:solidFill>
              </a:rPr>
              <a:t>Entschlüsseln von A (k = 6): 1 − 6 = </a:t>
            </a:r>
            <a:r>
              <a:rPr lang="en-US" sz="2200" b="1" dirty="0">
                <a:solidFill>
                  <a:srgbClr val="1B1B1F"/>
                </a:solidFill>
              </a:rPr>
              <a:t>−5</a:t>
            </a:r>
            <a:r>
              <a:rPr lang="en-US" sz="2200" dirty="0">
                <a:solidFill>
                  <a:srgbClr val="1B1B1F"/>
                </a:solidFill>
              </a:rPr>
              <a:t> → Buchstabe −5?</a:t>
            </a:r>
            <a:endParaRPr lang="en-US" sz="2200" dirty="0"/>
          </a:p>
        </p:txBody>
      </p:sp>
      <p:sp>
        <p:nvSpPr>
          <p:cNvPr id="9" name="Shape 7"/>
          <p:cNvSpPr/>
          <p:nvPr/>
        </p:nvSpPr>
        <p:spPr>
          <a:xfrm>
            <a:off x="4389120" y="2219960"/>
            <a:ext cx="3474720" cy="3952240"/>
          </a:xfrm>
          <a:prstGeom prst="roundRect">
            <a:avLst>
              <a:gd name="adj" fmla="val 2105"/>
            </a:avLst>
          </a:prstGeom>
          <a:solidFill>
            <a:srgbClr val="EEF6EE"/>
          </a:solidFill>
          <a:ln w="15875">
            <a:solidFill>
              <a:srgbClr val="2E7D32"/>
            </a:solidFill>
            <a:prstDash val="solid"/>
          </a:ln>
        </p:spPr>
      </p:sp>
      <p:sp>
        <p:nvSpPr>
          <p:cNvPr id="10" name="Text 8"/>
          <p:cNvSpPr txBox="1"/>
          <p:nvPr/>
        </p:nvSpPr>
        <p:spPr>
          <a:xfrm>
            <a:off x="4663440" y="2402840"/>
            <a:ext cx="2926080" cy="365760"/>
          </a:xfrm>
          <a:prstGeom prst="rect">
            <a:avLst/>
          </a:prstGeom>
          <a:noFill/>
          <a:ln/>
        </p:spPr>
        <p:txBody>
          <a:bodyPr wrap="square" lIns="0" tIns="0" rIns="0" bIns="0" rtlCol="0" anchor="ctr"/>
          <a:lstStyle/>
          <a:p>
            <a:pPr indent="0" marL="0">
              <a:buNone/>
            </a:pPr>
            <a:r>
              <a:rPr lang="en-US" sz="1800" b="1" spc="200" kern="0" dirty="0">
                <a:solidFill>
                  <a:srgbClr val="2E7D32"/>
                </a:solidFill>
              </a:rPr>
              <a:t>SO RICHTIG  ✓</a:t>
            </a:r>
            <a:endParaRPr lang="en-US" sz="1800" dirty="0"/>
          </a:p>
        </p:txBody>
      </p:sp>
      <p:sp>
        <p:nvSpPr>
          <p:cNvPr id="11" name="Text 9"/>
          <p:cNvSpPr txBox="1"/>
          <p:nvPr/>
        </p:nvSpPr>
        <p:spPr>
          <a:xfrm>
            <a:off x="4663440" y="2905760"/>
            <a:ext cx="2926080" cy="975360"/>
          </a:xfrm>
          <a:prstGeom prst="rect">
            <a:avLst/>
          </a:prstGeom>
          <a:noFill/>
          <a:ln/>
        </p:spPr>
        <p:txBody>
          <a:bodyPr wrap="square" lIns="0" tIns="0" rIns="0" bIns="0" rtlCol="0" anchor="t"/>
          <a:lstStyle/>
          <a:p>
            <a:pPr algn="l" indent="0" marL="0">
              <a:buNone/>
            </a:pPr>
            <a:r>
              <a:rPr lang="en-US" sz="2000" dirty="0">
                <a:solidFill>
                  <a:srgbClr val="1B1B1F"/>
                </a:solidFill>
              </a:rPr>
              <a:t>Rest 0 bedeutet </a:t>
            </a:r>
            <a:r>
              <a:rPr lang="en-US" sz="2000" b="1" dirty="0">
                <a:solidFill>
                  <a:srgbClr val="1B1B1F"/>
                </a:solidFill>
              </a:rPr>
              <a:t>Z</a:t>
            </a:r>
            <a:r>
              <a:rPr lang="en-US" sz="2000" dirty="0">
                <a:solidFill>
                  <a:srgbClr val="1B1B1F"/>
                </a:solidFill>
              </a:rPr>
              <a:t> (26) – oder gleich die Formel mit − 1 / + 1</a:t>
            </a:r>
            <a:endParaRPr lang="en-US" sz="2000" dirty="0"/>
          </a:p>
        </p:txBody>
      </p:sp>
      <p:sp>
        <p:nvSpPr>
          <p:cNvPr id="12" name="Text 10"/>
          <p:cNvSpPr txBox="1"/>
          <p:nvPr/>
        </p:nvSpPr>
        <p:spPr>
          <a:xfrm>
            <a:off x="4663440" y="4009136"/>
            <a:ext cx="2926080" cy="665480"/>
          </a:xfrm>
          <a:prstGeom prst="rect">
            <a:avLst/>
          </a:prstGeom>
          <a:noFill/>
          <a:ln/>
        </p:spPr>
        <p:txBody>
          <a:bodyPr wrap="square" lIns="0" tIns="0" rIns="0" bIns="0" rtlCol="0" anchor="t"/>
          <a:lstStyle/>
          <a:p>
            <a:pPr algn="l" indent="0" marL="0">
              <a:buNone/>
            </a:pPr>
            <a:r>
              <a:rPr lang="en-US" sz="2000" dirty="0">
                <a:solidFill>
                  <a:srgbClr val="1B1B1F"/>
                </a:solidFill>
              </a:rPr>
              <a:t>Negativ: </a:t>
            </a:r>
            <a:r>
              <a:rPr lang="en-US" sz="2000" b="1" dirty="0">
                <a:solidFill>
                  <a:srgbClr val="1B1B1F"/>
                </a:solidFill>
              </a:rPr>
              <a:t>+ 26</a:t>
            </a:r>
            <a:r>
              <a:rPr lang="en-US" sz="2000" dirty="0">
                <a:solidFill>
                  <a:srgbClr val="1B1B1F"/>
                </a:solidFill>
              </a:rPr>
              <a:t> → −5 + 26 = 21 → u</a:t>
            </a:r>
            <a:endParaRPr lang="en-US" sz="2000" dirty="0"/>
          </a:p>
        </p:txBody>
      </p:sp>
      <p:sp>
        <p:nvSpPr>
          <p:cNvPr id="13" name="Text 11"/>
          <p:cNvSpPr txBox="1"/>
          <p:nvPr/>
        </p:nvSpPr>
        <p:spPr>
          <a:xfrm>
            <a:off x="4663440" y="4802632"/>
            <a:ext cx="2926080" cy="665480"/>
          </a:xfrm>
          <a:prstGeom prst="rect">
            <a:avLst/>
          </a:prstGeom>
          <a:noFill/>
          <a:ln/>
        </p:spPr>
        <p:txBody>
          <a:bodyPr wrap="square" lIns="0" tIns="0" rIns="0" bIns="0" rtlCol="0" anchor="t"/>
          <a:lstStyle/>
          <a:p>
            <a:pPr algn="l" indent="0" marL="0">
              <a:buNone/>
            </a:pPr>
            <a:r>
              <a:rPr lang="en-US" sz="2000" dirty="0">
                <a:solidFill>
                  <a:srgbClr val="1B1B1F"/>
                </a:solidFill>
              </a:rPr>
              <a:t>Jedes Ergebnis liegt zwischen </a:t>
            </a:r>
            <a:r>
              <a:rPr lang="en-US" sz="2000" b="1" dirty="0">
                <a:solidFill>
                  <a:srgbClr val="1B1B1F"/>
                </a:solidFill>
              </a:rPr>
              <a:t>1 und 26</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Jetzt du: Entschlüsseln!</a:t>
            </a:r>
            <a:endParaRPr lang="en-US" sz="3000" dirty="0"/>
          </a:p>
        </p:txBody>
      </p:sp>
      <p:sp>
        <p:nvSpPr>
          <p:cNvPr id="3" name="Text 1"/>
          <p:cNvSpPr txBox="1"/>
          <p:nvPr/>
        </p:nvSpPr>
        <p:spPr>
          <a:xfrm>
            <a:off x="548640" y="1325880"/>
            <a:ext cx="1463040" cy="384048"/>
          </a:xfrm>
          <a:prstGeom prst="rect">
            <a:avLst/>
          </a:prstGeom>
          <a:solidFill>
            <a:srgbClr val="B5523B"/>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 Video anhalten</a:t>
            </a:r>
            <a:endParaRPr lang="en-US" sz="1400" dirty="0"/>
          </a:p>
        </p:txBody>
      </p:sp>
      <p:sp>
        <p:nvSpPr>
          <p:cNvPr id="5" name="Text 3"/>
          <p:cNvSpPr txBox="1"/>
          <p:nvPr/>
        </p:nvSpPr>
        <p:spPr>
          <a:xfrm>
            <a:off x="4361688"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selbst probieren</a:t>
            </a:r>
            <a:endParaRPr lang="en-US" sz="1400" dirty="0"/>
          </a:p>
        </p:txBody>
      </p:sp>
      <p:sp>
        <p:nvSpPr>
          <p:cNvPr id="6" name="Text 4"/>
          <p:cNvSpPr txBox="1"/>
          <p:nvPr/>
        </p:nvSpPr>
        <p:spPr>
          <a:xfrm>
            <a:off x="548640" y="1965960"/>
            <a:ext cx="4308653" cy="1409192"/>
          </a:xfrm>
          <a:prstGeom prst="rect">
            <a:avLst/>
          </a:prstGeom>
          <a:noFill/>
          <a:ln/>
        </p:spPr>
        <p:txBody>
          <a:bodyPr wrap="square" lIns="0" tIns="0" rIns="0" bIns="0" rtlCol="0" anchor="t"/>
          <a:lstStyle/>
          <a:p>
            <a:pPr algn="l" indent="0" marL="0">
              <a:buNone/>
            </a:pPr>
            <a:r>
              <a:rPr lang="en-US" sz="2200" dirty="0">
                <a:solidFill>
                  <a:srgbClr val="1B1B1F"/>
                </a:solidFill>
              </a:rPr>
              <a:t>Entschlüssele den Geheimtext. Schlüssel: Verschiebung </a:t>
            </a:r>
            <a:r>
              <a:rPr lang="en-US" sz="2200" b="1" dirty="0">
                <a:solidFill>
                  <a:srgbClr val="1B1B1F"/>
                </a:solidFill>
              </a:rPr>
              <a:t>k = 11</a:t>
            </a:r>
            <a:r>
              <a:rPr lang="en-US" sz="2200" dirty="0">
                <a:solidFill>
                  <a:srgbClr val="1B1B1F"/>
                </a:solidFill>
              </a:rPr>
              <a:t> (Schlüsselbuchstabe </a:t>
            </a:r>
            <a:r>
              <a:rPr lang="en-US" sz="2200" b="1" dirty="0">
                <a:solidFill>
                  <a:srgbClr val="1B1B1F"/>
                </a:solidFill>
              </a:rPr>
              <a:t>L</a:t>
            </a:r>
            <a:r>
              <a:rPr lang="en-US" sz="2200" dirty="0">
                <a:solidFill>
                  <a:srgbClr val="1B1B1F"/>
                </a:solidFill>
              </a:rPr>
              <a:t>). Nummerierung: A = 1 … Z = 26.</a:t>
            </a:r>
            <a:endParaRPr lang="en-US" sz="2200" dirty="0"/>
          </a:p>
        </p:txBody>
      </p:sp>
      <p:sp>
        <p:nvSpPr>
          <p:cNvPr id="7" name="Geheimtext-Kasten"/>
          <p:cNvSpPr/>
          <p:nvPr/>
        </p:nvSpPr>
        <p:spPr>
          <a:xfrm>
            <a:off x="548640" y="3503168"/>
            <a:ext cx="4308653" cy="716280"/>
          </a:xfrm>
          <a:prstGeom prst="rect">
            <a:avLst/>
          </a:prstGeom>
          <a:solidFill>
            <a:srgbClr val="F2EADB"/>
          </a:solidFill>
          <a:ln w="9525">
            <a:solidFill>
              <a:srgbClr val="D8CDB8"/>
            </a:solidFill>
            <a:prstDash val="solid"/>
          </a:ln>
        </p:spPr>
      </p:sp>
      <p:sp>
        <p:nvSpPr>
          <p:cNvPr id="8" name="Text 6"/>
          <p:cNvSpPr txBox="1"/>
          <p:nvPr/>
        </p:nvSpPr>
        <p:spPr>
          <a:xfrm>
            <a:off x="777240" y="3612896"/>
            <a:ext cx="3851453" cy="496824"/>
          </a:xfrm>
          <a:prstGeom prst="rect">
            <a:avLst/>
          </a:prstGeom>
          <a:noFill/>
          <a:ln/>
        </p:spPr>
        <p:txBody>
          <a:bodyPr wrap="square" lIns="0" tIns="0" rIns="0" bIns="0" rtlCol="0" anchor="t"/>
          <a:lstStyle/>
          <a:p>
            <a:pPr indent="0" marL="0">
              <a:lnSpc>
                <a:spcPct val="115000"/>
              </a:lnSpc>
              <a:buNone/>
            </a:pPr>
            <a:r>
              <a:rPr lang="en-US" sz="2400" b="1" spc="200" kern="0" dirty="0">
                <a:solidFill>
                  <a:srgbClr val="1B1B1F"/>
                </a:solidFill>
                <a:latin typeface="Consolas" pitchFamily="34" charset="0"/>
                <a:ea typeface="Consolas" pitchFamily="34" charset="-122"/>
                <a:cs typeface="Consolas" pitchFamily="34" charset="-120"/>
              </a:rPr>
              <a:t>RPSPT XMZED NSLQE</a:t>
            </a:r>
            <a:endParaRPr lang="en-US" sz="2400" dirty="0"/>
          </a:p>
        </p:txBody>
      </p:sp>
      <p:sp>
        <p:nvSpPr>
          <p:cNvPr id="9" name="Shape 7"/>
          <p:cNvSpPr/>
          <p:nvPr/>
        </p:nvSpPr>
        <p:spPr>
          <a:xfrm>
            <a:off x="5223053" y="1965960"/>
            <a:ext cx="2640787" cy="2664968"/>
          </a:xfrm>
          <a:prstGeom prst="roundRect">
            <a:avLst>
              <a:gd name="adj" fmla="val 2770"/>
            </a:avLst>
          </a:prstGeom>
          <a:solidFill>
            <a:srgbClr val="FBF3E2"/>
          </a:solidFill>
          <a:ln w="12700">
            <a:solidFill>
              <a:srgbClr val="8A5F1A"/>
            </a:solidFill>
            <a:prstDash val="solid"/>
          </a:ln>
        </p:spPr>
      </p:sp>
      <p:sp>
        <p:nvSpPr>
          <p:cNvPr id="10" name="Text 8"/>
          <p:cNvSpPr txBox="1"/>
          <p:nvPr/>
        </p:nvSpPr>
        <p:spPr>
          <a:xfrm>
            <a:off x="5451653" y="207568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TIPP</a:t>
            </a:r>
            <a:endParaRPr lang="en-US" sz="1300" dirty="0"/>
          </a:p>
        </p:txBody>
      </p:sp>
      <p:sp>
        <p:nvSpPr>
          <p:cNvPr id="11" name="Text 9"/>
          <p:cNvSpPr txBox="1"/>
          <p:nvPr/>
        </p:nvSpPr>
        <p:spPr>
          <a:xfrm>
            <a:off x="5451653" y="2423160"/>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rückwärts: c − 11</a:t>
            </a:r>
            <a:endParaRPr lang="en-US" sz="2000" dirty="0"/>
          </a:p>
        </p:txBody>
      </p:sp>
      <p:sp>
        <p:nvSpPr>
          <p:cNvPr id="12" name="Text 10"/>
          <p:cNvSpPr txBox="1"/>
          <p:nvPr/>
        </p:nvSpPr>
        <p:spPr>
          <a:xfrm>
            <a:off x="5451653" y="290677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Ergebnis ≤ 0? Dann + 26</a:t>
            </a:r>
            <a:endParaRPr lang="en-US" sz="2000" dirty="0"/>
          </a:p>
        </p:txBody>
      </p:sp>
      <p:sp>
        <p:nvSpPr>
          <p:cNvPr id="13" name="Text 11"/>
          <p:cNvSpPr txBox="1"/>
          <p:nvPr/>
        </p:nvSpPr>
        <p:spPr>
          <a:xfrm>
            <a:off x="5451653" y="3700272"/>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Alphabetleiste daneben legen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Auflösung</a:t>
            </a:r>
            <a:endParaRPr lang="en-US" sz="3000" dirty="0"/>
          </a:p>
        </p:txBody>
      </p:sp>
      <p:sp>
        <p:nvSpPr>
          <p:cNvPr id="3" name="Text 1"/>
          <p:cNvSpPr txBox="1"/>
          <p:nvPr/>
        </p:nvSpPr>
        <p:spPr>
          <a:xfrm>
            <a:off x="548640" y="1325880"/>
            <a:ext cx="4864608" cy="603504"/>
          </a:xfrm>
          <a:prstGeom prst="rect">
            <a:avLst/>
          </a:prstGeom>
          <a:noFill/>
          <a:ln/>
        </p:spPr>
        <p:txBody>
          <a:bodyPr wrap="square" lIns="0" tIns="0" rIns="0" bIns="0" rtlCol="0" anchor="t"/>
          <a:lstStyle/>
          <a:p>
            <a:pPr algn="l" indent="0" marL="0">
              <a:buNone/>
            </a:pPr>
            <a:r>
              <a:rPr lang="en-US" sz="1800" dirty="0">
                <a:solidFill>
                  <a:srgbClr val="1B1B1F"/>
                </a:solidFill>
                <a:latin typeface="Consolas" pitchFamily="34" charset="0"/>
                <a:ea typeface="Consolas" pitchFamily="34" charset="-122"/>
                <a:cs typeface="Consolas" pitchFamily="34" charset="-120"/>
              </a:rPr>
              <a:t>RPSPT XMZED NSLQE</a:t>
            </a:r>
            <a:r>
              <a:rPr lang="en-US" sz="1800" dirty="0">
                <a:solidFill>
                  <a:srgbClr val="1B1B1F"/>
                </a:solidFill>
              </a:rPr>
              <a:t>, k = 11 – jeder Buchstabe einmal:</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4864608" cy="914400"/>
        </p:xfrm>
        <a:graphic>
          <a:graphicData uri="http://schemas.openxmlformats.org/drawingml/2006/table">
            <a:tbl>
              <a:tblPr/>
              <a:tblGrid>
                <a:gridCol w="1216152"/>
                <a:gridCol w="694944"/>
                <a:gridCol w="1911096"/>
                <a:gridCol w="1042416"/>
              </a:tblGrid>
              <a:tr h="0">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Geheimtext</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Nr.</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− 11</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300" b="1" dirty="0">
                          <a:solidFill>
                            <a:srgbClr val="1B1B1F"/>
                          </a:solidFill>
                          <a:latin typeface="Calibri" pitchFamily="34" charset="0"/>
                          <a:ea typeface="Calibri" pitchFamily="34" charset="-122"/>
                          <a:cs typeface="Calibri" pitchFamily="34" charset="-120"/>
                        </a:rPr>
                        <a:t>Klartext</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g</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P</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e</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S</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h</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T</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X</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24</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m</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M</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b</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Z</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o</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E</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−6 → −6 + 26 = 20</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t</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r h="0">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D</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−7 → −7 + 26 = 19</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s</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r h="0">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L</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Q</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B1F"/>
                          </a:solidFill>
                          <a:latin typeface="Calibri" pitchFamily="34" charset="0"/>
                          <a:ea typeface="Calibri" pitchFamily="34" charset="-122"/>
                          <a:cs typeface="Calibri" pitchFamily="34" charset="-120"/>
                        </a:rPr>
                        <a:t>f</a:t>
                      </a:r>
                      <a:endParaRPr lang="en-US" sz="13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Shape 2"/>
          <p:cNvSpPr/>
          <p:nvPr/>
        </p:nvSpPr>
        <p:spPr>
          <a:xfrm>
            <a:off x="5779008" y="1325880"/>
            <a:ext cx="2084832" cy="1933448"/>
          </a:xfrm>
          <a:prstGeom prst="roundRect">
            <a:avLst>
              <a:gd name="adj" fmla="val 3783"/>
            </a:avLst>
          </a:prstGeom>
          <a:solidFill>
            <a:srgbClr val="EEF6EE"/>
          </a:solidFill>
          <a:ln w="12700">
            <a:solidFill>
              <a:srgbClr val="2E7D32"/>
            </a:solidFill>
            <a:prstDash val="solid"/>
          </a:ln>
        </p:spPr>
      </p:sp>
      <p:sp>
        <p:nvSpPr>
          <p:cNvPr id="6" name="Text 3"/>
          <p:cNvSpPr txBox="1"/>
          <p:nvPr/>
        </p:nvSpPr>
        <p:spPr>
          <a:xfrm>
            <a:off x="6007608" y="1435608"/>
            <a:ext cx="1627632" cy="274320"/>
          </a:xfrm>
          <a:prstGeom prst="rect">
            <a:avLst/>
          </a:prstGeom>
          <a:noFill/>
          <a:ln/>
        </p:spPr>
        <p:txBody>
          <a:bodyPr wrap="square" lIns="0" tIns="0" rIns="0" bIns="0" rtlCol="0" anchor="ctr"/>
          <a:lstStyle/>
          <a:p>
            <a:pPr indent="0" marL="0">
              <a:buNone/>
            </a:pPr>
            <a:r>
              <a:rPr lang="en-US" sz="1300" b="1" spc="200" kern="0" dirty="0">
                <a:solidFill>
                  <a:srgbClr val="2E7D32"/>
                </a:solidFill>
              </a:rPr>
              <a:t>KLARTEXT: GEHEIMBOTSCHAFT</a:t>
            </a:r>
            <a:endParaRPr lang="en-US" sz="1300" dirty="0"/>
          </a:p>
        </p:txBody>
      </p:sp>
      <p:sp>
        <p:nvSpPr>
          <p:cNvPr id="7" name="Text 4"/>
          <p:cNvSpPr txBox="1"/>
          <p:nvPr/>
        </p:nvSpPr>
        <p:spPr>
          <a:xfrm>
            <a:off x="6007608" y="1783080"/>
            <a:ext cx="1627632" cy="541528"/>
          </a:xfrm>
          <a:prstGeom prst="rect">
            <a:avLst/>
          </a:prstGeom>
          <a:noFill/>
          <a:ln/>
        </p:spPr>
        <p:txBody>
          <a:bodyPr wrap="square" lIns="0" tIns="0" rIns="0" bIns="0" rtlCol="0" anchor="t"/>
          <a:lstStyle/>
          <a:p>
            <a:pPr algn="l" indent="0" marL="0">
              <a:buNone/>
            </a:pPr>
            <a:r>
              <a:rPr lang="en-US" sz="1600" dirty="0">
                <a:solidFill>
                  <a:srgbClr val="1B1B1F"/>
                </a:solidFill>
              </a:rPr>
              <a:t>E: 5 − 11 = −6 → + 26 = 20 → t</a:t>
            </a:r>
            <a:endParaRPr lang="en-US" sz="1600" dirty="0"/>
          </a:p>
        </p:txBody>
      </p:sp>
      <p:sp>
        <p:nvSpPr>
          <p:cNvPr id="8" name="Text 5"/>
          <p:cNvSpPr txBox="1"/>
          <p:nvPr/>
        </p:nvSpPr>
        <p:spPr>
          <a:xfrm>
            <a:off x="6007608" y="2452624"/>
            <a:ext cx="1627632" cy="541528"/>
          </a:xfrm>
          <a:prstGeom prst="rect">
            <a:avLst/>
          </a:prstGeom>
          <a:noFill/>
          <a:ln/>
        </p:spPr>
        <p:txBody>
          <a:bodyPr wrap="square" lIns="0" tIns="0" rIns="0" bIns="0" rtlCol="0" anchor="t"/>
          <a:lstStyle/>
          <a:p>
            <a:pPr algn="l" indent="0" marL="0">
              <a:buNone/>
            </a:pPr>
            <a:r>
              <a:rPr lang="en-US" sz="1600" dirty="0">
                <a:solidFill>
                  <a:srgbClr val="1B1B1F"/>
                </a:solidFill>
              </a:rPr>
              <a:t>D: 4 − 11 = −7 → + 26 = 19 → s</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Falle P3 · Umkehrung falsch</a:t>
            </a:r>
            <a:endParaRPr lang="en-US" sz="3000" dirty="0"/>
          </a:p>
        </p:txBody>
      </p:sp>
      <p:sp>
        <p:nvSpPr>
          <p:cNvPr id="3" name="Text 1"/>
          <p:cNvSpPr txBox="1"/>
          <p:nvPr/>
        </p:nvSpPr>
        <p:spPr>
          <a:xfrm>
            <a:off x="548640" y="1325880"/>
            <a:ext cx="7315200" cy="711200"/>
          </a:xfrm>
          <a:prstGeom prst="rect">
            <a:avLst/>
          </a:prstGeom>
          <a:noFill/>
          <a:ln/>
        </p:spPr>
        <p:txBody>
          <a:bodyPr wrap="square" lIns="0" tIns="0" rIns="0" bIns="0" rtlCol="0" anchor="t"/>
          <a:lstStyle/>
          <a:p>
            <a:pPr indent="0" marL="0">
              <a:buNone/>
            </a:pPr>
            <a:r>
              <a:rPr lang="en-US" sz="2000" dirty="0">
                <a:solidFill>
                  <a:srgbClr val="1B1B1F"/>
                </a:solidFill>
              </a:rPr>
              <a:t>Entschlüsseln heißt umkehren: jeden Schritt rückwärts – bei mehreren Stufen in umgekehrter Reihenfolge.</a:t>
            </a:r>
            <a:endParaRPr lang="en-US" sz="2000" dirty="0"/>
          </a:p>
        </p:txBody>
      </p:sp>
      <p:sp>
        <p:nvSpPr>
          <p:cNvPr id="4" name="Shape 2"/>
          <p:cNvSpPr/>
          <p:nvPr/>
        </p:nvSpPr>
        <p:spPr>
          <a:xfrm>
            <a:off x="548640" y="2219960"/>
            <a:ext cx="3474720" cy="2625344"/>
          </a:xfrm>
          <a:prstGeom prst="roundRect">
            <a:avLst>
              <a:gd name="adj" fmla="val 2786"/>
            </a:avLst>
          </a:prstGeom>
          <a:solidFill>
            <a:srgbClr val="FDF3F2"/>
          </a:solidFill>
          <a:ln w="15875">
            <a:solidFill>
              <a:srgbClr val="B3261E"/>
            </a:solidFill>
            <a:prstDash val="solid"/>
          </a:ln>
        </p:spPr>
      </p:sp>
      <p:sp>
        <p:nvSpPr>
          <p:cNvPr id="5" name="Text 3"/>
          <p:cNvSpPr txBox="1"/>
          <p:nvPr/>
        </p:nvSpPr>
        <p:spPr>
          <a:xfrm>
            <a:off x="822960" y="2402840"/>
            <a:ext cx="2926080" cy="365760"/>
          </a:xfrm>
          <a:prstGeom prst="rect">
            <a:avLst/>
          </a:prstGeom>
          <a:noFill/>
          <a:ln/>
        </p:spPr>
        <p:txBody>
          <a:bodyPr wrap="square" lIns="0" tIns="0" rIns="0" bIns="0" rtlCol="0" anchor="ctr"/>
          <a:lstStyle/>
          <a:p>
            <a:pPr indent="0" marL="0">
              <a:buNone/>
            </a:pPr>
            <a:r>
              <a:rPr lang="en-US" sz="1800" b="1" spc="200" kern="0" dirty="0">
                <a:solidFill>
                  <a:srgbClr val="B3261E"/>
                </a:solidFill>
              </a:rPr>
              <a:t>SO NICHT  ✗</a:t>
            </a:r>
            <a:endParaRPr lang="en-US" sz="1800" dirty="0"/>
          </a:p>
        </p:txBody>
      </p:sp>
      <p:sp>
        <p:nvSpPr>
          <p:cNvPr id="6" name="Text 4"/>
          <p:cNvSpPr txBox="1"/>
          <p:nvPr/>
        </p:nvSpPr>
        <p:spPr>
          <a:xfrm>
            <a:off x="822960" y="2905760"/>
            <a:ext cx="2926080" cy="727456"/>
          </a:xfrm>
          <a:prstGeom prst="rect">
            <a:avLst/>
          </a:prstGeom>
          <a:noFill/>
          <a:ln/>
        </p:spPr>
        <p:txBody>
          <a:bodyPr wrap="square" lIns="0" tIns="0" rIns="0" bIns="0" rtlCol="0" anchor="t"/>
          <a:lstStyle/>
          <a:p>
            <a:pPr algn="l" indent="0" marL="0">
              <a:buNone/>
            </a:pPr>
            <a:r>
              <a:rPr lang="en-US" sz="2200" dirty="0">
                <a:solidFill>
                  <a:srgbClr val="1B1B1F"/>
                </a:solidFill>
              </a:rPr>
              <a:t>Entschlüsseln mit </a:t>
            </a:r>
            <a:r>
              <a:rPr lang="en-US" sz="2200" b="1" dirty="0">
                <a:solidFill>
                  <a:srgbClr val="1B1B1F"/>
                </a:solidFill>
              </a:rPr>
              <a:t>+ 11</a:t>
            </a:r>
            <a:r>
              <a:rPr lang="en-US" sz="2200" dirty="0">
                <a:solidFill>
                  <a:srgbClr val="1B1B1F"/>
                </a:solidFill>
              </a:rPr>
              <a:t> statt − 11</a:t>
            </a:r>
            <a:endParaRPr lang="en-US" sz="2200" dirty="0"/>
          </a:p>
        </p:txBody>
      </p:sp>
      <p:sp>
        <p:nvSpPr>
          <p:cNvPr id="7" name="Text 5"/>
          <p:cNvSpPr txBox="1"/>
          <p:nvPr/>
        </p:nvSpPr>
        <p:spPr>
          <a:xfrm>
            <a:off x="822960" y="3761232"/>
            <a:ext cx="2926080" cy="727456"/>
          </a:xfrm>
          <a:prstGeom prst="rect">
            <a:avLst/>
          </a:prstGeom>
          <a:noFill/>
          <a:ln/>
        </p:spPr>
        <p:txBody>
          <a:bodyPr wrap="square" lIns="0" tIns="0" rIns="0" bIns="0" rtlCol="0" anchor="t"/>
          <a:lstStyle/>
          <a:p>
            <a:pPr algn="l" indent="0" marL="0">
              <a:buNone/>
            </a:pPr>
            <a:r>
              <a:rPr lang="en-US" sz="2200" dirty="0">
                <a:solidFill>
                  <a:srgbClr val="1B1B1F"/>
                </a:solidFill>
              </a:rPr>
              <a:t>RPSPT → </a:t>
            </a:r>
            <a:r>
              <a:rPr lang="en-US" sz="2200" dirty="0">
                <a:solidFill>
                  <a:srgbClr val="1B1B1F"/>
                </a:solidFill>
                <a:latin typeface="Consolas" pitchFamily="34" charset="0"/>
                <a:ea typeface="Consolas" pitchFamily="34" charset="-122"/>
                <a:cs typeface="Consolas" pitchFamily="34" charset="-120"/>
              </a:rPr>
              <a:t>cadae</a:t>
            </a:r>
            <a:r>
              <a:rPr lang="en-US" sz="2200" dirty="0">
                <a:solidFill>
                  <a:srgbClr val="1B1B1F"/>
                </a:solidFill>
              </a:rPr>
              <a:t> – Unsinn</a:t>
            </a:r>
            <a:endParaRPr lang="en-US" sz="2200" dirty="0"/>
          </a:p>
        </p:txBody>
      </p:sp>
      <p:sp>
        <p:nvSpPr>
          <p:cNvPr id="8" name="Shape 6"/>
          <p:cNvSpPr/>
          <p:nvPr/>
        </p:nvSpPr>
        <p:spPr>
          <a:xfrm>
            <a:off x="4389120" y="2219960"/>
            <a:ext cx="3474720" cy="3821684"/>
          </a:xfrm>
          <a:prstGeom prst="roundRect">
            <a:avLst>
              <a:gd name="adj" fmla="val 2105"/>
            </a:avLst>
          </a:prstGeom>
          <a:solidFill>
            <a:srgbClr val="EEF6EE"/>
          </a:solidFill>
          <a:ln w="15875">
            <a:solidFill>
              <a:srgbClr val="2E7D32"/>
            </a:solidFill>
            <a:prstDash val="solid"/>
          </a:ln>
        </p:spPr>
      </p:sp>
      <p:sp>
        <p:nvSpPr>
          <p:cNvPr id="9" name="Text 7"/>
          <p:cNvSpPr txBox="1"/>
          <p:nvPr/>
        </p:nvSpPr>
        <p:spPr>
          <a:xfrm>
            <a:off x="4663440" y="2402840"/>
            <a:ext cx="2926080" cy="365760"/>
          </a:xfrm>
          <a:prstGeom prst="rect">
            <a:avLst/>
          </a:prstGeom>
          <a:noFill/>
          <a:ln/>
        </p:spPr>
        <p:txBody>
          <a:bodyPr wrap="square" lIns="0" tIns="0" rIns="0" bIns="0" rtlCol="0" anchor="ctr"/>
          <a:lstStyle/>
          <a:p>
            <a:pPr indent="0" marL="0">
              <a:buNone/>
            </a:pPr>
            <a:r>
              <a:rPr lang="en-US" sz="1800" b="1" spc="200" kern="0" dirty="0">
                <a:solidFill>
                  <a:srgbClr val="2E7D32"/>
                </a:solidFill>
              </a:rPr>
              <a:t>SO RICHTIG  ✓</a:t>
            </a:r>
            <a:endParaRPr lang="en-US" sz="1800" dirty="0"/>
          </a:p>
        </p:txBody>
      </p:sp>
      <p:sp>
        <p:nvSpPr>
          <p:cNvPr id="10" name="Text 8"/>
          <p:cNvSpPr txBox="1"/>
          <p:nvPr/>
        </p:nvSpPr>
        <p:spPr>
          <a:xfrm>
            <a:off x="4663440" y="2905760"/>
            <a:ext cx="2926080" cy="727456"/>
          </a:xfrm>
          <a:prstGeom prst="rect">
            <a:avLst/>
          </a:prstGeom>
          <a:noFill/>
          <a:ln/>
        </p:spPr>
        <p:txBody>
          <a:bodyPr wrap="square" lIns="0" tIns="0" rIns="0" bIns="0" rtlCol="0" anchor="t"/>
          <a:lstStyle/>
          <a:p>
            <a:pPr algn="l" indent="0" marL="0">
              <a:buNone/>
            </a:pPr>
            <a:r>
              <a:rPr lang="en-US" sz="2200" dirty="0">
                <a:solidFill>
                  <a:srgbClr val="1B1B1F"/>
                </a:solidFill>
              </a:rPr>
              <a:t>Entschlüsseln = </a:t>
            </a:r>
            <a:r>
              <a:rPr lang="en-US" sz="2200" b="1" dirty="0">
                <a:solidFill>
                  <a:srgbClr val="1B1B1F"/>
                </a:solidFill>
              </a:rPr>
              <a:t>zurück</a:t>
            </a:r>
            <a:r>
              <a:rPr lang="en-US" sz="2200" dirty="0">
                <a:solidFill>
                  <a:srgbClr val="1B1B1F"/>
                </a:solidFill>
              </a:rPr>
              <a:t> verschieben: </a:t>
            </a:r>
            <a:r>
              <a:rPr lang="en-US" sz="2200" b="1" dirty="0">
                <a:solidFill>
                  <a:srgbClr val="1B1B1F"/>
                </a:solidFill>
              </a:rPr>
              <a:t>− k</a:t>
            </a:r>
            <a:endParaRPr lang="en-US" sz="2200" dirty="0"/>
          </a:p>
        </p:txBody>
      </p:sp>
      <p:sp>
        <p:nvSpPr>
          <p:cNvPr id="11" name="Text 9"/>
          <p:cNvSpPr txBox="1"/>
          <p:nvPr/>
        </p:nvSpPr>
        <p:spPr>
          <a:xfrm>
            <a:off x="4663440" y="3761232"/>
            <a:ext cx="2926080" cy="727456"/>
          </a:xfrm>
          <a:prstGeom prst="rect">
            <a:avLst/>
          </a:prstGeom>
          <a:noFill/>
          <a:ln/>
        </p:spPr>
        <p:txBody>
          <a:bodyPr wrap="square" lIns="0" tIns="0" rIns="0" bIns="0" rtlCol="0" anchor="t"/>
          <a:lstStyle/>
          <a:p>
            <a:pPr algn="l" indent="0" marL="0">
              <a:buNone/>
            </a:pPr>
            <a:r>
              <a:rPr lang="en-US" sz="2200" dirty="0">
                <a:solidFill>
                  <a:srgbClr val="1B1B1F"/>
                </a:solidFill>
              </a:rPr>
              <a:t>gleichwertig: + (26 − k) = </a:t>
            </a:r>
            <a:r>
              <a:rPr lang="en-US" sz="2200" b="1" dirty="0">
                <a:solidFill>
                  <a:srgbClr val="1B1B1F"/>
                </a:solidFill>
              </a:rPr>
              <a:t>+ 15</a:t>
            </a:r>
            <a:endParaRPr lang="en-US" sz="2200" dirty="0"/>
          </a:p>
        </p:txBody>
      </p:sp>
      <p:sp>
        <p:nvSpPr>
          <p:cNvPr id="12" name="Text 10"/>
          <p:cNvSpPr txBox="1"/>
          <p:nvPr/>
        </p:nvSpPr>
        <p:spPr>
          <a:xfrm>
            <a:off x="4663440" y="4616704"/>
            <a:ext cx="2926080" cy="1068324"/>
          </a:xfrm>
          <a:prstGeom prst="rect">
            <a:avLst/>
          </a:prstGeom>
          <a:noFill/>
          <a:ln/>
        </p:spPr>
        <p:txBody>
          <a:bodyPr wrap="square" lIns="0" tIns="0" rIns="0" bIns="0" rtlCol="0" anchor="t"/>
          <a:lstStyle/>
          <a:p>
            <a:pPr algn="l" indent="0" marL="0">
              <a:buNone/>
            </a:pPr>
            <a:r>
              <a:rPr lang="en-US" sz="2200" dirty="0">
                <a:solidFill>
                  <a:srgbClr val="1B1B1F"/>
                </a:solidFill>
              </a:rPr>
              <a:t>Probe: Klartext wieder verschlüsseln → derselbe Geheimtext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Brute Force: Eve probiert alle Schlüssel</a:t>
            </a:r>
            <a:endParaRPr lang="en-US" sz="3000" dirty="0"/>
          </a:p>
        </p:txBody>
      </p:sp>
      <p:sp>
        <p:nvSpPr>
          <p:cNvPr id="3" name="Text 1"/>
          <p:cNvSpPr txBox="1"/>
          <p:nvPr/>
        </p:nvSpPr>
        <p:spPr>
          <a:xfrm>
            <a:off x="548640" y="1325880"/>
            <a:ext cx="4864608" cy="541528"/>
          </a:xfrm>
          <a:prstGeom prst="rect">
            <a:avLst/>
          </a:prstGeom>
          <a:noFill/>
          <a:ln/>
        </p:spPr>
        <p:txBody>
          <a:bodyPr wrap="square" lIns="0" tIns="0" rIns="0" bIns="0" rtlCol="0" anchor="t"/>
          <a:lstStyle/>
          <a:p>
            <a:pPr algn="l" indent="0" marL="0">
              <a:buNone/>
            </a:pPr>
            <a:r>
              <a:rPr lang="en-US" sz="1600" dirty="0">
                <a:solidFill>
                  <a:srgbClr val="1B1B1F"/>
                </a:solidFill>
              </a:rPr>
              <a:t>Abgefangen: </a:t>
            </a:r>
            <a:r>
              <a:rPr lang="en-US" sz="1600" dirty="0">
                <a:solidFill>
                  <a:srgbClr val="1B1B1F"/>
                </a:solidFill>
                <a:latin typeface="Consolas" pitchFamily="34" charset="0"/>
                <a:ea typeface="Consolas" pitchFamily="34" charset="-122"/>
                <a:cs typeface="Consolas" pitchFamily="34" charset="-120"/>
              </a:rPr>
              <a:t>GTVAM PTVAX</a:t>
            </a:r>
            <a:r>
              <a:rPr lang="en-US" sz="1600" dirty="0">
                <a:solidFill>
                  <a:srgbClr val="1B1B1F"/>
                </a:solidFill>
              </a:rPr>
              <a:t> – Schlüssel unbekannt. Entschlüsselt mit jeder Verschiebung k:</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95424"/>
          <a:ext cx="4754880" cy="914400"/>
        </p:xfrm>
        <a:graphic>
          <a:graphicData uri="http://schemas.openxmlformats.org/drawingml/2006/table">
            <a:tbl>
              <a:tblPr/>
              <a:tblGrid>
                <a:gridCol w="457200"/>
                <a:gridCol w="1737360"/>
                <a:gridCol w="457200"/>
                <a:gridCol w="2103120"/>
              </a:tblGrid>
              <a:tr h="0">
                <a:tc>
                  <a:txBody>
                    <a:bodyPr/>
                    <a:lstStyle/>
                    <a:p>
                      <a:pPr algn="l" indent="0" marL="0">
                        <a:buNone/>
                      </a:pPr>
                      <a:r>
                        <a:rPr lang="en-US" sz="1200" b="1" dirty="0">
                          <a:solidFill>
                            <a:srgbClr val="1B1B1F"/>
                          </a:solidFill>
                          <a:latin typeface="Calibri" pitchFamily="34" charset="0"/>
                          <a:ea typeface="Calibri" pitchFamily="34" charset="-122"/>
                          <a:cs typeface="Calibri" pitchFamily="34" charset="-120"/>
                        </a:rPr>
                        <a:t>k</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200" b="1" dirty="0">
                          <a:solidFill>
                            <a:srgbClr val="1B1B1F"/>
                          </a:solidFill>
                          <a:latin typeface="Calibri" pitchFamily="34" charset="0"/>
                          <a:ea typeface="Calibri" pitchFamily="34" charset="-122"/>
                          <a:cs typeface="Calibri" pitchFamily="34" charset="-120"/>
                        </a:rPr>
                        <a:t>Klartext?</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200" b="1" dirty="0">
                          <a:solidFill>
                            <a:srgbClr val="1B1B1F"/>
                          </a:solidFill>
                          <a:latin typeface="Calibri" pitchFamily="34" charset="0"/>
                          <a:ea typeface="Calibri" pitchFamily="34" charset="-122"/>
                          <a:cs typeface="Calibri" pitchFamily="34" charset="-120"/>
                        </a:rPr>
                        <a:t>k</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200" b="1" dirty="0">
                          <a:solidFill>
                            <a:srgbClr val="1B1B1F"/>
                          </a:solidFill>
                          <a:latin typeface="Calibri" pitchFamily="34" charset="0"/>
                          <a:ea typeface="Calibri" pitchFamily="34" charset="-122"/>
                          <a:cs typeface="Calibri" pitchFamily="34" charset="-120"/>
                        </a:rPr>
                        <a:t>Klartext?</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gtvamptvax</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tginzcgink</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fsuzlosuzw</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sfhmybfhmj</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ertyknrtyv</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reglxaegli</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dqsxjmqsxu</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qdfkwzdfkh</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cprwilprwt</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pcejvycejg</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boqvhkoqvs</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obdiuxbdif</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anpugjnpur</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1B1F"/>
                          </a:solidFill>
                          <a:latin typeface="Calibri" pitchFamily="34" charset="0"/>
                          <a:ea typeface="Calibri" pitchFamily="34" charset="-122"/>
                          <a:cs typeface="Calibri" pitchFamily="34" charset="-120"/>
                        </a:rPr>
                        <a:t>nachtwache</a:t>
                      </a:r>
                      <a:r>
                        <a:rPr lang="en-US" sz="1200" dirty="0">
                          <a:solidFill>
                            <a:srgbClr val="1B1B1F"/>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zmotfimotq</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mzbgsvzbgd</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ylnsehlnsp</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lyafruyafc</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xkmrdgkmro</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kxzeqtxzeb</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wjlqcfjlqn</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jwydpswyda</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vikpbeikpm</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ivxcorvxcz</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uhjoadhjol</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B1F"/>
                          </a:solidFill>
                          <a:latin typeface="Calibri" pitchFamily="34" charset="0"/>
                          <a:ea typeface="Calibri" pitchFamily="34" charset="-122"/>
                          <a:cs typeface="Calibri" pitchFamily="34" charset="-120"/>
                        </a:rPr>
                        <a:t>huwbnquwby</a:t>
                      </a:r>
                      <a:endParaRPr lang="en-US" sz="1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Shape 2"/>
          <p:cNvSpPr/>
          <p:nvPr/>
        </p:nvSpPr>
        <p:spPr>
          <a:xfrm>
            <a:off x="5779008" y="1325880"/>
            <a:ext cx="2084832" cy="1809496"/>
          </a:xfrm>
          <a:prstGeom prst="roundRect">
            <a:avLst>
              <a:gd name="adj" fmla="val 4043"/>
            </a:avLst>
          </a:prstGeom>
          <a:solidFill>
            <a:srgbClr val="EEF6EE"/>
          </a:solidFill>
          <a:ln w="12700">
            <a:solidFill>
              <a:srgbClr val="2E7D32"/>
            </a:solidFill>
            <a:prstDash val="solid"/>
          </a:ln>
        </p:spPr>
      </p:sp>
      <p:sp>
        <p:nvSpPr>
          <p:cNvPr id="6" name="Text 3"/>
          <p:cNvSpPr txBox="1"/>
          <p:nvPr/>
        </p:nvSpPr>
        <p:spPr>
          <a:xfrm>
            <a:off x="6007608" y="1435608"/>
            <a:ext cx="1627632" cy="274320"/>
          </a:xfrm>
          <a:prstGeom prst="rect">
            <a:avLst/>
          </a:prstGeom>
          <a:noFill/>
          <a:ln/>
        </p:spPr>
        <p:txBody>
          <a:bodyPr wrap="square" lIns="0" tIns="0" rIns="0" bIns="0" rtlCol="0" anchor="ctr"/>
          <a:lstStyle/>
          <a:p>
            <a:pPr indent="0" marL="0">
              <a:buNone/>
            </a:pPr>
            <a:r>
              <a:rPr lang="en-US" sz="1300" b="1" spc="200" kern="0" dirty="0">
                <a:solidFill>
                  <a:srgbClr val="2E7D32"/>
                </a:solidFill>
              </a:rPr>
              <a:t>TREFFER</a:t>
            </a:r>
            <a:endParaRPr lang="en-US" sz="1300" dirty="0"/>
          </a:p>
        </p:txBody>
      </p:sp>
      <p:sp>
        <p:nvSpPr>
          <p:cNvPr id="7" name="Text 4"/>
          <p:cNvSpPr txBox="1"/>
          <p:nvPr/>
        </p:nvSpPr>
        <p:spPr>
          <a:xfrm>
            <a:off x="6007608" y="1783080"/>
            <a:ext cx="1627632" cy="479552"/>
          </a:xfrm>
          <a:prstGeom prst="rect">
            <a:avLst/>
          </a:prstGeom>
          <a:noFill/>
          <a:ln/>
        </p:spPr>
        <p:txBody>
          <a:bodyPr wrap="square" lIns="0" tIns="0" rIns="0" bIns="0" rtlCol="0" anchor="t"/>
          <a:lstStyle/>
          <a:p>
            <a:pPr algn="l" indent="0" marL="0">
              <a:buNone/>
            </a:pPr>
            <a:r>
              <a:rPr lang="en-US" sz="1400" dirty="0">
                <a:solidFill>
                  <a:srgbClr val="1B1B1F"/>
                </a:solidFill>
              </a:rPr>
              <a:t>k = 19 → </a:t>
            </a:r>
            <a:r>
              <a:rPr lang="en-US" sz="1400" b="1" dirty="0">
                <a:solidFill>
                  <a:srgbClr val="1B1B1F"/>
                </a:solidFill>
              </a:rPr>
              <a:t>nachtwache</a:t>
            </a:r>
            <a:endParaRPr lang="en-US" sz="1400" dirty="0"/>
          </a:p>
        </p:txBody>
      </p:sp>
      <p:sp>
        <p:nvSpPr>
          <p:cNvPr id="8" name="Text 5"/>
          <p:cNvSpPr txBox="1"/>
          <p:nvPr/>
        </p:nvSpPr>
        <p:spPr>
          <a:xfrm>
            <a:off x="6007608" y="2390648"/>
            <a:ext cx="1627632" cy="479552"/>
          </a:xfrm>
          <a:prstGeom prst="rect">
            <a:avLst/>
          </a:prstGeom>
          <a:noFill/>
          <a:ln/>
        </p:spPr>
        <p:txBody>
          <a:bodyPr wrap="square" lIns="0" tIns="0" rIns="0" bIns="0" rtlCol="0" anchor="t"/>
          <a:lstStyle/>
          <a:p>
            <a:pPr algn="l" indent="0" marL="0">
              <a:buNone/>
            </a:pPr>
            <a:r>
              <a:rPr lang="en-US" sz="1400" dirty="0">
                <a:solidFill>
                  <a:srgbClr val="1B1B1F"/>
                </a:solidFill>
              </a:rPr>
              <a:t>höchstens 25 Versuche</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Schlüsselraum und Kerckhoffs-Prinzip</a:t>
            </a:r>
            <a:endParaRPr lang="en-US" sz="3000" dirty="0"/>
          </a:p>
        </p:txBody>
      </p:sp>
      <p:sp>
        <p:nvSpPr>
          <p:cNvPr id="3" name="Text 1"/>
          <p:cNvSpPr txBox="1"/>
          <p:nvPr/>
        </p:nvSpPr>
        <p:spPr>
          <a:xfrm>
            <a:off x="548640" y="1325880"/>
            <a:ext cx="4308653" cy="4465320"/>
          </a:xfrm>
          <a:prstGeom prst="rect">
            <a:avLst/>
          </a:prstGeom>
          <a:noFill/>
          <a:ln/>
        </p:spPr>
        <p:txBody>
          <a:bodyPr wrap="square" lIns="0" tIns="0" rIns="0" bIns="0" rtlCol="0" anchor="t"/>
          <a:lstStyle/>
          <a:p>
            <a:pPr marL="279400" indent="-279400">
              <a:spcAft>
                <a:spcPts val="600"/>
              </a:spcAft>
              <a:buSzPct val="100000"/>
              <a:buChar char="●"/>
            </a:pPr>
            <a:r>
              <a:rPr lang="en-US" sz="2200" b="1" dirty="0">
                <a:solidFill>
                  <a:srgbClr val="1B1B1F"/>
                </a:solidFill>
              </a:rPr>
              <a:t>Schlüsselraum</a:t>
            </a:r>
            <a:r>
              <a:rPr lang="en-US" sz="2200" dirty="0">
                <a:solidFill>
                  <a:srgbClr val="1B1B1F"/>
                </a:solidFill>
              </a:rPr>
              <a:t> = alle möglichen Schlüssel: k ∈ {0, …, 25} → 26</a:t>
            </a:r>
            <a:endParaRPr lang="en-US" sz="2200" dirty="0"/>
          </a:p>
          <a:p>
            <a:pPr marL="279400" indent="-279400">
              <a:spcAft>
                <a:spcPts val="600"/>
              </a:spcAft>
              <a:buSzPct val="100000"/>
              <a:buChar char="●"/>
            </a:pPr>
            <a:r>
              <a:rPr lang="en-US" sz="2200" dirty="0">
                <a:solidFill>
                  <a:srgbClr val="1B1B1F"/>
                </a:solidFill>
              </a:rPr>
              <a:t>k = 0 ändert nichts (</a:t>
            </a:r>
            <a:r>
              <a:rPr lang="en-US" sz="2200" b="1" dirty="0">
                <a:solidFill>
                  <a:srgbClr val="1B1B1F"/>
                </a:solidFill>
              </a:rPr>
              <a:t>schwacher Schlüssel</a:t>
            </a:r>
            <a:r>
              <a:rPr lang="en-US" sz="2200" dirty="0">
                <a:solidFill>
                  <a:srgbClr val="1B1B1F"/>
                </a:solidFill>
              </a:rPr>
              <a:t>) → </a:t>
            </a:r>
            <a:r>
              <a:rPr lang="en-US" sz="2200" b="1" dirty="0">
                <a:solidFill>
                  <a:srgbClr val="1B1B1F"/>
                </a:solidFill>
              </a:rPr>
              <a:t>25</a:t>
            </a:r>
            <a:r>
              <a:rPr lang="en-US" sz="2200" dirty="0">
                <a:solidFill>
                  <a:srgbClr val="1B1B1F"/>
                </a:solidFill>
              </a:rPr>
              <a:t> sinnvolle</a:t>
            </a:r>
            <a:endParaRPr lang="en-US" sz="2200" dirty="0"/>
          </a:p>
          <a:p>
            <a:pPr marL="279400" indent="-279400">
              <a:spcAft>
                <a:spcPts val="600"/>
              </a:spcAft>
              <a:buSzPct val="100000"/>
              <a:buChar char="●"/>
            </a:pPr>
            <a:r>
              <a:rPr lang="en-US" sz="2200" b="1" dirty="0">
                <a:solidFill>
                  <a:srgbClr val="1B1B1F"/>
                </a:solidFill>
              </a:rPr>
              <a:t>Kerckhoffs-Prinzip</a:t>
            </a:r>
            <a:r>
              <a:rPr lang="en-US" sz="2200" dirty="0">
                <a:solidFill>
                  <a:srgbClr val="1B1B1F"/>
                </a:solidFill>
              </a:rPr>
              <a:t> (1883): Die Sicherheit darf nur vom </a:t>
            </a:r>
            <a:r>
              <a:rPr lang="en-US" sz="2200" b="1" dirty="0">
                <a:solidFill>
                  <a:srgbClr val="1B1B1F"/>
                </a:solidFill>
              </a:rPr>
              <a:t>Schlüssel</a:t>
            </a:r>
            <a:r>
              <a:rPr lang="en-US" sz="2200" dirty="0">
                <a:solidFill>
                  <a:srgbClr val="1B1B1F"/>
                </a:solidFill>
              </a:rPr>
              <a:t> abhängen, nicht von der Geheimhaltung des Verfahrens</a:t>
            </a:r>
            <a:endParaRPr lang="en-US" sz="2200" dirty="0"/>
          </a:p>
          <a:p>
            <a:pPr marL="279400" indent="-279400">
              <a:spcAft>
                <a:spcPts val="600"/>
              </a:spcAft>
              <a:buSzPct val="100000"/>
              <a:buChar char="●"/>
            </a:pPr>
            <a:r>
              <a:rPr lang="en-US" sz="2200" dirty="0">
                <a:solidFill>
                  <a:srgbClr val="1B1B1F"/>
                </a:solidFill>
              </a:rPr>
              <a:t>Caesar: Verfahren bekannt + nur 25 Schlüssel → </a:t>
            </a:r>
            <a:r>
              <a:rPr lang="en-US" sz="2200" b="1" dirty="0">
                <a:solidFill>
                  <a:srgbClr val="1B1B1F"/>
                </a:solidFill>
              </a:rPr>
              <a:t>unsicher</a:t>
            </a:r>
            <a:endParaRPr lang="en-US" sz="2200" dirty="0"/>
          </a:p>
        </p:txBody>
      </p:sp>
      <p:sp>
        <p:nvSpPr>
          <p:cNvPr id="4" name="Shape 2"/>
          <p:cNvSpPr/>
          <p:nvPr/>
        </p:nvSpPr>
        <p:spPr>
          <a:xfrm>
            <a:off x="5223053" y="1325880"/>
            <a:ext cx="2640787" cy="4524248"/>
          </a:xfrm>
          <a:prstGeom prst="roundRect">
            <a:avLst>
              <a:gd name="adj" fmla="val 2770"/>
            </a:avLst>
          </a:prstGeom>
          <a:solidFill>
            <a:srgbClr val="FBF3E2"/>
          </a:solidFill>
          <a:ln w="12700">
            <a:solidFill>
              <a:srgbClr val="8A5F1A"/>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SO BEURTEILST DU (P10)</a:t>
            </a:r>
            <a:endParaRPr lang="en-US" sz="1300" dirty="0"/>
          </a:p>
        </p:txBody>
      </p:sp>
      <p:sp>
        <p:nvSpPr>
          <p:cNvPr id="6" name="Text 4"/>
          <p:cNvSpPr txBox="1"/>
          <p:nvPr/>
        </p:nvSpPr>
        <p:spPr>
          <a:xfrm>
            <a:off x="5451653" y="1783080"/>
            <a:ext cx="2183587" cy="975360"/>
          </a:xfrm>
          <a:prstGeom prst="rect">
            <a:avLst/>
          </a:prstGeom>
          <a:noFill/>
          <a:ln/>
        </p:spPr>
        <p:txBody>
          <a:bodyPr wrap="square" lIns="0" tIns="0" rIns="0" bIns="0" rtlCol="0" anchor="t"/>
          <a:lstStyle/>
          <a:p>
            <a:pPr algn="l" indent="0" marL="0">
              <a:buNone/>
            </a:pPr>
            <a:r>
              <a:rPr lang="en-US" sz="2000" b="1" dirty="0">
                <a:solidFill>
                  <a:srgbClr val="1B1B1F"/>
                </a:solidFill>
              </a:rPr>
              <a:t>Kriterium:</a:t>
            </a:r>
            <a:r>
              <a:rPr lang="en-US" sz="2000" dirty="0">
                <a:solidFill>
                  <a:srgbClr val="1B1B1F"/>
                </a:solidFill>
              </a:rPr>
              <a:t> Schlüsselraum, Brute Force</a:t>
            </a:r>
            <a:endParaRPr lang="en-US" sz="2000" dirty="0"/>
          </a:p>
        </p:txBody>
      </p:sp>
      <p:sp>
        <p:nvSpPr>
          <p:cNvPr id="7" name="Text 5"/>
          <p:cNvSpPr txBox="1"/>
          <p:nvPr/>
        </p:nvSpPr>
        <p:spPr>
          <a:xfrm>
            <a:off x="5451653" y="2886456"/>
            <a:ext cx="2183587" cy="1595120"/>
          </a:xfrm>
          <a:prstGeom prst="rect">
            <a:avLst/>
          </a:prstGeom>
          <a:noFill/>
          <a:ln/>
        </p:spPr>
        <p:txBody>
          <a:bodyPr wrap="square" lIns="0" tIns="0" rIns="0" bIns="0" rtlCol="0" anchor="t"/>
          <a:lstStyle/>
          <a:p>
            <a:pPr algn="l" indent="0" marL="0">
              <a:buNone/>
            </a:pPr>
            <a:r>
              <a:rPr lang="en-US" sz="2000" b="1" dirty="0">
                <a:solidFill>
                  <a:srgbClr val="1B1B1F"/>
                </a:solidFill>
              </a:rPr>
              <a:t>Begründung:</a:t>
            </a:r>
            <a:r>
              <a:rPr lang="en-US" sz="2000" dirty="0">
                <a:solidFill>
                  <a:srgbClr val="1B1B1F"/>
                </a:solidFill>
              </a:rPr>
              <a:t> nur 25 sinnvolle Schlüssel, der richtige Klartext fällt sofort auf</a:t>
            </a:r>
            <a:endParaRPr lang="en-US" sz="2000" dirty="0"/>
          </a:p>
        </p:txBody>
      </p:sp>
      <p:sp>
        <p:nvSpPr>
          <p:cNvPr id="8" name="Text 6"/>
          <p:cNvSpPr txBox="1"/>
          <p:nvPr/>
        </p:nvSpPr>
        <p:spPr>
          <a:xfrm>
            <a:off x="5451653" y="4609592"/>
            <a:ext cx="2183587" cy="975360"/>
          </a:xfrm>
          <a:prstGeom prst="rect">
            <a:avLst/>
          </a:prstGeom>
          <a:noFill/>
          <a:ln/>
        </p:spPr>
        <p:txBody>
          <a:bodyPr wrap="square" lIns="0" tIns="0" rIns="0" bIns="0" rtlCol="0" anchor="t"/>
          <a:lstStyle/>
          <a:p>
            <a:pPr algn="l" indent="0" marL="0">
              <a:buNone/>
            </a:pPr>
            <a:r>
              <a:rPr lang="en-US" sz="2000" b="1" dirty="0">
                <a:solidFill>
                  <a:srgbClr val="1B1B1F"/>
                </a:solidFill>
              </a:rPr>
              <a:t>Urteil:</a:t>
            </a:r>
            <a:r>
              <a:rPr lang="en-US" sz="2000" dirty="0">
                <a:solidFill>
                  <a:srgbClr val="1B1B1F"/>
                </a:solidFill>
              </a:rPr>
              <a:t> Das Verfahren ist unsicher.</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Typische Fehler – und wie du sie vermeidest</a:t>
            </a:r>
            <a:endParaRPr lang="en-US" sz="3000" dirty="0"/>
          </a:p>
        </p:txBody>
      </p:sp>
      <p:sp>
        <p:nvSpPr>
          <p:cNvPr id="3" name="Text 1"/>
          <p:cNvSpPr txBox="1"/>
          <p:nvPr/>
        </p:nvSpPr>
        <p:spPr>
          <a:xfrm>
            <a:off x="548640" y="1325880"/>
            <a:ext cx="4308653" cy="4443984"/>
          </a:xfrm>
          <a:prstGeom prst="rect">
            <a:avLst/>
          </a:prstGeom>
          <a:noFill/>
          <a:ln/>
        </p:spPr>
        <p:txBody>
          <a:bodyPr wrap="square" lIns="0" tIns="0" rIns="0" bIns="0" rtlCol="0" anchor="t"/>
          <a:lstStyle/>
          <a:p>
            <a:pPr marL="279400" indent="-279400">
              <a:spcAft>
                <a:spcPts val="600"/>
              </a:spcAft>
              <a:buSzPct val="100000"/>
              <a:buChar char="●"/>
            </a:pPr>
            <a:r>
              <a:rPr lang="en-US" sz="1800" b="1" dirty="0">
                <a:solidFill>
                  <a:srgbClr val="1B1B1F"/>
                </a:solidFill>
              </a:rPr>
              <a:t>P1</a:t>
            </a:r>
            <a:r>
              <a:rPr lang="en-US" sz="1800" dirty="0">
                <a:solidFill>
                  <a:srgbClr val="1B1B1F"/>
                </a:solidFill>
              </a:rPr>
              <a:t> Zählbasis: A = 1 (Anlage) vs. A = 0 (Verschiebung, Java) – Schlüsselbuchstabe G = Verschiebung 6</a:t>
            </a:r>
            <a:endParaRPr lang="en-US" sz="1800" dirty="0"/>
          </a:p>
          <a:p>
            <a:pPr marL="279400" indent="-279400">
              <a:spcAft>
                <a:spcPts val="600"/>
              </a:spcAft>
              <a:buSzPct val="100000"/>
              <a:buChar char="●"/>
            </a:pPr>
            <a:r>
              <a:rPr lang="en-US" sz="1800" b="1" dirty="0">
                <a:solidFill>
                  <a:srgbClr val="1B1B1F"/>
                </a:solidFill>
              </a:rPr>
              <a:t>P2</a:t>
            </a:r>
            <a:r>
              <a:rPr lang="en-US" sz="1800" dirty="0">
                <a:solidFill>
                  <a:srgbClr val="1B1B1F"/>
                </a:solidFill>
              </a:rPr>
              <a:t> Modulo: Rest 0 ist </a:t>
            </a:r>
            <a:r>
              <a:rPr lang="en-US" sz="1800" b="1" dirty="0">
                <a:solidFill>
                  <a:srgbClr val="1B1B1F"/>
                </a:solidFill>
              </a:rPr>
              <a:t>Z</a:t>
            </a:r>
            <a:r>
              <a:rPr lang="en-US" sz="1800" dirty="0">
                <a:solidFill>
                  <a:srgbClr val="1B1B1F"/>
                </a:solidFill>
              </a:rPr>
              <a:t>, negative Ergebnisse </a:t>
            </a:r>
            <a:r>
              <a:rPr lang="en-US" sz="1800" b="1" dirty="0">
                <a:solidFill>
                  <a:srgbClr val="1B1B1F"/>
                </a:solidFill>
              </a:rPr>
              <a:t>+ 26</a:t>
            </a:r>
            <a:endParaRPr lang="en-US" sz="1800" dirty="0"/>
          </a:p>
          <a:p>
            <a:pPr marL="279400" indent="-279400">
              <a:spcAft>
                <a:spcPts val="600"/>
              </a:spcAft>
              <a:buSzPct val="100000"/>
              <a:buChar char="●"/>
            </a:pPr>
            <a:r>
              <a:rPr lang="en-US" sz="1800" b="1" dirty="0">
                <a:solidFill>
                  <a:srgbClr val="1B1B1F"/>
                </a:solidFill>
              </a:rPr>
              <a:t>P3</a:t>
            </a:r>
            <a:r>
              <a:rPr lang="en-US" sz="1800" dirty="0">
                <a:solidFill>
                  <a:srgbClr val="1B1B1F"/>
                </a:solidFill>
              </a:rPr>
              <a:t> Umkehrung: entschlüsseln mit </a:t>
            </a:r>
            <a:r>
              <a:rPr lang="en-US" sz="1800" b="1" dirty="0">
                <a:solidFill>
                  <a:srgbClr val="1B1B1F"/>
                </a:solidFill>
              </a:rPr>
              <a:t>− k</a:t>
            </a:r>
            <a:r>
              <a:rPr lang="en-US" sz="1800" dirty="0">
                <a:solidFill>
                  <a:srgbClr val="1B1B1F"/>
                </a:solidFill>
              </a:rPr>
              <a:t>, nicht + k</a:t>
            </a:r>
            <a:endParaRPr lang="en-US" sz="1800" dirty="0"/>
          </a:p>
          <a:p>
            <a:pPr marL="279400" indent="-279400">
              <a:spcAft>
                <a:spcPts val="600"/>
              </a:spcAft>
              <a:buSzPct val="100000"/>
              <a:buChar char="●"/>
            </a:pPr>
            <a:r>
              <a:rPr lang="en-US" sz="1800" b="1" dirty="0">
                <a:solidFill>
                  <a:srgbClr val="1B1B1F"/>
                </a:solidFill>
              </a:rPr>
              <a:t>P5</a:t>
            </a:r>
            <a:r>
              <a:rPr lang="en-US" sz="1800" dirty="0">
                <a:solidFill>
                  <a:srgbClr val="1B1B1F"/>
                </a:solidFill>
              </a:rPr>
              <a:t> Einordnung: Caesar ist eine </a:t>
            </a:r>
            <a:r>
              <a:rPr lang="en-US" sz="1800" b="1" dirty="0">
                <a:solidFill>
                  <a:srgbClr val="1B1B1F"/>
                </a:solidFill>
              </a:rPr>
              <a:t>monoalphabetische Substitution</a:t>
            </a:r>
            <a:r>
              <a:rPr lang="en-US" sz="1800" dirty="0">
                <a:solidFill>
                  <a:srgbClr val="1B1B1F"/>
                </a:solidFill>
              </a:rPr>
              <a:t>, keine Transposition</a:t>
            </a:r>
            <a:endParaRPr lang="en-US" sz="1800" dirty="0"/>
          </a:p>
          <a:p>
            <a:pPr marL="279400" indent="-279400">
              <a:spcAft>
                <a:spcPts val="600"/>
              </a:spcAft>
              <a:buSzPct val="100000"/>
              <a:buChar char="●"/>
            </a:pPr>
            <a:r>
              <a:rPr lang="en-US" sz="1800" b="1" dirty="0">
                <a:solidFill>
                  <a:srgbClr val="1B1B1F"/>
                </a:solidFill>
              </a:rPr>
              <a:t>P7</a:t>
            </a:r>
            <a:r>
              <a:rPr lang="en-US" sz="1800" dirty="0">
                <a:solidFill>
                  <a:srgbClr val="1B1B1F"/>
                </a:solidFill>
              </a:rPr>
              <a:t> Schlüsselraum: 26 Schlüssel, davon </a:t>
            </a:r>
            <a:r>
              <a:rPr lang="en-US" sz="1800" b="1" dirty="0">
                <a:solidFill>
                  <a:srgbClr val="1B1B1F"/>
                </a:solidFill>
              </a:rPr>
              <a:t>25</a:t>
            </a:r>
            <a:r>
              <a:rPr lang="en-US" sz="1800" dirty="0">
                <a:solidFill>
                  <a:srgbClr val="1B1B1F"/>
                </a:solidFill>
              </a:rPr>
              <a:t> sinnvolle</a:t>
            </a:r>
            <a:endParaRPr lang="en-US" sz="1800" dirty="0"/>
          </a:p>
          <a:p>
            <a:pPr marL="279400" indent="-279400">
              <a:spcAft>
                <a:spcPts val="600"/>
              </a:spcAft>
              <a:buSzPct val="100000"/>
              <a:buChar char="●"/>
            </a:pPr>
            <a:r>
              <a:rPr lang="en-US" sz="1800" b="1" dirty="0">
                <a:solidFill>
                  <a:srgbClr val="1B1B1F"/>
                </a:solidFill>
              </a:rPr>
              <a:t>P10</a:t>
            </a:r>
            <a:r>
              <a:rPr lang="en-US" sz="1800" dirty="0">
                <a:solidFill>
                  <a:srgbClr val="1B1B1F"/>
                </a:solidFill>
              </a:rPr>
              <a:t> „Beurteilen“ ohne Kriterium und Urteil</a:t>
            </a:r>
            <a:endParaRPr lang="en-US" sz="1800" dirty="0"/>
          </a:p>
        </p:txBody>
      </p:sp>
      <p:sp>
        <p:nvSpPr>
          <p:cNvPr id="4" name="Shape 2"/>
          <p:cNvSpPr/>
          <p:nvPr/>
        </p:nvSpPr>
        <p:spPr>
          <a:xfrm>
            <a:off x="5223053" y="1325880"/>
            <a:ext cx="2640787" cy="2776728"/>
          </a:xfrm>
          <a:prstGeom prst="roundRect">
            <a:avLst>
              <a:gd name="adj" fmla="val 2770"/>
            </a:avLst>
          </a:prstGeom>
          <a:solidFill>
            <a:srgbClr val="FDF3F2"/>
          </a:solidFill>
          <a:ln w="12700">
            <a:solidFill>
              <a:srgbClr val="B3261E"/>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B3261E"/>
                </a:solidFill>
              </a:rPr>
              <a:t>ABI-CHECK</a:t>
            </a:r>
            <a:endParaRPr lang="en-US" sz="1300" dirty="0"/>
          </a:p>
        </p:txBody>
      </p:sp>
      <p:sp>
        <p:nvSpPr>
          <p:cNvPr id="6" name="Text 4"/>
          <p:cNvSpPr txBox="1"/>
          <p:nvPr/>
        </p:nvSpPr>
        <p:spPr>
          <a:xfrm>
            <a:off x="5451653" y="1783080"/>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Nummerierung im Material gelesen?</a:t>
            </a:r>
            <a:endParaRPr lang="en-US" sz="1600" dirty="0"/>
          </a:p>
        </p:txBody>
      </p:sp>
      <p:sp>
        <p:nvSpPr>
          <p:cNvPr id="7" name="Text 5"/>
          <p:cNvSpPr txBox="1"/>
          <p:nvPr/>
        </p:nvSpPr>
        <p:spPr>
          <a:xfrm>
            <a:off x="5451653" y="2452624"/>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Ergebnis zwischen 1 und 26?</a:t>
            </a:r>
            <a:endParaRPr lang="en-US" sz="1600" dirty="0"/>
          </a:p>
        </p:txBody>
      </p:sp>
      <p:sp>
        <p:nvSpPr>
          <p:cNvPr id="8" name="Text 6"/>
          <p:cNvSpPr txBox="1"/>
          <p:nvPr/>
        </p:nvSpPr>
        <p:spPr>
          <a:xfrm>
            <a:off x="5451653" y="3122168"/>
            <a:ext cx="2183587" cy="293624"/>
          </a:xfrm>
          <a:prstGeom prst="rect">
            <a:avLst/>
          </a:prstGeom>
          <a:noFill/>
          <a:ln/>
        </p:spPr>
        <p:txBody>
          <a:bodyPr wrap="square" lIns="0" tIns="0" rIns="0" bIns="0" rtlCol="0" anchor="t"/>
          <a:lstStyle/>
          <a:p>
            <a:pPr algn="l" indent="0" marL="0">
              <a:buNone/>
            </a:pPr>
            <a:r>
              <a:rPr lang="en-US" sz="1600" dirty="0">
                <a:solidFill>
                  <a:srgbClr val="1B1B1F"/>
                </a:solidFill>
              </a:rPr>
              <a:t>Probe gemacht?</a:t>
            </a:r>
            <a:endParaRPr lang="en-US" sz="1600" dirty="0"/>
          </a:p>
        </p:txBody>
      </p:sp>
      <p:sp>
        <p:nvSpPr>
          <p:cNvPr id="9" name="Text 7"/>
          <p:cNvSpPr txBox="1"/>
          <p:nvPr/>
        </p:nvSpPr>
        <p:spPr>
          <a:xfrm>
            <a:off x="5451653" y="3543808"/>
            <a:ext cx="2183587" cy="293624"/>
          </a:xfrm>
          <a:prstGeom prst="rect">
            <a:avLst/>
          </a:prstGeom>
          <a:noFill/>
          <a:ln/>
        </p:spPr>
        <p:txBody>
          <a:bodyPr wrap="square" lIns="0" tIns="0" rIns="0" bIns="0" rtlCol="0" anchor="t"/>
          <a:lstStyle/>
          <a:p>
            <a:pPr algn="l" indent="0" marL="0">
              <a:buNone/>
            </a:pPr>
            <a:r>
              <a:rPr lang="en-US" sz="1600" dirty="0">
                <a:solidFill>
                  <a:srgbClr val="1B1B1F"/>
                </a:solidFill>
              </a:rPr>
              <a:t>Urteil formuliert?</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nimmst du mit</a:t>
            </a:r>
            <a:endParaRPr lang="en-US" sz="3000" dirty="0"/>
          </a:p>
        </p:txBody>
      </p:sp>
      <p:sp>
        <p:nvSpPr>
          <p:cNvPr id="3" name="Merke-Kasten"/>
          <p:cNvSpPr/>
          <p:nvPr/>
        </p:nvSpPr>
        <p:spPr>
          <a:xfrm>
            <a:off x="1097280" y="1508760"/>
            <a:ext cx="6217920" cy="4663440"/>
          </a:xfrm>
          <a:prstGeom prst="roundRect">
            <a:avLst>
              <a:gd name="adj" fmla="val 1961"/>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5394960" cy="541528"/>
          </a:xfrm>
          <a:prstGeom prst="rect">
            <a:avLst/>
          </a:prstGeom>
          <a:noFill/>
          <a:ln/>
        </p:spPr>
        <p:txBody>
          <a:bodyPr wrap="square" lIns="0" tIns="0" rIns="0" bIns="0" rtlCol="0" anchor="t"/>
          <a:lstStyle/>
          <a:p>
            <a:pPr algn="l" indent="0" marL="0">
              <a:buNone/>
            </a:pPr>
            <a:r>
              <a:rPr lang="en-US" sz="1600" dirty="0">
                <a:solidFill>
                  <a:srgbClr val="1B1B1F"/>
                </a:solidFill>
              </a:rPr>
              <a:t>Caesar ersetzt jeden Buchstaben durch den, der k Stellen weiter steht: </a:t>
            </a:r>
            <a:r>
              <a:rPr lang="en-US" sz="1600" b="1" dirty="0">
                <a:solidFill>
                  <a:srgbClr val="1B1B1F"/>
                </a:solidFill>
              </a:rPr>
              <a:t>monoalphabetische Substitution</a:t>
            </a:r>
            <a:endParaRPr lang="en-US" sz="1600" dirty="0"/>
          </a:p>
        </p:txBody>
      </p:sp>
      <p:sp>
        <p:nvSpPr>
          <p:cNvPr id="6" name="Text 4"/>
          <p:cNvSpPr txBox="1"/>
          <p:nvPr/>
        </p:nvSpPr>
        <p:spPr>
          <a:xfrm>
            <a:off x="1508760" y="2909824"/>
            <a:ext cx="5394960" cy="541528"/>
          </a:xfrm>
          <a:prstGeom prst="rect">
            <a:avLst/>
          </a:prstGeom>
          <a:noFill/>
          <a:ln/>
        </p:spPr>
        <p:txBody>
          <a:bodyPr wrap="square" lIns="0" tIns="0" rIns="0" bIns="0" rtlCol="0" anchor="t"/>
          <a:lstStyle/>
          <a:p>
            <a:pPr algn="l" indent="0" marL="0">
              <a:buNone/>
            </a:pPr>
            <a:r>
              <a:rPr lang="en-US" sz="1600" dirty="0">
                <a:solidFill>
                  <a:srgbClr val="1B1B1F"/>
                </a:solidFill>
              </a:rPr>
              <a:t>Gerechnet wird mit </a:t>
            </a:r>
            <a:r>
              <a:rPr lang="en-US" sz="1600" b="1" dirty="0">
                <a:solidFill>
                  <a:srgbClr val="1B1B1F"/>
                </a:solidFill>
              </a:rPr>
              <a:t>A = 1 … Z = 26</a:t>
            </a:r>
            <a:r>
              <a:rPr lang="en-US" sz="1600" dirty="0">
                <a:solidFill>
                  <a:srgbClr val="1B1B1F"/>
                </a:solidFill>
              </a:rPr>
              <a:t>: c = ((p + k − 1) mod 26) + 1 – jedes Ergebnis liegt zwischen 1 und 26</a:t>
            </a:r>
            <a:endParaRPr lang="en-US" sz="1600" dirty="0"/>
          </a:p>
        </p:txBody>
      </p:sp>
      <p:sp>
        <p:nvSpPr>
          <p:cNvPr id="7" name="Text 5"/>
          <p:cNvSpPr txBox="1"/>
          <p:nvPr/>
        </p:nvSpPr>
        <p:spPr>
          <a:xfrm>
            <a:off x="1508760" y="3579368"/>
            <a:ext cx="5394960" cy="541528"/>
          </a:xfrm>
          <a:prstGeom prst="rect">
            <a:avLst/>
          </a:prstGeom>
          <a:noFill/>
          <a:ln/>
        </p:spPr>
        <p:txBody>
          <a:bodyPr wrap="square" lIns="0" tIns="0" rIns="0" bIns="0" rtlCol="0" anchor="t"/>
          <a:lstStyle/>
          <a:p>
            <a:pPr algn="l" indent="0" marL="0">
              <a:buNone/>
            </a:pPr>
            <a:r>
              <a:rPr lang="en-US" sz="1600" b="1" dirty="0">
                <a:solidFill>
                  <a:srgbClr val="1B1B1F"/>
                </a:solidFill>
              </a:rPr>
              <a:t>mod</a:t>
            </a:r>
            <a:r>
              <a:rPr lang="en-US" sz="1600" dirty="0">
                <a:solidFill>
                  <a:srgbClr val="1B1B1F"/>
                </a:solidFill>
              </a:rPr>
              <a:t> = kleinster nicht negativer Rest; entschlüsseln = zurück verschieben (</a:t>
            </a:r>
            <a:r>
              <a:rPr lang="en-US" sz="1600" b="1" dirty="0">
                <a:solidFill>
                  <a:srgbClr val="1B1B1F"/>
                </a:solidFill>
              </a:rPr>
              <a:t>− k</a:t>
            </a:r>
            <a:r>
              <a:rPr lang="en-US" sz="1600" dirty="0">
                <a:solidFill>
                  <a:srgbClr val="1B1B1F"/>
                </a:solidFill>
              </a:rPr>
              <a:t>)</a:t>
            </a:r>
            <a:endParaRPr lang="en-US" sz="1600" dirty="0"/>
          </a:p>
        </p:txBody>
      </p:sp>
      <p:sp>
        <p:nvSpPr>
          <p:cNvPr id="8" name="Text 6"/>
          <p:cNvSpPr txBox="1"/>
          <p:nvPr/>
        </p:nvSpPr>
        <p:spPr>
          <a:xfrm>
            <a:off x="1508760" y="4248912"/>
            <a:ext cx="5394960" cy="789432"/>
          </a:xfrm>
          <a:prstGeom prst="rect">
            <a:avLst/>
          </a:prstGeom>
          <a:noFill/>
          <a:ln/>
        </p:spPr>
        <p:txBody>
          <a:bodyPr wrap="square" lIns="0" tIns="0" rIns="0" bIns="0" rtlCol="0" anchor="t"/>
          <a:lstStyle/>
          <a:p>
            <a:pPr algn="l" indent="0" marL="0">
              <a:buNone/>
            </a:pPr>
            <a:r>
              <a:rPr lang="en-US" sz="1600" dirty="0">
                <a:solidFill>
                  <a:srgbClr val="1B1B1F"/>
                </a:solidFill>
              </a:rPr>
              <a:t>Nur </a:t>
            </a:r>
            <a:r>
              <a:rPr lang="en-US" sz="1600" b="1" dirty="0">
                <a:solidFill>
                  <a:srgbClr val="1B1B1F"/>
                </a:solidFill>
              </a:rPr>
              <a:t>25</a:t>
            </a:r>
            <a:r>
              <a:rPr lang="en-US" sz="1600" dirty="0">
                <a:solidFill>
                  <a:srgbClr val="1B1B1F"/>
                </a:solidFill>
              </a:rPr>
              <a:t> sinnvolle Schlüssel → Brute Force gelingt → </a:t>
            </a:r>
            <a:r>
              <a:rPr lang="en-US" sz="1600" b="1" dirty="0">
                <a:solidFill>
                  <a:srgbClr val="1B1B1F"/>
                </a:solidFill>
              </a:rPr>
              <a:t>unsicher</a:t>
            </a:r>
            <a:r>
              <a:rPr lang="en-US" sz="1600" dirty="0">
                <a:solidFill>
                  <a:srgbClr val="1B1B1F"/>
                </a:solidFill>
              </a:rPr>
              <a:t> (Kerckhoffs: Sicherheit nur durch den Schlüssel)</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Weiter im Lab</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1828800"/>
                <a:gridCol w="5486400"/>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Lab</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Level 0.2 „Caesars Botschaft“ (Epoche Antike) – danach Trainingsplatz „Caesar ver/ent“ und „mod-Rechnen“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Akte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Akte W0·2 „Caesars Botschaft“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Kryptolabor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Chiffrierscheibe mit Brute-Force-Liste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Funkraum</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Szenario „Botenlauf“ im Unterricht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Online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kryptos.frankjuchim.de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398520"/>
            <a:ext cx="7315200" cy="727456"/>
          </a:xfrm>
          <a:prstGeom prst="rect">
            <a:avLst/>
          </a:prstGeom>
          <a:noFill/>
          <a:ln/>
        </p:spPr>
        <p:txBody>
          <a:bodyPr wrap="square" lIns="0" tIns="0" rIns="0" bIns="0" rtlCol="0" anchor="t"/>
          <a:lstStyle/>
          <a:p>
            <a:pPr algn="l" indent="0" marL="0">
              <a:buNone/>
            </a:pPr>
            <a:r>
              <a:rPr lang="en-US" sz="2200" b="1" dirty="0">
                <a:solidFill>
                  <a:srgbClr val="1B1B1F"/>
                </a:solidFill>
              </a:rPr>
              <a:t>Nächstes Video:</a:t>
            </a:r>
            <a:r>
              <a:rPr lang="en-US" sz="2200" dirty="0">
                <a:solidFill>
                  <a:srgbClr val="1B1B1F"/>
                </a:solidFill>
              </a:rPr>
              <a:t> 02 · Häufigkeitsanalyse: Wie Al-Kindi jede Substitution knackt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Kryptos Antike">
  <a:themeElements>
    <a:clrScheme name="Kryptos Antike">
      <a:dk1>
        <a:srgbClr val="1B1B1F"/>
      </a:dk1>
      <a:lt1>
        <a:srgbClr val="FFFFFF"/>
      </a:lt1>
      <a:dk2>
        <a:srgbClr val="14213D"/>
      </a:dk2>
      <a:lt2>
        <a:srgbClr val="FBF7EE"/>
      </a:lt2>
      <a:accent1>
        <a:srgbClr val="B5523B"/>
      </a:accent1>
      <a:accent2>
        <a:srgbClr val="B07D2B"/>
      </a:accent2>
      <a:accent3>
        <a:srgbClr val="1F4E8C"/>
      </a:accent3>
      <a:accent4>
        <a:srgbClr val="2E7D32"/>
      </a:accent4>
      <a:accent5>
        <a:srgbClr val="B3261E"/>
      </a:accent5>
      <a:accent6>
        <a:srgbClr val="4A4A55"/>
      </a:accent6>
      <a:hlink>
        <a:srgbClr val="1F4E8C"/>
      </a:hlink>
      <a:folHlink>
        <a:srgbClr val="8A5F1A"/>
      </a:folHlink>
    </a:clrScheme>
    <a:fontScheme name="Kryptos Antik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Kryptos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Caesar, das Alphabet A = 1 und Modulo</dc:title>
  <dc:subject>Kryptos – Die Zeitreise der Geheimschriften</dc:subject>
  <dc:creator>Frank Juchim</dc:creator>
  <cp:lastModifiedBy>Frank Juchim</cp:lastModifiedBy>
  <cp:revision>1</cp:revision>
  <dcterms:created xsi:type="dcterms:W3CDTF">2026-10-14T19:25:00Z</dcterms:created>
  <dcterms:modified xsi:type="dcterms:W3CDTF">2026-10-14T19:25:00Z</dcterms:modified>
</cp:coreProperties>
</file>