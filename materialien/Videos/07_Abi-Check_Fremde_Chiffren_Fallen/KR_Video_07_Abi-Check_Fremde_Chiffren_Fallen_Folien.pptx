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0224712f-ff6e-6f9a-3b3c-320029f06e45}">
          <p14:sldIdLst>
            <p14:sldId id="256"/>
            <p14:sldId id="257"/>
          </p14:sldIdLst>
        </p14:section>
        <p14:section name="Das Verfahren" id="{3f8a6dc4-29da-1990-a246-57ec9f042a8a}">
          <p14:sldIdLst>
            <p14:sldId id="258"/>
          </p14:sldIdLst>
        </p14:section>
        <p14:section name="Schritt 1 und 2" id="{2300ba82-ab18-f7a9-d79e-425c5a3f3488}">
          <p14:sldIdLst>
            <p14:sldId id="259"/>
            <p14:sldId id="260"/>
          </p14:sldIdLst>
        </p14:section>
        <p14:section name="Schritt 3: Umkehren" id="{5d42f985-d5fb-5826-8550-eccb6c537b7c}">
          <p14:sldIdLst>
            <p14:sldId id="261"/>
            <p14:sldId id="262"/>
            <p14:sldId id="263"/>
          </p14:sldIdLst>
        </p14:section>
        <p14:section name="Schritt 4: Einordnen" id="{62fab733-995a-5905-b679-00394d778615}">
          <p14:sldIdLst>
            <p14:sldId id="264"/>
          </p14:sldIdLst>
        </p14:section>
        <p14:section name="Schritt 5: Beurteilen" id="{527737fd-fbf0-db39-c1c9-316db1704517}">
          <p14:sldIdLst>
            <p14:sldId id="265"/>
            <p14:sldId id="266"/>
            <p14:sldId id="267"/>
          </p14:sldIdLst>
        </p14:section>
        <p14:section name="Operatoren" id="{9613bf51-90e7-070e-ff6c-eb3c5e6aa37d}">
          <p14:sldIdLst>
            <p14:sldId id="268"/>
            <p14:sldId id="269"/>
          </p14:sldIdLst>
        </p14:section>
        <p14:section name="Zeitplanung" id="{bcc09c42-180a-2775-cb1d-7a4ab403329b}">
          <p14:sldIdLst>
            <p14:sldId id="270"/>
          </p14:sldIdLst>
        </p14:section>
        <p14:section name="Die 10 Fallen" id="{57b9a8af-9282-426d-c73a-6b64f96f5c4b}">
          <p14:sldIdLst>
            <p14:sldId id="271"/>
            <p14:sldId id="272"/>
          </p14:sldIdLst>
        </p14:section>
        <p14:section name="Checkliste" id="{a3a2eb64-1ce4-889b-7b17-62152026f225}">
          <p14:sldIdLst>
            <p14:sldId id="273"/>
          </p14:sldIdLst>
        </p14:section>
        <p14:section name="Zusammenfassung" id="{94dc7827-6f05-a7e8-0f25-093e4a8a9058}">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Einstieg]
REGIE: Kamera unten rechts, Titelfolie Welt 6 (Messing, Zahnräder).
SPRECHERTEXT: Willkommen beim Endgegner! Eve hat sich ihre eigene Chiffre gebaut. Und genau das passiert dir im Abitur: Im Material steht ein Verfahren, das du noch nie gesehen hast. Keine Panik – mit einer festen Methode in fünf Schritten bekommst du es in den Griff. Die zeige ich dir heute an einer Chiffre, die ich nur für dieses Video erfunden habe. Danach gehen wir die zehn Fallen durch, damit du keine Punkte verschenkst.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Fast jede Krypto-Aufgabe im Abitur folgt demselben Muster. Im Material wird ein unbekanntes Verfahren beschrieben. Du wendest es von Hand an, du ordnest es ein, und du beurteilst seine Sicherheit. Auf erhöhtem Niveau kommen Varianten dazu und Aussagen, über die du begründet entscheiden sollst. Für genau dieses Muster gibt es die fünf Schritte rechts: lesen und nachrechnen, anwenden, umkehren, einordnen, beurteilen.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Das Verfahren]
REGIE: Folie wie ein Materialblatt gestalten (Papier, Rahmen „Material“). Einblendung: „Phantasieverfahren – nur für dieses Video“.
SPRECHERTEXT: Hier ist das Material, so wie es im Abitur aussehen könnte: die Schaukel-Chiffre. Der Schlüssel besteht aus zwei Zahlen, s und t. Stufe eins ist die Blockwende: Der Klartext wird in Viererblöcke zerlegt, der letzte Block wird mit X aufgefüllt, und jeder Block wird rückwärts geschrieben. Stufe zwei ist die Schaukel: Man zählt die Positionen ab null. Buchstaben an geraden Positionen werden um s verschoben, an ungeraden um t – hin und her wie eine Schaukel. Und unten steht ein Beispiel.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Schritt 1 und 2]
SPRECHERTEXT: Schritt eins: lesen und nachrechnen. Unterstreiche jede Regel: Blockgröße vier, Füllzeichen X, Positionen ab null, A gleich eins. Und dann – das ist der wichtigste Tipp überhaupt – rechne das Beispiel aus dem Material selbst nach. EULE gewendet ergibt ELUE. Position null ist gerade, also E plus eins, F. Position eins: L plus zwei, N. Dann V und G. FNVG – stimmt mit dem Material überein. Jetzt weißt du, dass du die Regeln richtig verstanden hast. Hättest du die Positionen ab eins gezählt, wäre hier schon alles schiefgegangen.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Erst Blöcke, dann Stufe 1, dann die Schaukel-Zeile Zeichen für Zeichen; die Überläufe T → E und X → B hervorheben.
SPRECHERTEXT: Schritt zwei: anwenden. Wir verschlüsseln nachtfalter mit dem Schlüssel vier und elf. Viererblöcke: NACH, TFAL, TER – und hier fehlt einer, also kommt ein X dazu. Jeder Block gewendet: HCAN, LAFT, XRET. Jetzt die Schaukel. Position null, H, plus vier: L. Position eins, C, plus elf: N. So geht es weiter. Spannend wird es bei Überläufen: T ist zwanzig, plus elf ergibt einunddreißig – minus sechsundzwanzig, also fünf, E. Und X ist vierundzwanzig, plus vier ist achtundzwanzig, also B. Der Geheimtext in Fünfergruppen: LNEYP LJEBC 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Schritt 3: Umkehren]
REGIE: Einblendung „⏸ Video anhalten“ für die Dauer der Pause.
SPRECHERTEXT: Schritt drei: umkehren – und das machst du jetzt selbst. Entschlüssele YGAUY CDPEZ LV mit dem Schlüssel sieben und zwei. Überleg zuerst genau, welche Stufe du zuerst rückgängig machen musst. Halte das Video an.
PAUSE: 6 s Einblendung „⏸ Video anhalten“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Die Auflösung. Verschlüsselt wurde erst gewendet, dann geschaukelt. Also machst du zuerst die Schaukel rückgängig: gerade Positionen minus sieben, ungerade minus zwei. Y minus sieben ist R, G minus zwei ist E. Beim A wird es negativ: eins minus sieben ist minus sechs, plus sechsundzwanzig ergibt zwanzig, T. Genauso wird aus D das W. Du erhältst RETS RAWN XXET. Jetzt erst die Blöcke zurückwenden: STER NWAR TEXX. Der Klartext ist sternwarte, die zwei X sind Füllzeichen.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Und wenn du die Reihenfolge vertauschst? Dann kommt Unsinn heraus: NYZWI BVWOJ SC. Das ist Falle P3. Hier sieht man auch, warum: Die Blockwende tauscht Position null mit drei und eins mit zwei. Gerade und ungerade Positionen werden vertauscht – und damit auch s und t. Merke: Entschlüsseln heißt, jede Stufe umkehren, die letzte zuerst.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Schritt 4: Einordnen]
SPRECHERTEXT: Schritt vier: einordnen – und zwar jede Stufe einzeln. Die Blockwende ist eine Transposition: Die Buchstaben bleiben dieselben, nur ihre Plätze ändern sich. Die Schaukel ist eine Substitution. Mono oder poly? Das Kriterium lautet: Wird derselbe Klartextbuchstabe immer gleich ersetzt? Nein: In unserem Beispiel wird A einmal zu E und einmal zu L. Also polyalphabetisch. Genauer gesagt ist Stufe zwei nichts anderes als Vigenère mit dem Schlüsselwort EL. Nur wenn s gleich t ist, wird sie monoalphabetisch. Und insgesamt ist das Verfahren symmetrisch.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Schritt 5: Beurteilen]
REGIE: Zeilen einzeln aufdecken; bei „Mehrfachanwendung“ kurz anhalten.
SPRECHERTEXT: Schritt fünf: beurteilen – mit dem Raster von der Werkzeugkarte. Schlüsselraum: sechsundzwanzig mal sechsundzwanzig, nur sechshundertsechsundsiebzig Schlüssel. Häufigkeitsanalyse: Eve teilt den Geheimtext in zwei Teiltexte, gerade und ungerade Positionen. Jeder ist nur verschoben, also knackt sie beide einzeln. Die Blockwende ändert an den Häufigkeiten nichts. Schwache Schlüssel: Bei s gleich t ist alles monoalphabetisch. Mehrfachanwendung: Zweimal verschlüsseln macht das Verfahren sogar schwächer – dazu gleich mehr. Known-Plaintext: Kennt Eve ein Stück Klartext, liest sie s und t direkt ab. Und nach Kerckhoffs ist das Verfahren bekannt – die schlüssellose Blockwende bringt also gar nichts.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Diesen Punkt schauen wir uns genauer an, denn er ist eine typische Falle: P8, Kombination überschätzt. Viele schreiben: Zweimal verschlüsseln ist doppelt so sicher. Rechne nach: nachtfalter zweimal mit vier und elf ergibt CPRWI UPAIT GM. Und das ist einfach der aufgefüllte Klartext, um fünfzehn verschoben – ein Caesar! Warum? Die zweite Blockwende macht die erste rückgängig. Und weil sie gerade und ungerade Positionen tauscht, wird jeder Buchstabe einmal um s und einmal um t verschoben. Aus einem polyalphabetischen Verfahren wird ein monoalphabetisches.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Und so schreibst du das auf. Erst das Kriterium: Ein sicheres Verfahren muss Brute Force und Häufigkeitsanalyse widerstehen. Dann die Begründung am Verfahren: Es gibt nur sechshundertsechsundsiebzig Schlüssel, Brute Force gelingt. Zerlegt man den Geheimtext in die Teiltexte der geraden und ungeraden Positionen, ist jeder nur verschoben. Die Blockwende hat keinen Schlüssel und ist nach Kerckhoffs bekannt. Und zum Schluss ein klares Urteil: Die Schaukel-Chiffre ist unsicher. Kriterium, Begründung, Urteil – das ist beurteilen.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Operatoren]
SPRECHERTEXT: Ein Wort zu den Operatoren, denn sie entscheiden über deine Punkte. Erläutern heißt verständlich machen – am besten mit einem Beispiel aus dem Material, wie eben das A, das zu E und zu L wird. Begründen heißt, auf eine Regel oder Ursache zurückführen: weil, deshalb. Entscheiden Sie begründet verlangt eine klare Entscheidung, richtig oder falsch, und dazu die Begründung. Und beurteilen braucht Kriterien, eine Begründung und dein eigenes Urteil. Unterstreiche den Operator, bevor du anfängst zu schreiben.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Auf erhöhtem Niveau kommen oft Aussagen, über die du begründet entscheiden sollst. Zum Beispiel: Vertauscht man die Reihenfolge der Stufen, ändert sich der Geheimtext nicht. Zuerst die klare Entscheidung: Die Aussage ist falsch. Dann die Begründung: Die Blockwende tauscht gerade und ungerade Positionen. Schaukelt man zuerst, bekommen die Buchstaben genau die andere Verschiebung – als hätte man den Schlüssel t, s benutzt. Am stärksten ist ein Gegenbeispiel: eule mit eins und zwei ergibt dann GMWF statt FNVG. Und wer ganz genau ist, ergänzt: Nur wenn s gleich t ist, stimmt die Aussage.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Zeitplanung]
SPRECHERTEXT: Zur Zeit: Rechne mit gut zwei Minuten pro Bewertungseinheit. Eine Krypto-Aufgabe mit dreißig BE auf erhöhtem Niveau sind etwa siebzig Minuten, mit fünfundzwanzig BE auf grundlegendem Niveau etwa fünfundfünfzig. Investiere die ersten Minuten ins Lesen und ins Nachrechnen des Beispiels – das zahlt sich in jeder Teilaufgabe aus. Schreib dir eine Zielzeit neben jede Teilaufgabe. Hängst du fest, markiere die Stelle und geh weiter. Und halte dir am Ende ein paar Minuten für die Checkliste frei.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Die 10 Fallen]
SPRECHERTEXT: Jetzt die zehn Fallen im Schnelldurchlauf, jeweils mit einem Mini-Beispiel. P1, Zählbasis: Wer die Positionen ab eins zählt, vertauscht s und t. P2, Modulo: Einunddreißig ist kein Buchstabe – minus sechsundzwanzig, und ein Rest null bedeutet Z. P3 kennst du schon: die Stufen in umgekehrter Reihenfolge zurück. P4, Verfahrensregel übersehen: Ohne das Füllzeichen X wird der letzte Block falsch gewendet, und der Geheimtext endet anders. P5, falsch eingeordnet: Zwei Stufen machen ein Verfahren nicht polyalphabetisch. Es zählt nur: Wird derselbe Buchstabe immer gleich ersetzt?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Weiter mit P6, Häufigkeitsanalyse pauschal: Nicht einfach behaupten, sie gehe nicht – sondern sagen, wie: zwei Teiltexte, jeweils eine Häufigkeitsanalyse, und dafür braucht man einen langen Text. P7, Schlüsselraum: sechsundzwanzig mal sechsundzwanzig, nicht plus – und die schwachen Schlüssel nennen. P8, Kombination überschätzt: Zweimal verschlüsseln ist hier sogar schwächer. P9, Schlüsselrollen: Signiert wird mit dem privaten Schlüssel des Absenders. Und P10, Operator verfehlt: Ein Wort wie unsicher ist kein Urteil, wenn Kriterium und Begründung fehlen.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Checkliste]
SPRECHERTEXT: Und hier die Checkliste für deine Reserve-Zeit. Hast du das Material-Beispiel nachgerechnet und die Nummerierung geprüft? Liegt jedes Ergebnis zwischen eins und sechsundzwanzig? Hast du die Stufen rückwärts gerechnet und alle Regeln beachtet? Ist jede Stufe mit Kriterium eingeordnet? Hast du beim Beurteilen das Raster genutzt? Stehen bei Schaubildern Schlüsselart und Inhaber? Und hast du getan, was der Operator verlangt? Ergänze die Liste um deine eigenen drei häufigsten Fehler.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Zusammenfassung]
SPRECHERTEXT: Das nimmst du mit. Erstens: Für jedes fremde Verfahren gibt es fünf Schritte – nachrechnen, anwenden, umkehren, einordnen, beurteilen. Zweitens: Beim Umkehren kehrst du jede Stufe um, die letzte zuerst. Drittens: Ordne jede Stufe einzeln ein, mit dem richtigen Kriterium. Viertens: Beurteilen heißt Kriterien, Begründung und ein klares Urteil.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Endcard über die letzten 20 s legen (Playlist, Video zur häufigsten Falle, Abo).
SPRECHERTEXT: Jetzt bist du dran! In der Fallenjagd und bei Eves Chiffre trainierst du genau dieses Muster mit sofortiger Rückmeldung. In deinem Profil zeigt dir das Fallen-Radar, wo du noch Punkte liegen lässt – schau dir dazu das passende Video aus der Playlist noch einmal an. Und dann ab in die Generalprobe. Viel Erfolg im Abitur – du schaffst 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 Titel">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7498080" cy="1554480"/>
          </a:xfrm>
          <a:prstGeom prst="rect">
            <a:avLst/>
          </a:prstGeom>
          <a:noFill/>
          <a:ln/>
        </p:spPr>
        <p:txBody>
          <a:bodyPr wrap="square" rtlCol="0"/>
          <a:lstStyle>
            <a:lvl1pPr algn="l" indent="0" marL="0">
              <a:buNone/>
              <a:defRPr lang="en-US" sz="46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600" dirty="0"/>
          </a:p>
        </p:txBody>
      </p:sp>
      <p:sp>
        <p:nvSpPr>
          <p:cNvPr id="3" name="Text 0"/>
          <p:cNvSpPr/>
          <p:nvPr>
            <p:ph idx="101" type="body" hasCustomPrompt="1"/>
          </p:nvPr>
        </p:nvSpPr>
        <p:spPr>
          <a:xfrm>
            <a:off x="548640" y="3931920"/>
            <a:ext cx="7315200" cy="914400"/>
          </a:xfrm>
          <a:prstGeom prst="rect">
            <a:avLst/>
          </a:prstGeom>
          <a:noFill/>
          <a:ln/>
        </p:spPr>
        <p:txBody>
          <a:bodyPr wrap="square" rtlCol="0"/>
          <a:lstStyle>
            <a:lvl1pPr algn="l" indent="0" marL="0">
              <a:buNone/>
              <a:defRPr lang="en-US" sz="2200" dirty="0">
                <a:solidFill>
                  <a:srgbClr val="D9A44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R Abschnitt">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rtlCol="0"/>
          <a:lstStyle>
            <a:lvl1pPr algn="l" indent="0" marL="0">
              <a:buNone/>
              <a:defRPr lang="en-US" sz="4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000" dirty="0"/>
          </a:p>
        </p:txBody>
      </p:sp>
      <p:pic>
        <p:nvPicPr>
          <p:cNvPr id="3" name="Image 0" descr="/tmp/kr_bildcache/siegel6_fc53bfa518f9cbd0.png">    </p:cNvPr>
          <p:cNvPicPr>
            <a:picLocks noChangeAspect="1"/>
          </p:cNvPicPr>
          <p:nvPr/>
        </p:nvPicPr>
        <p:blipFill>
          <a:blip r:embed="rId1"/>
          <a:stretch>
            <a:fillRect/>
          </a:stretch>
        </p:blipFill>
        <p:spPr>
          <a:xfrm>
            <a:off x="548640" y="2788920"/>
            <a:ext cx="868680" cy="868680"/>
          </a:xfrm>
          <a:prstGeom prst="rect">
            <a:avLst/>
          </a:prstGeom>
        </p:spPr>
      </p:pic>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6 · Die Zeitmaschine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R Inhalt">
    <p:bg>
      <p:bgPr>
        <a:solidFill>
          <a:srgbClr val="FBF7EE"/>
        </a:solidFill>
      </p:bgPr>
    </p:bg>
    <p:spTree>
      <p:nvGrpSpPr>
        <p:cNvPr id="1" name=""/>
        <p:cNvGrpSpPr/>
        <p:nvPr/>
      </p:nvGrpSpPr>
      <p:grpSpPr>
        <a:xfrm>
          <a:off x="0" y="0"/>
          <a:ext cx="0" cy="0"/>
          <a:chOff x="0" y="0"/>
          <a:chExt cx="0" cy="0"/>
        </a:xfrm>
      </p:grpSpPr>
      <p:pic>
        <p:nvPicPr>
          <p:cNvPr id="2" name="Image 0" descr="/tmp/kr_bildcache/siegel6_fc53bfa518f9cbd0.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14213D"/>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4A4A55"/>
                </a:solidFill>
                <a:latin typeface="Calibri" pitchFamily="34" charset="0"/>
                <a:ea typeface="Calibri" pitchFamily="34" charset="-122"/>
                <a:cs typeface="Calibri" pitchFamily="34" charset="-120"/>
              </a:rPr>
              <a:t>Kryptos · Welt 6 · Die Zeitmaschine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R Dunkel">
    <p:bg>
      <p:bgPr>
        <a:solidFill>
          <a:srgbClr val="0B1426"/>
        </a:solidFill>
      </p:bgPr>
    </p:bg>
    <p:spTree>
      <p:nvGrpSpPr>
        <p:cNvPr id="1" name=""/>
        <p:cNvGrpSpPr/>
        <p:nvPr/>
      </p:nvGrpSpPr>
      <p:grpSpPr>
        <a:xfrm>
          <a:off x="0" y="0"/>
          <a:ext cx="0" cy="0"/>
          <a:chOff x="0" y="0"/>
          <a:chExt cx="0" cy="0"/>
        </a:xfrm>
      </p:grpSpPr>
      <p:pic>
        <p:nvPicPr>
          <p:cNvPr id="2" name="Image 0" descr="/tmp/kr_bildcache/siegel6_fc53bfa518f9cbd0.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6 · Die Zeitmaschine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hiffrierscheibe" descr="/tmp/kr_bildcache/scheibe_24333bb42ce7248c.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6_fc53bfa518f9cbd0.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D9A441"/>
                </a:solidFill>
                <a:latin typeface="Consolas" pitchFamily="34" charset="0"/>
                <a:ea typeface="Consolas" pitchFamily="34" charset="-122"/>
                <a:cs typeface="Consolas" pitchFamily="34" charset="-120"/>
              </a:rPr>
              <a:t>VIDEO 07 · ARCHIV · DAS CHRONOSKOP</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Abi-Check: Fremde Chiffren in 5 Schritten</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Ein unbekanntes Verfahren anwenden, umkehren, einordnen, beurteilen – und die 10 Fallen P1–P10</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Abitur-Grundmuster</a:t>
            </a:r>
            <a:endParaRPr lang="en-US" sz="3000" dirty="0"/>
          </a:p>
        </p:txBody>
      </p:sp>
      <p:sp>
        <p:nvSpPr>
          <p:cNvPr id="3" name="Text 1"/>
          <p:cNvSpPr txBox="1"/>
          <p:nvPr/>
        </p:nvSpPr>
        <p:spPr>
          <a:xfrm>
            <a:off x="548640" y="1325880"/>
            <a:ext cx="4308653" cy="4547616"/>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Fast jede Krypto-Aufgabe: </a:t>
            </a:r>
            <a:r>
              <a:rPr lang="en-US" sz="2200" b="1" dirty="0">
                <a:solidFill>
                  <a:srgbClr val="1B1B1F"/>
                </a:solidFill>
              </a:rPr>
              <a:t>unbekanntes Verfahren</a:t>
            </a:r>
            <a:r>
              <a:rPr lang="en-US" sz="2200" dirty="0">
                <a:solidFill>
                  <a:srgbClr val="1B1B1F"/>
                </a:solidFill>
              </a:rPr>
              <a:t> im Material</a:t>
            </a:r>
            <a:endParaRPr lang="en-US" sz="2200" dirty="0"/>
          </a:p>
          <a:p>
            <a:pPr marL="279400" indent="-279400">
              <a:spcAft>
                <a:spcPts val="600"/>
              </a:spcAft>
              <a:buSzPct val="100000"/>
              <a:buChar char="●"/>
            </a:pPr>
            <a:r>
              <a:rPr lang="en-US" sz="2200" dirty="0">
                <a:solidFill>
                  <a:srgbClr val="1B1B1F"/>
                </a:solidFill>
              </a:rPr>
              <a:t>  - von Hand </a:t>
            </a:r>
            <a:r>
              <a:rPr lang="en-US" sz="2200" b="1" dirty="0">
                <a:solidFill>
                  <a:srgbClr val="1B1B1F"/>
                </a:solidFill>
              </a:rPr>
              <a:t>anwenden</a:t>
            </a:r>
            <a:r>
              <a:rPr lang="en-US" sz="2200" dirty="0">
                <a:solidFill>
                  <a:srgbClr val="1B1B1F"/>
                </a:solidFill>
              </a:rPr>
              <a:t> (ver- und entschlüsseln)</a:t>
            </a:r>
            <a:endParaRPr lang="en-US" sz="2200" dirty="0"/>
          </a:p>
          <a:p>
            <a:pPr marL="279400" indent="-279400">
              <a:spcAft>
                <a:spcPts val="600"/>
              </a:spcAft>
              <a:buSzPct val="100000"/>
              <a:buChar char="●"/>
            </a:pPr>
            <a:r>
              <a:rPr lang="en-US" sz="2200" dirty="0">
                <a:solidFill>
                  <a:srgbClr val="1B1B1F"/>
                </a:solidFill>
              </a:rPr>
              <a:t>  - </a:t>
            </a:r>
            <a:r>
              <a:rPr lang="en-US" sz="2200" b="1" dirty="0">
                <a:solidFill>
                  <a:srgbClr val="1B1B1F"/>
                </a:solidFill>
              </a:rPr>
              <a:t>einordnen</a:t>
            </a:r>
            <a:r>
              <a:rPr lang="en-US" sz="2200" dirty="0">
                <a:solidFill>
                  <a:srgbClr val="1B1B1F"/>
                </a:solidFill>
              </a:rPr>
              <a:t>: Transposition, Substitution, mono, poly, symmetrisch</a:t>
            </a:r>
            <a:endParaRPr lang="en-US" sz="2200" dirty="0"/>
          </a:p>
          <a:p>
            <a:pPr marL="279400" indent="-279400">
              <a:spcAft>
                <a:spcPts val="600"/>
              </a:spcAft>
              <a:buSzPct val="100000"/>
              <a:buChar char="●"/>
            </a:pPr>
            <a:r>
              <a:rPr lang="en-US" sz="2200" dirty="0">
                <a:solidFill>
                  <a:srgbClr val="1B1B1F"/>
                </a:solidFill>
              </a:rPr>
              <a:t>  - Sicherheit </a:t>
            </a:r>
            <a:r>
              <a:rPr lang="en-US" sz="2200" b="1" dirty="0">
                <a:solidFill>
                  <a:srgbClr val="1B1B1F"/>
                </a:solidFill>
              </a:rPr>
              <a:t>beurteilen</a:t>
            </a:r>
            <a:endParaRPr lang="en-US" sz="2200" dirty="0"/>
          </a:p>
          <a:p>
            <a:pPr marL="279400" indent="-279400">
              <a:spcAft>
                <a:spcPts val="600"/>
              </a:spcAft>
              <a:buSzPct val="100000"/>
              <a:buChar char="●"/>
            </a:pPr>
            <a:r>
              <a:rPr lang="en-US" sz="2200" dirty="0">
                <a:solidFill>
                  <a:srgbClr val="1B1B1F"/>
                </a:solidFill>
              </a:rPr>
              <a:t>eA zusätzlich: Varianten untersuchen, Aussagen </a:t>
            </a:r>
            <a:r>
              <a:rPr lang="en-US" sz="2200" b="1" dirty="0">
                <a:solidFill>
                  <a:srgbClr val="1B1B1F"/>
                </a:solidFill>
              </a:rPr>
              <a:t>begründet entscheiden</a:t>
            </a:r>
            <a:endParaRPr lang="en-US" sz="2200" dirty="0"/>
          </a:p>
        </p:txBody>
      </p:sp>
      <p:sp>
        <p:nvSpPr>
          <p:cNvPr id="4" name="Shape 2"/>
          <p:cNvSpPr/>
          <p:nvPr/>
        </p:nvSpPr>
        <p:spPr>
          <a:xfrm>
            <a:off x="5223053" y="1325880"/>
            <a:ext cx="2640787" cy="3322320"/>
          </a:xfrm>
          <a:prstGeom prst="roundRect">
            <a:avLst>
              <a:gd name="adj" fmla="val 2770"/>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DIE 5 SCHRITTE (WK2)</a:t>
            </a:r>
            <a:endParaRPr lang="en-US" sz="1300" dirty="0"/>
          </a:p>
        </p:txBody>
      </p:sp>
      <p:sp>
        <p:nvSpPr>
          <p:cNvPr id="6" name="Text 4"/>
          <p:cNvSpPr txBox="1"/>
          <p:nvPr/>
        </p:nvSpPr>
        <p:spPr>
          <a:xfrm>
            <a:off x="5451653" y="178308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1. Lesen und nachrechnen</a:t>
            </a:r>
            <a:endParaRPr lang="en-US" sz="2000" dirty="0"/>
          </a:p>
        </p:txBody>
      </p:sp>
      <p:sp>
        <p:nvSpPr>
          <p:cNvPr id="7" name="Text 5"/>
          <p:cNvSpPr txBox="1"/>
          <p:nvPr/>
        </p:nvSpPr>
        <p:spPr>
          <a:xfrm>
            <a:off x="5451653" y="2576576"/>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2. Anwenden</a:t>
            </a:r>
            <a:endParaRPr lang="en-US" sz="2000" dirty="0"/>
          </a:p>
        </p:txBody>
      </p:sp>
      <p:sp>
        <p:nvSpPr>
          <p:cNvPr id="8" name="Text 6"/>
          <p:cNvSpPr txBox="1"/>
          <p:nvPr/>
        </p:nvSpPr>
        <p:spPr>
          <a:xfrm>
            <a:off x="5451653" y="3060192"/>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3. Umkehren</a:t>
            </a:r>
            <a:endParaRPr lang="en-US" sz="2000" dirty="0"/>
          </a:p>
        </p:txBody>
      </p:sp>
      <p:sp>
        <p:nvSpPr>
          <p:cNvPr id="9" name="Text 7"/>
          <p:cNvSpPr txBox="1"/>
          <p:nvPr/>
        </p:nvSpPr>
        <p:spPr>
          <a:xfrm>
            <a:off x="5451653" y="3543808"/>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4. Einordnen</a:t>
            </a:r>
            <a:endParaRPr lang="en-US" sz="2000" dirty="0"/>
          </a:p>
        </p:txBody>
      </p:sp>
      <p:sp>
        <p:nvSpPr>
          <p:cNvPr id="10" name="Text 8"/>
          <p:cNvSpPr txBox="1"/>
          <p:nvPr/>
        </p:nvSpPr>
        <p:spPr>
          <a:xfrm>
            <a:off x="5451653" y="4027424"/>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5. Beurteilen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Material: die Schaukel-Chiffre</a:t>
            </a:r>
            <a:endParaRPr lang="en-US" sz="3000" dirty="0"/>
          </a:p>
        </p:txBody>
      </p:sp>
      <p:sp>
        <p:nvSpPr>
          <p:cNvPr id="3" name="Text 1"/>
          <p:cNvSpPr txBox="1"/>
          <p:nvPr/>
        </p:nvSpPr>
        <p:spPr>
          <a:xfrm>
            <a:off x="548640" y="1325880"/>
            <a:ext cx="7315200" cy="3101848"/>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Nummerierung: </a:t>
            </a:r>
            <a:r>
              <a:rPr lang="en-US" sz="2200" b="1" dirty="0">
                <a:solidFill>
                  <a:srgbClr val="1B1B1F"/>
                </a:solidFill>
              </a:rPr>
              <a:t>A = 1 … Z = 26</a:t>
            </a:r>
            <a:r>
              <a:rPr lang="en-US" sz="2200" dirty="0">
                <a:solidFill>
                  <a:srgbClr val="1B1B1F"/>
                </a:solidFill>
              </a:rPr>
              <a:t> · Schlüssel: zwei Zahlen </a:t>
            </a:r>
            <a:r>
              <a:rPr lang="en-US" sz="2200" b="1" dirty="0">
                <a:solidFill>
                  <a:srgbClr val="1B1B1F"/>
                </a:solidFill>
              </a:rPr>
              <a:t>(s, t)</a:t>
            </a:r>
            <a:r>
              <a:rPr lang="en-US" sz="2200" dirty="0">
                <a:solidFill>
                  <a:srgbClr val="1B1B1F"/>
                </a:solidFill>
              </a:rPr>
              <a:t> aus 0 … 25</a:t>
            </a:r>
            <a:endParaRPr lang="en-US" sz="2200" dirty="0"/>
          </a:p>
          <a:p>
            <a:pPr marL="279400" indent="-279400">
              <a:spcAft>
                <a:spcPts val="600"/>
              </a:spcAft>
              <a:buSzPct val="100000"/>
              <a:buChar char="●"/>
            </a:pPr>
            <a:r>
              <a:rPr lang="en-US" sz="2200" b="1" dirty="0">
                <a:solidFill>
                  <a:srgbClr val="1B1B1F"/>
                </a:solidFill>
              </a:rPr>
              <a:t>Stufe 1 – Blockwende</a:t>
            </a:r>
            <a:r>
              <a:rPr lang="en-US" sz="2200" dirty="0">
                <a:solidFill>
                  <a:srgbClr val="1B1B1F"/>
                </a:solidFill>
              </a:rPr>
              <a:t>: Klartext in Blöcke zu </a:t>
            </a:r>
            <a:r>
              <a:rPr lang="en-US" sz="2200" b="1" dirty="0">
                <a:solidFill>
                  <a:srgbClr val="1B1B1F"/>
                </a:solidFill>
              </a:rPr>
              <a:t>4</a:t>
            </a:r>
            <a:r>
              <a:rPr lang="en-US" sz="2200" dirty="0">
                <a:solidFill>
                  <a:srgbClr val="1B1B1F"/>
                </a:solidFill>
              </a:rPr>
              <a:t> Zeichen, letzten Block mit </a:t>
            </a:r>
            <a:r>
              <a:rPr lang="en-US" sz="2200" b="1" dirty="0">
                <a:solidFill>
                  <a:srgbClr val="1B1B1F"/>
                </a:solidFill>
              </a:rPr>
              <a:t>X</a:t>
            </a:r>
            <a:r>
              <a:rPr lang="en-US" sz="2200" dirty="0">
                <a:solidFill>
                  <a:srgbClr val="1B1B1F"/>
                </a:solidFill>
              </a:rPr>
              <a:t> auffüllen, jeden Block </a:t>
            </a:r>
            <a:r>
              <a:rPr lang="en-US" sz="2200" b="1" dirty="0">
                <a:solidFill>
                  <a:srgbClr val="1B1B1F"/>
                </a:solidFill>
              </a:rPr>
              <a:t>umdrehen</a:t>
            </a:r>
            <a:endParaRPr lang="en-US" sz="2200" dirty="0"/>
          </a:p>
          <a:p>
            <a:pPr marL="279400" indent="-279400">
              <a:spcAft>
                <a:spcPts val="600"/>
              </a:spcAft>
              <a:buSzPct val="100000"/>
              <a:buChar char="●"/>
            </a:pPr>
            <a:r>
              <a:rPr lang="en-US" sz="2200" b="1" dirty="0">
                <a:solidFill>
                  <a:srgbClr val="1B1B1F"/>
                </a:solidFill>
              </a:rPr>
              <a:t>Stufe 2 – Schaukel</a:t>
            </a:r>
            <a:r>
              <a:rPr lang="en-US" sz="2200" dirty="0">
                <a:solidFill>
                  <a:srgbClr val="1B1B1F"/>
                </a:solidFill>
              </a:rPr>
              <a:t>: Positionen ab </a:t>
            </a:r>
            <a:r>
              <a:rPr lang="en-US" sz="2200" b="1" dirty="0">
                <a:solidFill>
                  <a:srgbClr val="1B1B1F"/>
                </a:solidFill>
              </a:rPr>
              <a:t>0</a:t>
            </a:r>
            <a:r>
              <a:rPr lang="en-US" sz="2200" dirty="0">
                <a:solidFill>
                  <a:srgbClr val="1B1B1F"/>
                </a:solidFill>
              </a:rPr>
              <a:t> zählen; gerade Position um </a:t>
            </a:r>
            <a:r>
              <a:rPr lang="en-US" sz="2200" b="1" dirty="0">
                <a:solidFill>
                  <a:srgbClr val="1B1B1F"/>
                </a:solidFill>
              </a:rPr>
              <a:t>s</a:t>
            </a:r>
            <a:r>
              <a:rPr lang="en-US" sz="2200" dirty="0">
                <a:solidFill>
                  <a:srgbClr val="1B1B1F"/>
                </a:solidFill>
              </a:rPr>
              <a:t>, ungerade um </a:t>
            </a:r>
            <a:r>
              <a:rPr lang="en-US" sz="2200" b="1" dirty="0">
                <a:solidFill>
                  <a:srgbClr val="1B1B1F"/>
                </a:solidFill>
              </a:rPr>
              <a:t>t</a:t>
            </a:r>
            <a:r>
              <a:rPr lang="en-US" sz="2200" dirty="0">
                <a:solidFill>
                  <a:srgbClr val="1B1B1F"/>
                </a:solidFill>
              </a:rPr>
              <a:t> verschieben</a:t>
            </a:r>
            <a:endParaRPr lang="en-US" sz="2200" dirty="0"/>
          </a:p>
          <a:p>
            <a:pPr marL="279400" indent="-279400">
              <a:spcAft>
                <a:spcPts val="600"/>
              </a:spcAft>
              <a:buSzPct val="100000"/>
              <a:buChar char="●"/>
            </a:pPr>
            <a:r>
              <a:rPr lang="en-US" sz="2200" dirty="0">
                <a:solidFill>
                  <a:srgbClr val="1B1B1F"/>
                </a:solidFill>
              </a:rPr>
              <a:t>Beispiel: </a:t>
            </a:r>
            <a:r>
              <a:rPr lang="en-US" sz="2200" dirty="0">
                <a:solidFill>
                  <a:srgbClr val="1B1B1F"/>
                </a:solidFill>
                <a:latin typeface="Consolas" pitchFamily="34" charset="0"/>
                <a:ea typeface="Consolas" pitchFamily="34" charset="-122"/>
                <a:cs typeface="Consolas" pitchFamily="34" charset="-120"/>
              </a:rPr>
              <a:t>eule</a:t>
            </a:r>
            <a:r>
              <a:rPr lang="en-US" sz="2200" dirty="0">
                <a:solidFill>
                  <a:srgbClr val="1B1B1F"/>
                </a:solidFill>
              </a:rPr>
              <a:t>, (s, t) = (1, 2) → ELUE → </a:t>
            </a:r>
            <a:r>
              <a:rPr lang="en-US" sz="2200" b="1" dirty="0">
                <a:solidFill>
                  <a:srgbClr val="1B1B1F"/>
                </a:solidFill>
              </a:rPr>
              <a:t>FNVG</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Schritt 1: Lesen und nachrechnen</a:t>
            </a:r>
            <a:endParaRPr lang="en-US" sz="3000" dirty="0"/>
          </a:p>
        </p:txBody>
      </p:sp>
      <p:sp>
        <p:nvSpPr>
          <p:cNvPr id="3" name="Text 1"/>
          <p:cNvSpPr txBox="1"/>
          <p:nvPr/>
        </p:nvSpPr>
        <p:spPr>
          <a:xfrm>
            <a:off x="548640" y="1325880"/>
            <a:ext cx="4308653" cy="4547616"/>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Regeln </a:t>
            </a:r>
            <a:r>
              <a:rPr lang="en-US" sz="2200" b="1" dirty="0">
                <a:solidFill>
                  <a:srgbClr val="1B1B1F"/>
                </a:solidFill>
              </a:rPr>
              <a:t>unterstreichen</a:t>
            </a:r>
            <a:r>
              <a:rPr lang="en-US" sz="2200" dirty="0">
                <a:solidFill>
                  <a:srgbClr val="1B1B1F"/>
                </a:solidFill>
              </a:rPr>
              <a:t>: Blockgröße 4 · Füllzeichen X · Positionen </a:t>
            </a:r>
            <a:r>
              <a:rPr lang="en-US" sz="2200" b="1" dirty="0">
                <a:solidFill>
                  <a:srgbClr val="1B1B1F"/>
                </a:solidFill>
              </a:rPr>
              <a:t>ab 0</a:t>
            </a:r>
            <a:r>
              <a:rPr lang="en-US" sz="2200" dirty="0">
                <a:solidFill>
                  <a:srgbClr val="1B1B1F"/>
                </a:solidFill>
              </a:rPr>
              <a:t> · A = 1</a:t>
            </a:r>
            <a:endParaRPr lang="en-US" sz="2200" dirty="0"/>
          </a:p>
          <a:p>
            <a:pPr marL="279400" indent="-279400">
              <a:spcAft>
                <a:spcPts val="600"/>
              </a:spcAft>
              <a:buSzPct val="100000"/>
              <a:buChar char="●"/>
            </a:pPr>
            <a:r>
              <a:rPr lang="en-US" sz="2200" b="1" dirty="0">
                <a:solidFill>
                  <a:srgbClr val="1B1B1F"/>
                </a:solidFill>
              </a:rPr>
              <a:t>Beispiel des Materials selbst nachrechnen</a:t>
            </a:r>
            <a:r>
              <a:rPr lang="en-US" sz="2200" dirty="0">
                <a:solidFill>
                  <a:srgbClr val="1B1B1F"/>
                </a:solidFill>
              </a:rPr>
              <a:t>:</a:t>
            </a:r>
            <a:endParaRPr lang="en-US" sz="2200" dirty="0"/>
          </a:p>
          <a:p>
            <a:pPr marL="279400" indent="-279400">
              <a:spcAft>
                <a:spcPts val="600"/>
              </a:spcAft>
              <a:buSzPct val="100000"/>
              <a:buChar char="●"/>
            </a:pPr>
            <a:r>
              <a:rPr lang="en-US" sz="2200" dirty="0">
                <a:solidFill>
                  <a:srgbClr val="1B1B1F"/>
                </a:solidFill>
              </a:rPr>
              <a:t>  - eule → EULE → Blockwende → </a:t>
            </a:r>
            <a:r>
              <a:rPr lang="en-US" sz="2200" b="1" dirty="0">
                <a:solidFill>
                  <a:srgbClr val="1B1B1F"/>
                </a:solidFill>
              </a:rPr>
              <a:t>ELUE</a:t>
            </a:r>
            <a:endParaRPr lang="en-US" sz="2200" dirty="0"/>
          </a:p>
          <a:p>
            <a:pPr marL="279400" indent="-279400">
              <a:spcAft>
                <a:spcPts val="600"/>
              </a:spcAft>
              <a:buSzPct val="100000"/>
              <a:buChar char="●"/>
            </a:pPr>
            <a:r>
              <a:rPr lang="en-US" sz="2200" dirty="0">
                <a:solidFill>
                  <a:srgbClr val="1B1B1F"/>
                </a:solidFill>
              </a:rPr>
              <a:t>  - Pos. 0: E + 1 = F · Pos. 1: L + 2 = N · Pos. 2: U + 1 = V · Pos. 3: E + 2 = G</a:t>
            </a:r>
            <a:endParaRPr lang="en-US" sz="2200" dirty="0"/>
          </a:p>
          <a:p>
            <a:pPr marL="279400" indent="-279400">
              <a:spcAft>
                <a:spcPts val="600"/>
              </a:spcAft>
              <a:buSzPct val="100000"/>
              <a:buChar char="●"/>
            </a:pPr>
            <a:r>
              <a:rPr lang="en-US" sz="2200" dirty="0">
                <a:solidFill>
                  <a:srgbClr val="1B1B1F"/>
                </a:solidFill>
              </a:rPr>
              <a:t>  - </a:t>
            </a:r>
            <a:r>
              <a:rPr lang="en-US" sz="2200" b="1" dirty="0">
                <a:solidFill>
                  <a:srgbClr val="1B1B1F"/>
                </a:solidFill>
              </a:rPr>
              <a:t>FNVG</a:t>
            </a:r>
            <a:r>
              <a:rPr lang="en-US" sz="2200" dirty="0">
                <a:solidFill>
                  <a:srgbClr val="1B1B1F"/>
                </a:solidFill>
              </a:rPr>
              <a:t> ✓ – Regeln verstanden</a:t>
            </a:r>
            <a:endParaRPr lang="en-US" sz="2200" dirty="0"/>
          </a:p>
        </p:txBody>
      </p:sp>
      <p:sp>
        <p:nvSpPr>
          <p:cNvPr id="4" name="Shape 2"/>
          <p:cNvSpPr/>
          <p:nvPr/>
        </p:nvSpPr>
        <p:spPr>
          <a:xfrm>
            <a:off x="5223053" y="1325880"/>
            <a:ext cx="2640787" cy="2491232"/>
          </a:xfrm>
          <a:prstGeom prst="roundRect">
            <a:avLst>
              <a:gd name="adj" fmla="val 2936"/>
            </a:avLst>
          </a:prstGeom>
          <a:solidFill>
            <a:srgbClr val="FDF3F2"/>
          </a:solidFill>
          <a:ln w="12700">
            <a:solidFill>
              <a:srgbClr val="B3261E"/>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DECKT AUF</a:t>
            </a:r>
            <a:endParaRPr lang="en-US" sz="1300" dirty="0"/>
          </a:p>
        </p:txBody>
      </p:sp>
      <p:sp>
        <p:nvSpPr>
          <p:cNvPr id="6" name="Text 4"/>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b="1" dirty="0">
                <a:solidFill>
                  <a:srgbClr val="1B1B1F"/>
                </a:solidFill>
              </a:rPr>
              <a:t>P1</a:t>
            </a:r>
            <a:r>
              <a:rPr lang="en-US" sz="2000" dirty="0">
                <a:solidFill>
                  <a:srgbClr val="1B1B1F"/>
                </a:solidFill>
              </a:rPr>
              <a:t> Zählbasis (Position 0 ist gerade!)</a:t>
            </a:r>
            <a:endParaRPr lang="en-US" sz="2000" dirty="0"/>
          </a:p>
        </p:txBody>
      </p:sp>
      <p:sp>
        <p:nvSpPr>
          <p:cNvPr id="7" name="Text 5"/>
          <p:cNvSpPr txBox="1"/>
          <p:nvPr/>
        </p:nvSpPr>
        <p:spPr>
          <a:xfrm>
            <a:off x="5451653" y="2886456"/>
            <a:ext cx="2183587" cy="665480"/>
          </a:xfrm>
          <a:prstGeom prst="rect">
            <a:avLst/>
          </a:prstGeom>
          <a:noFill/>
          <a:ln/>
        </p:spPr>
        <p:txBody>
          <a:bodyPr wrap="square" lIns="0" tIns="0" rIns="0" bIns="0" rtlCol="0" anchor="t"/>
          <a:lstStyle/>
          <a:p>
            <a:pPr algn="l" indent="0" marL="0">
              <a:buNone/>
            </a:pPr>
            <a:r>
              <a:rPr lang="en-US" sz="2000" b="1" dirty="0">
                <a:solidFill>
                  <a:srgbClr val="1B1B1F"/>
                </a:solidFill>
              </a:rPr>
              <a:t>P4</a:t>
            </a:r>
            <a:r>
              <a:rPr lang="en-US" sz="2000" dirty="0">
                <a:solidFill>
                  <a:srgbClr val="1B1B1F"/>
                </a:solidFill>
              </a:rPr>
              <a:t> übersehene Regeln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Schritt 2: Anwenden</a:t>
            </a:r>
            <a:endParaRPr lang="en-US" sz="3000" dirty="0"/>
          </a:p>
        </p:txBody>
      </p:sp>
      <p:sp>
        <p:nvSpPr>
          <p:cNvPr id="3" name="Text 1"/>
          <p:cNvSpPr txBox="1"/>
          <p:nvPr/>
        </p:nvSpPr>
        <p:spPr>
          <a:xfrm>
            <a:off x="548640" y="1325880"/>
            <a:ext cx="4308653" cy="1068324"/>
          </a:xfrm>
          <a:prstGeom prst="rect">
            <a:avLst/>
          </a:prstGeom>
          <a:noFill/>
          <a:ln/>
        </p:spPr>
        <p:txBody>
          <a:bodyPr wrap="square" lIns="0" tIns="0" rIns="0" bIns="0" rtlCol="0" anchor="t"/>
          <a:lstStyle/>
          <a:p>
            <a:pPr algn="l" indent="0" marL="0">
              <a:buNone/>
            </a:pPr>
            <a:r>
              <a:rPr lang="en-US" sz="2200" dirty="0">
                <a:solidFill>
                  <a:srgbClr val="1B1B1F"/>
                </a:solidFill>
              </a:rPr>
              <a:t>Klartext </a:t>
            </a:r>
            <a:r>
              <a:rPr lang="en-US" sz="2200" dirty="0">
                <a:solidFill>
                  <a:srgbClr val="1B1B1F"/>
                </a:solidFill>
                <a:latin typeface="Consolas" pitchFamily="34" charset="0"/>
                <a:ea typeface="Consolas" pitchFamily="34" charset="-122"/>
                <a:cs typeface="Consolas" pitchFamily="34" charset="-120"/>
              </a:rPr>
              <a:t>nachtfalter</a:t>
            </a:r>
            <a:r>
              <a:rPr lang="en-US" sz="2200" dirty="0">
                <a:solidFill>
                  <a:srgbClr val="1B1B1F"/>
                </a:solidFill>
              </a:rPr>
              <a:t> · Schlüssel (s, t) = (4, 11) · Nummerierung A = 1 … Z = 26</a:t>
            </a:r>
            <a:endParaRPr lang="en-US" sz="2200" dirty="0"/>
          </a:p>
        </p:txBody>
      </p:sp>
      <p:sp>
        <p:nvSpPr>
          <p:cNvPr id="4" name="Geheimtext-Kasten"/>
          <p:cNvSpPr/>
          <p:nvPr/>
        </p:nvSpPr>
        <p:spPr>
          <a:xfrm>
            <a:off x="548640" y="2522220"/>
            <a:ext cx="4308653" cy="642620"/>
          </a:xfrm>
          <a:prstGeom prst="rect">
            <a:avLst/>
          </a:prstGeom>
          <a:solidFill>
            <a:srgbClr val="F2EADB"/>
          </a:solidFill>
          <a:ln w="9525">
            <a:solidFill>
              <a:srgbClr val="D8CDB8"/>
            </a:solidFill>
            <a:prstDash val="solid"/>
          </a:ln>
        </p:spPr>
      </p:sp>
      <p:sp>
        <p:nvSpPr>
          <p:cNvPr id="5" name="Text 3"/>
          <p:cNvSpPr txBox="1"/>
          <p:nvPr/>
        </p:nvSpPr>
        <p:spPr>
          <a:xfrm>
            <a:off x="777240" y="2631948"/>
            <a:ext cx="3851453" cy="423164"/>
          </a:xfrm>
          <a:prstGeom prst="rect">
            <a:avLst/>
          </a:prstGeom>
          <a:noFill/>
          <a:ln/>
        </p:spPr>
        <p:txBody>
          <a:bodyPr wrap="square" lIns="0" tIns="0" rIns="0" bIns="0" rtlCol="0" anchor="t"/>
          <a:lstStyle/>
          <a:p>
            <a:pPr indent="0" marL="0">
              <a:lnSpc>
                <a:spcPct val="115000"/>
              </a:lnSpc>
              <a:buNone/>
            </a:pPr>
            <a:r>
              <a:rPr lang="en-US" sz="2000" b="1" spc="200" kern="0" dirty="0">
                <a:solidFill>
                  <a:srgbClr val="1B1B1F"/>
                </a:solidFill>
                <a:latin typeface="Consolas" pitchFamily="34" charset="0"/>
                <a:ea typeface="Consolas" pitchFamily="34" charset="-122"/>
                <a:cs typeface="Consolas" pitchFamily="34" charset="-120"/>
              </a:rPr>
              <a:t>LNEYP LJEBC IE</a:t>
            </a:r>
            <a:endParaRPr lang="en-US" sz="2000" dirty="0"/>
          </a:p>
        </p:txBody>
      </p:sp>
      <p:sp>
        <p:nvSpPr>
          <p:cNvPr id="6" name="Text 4"/>
          <p:cNvSpPr txBox="1"/>
          <p:nvPr/>
        </p:nvSpPr>
        <p:spPr>
          <a:xfrm>
            <a:off x="548640" y="3292856"/>
            <a:ext cx="4308653" cy="1068324"/>
          </a:xfrm>
          <a:prstGeom prst="rect">
            <a:avLst/>
          </a:prstGeom>
          <a:noFill/>
          <a:ln/>
        </p:spPr>
        <p:txBody>
          <a:bodyPr wrap="square" lIns="0" tIns="0" rIns="0" bIns="0" rtlCol="0" anchor="t"/>
          <a:lstStyle/>
          <a:p>
            <a:pPr algn="l" indent="0" marL="0">
              <a:buNone/>
            </a:pPr>
            <a:r>
              <a:rPr lang="en-US" sz="2200" dirty="0">
                <a:solidFill>
                  <a:srgbClr val="1B1B1F"/>
                </a:solidFill>
              </a:rPr>
              <a:t>Blöcke:     NACH TFAL TER+X,Stufe 1:    HCAN LAFT XRET,Schaukel:   +4 +11 +4 +11 …</a:t>
            </a:r>
            <a:endParaRPr lang="en-US" sz="2200" dirty="0"/>
          </a:p>
        </p:txBody>
      </p:sp>
      <p:sp>
        <p:nvSpPr>
          <p:cNvPr id="7" name="Geheimtext-Kasten"/>
          <p:cNvSpPr/>
          <p:nvPr/>
        </p:nvSpPr>
        <p:spPr>
          <a:xfrm>
            <a:off x="548640" y="4489196"/>
            <a:ext cx="4308653" cy="716280"/>
          </a:xfrm>
          <a:prstGeom prst="rect">
            <a:avLst/>
          </a:prstGeom>
          <a:solidFill>
            <a:srgbClr val="F2EADB"/>
          </a:solidFill>
          <a:ln w="9525">
            <a:solidFill>
              <a:srgbClr val="D8CDB8"/>
            </a:solidFill>
            <a:prstDash val="solid"/>
          </a:ln>
        </p:spPr>
      </p:sp>
      <p:sp>
        <p:nvSpPr>
          <p:cNvPr id="8" name="Text 6"/>
          <p:cNvSpPr txBox="1"/>
          <p:nvPr/>
        </p:nvSpPr>
        <p:spPr>
          <a:xfrm>
            <a:off x="777240" y="4598924"/>
            <a:ext cx="3851453" cy="496824"/>
          </a:xfrm>
          <a:prstGeom prst="rect">
            <a:avLst/>
          </a:prstGeom>
          <a:noFill/>
          <a:ln/>
        </p:spPr>
        <p:txBody>
          <a:bodyPr wrap="square" lIns="0" tIns="0" rIns="0" bIns="0" rtlCol="0" anchor="t"/>
          <a:lstStyle/>
          <a:p>
            <a:pPr indent="0" marL="0">
              <a:lnSpc>
                <a:spcPct val="115000"/>
              </a:lnSpc>
              <a:buNone/>
            </a:pPr>
            <a:r>
              <a:rPr lang="en-US" sz="2400" spc="200" kern="0" dirty="0">
                <a:solidFill>
                  <a:srgbClr val="4A4A55"/>
                </a:solidFill>
                <a:latin typeface="Consolas" pitchFamily="34" charset="0"/>
                <a:ea typeface="Consolas" pitchFamily="34" charset="-122"/>
                <a:cs typeface="Consolas" pitchFamily="34" charset="-120"/>
              </a:rPr>
              <a:t>nachtfalter</a:t>
            </a:r>
            <a:endParaRPr lang="en-US" sz="2400" dirty="0"/>
          </a:p>
        </p:txBody>
      </p:sp>
      <p:sp>
        <p:nvSpPr>
          <p:cNvPr id="9" name="Shape 7"/>
          <p:cNvSpPr/>
          <p:nvPr/>
        </p:nvSpPr>
        <p:spPr>
          <a:xfrm>
            <a:off x="5223053" y="1325880"/>
            <a:ext cx="2640787" cy="3148584"/>
          </a:xfrm>
          <a:prstGeom prst="roundRect">
            <a:avLst>
              <a:gd name="adj" fmla="val 2770"/>
            </a:avLst>
          </a:prstGeom>
          <a:solidFill>
            <a:srgbClr val="EEF3FA"/>
          </a:solidFill>
          <a:ln w="12700">
            <a:solidFill>
              <a:srgbClr val="1F4E8C"/>
            </a:solidFill>
            <a:prstDash val="solid"/>
          </a:ln>
        </p:spPr>
      </p:sp>
      <p:sp>
        <p:nvSpPr>
          <p:cNvPr id="10" name="Text 8"/>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F4E8C"/>
                </a:solidFill>
              </a:rPr>
              <a:t>RECHNEN</a:t>
            </a:r>
            <a:endParaRPr lang="en-US" sz="1300" dirty="0"/>
          </a:p>
        </p:txBody>
      </p:sp>
      <p:sp>
        <p:nvSpPr>
          <p:cNvPr id="11" name="Text 9"/>
          <p:cNvSpPr txBox="1"/>
          <p:nvPr/>
        </p:nvSpPr>
        <p:spPr>
          <a:xfrm>
            <a:off x="5451653" y="1783080"/>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H 8 + 4 = 12 → L</a:t>
            </a:r>
            <a:endParaRPr lang="en-US" sz="2000" dirty="0"/>
          </a:p>
        </p:txBody>
      </p:sp>
      <p:sp>
        <p:nvSpPr>
          <p:cNvPr id="12" name="Text 10"/>
          <p:cNvSpPr txBox="1"/>
          <p:nvPr/>
        </p:nvSpPr>
        <p:spPr>
          <a:xfrm>
            <a:off x="5451653" y="2266696"/>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C 3 + 11 = 14 → N</a:t>
            </a:r>
            <a:endParaRPr lang="en-US" sz="2000" dirty="0"/>
          </a:p>
        </p:txBody>
      </p:sp>
      <p:sp>
        <p:nvSpPr>
          <p:cNvPr id="13" name="Text 11"/>
          <p:cNvSpPr txBox="1"/>
          <p:nvPr/>
        </p:nvSpPr>
        <p:spPr>
          <a:xfrm>
            <a:off x="5451653" y="275031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T 20 + 11 = </a:t>
            </a:r>
            <a:r>
              <a:rPr lang="en-US" sz="2000" b="1" dirty="0">
                <a:solidFill>
                  <a:srgbClr val="1B1B1F"/>
                </a:solidFill>
              </a:rPr>
              <a:t>31</a:t>
            </a:r>
            <a:r>
              <a:rPr lang="en-US" sz="2000" dirty="0">
                <a:solidFill>
                  <a:srgbClr val="1B1B1F"/>
                </a:solidFill>
              </a:rPr>
              <a:t> → 31 − 26 = 5 → E</a:t>
            </a:r>
            <a:endParaRPr lang="en-US" sz="2000" dirty="0"/>
          </a:p>
        </p:txBody>
      </p:sp>
      <p:sp>
        <p:nvSpPr>
          <p:cNvPr id="14" name="Text 12"/>
          <p:cNvSpPr txBox="1"/>
          <p:nvPr/>
        </p:nvSpPr>
        <p:spPr>
          <a:xfrm>
            <a:off x="5451653" y="3543808"/>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X 24 + 4 = </a:t>
            </a:r>
            <a:r>
              <a:rPr lang="en-US" sz="2000" b="1" dirty="0">
                <a:solidFill>
                  <a:srgbClr val="1B1B1F"/>
                </a:solidFill>
              </a:rPr>
              <a:t>28</a:t>
            </a:r>
            <a:r>
              <a:rPr lang="en-US" sz="2000" dirty="0">
                <a:solidFill>
                  <a:srgbClr val="1B1B1F"/>
                </a:solidFill>
              </a:rPr>
              <a:t> → 2 → B</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Schritt 3: Umkehren – jetzt du!</a:t>
            </a:r>
            <a:endParaRPr lang="en-US" sz="3000" dirty="0"/>
          </a:p>
        </p:txBody>
      </p:sp>
      <p:sp>
        <p:nvSpPr>
          <p:cNvPr id="3" name="Text 1"/>
          <p:cNvSpPr txBox="1"/>
          <p:nvPr/>
        </p:nvSpPr>
        <p:spPr>
          <a:xfrm>
            <a:off x="548640" y="1325880"/>
            <a:ext cx="1463040" cy="384048"/>
          </a:xfrm>
          <a:prstGeom prst="rect">
            <a:avLst/>
          </a:prstGeom>
          <a:solidFill>
            <a:srgbClr val="8A5F1A"/>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 Video anhalten</a:t>
            </a:r>
            <a:endParaRPr lang="en-US" sz="1400" dirty="0"/>
          </a:p>
        </p:txBody>
      </p:sp>
      <p:sp>
        <p:nvSpPr>
          <p:cNvPr id="5" name="Text 3"/>
          <p:cNvSpPr txBox="1"/>
          <p:nvPr/>
        </p:nvSpPr>
        <p:spPr>
          <a:xfrm>
            <a:off x="4361688"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selbst probieren</a:t>
            </a:r>
            <a:endParaRPr lang="en-US" sz="1400" dirty="0"/>
          </a:p>
        </p:txBody>
      </p:sp>
      <p:sp>
        <p:nvSpPr>
          <p:cNvPr id="6" name="Text 4"/>
          <p:cNvSpPr txBox="1"/>
          <p:nvPr/>
        </p:nvSpPr>
        <p:spPr>
          <a:xfrm>
            <a:off x="548640" y="1965960"/>
            <a:ext cx="4308653" cy="1068324"/>
          </a:xfrm>
          <a:prstGeom prst="rect">
            <a:avLst/>
          </a:prstGeom>
          <a:noFill/>
          <a:ln/>
        </p:spPr>
        <p:txBody>
          <a:bodyPr wrap="square" lIns="0" tIns="0" rIns="0" bIns="0" rtlCol="0" anchor="t"/>
          <a:lstStyle/>
          <a:p>
            <a:pPr algn="l" indent="0" marL="0">
              <a:buNone/>
            </a:pPr>
            <a:r>
              <a:rPr lang="en-US" sz="2200" b="1" dirty="0">
                <a:solidFill>
                  <a:srgbClr val="1B1B1F"/>
                </a:solidFill>
              </a:rPr>
              <a:t>Bestimme</a:t>
            </a:r>
            <a:r>
              <a:rPr lang="en-US" sz="2200" dirty="0">
                <a:solidFill>
                  <a:srgbClr val="1B1B1F"/>
                </a:solidFill>
              </a:rPr>
              <a:t> den Klartext. Schlüssel (s, t) = </a:t>
            </a:r>
            <a:r>
              <a:rPr lang="en-US" sz="2200" b="1" dirty="0">
                <a:solidFill>
                  <a:srgbClr val="1B1B1F"/>
                </a:solidFill>
              </a:rPr>
              <a:t>(7, 2)</a:t>
            </a:r>
            <a:r>
              <a:rPr lang="en-US" sz="2200" dirty="0">
                <a:solidFill>
                  <a:srgbClr val="1B1B1F"/>
                </a:solidFill>
              </a:rPr>
              <a:t>. Nummerierung: A = 1 … Z = 26.</a:t>
            </a:r>
            <a:endParaRPr lang="en-US" sz="2200" dirty="0"/>
          </a:p>
        </p:txBody>
      </p:sp>
      <p:sp>
        <p:nvSpPr>
          <p:cNvPr id="7" name="Geheimtext-Kasten"/>
          <p:cNvSpPr/>
          <p:nvPr/>
        </p:nvSpPr>
        <p:spPr>
          <a:xfrm>
            <a:off x="548640" y="3162300"/>
            <a:ext cx="4308653" cy="716280"/>
          </a:xfrm>
          <a:prstGeom prst="rect">
            <a:avLst/>
          </a:prstGeom>
          <a:solidFill>
            <a:srgbClr val="F2EADB"/>
          </a:solidFill>
          <a:ln w="9525">
            <a:solidFill>
              <a:srgbClr val="D8CDB8"/>
            </a:solidFill>
            <a:prstDash val="solid"/>
          </a:ln>
        </p:spPr>
      </p:sp>
      <p:sp>
        <p:nvSpPr>
          <p:cNvPr id="8" name="Text 6"/>
          <p:cNvSpPr txBox="1"/>
          <p:nvPr/>
        </p:nvSpPr>
        <p:spPr>
          <a:xfrm>
            <a:off x="777240" y="3272028"/>
            <a:ext cx="3851453" cy="496824"/>
          </a:xfrm>
          <a:prstGeom prst="rect">
            <a:avLst/>
          </a:prstGeom>
          <a:noFill/>
          <a:ln/>
        </p:spPr>
        <p:txBody>
          <a:bodyPr wrap="square" lIns="0" tIns="0" rIns="0" bIns="0" rtlCol="0" anchor="t"/>
          <a:lstStyle/>
          <a:p>
            <a:pPr indent="0" marL="0">
              <a:lnSpc>
                <a:spcPct val="115000"/>
              </a:lnSpc>
              <a:buNone/>
            </a:pPr>
            <a:r>
              <a:rPr lang="en-US" sz="2400" b="1" spc="200" kern="0" dirty="0">
                <a:solidFill>
                  <a:srgbClr val="1B1B1F"/>
                </a:solidFill>
                <a:latin typeface="Consolas" pitchFamily="34" charset="0"/>
                <a:ea typeface="Consolas" pitchFamily="34" charset="-122"/>
                <a:cs typeface="Consolas" pitchFamily="34" charset="-120"/>
              </a:rPr>
              <a:t>YGAUY CDPEZ LV</a:t>
            </a:r>
            <a:endParaRPr lang="en-US" sz="2400" dirty="0"/>
          </a:p>
        </p:txBody>
      </p:sp>
      <p:sp>
        <p:nvSpPr>
          <p:cNvPr id="9" name="Shape 7"/>
          <p:cNvSpPr/>
          <p:nvPr/>
        </p:nvSpPr>
        <p:spPr>
          <a:xfrm>
            <a:off x="5223053" y="1965960"/>
            <a:ext cx="2640787" cy="2974848"/>
          </a:xfrm>
          <a:prstGeom prst="roundRect">
            <a:avLst>
              <a:gd name="adj" fmla="val 2770"/>
            </a:avLst>
          </a:prstGeom>
          <a:solidFill>
            <a:srgbClr val="FBF3E2"/>
          </a:solidFill>
          <a:ln w="12700">
            <a:solidFill>
              <a:srgbClr val="8A5F1A"/>
            </a:solidFill>
            <a:prstDash val="solid"/>
          </a:ln>
        </p:spPr>
      </p:sp>
      <p:sp>
        <p:nvSpPr>
          <p:cNvPr id="10" name="Text 8"/>
          <p:cNvSpPr txBox="1"/>
          <p:nvPr/>
        </p:nvSpPr>
        <p:spPr>
          <a:xfrm>
            <a:off x="5451653" y="207568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TIPP</a:t>
            </a:r>
            <a:endParaRPr lang="en-US" sz="1300" dirty="0"/>
          </a:p>
        </p:txBody>
      </p:sp>
      <p:sp>
        <p:nvSpPr>
          <p:cNvPr id="11" name="Text 9"/>
          <p:cNvSpPr txBox="1"/>
          <p:nvPr/>
        </p:nvSpPr>
        <p:spPr>
          <a:xfrm>
            <a:off x="5451653" y="242316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Stufen in </a:t>
            </a:r>
            <a:r>
              <a:rPr lang="en-US" sz="2000" b="1" dirty="0">
                <a:solidFill>
                  <a:srgbClr val="1B1B1F"/>
                </a:solidFill>
              </a:rPr>
              <a:t>umgekehrter</a:t>
            </a:r>
            <a:r>
              <a:rPr lang="en-US" sz="2000" dirty="0">
                <a:solidFill>
                  <a:srgbClr val="1B1B1F"/>
                </a:solidFill>
              </a:rPr>
              <a:t> Reihenfolge</a:t>
            </a:r>
            <a:endParaRPr lang="en-US" sz="2000" dirty="0"/>
          </a:p>
        </p:txBody>
      </p:sp>
      <p:sp>
        <p:nvSpPr>
          <p:cNvPr id="12" name="Text 10"/>
          <p:cNvSpPr txBox="1"/>
          <p:nvPr/>
        </p:nvSpPr>
        <p:spPr>
          <a:xfrm>
            <a:off x="5451653" y="321665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jede Stufe umkehren: − s, − t</a:t>
            </a:r>
            <a:endParaRPr lang="en-US" sz="2000" dirty="0"/>
          </a:p>
        </p:txBody>
      </p:sp>
      <p:sp>
        <p:nvSpPr>
          <p:cNvPr id="13" name="Text 11"/>
          <p:cNvSpPr txBox="1"/>
          <p:nvPr/>
        </p:nvSpPr>
        <p:spPr>
          <a:xfrm>
            <a:off x="5451653" y="401015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Ergebnis ≤ 0? Dann + 26</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Auflösung: erst Schaukel zurück, dann Blockwende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638544" cy="914400"/>
        </p:xfrm>
        <a:graphic>
          <a:graphicData uri="http://schemas.openxmlformats.org/drawingml/2006/table">
            <a:tbl>
              <a:tblPr/>
              <a:tblGrid>
                <a:gridCol w="1371600"/>
                <a:gridCol w="438912"/>
                <a:gridCol w="438912"/>
                <a:gridCol w="438912"/>
                <a:gridCol w="438912"/>
                <a:gridCol w="438912"/>
                <a:gridCol w="438912"/>
                <a:gridCol w="438912"/>
                <a:gridCol w="438912"/>
                <a:gridCol w="438912"/>
                <a:gridCol w="438912"/>
                <a:gridCol w="438912"/>
                <a:gridCol w="438912"/>
              </a:tblGrid>
              <a:tr h="0">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Pos.</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Geheimtext</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Y</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G</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U</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Y</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D</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P</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E</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Z</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L</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V</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− 7 / − 2</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E</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T</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S</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W</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X</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X</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E</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T</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332482"/>
            <a:ext cx="7315200" cy="386588"/>
          </a:xfrm>
          <a:prstGeom prst="rect">
            <a:avLst/>
          </a:prstGeom>
          <a:noFill/>
          <a:ln/>
        </p:spPr>
        <p:txBody>
          <a:bodyPr wrap="square" lIns="0" tIns="0" rIns="0" bIns="0" rtlCol="0" anchor="t"/>
          <a:lstStyle/>
          <a:p>
            <a:pPr algn="l" indent="0" marL="0">
              <a:buNone/>
            </a:pPr>
            <a:r>
              <a:rPr lang="en-US" sz="2200" dirty="0">
                <a:solidFill>
                  <a:srgbClr val="1B1B1F"/>
                </a:solidFill>
              </a:rPr>
              <a:t>A 1 − 7 = </a:t>
            </a:r>
            <a:r>
              <a:rPr lang="en-US" sz="2200" b="1" dirty="0">
                <a:solidFill>
                  <a:srgbClr val="1B1B1F"/>
                </a:solidFill>
              </a:rPr>
              <a:t>−6</a:t>
            </a:r>
            <a:r>
              <a:rPr lang="en-US" sz="2200" dirty="0">
                <a:solidFill>
                  <a:srgbClr val="1B1B1F"/>
                </a:solidFill>
              </a:rPr>
              <a:t> → + 26 = 20 → T · D 4 − 7 = −3 → 23 → W</a:t>
            </a:r>
            <a:endParaRPr lang="en-US" sz="2200" dirty="0"/>
          </a:p>
        </p:txBody>
      </p:sp>
      <p:sp>
        <p:nvSpPr>
          <p:cNvPr id="5" name="Text 2"/>
          <p:cNvSpPr txBox="1"/>
          <p:nvPr/>
        </p:nvSpPr>
        <p:spPr>
          <a:xfrm>
            <a:off x="548640" y="2847086"/>
            <a:ext cx="7315200" cy="386588"/>
          </a:xfrm>
          <a:prstGeom prst="rect">
            <a:avLst/>
          </a:prstGeom>
          <a:noFill/>
          <a:ln/>
        </p:spPr>
        <p:txBody>
          <a:bodyPr wrap="square" lIns="0" tIns="0" rIns="0" bIns="0" rtlCol="0" anchor="t"/>
          <a:lstStyle/>
          <a:p>
            <a:pPr algn="l" indent="0" marL="0">
              <a:buNone/>
            </a:pPr>
            <a:r>
              <a:rPr lang="en-US" sz="2200" dirty="0">
                <a:solidFill>
                  <a:srgbClr val="1B1B1F"/>
                </a:solidFill>
              </a:rPr>
              <a:t>RETS RAWN XXET → Blockwende → STER NWAR TEXX</a:t>
            </a:r>
            <a:endParaRPr lang="en-US" sz="2200" dirty="0"/>
          </a:p>
        </p:txBody>
      </p:sp>
      <p:sp>
        <p:nvSpPr>
          <p:cNvPr id="6" name="Text 3"/>
          <p:cNvSpPr txBox="1"/>
          <p:nvPr/>
        </p:nvSpPr>
        <p:spPr>
          <a:xfrm>
            <a:off x="548640" y="3361690"/>
            <a:ext cx="7315200" cy="386588"/>
          </a:xfrm>
          <a:prstGeom prst="rect">
            <a:avLst/>
          </a:prstGeom>
          <a:noFill/>
          <a:ln/>
        </p:spPr>
        <p:txBody>
          <a:bodyPr wrap="square" lIns="0" tIns="0" rIns="0" bIns="0" rtlCol="0" anchor="t"/>
          <a:lstStyle/>
          <a:p>
            <a:pPr algn="l" indent="0" marL="0">
              <a:buNone/>
            </a:pPr>
            <a:r>
              <a:rPr lang="en-US" sz="2200" dirty="0">
                <a:solidFill>
                  <a:srgbClr val="1B1B1F"/>
                </a:solidFill>
              </a:rPr>
              <a:t>Klartext: </a:t>
            </a:r>
            <a:r>
              <a:rPr lang="en-US" sz="2200" b="1" dirty="0">
                <a:solidFill>
                  <a:srgbClr val="1B1B1F"/>
                </a:solidFill>
              </a:rPr>
              <a:t>sternwarte</a:t>
            </a:r>
            <a:r>
              <a:rPr lang="en-US" sz="2200" dirty="0">
                <a:solidFill>
                  <a:srgbClr val="1B1B1F"/>
                </a:solidFill>
              </a:rPr>
              <a:t> (XX = Füllzeichen)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P3 · Umkehrung falsch</a:t>
            </a:r>
            <a:endParaRPr lang="en-US" sz="3000" dirty="0"/>
          </a:p>
        </p:txBody>
      </p:sp>
      <p:sp>
        <p:nvSpPr>
          <p:cNvPr id="3" name="Text 1"/>
          <p:cNvSpPr txBox="1"/>
          <p:nvPr/>
        </p:nvSpPr>
        <p:spPr>
          <a:xfrm>
            <a:off x="548640" y="1325880"/>
            <a:ext cx="11094415" cy="432308"/>
          </a:xfrm>
          <a:prstGeom prst="rect">
            <a:avLst/>
          </a:prstGeom>
          <a:noFill/>
          <a:ln/>
        </p:spPr>
        <p:txBody>
          <a:bodyPr wrap="square" lIns="0" tIns="0" rIns="0" bIns="0" rtlCol="0" anchor="t"/>
          <a:lstStyle/>
          <a:p>
            <a:pPr indent="0" marL="0">
              <a:buNone/>
            </a:pPr>
            <a:r>
              <a:rPr lang="en-US" sz="2200" dirty="0">
                <a:solidFill>
                  <a:srgbClr val="1B1B1F"/>
                </a:solidFill>
              </a:rPr>
              <a:t>Entschlüsseln = jeden Schritt invertieren, letzte Stufe zuerst.</a:t>
            </a:r>
            <a:endParaRPr lang="en-US" sz="2200" dirty="0"/>
          </a:p>
        </p:txBody>
      </p:sp>
      <p:sp>
        <p:nvSpPr>
          <p:cNvPr id="4" name="Shape 2"/>
          <p:cNvSpPr/>
          <p:nvPr/>
        </p:nvSpPr>
        <p:spPr>
          <a:xfrm>
            <a:off x="548640" y="1941068"/>
            <a:ext cx="5364328" cy="2625344"/>
          </a:xfrm>
          <a:prstGeom prst="roundRect">
            <a:avLst>
              <a:gd name="adj" fmla="val 2786"/>
            </a:avLst>
          </a:prstGeom>
          <a:solidFill>
            <a:srgbClr val="FDF3F2"/>
          </a:solidFill>
          <a:ln w="15875">
            <a:solidFill>
              <a:srgbClr val="B3261E"/>
            </a:solidFill>
            <a:prstDash val="solid"/>
          </a:ln>
        </p:spPr>
      </p:sp>
      <p:sp>
        <p:nvSpPr>
          <p:cNvPr id="5" name="Text 3"/>
          <p:cNvSpPr txBox="1"/>
          <p:nvPr/>
        </p:nvSpPr>
        <p:spPr>
          <a:xfrm>
            <a:off x="822960" y="2123948"/>
            <a:ext cx="4815688"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626868"/>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erst Blockwende zurück, dann − 7 / − 2</a:t>
            </a:r>
            <a:endParaRPr lang="en-US" sz="2200" dirty="0"/>
          </a:p>
        </p:txBody>
      </p:sp>
      <p:sp>
        <p:nvSpPr>
          <p:cNvPr id="7" name="Text 5"/>
          <p:cNvSpPr txBox="1"/>
          <p:nvPr/>
        </p:nvSpPr>
        <p:spPr>
          <a:xfrm>
            <a:off x="822960" y="3482340"/>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YGAUY CDPEZ LV → </a:t>
            </a:r>
            <a:r>
              <a:rPr lang="en-US" sz="2200" b="1" dirty="0">
                <a:solidFill>
                  <a:srgbClr val="1B1B1F"/>
                </a:solidFill>
              </a:rPr>
              <a:t>NYZWI BVWOJ SC</a:t>
            </a:r>
            <a:r>
              <a:rPr lang="en-US" sz="2200" dirty="0">
                <a:solidFill>
                  <a:srgbClr val="1B1B1F"/>
                </a:solidFill>
              </a:rPr>
              <a:t> – Unsinn</a:t>
            </a:r>
            <a:endParaRPr lang="en-US" sz="2200" dirty="0"/>
          </a:p>
        </p:txBody>
      </p:sp>
      <p:sp>
        <p:nvSpPr>
          <p:cNvPr id="8" name="Shape 6"/>
          <p:cNvSpPr/>
          <p:nvPr/>
        </p:nvSpPr>
        <p:spPr>
          <a:xfrm>
            <a:off x="6278728" y="1941068"/>
            <a:ext cx="5364328" cy="2966212"/>
          </a:xfrm>
          <a:prstGeom prst="roundRect">
            <a:avLst>
              <a:gd name="adj" fmla="val 2466"/>
            </a:avLst>
          </a:prstGeom>
          <a:solidFill>
            <a:srgbClr val="EEF6EE"/>
          </a:solidFill>
          <a:ln w="15875">
            <a:solidFill>
              <a:srgbClr val="2E7D32"/>
            </a:solidFill>
            <a:prstDash val="solid"/>
          </a:ln>
        </p:spPr>
      </p:sp>
      <p:sp>
        <p:nvSpPr>
          <p:cNvPr id="9" name="Text 7"/>
          <p:cNvSpPr txBox="1"/>
          <p:nvPr/>
        </p:nvSpPr>
        <p:spPr>
          <a:xfrm>
            <a:off x="6553048" y="2123948"/>
            <a:ext cx="4815688"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10" name="Text 8"/>
          <p:cNvSpPr txBox="1"/>
          <p:nvPr/>
        </p:nvSpPr>
        <p:spPr>
          <a:xfrm>
            <a:off x="6553048" y="2626868"/>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Stufen in </a:t>
            </a:r>
            <a:r>
              <a:rPr lang="en-US" sz="2200" b="1" dirty="0">
                <a:solidFill>
                  <a:srgbClr val="1B1B1F"/>
                </a:solidFill>
              </a:rPr>
              <a:t>umgekehrter Reihenfolge</a:t>
            </a:r>
            <a:r>
              <a:rPr lang="en-US" sz="2200" dirty="0">
                <a:solidFill>
                  <a:srgbClr val="1B1B1F"/>
                </a:solidFill>
              </a:rPr>
              <a:t> zurückrechnen</a:t>
            </a:r>
            <a:endParaRPr lang="en-US" sz="2200" dirty="0"/>
          </a:p>
        </p:txBody>
      </p:sp>
      <p:sp>
        <p:nvSpPr>
          <p:cNvPr id="11" name="Text 9"/>
          <p:cNvSpPr txBox="1"/>
          <p:nvPr/>
        </p:nvSpPr>
        <p:spPr>
          <a:xfrm>
            <a:off x="6553048" y="3482340"/>
            <a:ext cx="4815688" cy="1068324"/>
          </a:xfrm>
          <a:prstGeom prst="rect">
            <a:avLst/>
          </a:prstGeom>
          <a:noFill/>
          <a:ln/>
        </p:spPr>
        <p:txBody>
          <a:bodyPr wrap="square" lIns="0" tIns="0" rIns="0" bIns="0" rtlCol="0" anchor="t"/>
          <a:lstStyle/>
          <a:p>
            <a:pPr algn="l" indent="0" marL="0">
              <a:buNone/>
            </a:pPr>
            <a:r>
              <a:rPr lang="en-US" sz="2200" dirty="0">
                <a:solidFill>
                  <a:srgbClr val="1B1B1F"/>
                </a:solidFill>
              </a:rPr>
              <a:t>Grund hier: die Blockwende macht aus geraden Positionen ungerade (0 ↔ 3, 1 ↔ 2)</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Schritt 4: Einordnen</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1586429"/>
                <a:gridCol w="2203373"/>
                <a:gridCol w="3525398"/>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Stufe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Einordnung</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Begründung</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1 Blockwende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Transposition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Buchstaben bleiben, nur ihre Positionen ändern sich; ohne Schlüssel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2 Schaukel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polyalphabetische Substitution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 wird an Pos. 2 zu E, an Pos. 5 zu L – je nach Position anders</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Sonderfall s = 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monoalphabetisch</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jede Position gleich verschoben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gesamt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symmetrisch</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derselbe Schlüssel (s, t) ver- und entschlüsselt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390136"/>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Stufe 2 = </a:t>
            </a:r>
            <a:r>
              <a:rPr lang="en-US" sz="2200" b="1" dirty="0">
                <a:solidFill>
                  <a:srgbClr val="1B1B1F"/>
                </a:solidFill>
              </a:rPr>
              <a:t>Vigenère mit Schlüsselwort EL</a:t>
            </a:r>
            <a:r>
              <a:rPr lang="en-US" sz="2200" dirty="0">
                <a:solidFill>
                  <a:srgbClr val="1B1B1F"/>
                </a:solidFill>
              </a:rPr>
              <a:t> (A = Verschiebung 0)</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Schritt 5: Beurteilen mit dem Raster (WK3)</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2291508"/>
                <a:gridCol w="5023692"/>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Kriterium</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Befund bei der Schaukel-Chiffre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Schlüsselraum / Brute Force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26 · 26 = </a:t>
                      </a:r>
                      <a:r>
                        <a:rPr lang="en-US" sz="1600" b="1" dirty="0">
                          <a:solidFill>
                            <a:srgbClr val="1B1B1F"/>
                          </a:solidFill>
                          <a:latin typeface="Calibri" pitchFamily="34" charset="0"/>
                          <a:ea typeface="Calibri" pitchFamily="34" charset="-122"/>
                          <a:cs typeface="Calibri" pitchFamily="34" charset="-120"/>
                        </a:rPr>
                        <a:t>676</a:t>
                      </a:r>
                      <a:r>
                        <a:rPr lang="en-US" sz="1600" dirty="0">
                          <a:solidFill>
                            <a:srgbClr val="1B1B1F"/>
                          </a:solidFill>
                          <a:latin typeface="Calibri" pitchFamily="34" charset="0"/>
                          <a:ea typeface="Calibri" pitchFamily="34" charset="-122"/>
                          <a:cs typeface="Calibri" pitchFamily="34" charset="-120"/>
                        </a:rPr>
                        <a:t> Schlüssel – schnell durchprobiert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Häufigkeitsanalyse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2 Teiltexte (gerade/ungerade Pos.), je eine Verschiebung; Stufe 1 ändert keine Häufigkeiten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schwache Schlüssel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 = t (26 Stück) → mono; (0, 0) → nur Blockwende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Mehrfachanwendung</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zweimal mit (s, t) = </a:t>
                      </a:r>
                      <a:r>
                        <a:rPr lang="en-US" sz="1600" b="1" dirty="0">
                          <a:solidFill>
                            <a:srgbClr val="1B1B1F"/>
                          </a:solidFill>
                          <a:latin typeface="Calibri" pitchFamily="34" charset="0"/>
                          <a:ea typeface="Calibri" pitchFamily="34" charset="-122"/>
                          <a:cs typeface="Calibri" pitchFamily="34" charset="-120"/>
                        </a:rPr>
                        <a:t>Caesar mit s + t</a:t>
                      </a:r>
                      <a:r>
                        <a:rPr lang="en-US" sz="1600" dirty="0">
                          <a:solidFill>
                            <a:srgbClr val="1B1B1F"/>
                          </a:solidFill>
                          <a:latin typeface="Calibri" pitchFamily="34" charset="0"/>
                          <a:ea typeface="Calibri" pitchFamily="34" charset="-122"/>
                          <a:cs typeface="Calibri" pitchFamily="34" charset="-120"/>
                        </a:rPr>
                        <a:t> – schwächer!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Known-Plaintext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„nach…“ bekannt → H → L: s = 4, C → N: t = 11</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Fehlerfortpflanzung</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1 falsches Zeichen → 1 falsches; 1 verlorenes → Rest falsch</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Kerckhoffs</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Stufe 1 ohne Schlüssel → bringt </a:t>
                      </a:r>
                      <a:r>
                        <a:rPr lang="en-US" sz="1600" b="1" dirty="0">
                          <a:solidFill>
                            <a:srgbClr val="1B1B1F"/>
                          </a:solidFill>
                          <a:latin typeface="Calibri" pitchFamily="34" charset="0"/>
                          <a:ea typeface="Calibri" pitchFamily="34" charset="-122"/>
                          <a:cs typeface="Calibri" pitchFamily="34" charset="-120"/>
                        </a:rPr>
                        <a:t>keine</a:t>
                      </a:r>
                      <a:r>
                        <a:rPr lang="en-US" sz="1600" dirty="0">
                          <a:solidFill>
                            <a:srgbClr val="1B1B1F"/>
                          </a:solidFill>
                          <a:latin typeface="Calibri" pitchFamily="34" charset="0"/>
                          <a:ea typeface="Calibri" pitchFamily="34" charset="-122"/>
                          <a:cs typeface="Calibri" pitchFamily="34" charset="-120"/>
                        </a:rPr>
                        <a:t> Sicherheit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P8 · Kombination überschätzt</a:t>
            </a:r>
            <a:endParaRPr lang="en-US" sz="3000" dirty="0"/>
          </a:p>
        </p:txBody>
      </p:sp>
      <p:sp>
        <p:nvSpPr>
          <p:cNvPr id="3" name="Text 1"/>
          <p:cNvSpPr txBox="1"/>
          <p:nvPr/>
        </p:nvSpPr>
        <p:spPr>
          <a:xfrm>
            <a:off x="548640" y="1325880"/>
            <a:ext cx="11094415" cy="773176"/>
          </a:xfrm>
          <a:prstGeom prst="rect">
            <a:avLst/>
          </a:prstGeom>
          <a:noFill/>
          <a:ln/>
        </p:spPr>
        <p:txBody>
          <a:bodyPr wrap="square" lIns="0" tIns="0" rIns="0" bIns="0" rtlCol="0" anchor="t"/>
          <a:lstStyle/>
          <a:p>
            <a:pPr indent="0" marL="0">
              <a:buNone/>
            </a:pPr>
            <a:r>
              <a:rPr lang="en-US" sz="2200" dirty="0">
                <a:solidFill>
                  <a:srgbClr val="1B1B1F"/>
                </a:solidFill>
              </a:rPr>
              <a:t>Kombination erst nachrechnen, dann bewerten – oft entsteht nur ein anderer Schlüssel desselben Verfahrens oder etwas Schwächeres.</a:t>
            </a:r>
            <a:endParaRPr lang="en-US" sz="2200" dirty="0"/>
          </a:p>
        </p:txBody>
      </p:sp>
      <p:sp>
        <p:nvSpPr>
          <p:cNvPr id="4" name="Shape 2"/>
          <p:cNvSpPr/>
          <p:nvPr/>
        </p:nvSpPr>
        <p:spPr>
          <a:xfrm>
            <a:off x="548640" y="2281936"/>
            <a:ext cx="5364328" cy="1769872"/>
          </a:xfrm>
          <a:prstGeom prst="roundRect">
            <a:avLst>
              <a:gd name="adj" fmla="val 4133"/>
            </a:avLst>
          </a:prstGeom>
          <a:solidFill>
            <a:srgbClr val="FDF3F2"/>
          </a:solidFill>
          <a:ln w="15875">
            <a:solidFill>
              <a:srgbClr val="B3261E"/>
            </a:solidFill>
            <a:prstDash val="solid"/>
          </a:ln>
        </p:spPr>
      </p:sp>
      <p:sp>
        <p:nvSpPr>
          <p:cNvPr id="5" name="Text 3"/>
          <p:cNvSpPr txBox="1"/>
          <p:nvPr/>
        </p:nvSpPr>
        <p:spPr>
          <a:xfrm>
            <a:off x="822960" y="2464816"/>
            <a:ext cx="4815688"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967736"/>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„Zweimal verschlüsseln mit (4, 11) ist doppelt so sicher.“</a:t>
            </a:r>
            <a:endParaRPr lang="en-US" sz="2200" dirty="0"/>
          </a:p>
        </p:txBody>
      </p:sp>
      <p:sp>
        <p:nvSpPr>
          <p:cNvPr id="7" name="Shape 5"/>
          <p:cNvSpPr/>
          <p:nvPr/>
        </p:nvSpPr>
        <p:spPr>
          <a:xfrm>
            <a:off x="6278728" y="2281936"/>
            <a:ext cx="5364328" cy="3821684"/>
          </a:xfrm>
          <a:prstGeom prst="roundRect">
            <a:avLst>
              <a:gd name="adj" fmla="val 1914"/>
            </a:avLst>
          </a:prstGeom>
          <a:solidFill>
            <a:srgbClr val="EEF6EE"/>
          </a:solidFill>
          <a:ln w="15875">
            <a:solidFill>
              <a:srgbClr val="2E7D32"/>
            </a:solidFill>
            <a:prstDash val="solid"/>
          </a:ln>
        </p:spPr>
      </p:sp>
      <p:sp>
        <p:nvSpPr>
          <p:cNvPr id="8" name="Text 6"/>
          <p:cNvSpPr txBox="1"/>
          <p:nvPr/>
        </p:nvSpPr>
        <p:spPr>
          <a:xfrm>
            <a:off x="6553048" y="2464816"/>
            <a:ext cx="4815688"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9" name="Text 7"/>
          <p:cNvSpPr txBox="1"/>
          <p:nvPr/>
        </p:nvSpPr>
        <p:spPr>
          <a:xfrm>
            <a:off x="6553048" y="2967736"/>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nachtfalter zweimal mit (4, 11) → </a:t>
            </a:r>
            <a:r>
              <a:rPr lang="en-US" sz="2200" b="1" dirty="0">
                <a:solidFill>
                  <a:srgbClr val="1B1B1F"/>
                </a:solidFill>
              </a:rPr>
              <a:t>CPRWI UPAIT GM</a:t>
            </a:r>
            <a:endParaRPr lang="en-US" sz="2200" dirty="0"/>
          </a:p>
        </p:txBody>
      </p:sp>
      <p:sp>
        <p:nvSpPr>
          <p:cNvPr id="10" name="Text 8"/>
          <p:cNvSpPr txBox="1"/>
          <p:nvPr/>
        </p:nvSpPr>
        <p:spPr>
          <a:xfrm>
            <a:off x="6553048" y="3823208"/>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 NACHTFALTERX mit </a:t>
            </a:r>
            <a:r>
              <a:rPr lang="en-US" sz="2200" b="1" dirty="0">
                <a:solidFill>
                  <a:srgbClr val="1B1B1F"/>
                </a:solidFill>
              </a:rPr>
              <a:t>Caesar 15</a:t>
            </a:r>
            <a:r>
              <a:rPr lang="en-US" sz="2200" dirty="0">
                <a:solidFill>
                  <a:srgbClr val="1B1B1F"/>
                </a:solidFill>
              </a:rPr>
              <a:t> verschoben</a:t>
            </a:r>
            <a:endParaRPr lang="en-US" sz="2200" dirty="0"/>
          </a:p>
        </p:txBody>
      </p:sp>
      <p:sp>
        <p:nvSpPr>
          <p:cNvPr id="11" name="Text 9"/>
          <p:cNvSpPr txBox="1"/>
          <p:nvPr/>
        </p:nvSpPr>
        <p:spPr>
          <a:xfrm>
            <a:off x="6553048" y="4678680"/>
            <a:ext cx="4815688" cy="1068324"/>
          </a:xfrm>
          <a:prstGeom prst="rect">
            <a:avLst/>
          </a:prstGeom>
          <a:noFill/>
          <a:ln/>
        </p:spPr>
        <p:txBody>
          <a:bodyPr wrap="square" lIns="0" tIns="0" rIns="0" bIns="0" rtlCol="0" anchor="t"/>
          <a:lstStyle/>
          <a:p>
            <a:pPr algn="l" indent="0" marL="0">
              <a:buNone/>
            </a:pPr>
            <a:r>
              <a:rPr lang="en-US" sz="2200" dirty="0">
                <a:solidFill>
                  <a:srgbClr val="1B1B1F"/>
                </a:solidFill>
              </a:rPr>
              <a:t>Blockwende zweimal = keine Wirkung; s und t landen abwechselnd auf jeder Position → s + 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Urteil formulieren</a:t>
            </a:r>
            <a:endParaRPr lang="en-US" sz="3000" dirty="0"/>
          </a:p>
        </p:txBody>
      </p:sp>
      <p:sp>
        <p:nvSpPr>
          <p:cNvPr id="3" name="Text 1"/>
          <p:cNvSpPr txBox="1"/>
          <p:nvPr/>
        </p:nvSpPr>
        <p:spPr>
          <a:xfrm>
            <a:off x="548640" y="1325880"/>
            <a:ext cx="7315200" cy="3783584"/>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a:t>
            </a:r>
            <a:r>
              <a:rPr lang="en-US" sz="2200" b="1" dirty="0">
                <a:solidFill>
                  <a:srgbClr val="1B1B1F"/>
                </a:solidFill>
              </a:rPr>
              <a:t>Beurteilen Sie</a:t>
            </a:r>
            <a:r>
              <a:rPr lang="en-US" sz="2200" dirty="0">
                <a:solidFill>
                  <a:srgbClr val="1B1B1F"/>
                </a:solidFill>
              </a:rPr>
              <a:t> die Sicherheit der Schaukel-Chiffre.“</a:t>
            </a:r>
            <a:endParaRPr lang="en-US" sz="2200" dirty="0"/>
          </a:p>
          <a:p>
            <a:pPr marL="279400" indent="-279400">
              <a:spcAft>
                <a:spcPts val="600"/>
              </a:spcAft>
              <a:buSzPct val="100000"/>
              <a:buChar char="●"/>
            </a:pPr>
            <a:r>
              <a:rPr lang="en-US" sz="2200" b="1" dirty="0">
                <a:solidFill>
                  <a:srgbClr val="1B1B1F"/>
                </a:solidFill>
              </a:rPr>
              <a:t>Kriterium</a:t>
            </a:r>
            <a:r>
              <a:rPr lang="en-US" sz="2200" dirty="0">
                <a:solidFill>
                  <a:srgbClr val="1B1B1F"/>
                </a:solidFill>
              </a:rPr>
              <a:t>: Ein sicheres Verfahren widersteht Brute Force und Häufigkeitsanalyse.</a:t>
            </a:r>
            <a:endParaRPr lang="en-US" sz="2200" dirty="0"/>
          </a:p>
          <a:p>
            <a:pPr marL="279400" indent="-279400">
              <a:spcAft>
                <a:spcPts val="600"/>
              </a:spcAft>
              <a:buSzPct val="100000"/>
              <a:buChar char="●"/>
            </a:pPr>
            <a:r>
              <a:rPr lang="en-US" sz="2200" b="1" dirty="0">
                <a:solidFill>
                  <a:srgbClr val="1B1B1F"/>
                </a:solidFill>
              </a:rPr>
              <a:t>Begründung</a:t>
            </a:r>
            <a:r>
              <a:rPr lang="en-US" sz="2200" dirty="0">
                <a:solidFill>
                  <a:srgbClr val="1B1B1F"/>
                </a:solidFill>
              </a:rPr>
              <a:t>: Nur 676 Schlüssel – Brute Force gelingt. Zerlegt man den Geheimtext in die Teiltexte der geraden und ungeraden Positionen, ist jeder nur verschoben; die Blockwende ist ohne Schlüssel und nach Kerckhoffs bekannt.</a:t>
            </a:r>
            <a:endParaRPr lang="en-US" sz="2200" dirty="0"/>
          </a:p>
          <a:p>
            <a:pPr marL="279400" indent="-279400">
              <a:spcAft>
                <a:spcPts val="600"/>
              </a:spcAft>
              <a:buSzPct val="100000"/>
              <a:buChar char="●"/>
            </a:pPr>
            <a:r>
              <a:rPr lang="en-US" sz="2200" b="1" dirty="0">
                <a:solidFill>
                  <a:srgbClr val="1B1B1F"/>
                </a:solidFill>
              </a:rPr>
              <a:t>Urteil</a:t>
            </a:r>
            <a:r>
              <a:rPr lang="en-US" sz="2200" dirty="0">
                <a:solidFill>
                  <a:srgbClr val="1B1B1F"/>
                </a:solidFill>
              </a:rPr>
              <a:t>: Die Schaukel-Chiffre ist </a:t>
            </a:r>
            <a:r>
              <a:rPr lang="en-US" sz="2200" b="1" dirty="0">
                <a:solidFill>
                  <a:srgbClr val="1B1B1F"/>
                </a:solidFill>
              </a:rPr>
              <a:t>unsicher</a:t>
            </a:r>
            <a:r>
              <a:rPr lang="en-US" sz="2200" dirty="0">
                <a:solidFill>
                  <a:srgbClr val="1B1B1F"/>
                </a:solidFill>
              </a:rPr>
              <a: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Operatoren: Was wird verlangt?</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2027104"/>
                <a:gridCol w="2644048"/>
                <a:gridCol w="2644048"/>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Operator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verlangt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Satzanfang</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erläutern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verständlich machen </a:t>
                      </a:r>
                      <a:r>
                        <a:rPr lang="en-US" sz="1600" b="1" dirty="0">
                          <a:solidFill>
                            <a:srgbClr val="1B1B1F"/>
                          </a:solidFill>
                          <a:latin typeface="Calibri" pitchFamily="34" charset="0"/>
                          <a:ea typeface="Calibri" pitchFamily="34" charset="-122"/>
                          <a:cs typeface="Calibri" pitchFamily="34" charset="-120"/>
                        </a:rPr>
                        <a:t>mit Beispiel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„Das sieht man am Beispiel …“</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begründen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auf Regel oder Ursache zurückführen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„Weil …, deshalb …“</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entscheiden (begründet)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klare Entscheidung </a:t>
                      </a:r>
                      <a:r>
                        <a:rPr lang="en-US" sz="1600" b="1" dirty="0">
                          <a:solidFill>
                            <a:srgbClr val="1B1B1F"/>
                          </a:solidFill>
                          <a:latin typeface="Calibri" pitchFamily="34" charset="0"/>
                          <a:ea typeface="Calibri" pitchFamily="34" charset="-122"/>
                          <a:cs typeface="Calibri" pitchFamily="34" charset="-120"/>
                        </a:rPr>
                        <a:t>und</a:t>
                      </a:r>
                      <a:r>
                        <a:rPr lang="en-US" sz="1600" dirty="0">
                          <a:solidFill>
                            <a:srgbClr val="1B1B1F"/>
                          </a:solidFill>
                          <a:latin typeface="Calibri" pitchFamily="34" charset="0"/>
                          <a:ea typeface="Calibri" pitchFamily="34" charset="-122"/>
                          <a:cs typeface="Calibri" pitchFamily="34" charset="-120"/>
                        </a:rPr>
                        <a:t> Begründung</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„Die Aussage ist falsch, weil …“</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beurteilen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Kriterien → Begründung → </a:t>
                      </a:r>
                      <a:r>
                        <a:rPr lang="en-US" sz="1600" b="1" dirty="0">
                          <a:solidFill>
                            <a:srgbClr val="1B1B1F"/>
                          </a:solidFill>
                          <a:latin typeface="Calibri" pitchFamily="34" charset="0"/>
                          <a:ea typeface="Calibri" pitchFamily="34" charset="-122"/>
                          <a:cs typeface="Calibri" pitchFamily="34" charset="-120"/>
                        </a:rPr>
                        <a:t>eigenes Urteil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„Gemessen an … ist das Verfahren …“</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eA · Eine Aussage begründet entscheiden</a:t>
            </a:r>
            <a:endParaRPr lang="en-US" sz="3000" dirty="0"/>
          </a:p>
        </p:txBody>
      </p:sp>
      <p:sp>
        <p:nvSpPr>
          <p:cNvPr id="3" name="Text 1"/>
          <p:cNvSpPr txBox="1"/>
          <p:nvPr/>
        </p:nvSpPr>
        <p:spPr>
          <a:xfrm>
            <a:off x="548640" y="1325880"/>
            <a:ext cx="7315200" cy="4206748"/>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a:t>
            </a:r>
            <a:r>
              <a:rPr lang="en-US" sz="2200" b="1" dirty="0">
                <a:solidFill>
                  <a:srgbClr val="1B1B1F"/>
                </a:solidFill>
              </a:rPr>
              <a:t>Entscheiden Sie begründet</a:t>
            </a:r>
            <a:r>
              <a:rPr lang="en-US" sz="2200" dirty="0">
                <a:solidFill>
                  <a:srgbClr val="1B1B1F"/>
                </a:solidFill>
              </a:rPr>
              <a:t>: Vertauscht man die Reihenfolge der Stufen, ändert sich der Geheimtext nicht.“</a:t>
            </a:r>
            <a:endParaRPr lang="en-US" sz="2200" dirty="0"/>
          </a:p>
          <a:p>
            <a:pPr marL="279400" indent="-279400">
              <a:spcAft>
                <a:spcPts val="600"/>
              </a:spcAft>
              <a:buSzPct val="100000"/>
              <a:buChar char="●"/>
            </a:pPr>
            <a:r>
              <a:rPr lang="en-US" sz="2200" b="1" dirty="0">
                <a:solidFill>
                  <a:srgbClr val="1B1B1F"/>
                </a:solidFill>
              </a:rPr>
              <a:t>Entscheidung</a:t>
            </a:r>
            <a:r>
              <a:rPr lang="en-US" sz="2200" dirty="0">
                <a:solidFill>
                  <a:srgbClr val="1B1B1F"/>
                </a:solidFill>
              </a:rPr>
              <a:t>: Die Aussage ist </a:t>
            </a:r>
            <a:r>
              <a:rPr lang="en-US" sz="2200" b="1" dirty="0">
                <a:solidFill>
                  <a:srgbClr val="1B1B1F"/>
                </a:solidFill>
              </a:rPr>
              <a:t>falsch</a:t>
            </a:r>
            <a:r>
              <a:rPr lang="en-US" sz="2200" dirty="0">
                <a:solidFill>
                  <a:srgbClr val="1B1B1F"/>
                </a:solidFill>
              </a:rPr>
              <a:t>.</a:t>
            </a:r>
            <a:endParaRPr lang="en-US" sz="2200" dirty="0"/>
          </a:p>
          <a:p>
            <a:pPr marL="279400" indent="-279400">
              <a:spcAft>
                <a:spcPts val="600"/>
              </a:spcAft>
              <a:buSzPct val="100000"/>
              <a:buChar char="●"/>
            </a:pPr>
            <a:r>
              <a:rPr lang="en-US" sz="2200" b="1" dirty="0">
                <a:solidFill>
                  <a:srgbClr val="1B1B1F"/>
                </a:solidFill>
              </a:rPr>
              <a:t>Begründung</a:t>
            </a:r>
            <a:r>
              <a:rPr lang="en-US" sz="2200" dirty="0">
                <a:solidFill>
                  <a:srgbClr val="1B1B1F"/>
                </a:solidFill>
              </a:rPr>
              <a:t>: Die Blockwende tauscht gerade und ungerade Positionen. Schaukelt man zuerst, wirkt s auf die Buchstaben, die sonst t bekommen – das entspricht dem Schlüssel (t, s).</a:t>
            </a:r>
            <a:endParaRPr lang="en-US" sz="2200" dirty="0"/>
          </a:p>
          <a:p>
            <a:pPr marL="279400" indent="-279400">
              <a:spcAft>
                <a:spcPts val="600"/>
              </a:spcAft>
              <a:buSzPct val="100000"/>
              <a:buChar char="●"/>
            </a:pPr>
            <a:r>
              <a:rPr lang="en-US" sz="2200" b="1" dirty="0">
                <a:solidFill>
                  <a:srgbClr val="1B1B1F"/>
                </a:solidFill>
              </a:rPr>
              <a:t>Gegenbeispiel</a:t>
            </a:r>
            <a:r>
              <a:rPr lang="en-US" sz="2200" dirty="0">
                <a:solidFill>
                  <a:srgbClr val="1B1B1F"/>
                </a:solidFill>
              </a:rPr>
              <a:t>: eule, (1, 2): erst Schaukel → FWMG → Blockwende → </a:t>
            </a:r>
            <a:r>
              <a:rPr lang="en-US" sz="2200" b="1" dirty="0">
                <a:solidFill>
                  <a:srgbClr val="1B1B1F"/>
                </a:solidFill>
              </a:rPr>
              <a:t>GMWF</a:t>
            </a:r>
            <a:r>
              <a:rPr lang="en-US" sz="2200" dirty="0">
                <a:solidFill>
                  <a:srgbClr val="1B1B1F"/>
                </a:solidFill>
              </a:rPr>
              <a:t> ≠ FNVG</a:t>
            </a:r>
            <a:endParaRPr lang="en-US" sz="2200" dirty="0"/>
          </a:p>
          <a:p>
            <a:pPr marL="279400" indent="-279400">
              <a:spcAft>
                <a:spcPts val="600"/>
              </a:spcAft>
              <a:buSzPct val="100000"/>
              <a:buChar char="●"/>
            </a:pPr>
            <a:r>
              <a:rPr lang="en-US" sz="2200" dirty="0">
                <a:solidFill>
                  <a:srgbClr val="1B1B1F"/>
                </a:solidFill>
              </a:rPr>
              <a:t>Nur für </a:t>
            </a:r>
            <a:r>
              <a:rPr lang="en-US" sz="2200" b="1" dirty="0">
                <a:solidFill>
                  <a:srgbClr val="1B1B1F"/>
                </a:solidFill>
              </a:rPr>
              <a:t>s = t</a:t>
            </a:r>
            <a:r>
              <a:rPr lang="en-US" sz="2200" dirty="0">
                <a:solidFill>
                  <a:srgbClr val="1B1B1F"/>
                </a:solidFill>
              </a:rPr>
              <a:t> stimmt die Aussage.</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Zeitplanung</a:t>
            </a:r>
            <a:endParaRPr lang="en-US" sz="3000" dirty="0"/>
          </a:p>
        </p:txBody>
      </p:sp>
      <p:sp>
        <p:nvSpPr>
          <p:cNvPr id="3" name="Text 1"/>
          <p:cNvSpPr txBox="1"/>
          <p:nvPr/>
        </p:nvSpPr>
        <p:spPr>
          <a:xfrm>
            <a:off x="548640" y="1325880"/>
            <a:ext cx="7315200" cy="3266440"/>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Faustregel: </a:t>
            </a:r>
            <a:r>
              <a:rPr lang="en-US" sz="2200" b="1" dirty="0">
                <a:solidFill>
                  <a:srgbClr val="1B1B1F"/>
                </a:solidFill>
              </a:rPr>
              <a:t>gut 2 Minuten je BE</a:t>
            </a:r>
            <a:endParaRPr lang="en-US" sz="2200" dirty="0"/>
          </a:p>
          <a:p>
            <a:pPr marL="279400" indent="-279400">
              <a:spcAft>
                <a:spcPts val="600"/>
              </a:spcAft>
              <a:buSzPct val="100000"/>
              <a:buChar char="●"/>
            </a:pPr>
            <a:r>
              <a:rPr lang="en-US" sz="2200" dirty="0">
                <a:solidFill>
                  <a:srgbClr val="1B1B1F"/>
                </a:solidFill>
              </a:rPr>
              <a:t>  - eA: 30 BE ≈ </a:t>
            </a:r>
            <a:r>
              <a:rPr lang="en-US" sz="2200" b="1" dirty="0">
                <a:solidFill>
                  <a:srgbClr val="1B1B1F"/>
                </a:solidFill>
              </a:rPr>
              <a:t>70 min</a:t>
            </a:r>
            <a:r>
              <a:rPr lang="en-US" sz="2200" dirty="0">
                <a:solidFill>
                  <a:srgbClr val="1B1B1F"/>
                </a:solidFill>
              </a:rPr>
              <a:t> · gA: 25 BE ≈ </a:t>
            </a:r>
            <a:r>
              <a:rPr lang="en-US" sz="2200" b="1" dirty="0">
                <a:solidFill>
                  <a:srgbClr val="1B1B1F"/>
                </a:solidFill>
              </a:rPr>
              <a:t>55 min</a:t>
            </a:r>
            <a:endParaRPr lang="en-US" sz="2200" dirty="0"/>
          </a:p>
          <a:p>
            <a:pPr marL="279400" indent="-279400">
              <a:spcAft>
                <a:spcPts val="600"/>
              </a:spcAft>
              <a:buSzPct val="100000"/>
              <a:buChar char="●"/>
            </a:pPr>
            <a:r>
              <a:rPr lang="en-US" sz="2200" dirty="0">
                <a:solidFill>
                  <a:srgbClr val="1B1B1F"/>
                </a:solidFill>
              </a:rPr>
              <a:t>  - Teilaufgabe mit 4 BE ≈ 9 min</a:t>
            </a:r>
            <a:endParaRPr lang="en-US" sz="2200" dirty="0"/>
          </a:p>
          <a:p>
            <a:pPr marL="279400" indent="-279400">
              <a:spcAft>
                <a:spcPts val="600"/>
              </a:spcAft>
              <a:buSzPct val="100000"/>
              <a:buChar char="●"/>
            </a:pPr>
            <a:r>
              <a:rPr lang="en-US" sz="2200" dirty="0">
                <a:solidFill>
                  <a:srgbClr val="1B1B1F"/>
                </a:solidFill>
              </a:rPr>
              <a:t>Erste Minuten: Material lesen und </a:t>
            </a:r>
            <a:r>
              <a:rPr lang="en-US" sz="2200" b="1" dirty="0">
                <a:solidFill>
                  <a:srgbClr val="1B1B1F"/>
                </a:solidFill>
              </a:rPr>
              <a:t>Beispiel nachrechnen</a:t>
            </a:r>
            <a:r>
              <a:rPr lang="en-US" sz="2200" dirty="0">
                <a:solidFill>
                  <a:srgbClr val="1B1B1F"/>
                </a:solidFill>
              </a:rPr>
              <a:t> – lohnt sich immer</a:t>
            </a:r>
            <a:endParaRPr lang="en-US" sz="2200" dirty="0"/>
          </a:p>
          <a:p>
            <a:pPr marL="279400" indent="-279400">
              <a:spcAft>
                <a:spcPts val="600"/>
              </a:spcAft>
              <a:buSzPct val="100000"/>
              <a:buChar char="●"/>
            </a:pPr>
            <a:r>
              <a:rPr lang="en-US" sz="2200" dirty="0">
                <a:solidFill>
                  <a:srgbClr val="1B1B1F"/>
                </a:solidFill>
              </a:rPr>
              <a:t>Zielzeit neben jede Teilaufgabe · Hänger markieren, weitergehen</a:t>
            </a:r>
            <a:endParaRPr lang="en-US" sz="2200" dirty="0"/>
          </a:p>
          <a:p>
            <a:pPr marL="279400" indent="-279400">
              <a:spcAft>
                <a:spcPts val="600"/>
              </a:spcAft>
              <a:buSzPct val="100000"/>
              <a:buChar char="●"/>
            </a:pPr>
            <a:r>
              <a:rPr lang="en-US" sz="2200" b="1" dirty="0">
                <a:solidFill>
                  <a:srgbClr val="1B1B1F"/>
                </a:solidFill>
              </a:rPr>
              <a:t>Reserve</a:t>
            </a:r>
            <a:r>
              <a:rPr lang="en-US" sz="2200" dirty="0">
                <a:solidFill>
                  <a:srgbClr val="1B1B1F"/>
                </a:solidFill>
              </a:rPr>
              <a:t> für die Checkliste am Ende</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10 Fallen (1): P1 bis P5</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1850834"/>
                <a:gridCol w="2732183"/>
                <a:gridCol w="2732183"/>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Falle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 so nicht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 so geht’s</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P1 Zählbasis</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Positionen ab 1 → s und t vertauscht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Material: Positionen ab </a:t>
                      </a:r>
                      <a:r>
                        <a:rPr lang="en-US" sz="1600" b="1" dirty="0">
                          <a:solidFill>
                            <a:srgbClr val="1B1B1F"/>
                          </a:solidFill>
                          <a:latin typeface="Calibri" pitchFamily="34" charset="0"/>
                          <a:ea typeface="Calibri" pitchFamily="34" charset="-122"/>
                          <a:cs typeface="Calibri" pitchFamily="34" charset="-120"/>
                        </a:rPr>
                        <a:t>0</a:t>
                      </a:r>
                      <a:r>
                        <a:rPr lang="en-US" sz="1600" dirty="0">
                          <a:solidFill>
                            <a:srgbClr val="1B1B1F"/>
                          </a:solidFill>
                          <a:latin typeface="Calibri" pitchFamily="34" charset="0"/>
                          <a:ea typeface="Calibri" pitchFamily="34" charset="-122"/>
                          <a:cs typeface="Calibri" pitchFamily="34" charset="-120"/>
                        </a:rPr>
                        <a:t>, A = 1</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P2 Modulo</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T + 11 = 31 → „kein Buchstabe“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31 − 26 = 5 → E; Rest 0 → Z</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P3 Umkehrung</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erst Blockwende zurück</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letzte Stufe zuerst umkehren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P4 Regel übersehen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X vergessen → LNEYP LJEVP X</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auffüllen → LNEYP LJEBC IE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P5 Einordnung</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„poly, weil zwei Stufen“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Kriterium: gleicher Buchstabe immer gleich ersetzt?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10 Fallen (2): P6 bis P10</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1938969"/>
                <a:gridCol w="2644048"/>
                <a:gridCol w="2732183"/>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Falle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 so nicht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 so geht’s</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P6 Häufigkeitsanalyse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„geht nicht, weil poly“</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2 Teiltexte, je eine Häufigkeitsanalyse; langer Text nötig</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P7 Schlüsselraum</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26 + 26 = 52</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26 · 26 = 676; davon 26 schwach (s = 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P8 Kombination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„zweimal = doppelt sicher“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zweimal = Caesar mit s + 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P9 Schlüsselrollen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signieren mit Bobs öffentlichem</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mit dem </a:t>
                      </a:r>
                      <a:r>
                        <a:rPr lang="en-US" sz="1600" b="1" dirty="0">
                          <a:solidFill>
                            <a:srgbClr val="1B1B1F"/>
                          </a:solidFill>
                          <a:latin typeface="Calibri" pitchFamily="34" charset="0"/>
                          <a:ea typeface="Calibri" pitchFamily="34" charset="-122"/>
                          <a:cs typeface="Calibri" pitchFamily="34" charset="-120"/>
                        </a:rPr>
                        <a:t>privaten</a:t>
                      </a:r>
                      <a:r>
                        <a:rPr lang="en-US" sz="1600" dirty="0">
                          <a:solidFill>
                            <a:srgbClr val="1B1B1F"/>
                          </a:solidFill>
                          <a:latin typeface="Calibri" pitchFamily="34" charset="0"/>
                          <a:ea typeface="Calibri" pitchFamily="34" charset="-122"/>
                          <a:cs typeface="Calibri" pitchFamily="34" charset="-120"/>
                        </a:rPr>
                        <a:t> Schlüssel des Absenders</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P10 Operator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„Unsicher.“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Kriterium → Begründung → Urteil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Checkliste vor der Abgabe</a:t>
            </a:r>
            <a:endParaRPr lang="en-US" sz="3000" dirty="0"/>
          </a:p>
        </p:txBody>
      </p:sp>
      <p:sp>
        <p:nvSpPr>
          <p:cNvPr id="3" name="Text 1"/>
          <p:cNvSpPr txBox="1"/>
          <p:nvPr/>
        </p:nvSpPr>
        <p:spPr>
          <a:xfrm>
            <a:off x="548640" y="1325880"/>
            <a:ext cx="7315200" cy="3948176"/>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Material-Beispiel nachgerechnet? Nummerierung und Positionen? (</a:t>
            </a:r>
            <a:r>
              <a:rPr lang="en-US" sz="2200" b="1" dirty="0">
                <a:solidFill>
                  <a:srgbClr val="1B1B1F"/>
                </a:solidFill>
              </a:rPr>
              <a:t>P1</a:t>
            </a:r>
            <a:r>
              <a:rPr lang="en-US" sz="2200" dirty="0">
                <a:solidFill>
                  <a:srgbClr val="1B1B1F"/>
                </a:solidFill>
              </a:rPr>
              <a:t>)</a:t>
            </a:r>
            <a:endParaRPr lang="en-US" sz="2200" dirty="0"/>
          </a:p>
          <a:p>
            <a:pPr marL="279400" indent="-279400">
              <a:spcAft>
                <a:spcPts val="600"/>
              </a:spcAft>
              <a:buSzPct val="100000"/>
              <a:buChar char="●"/>
            </a:pPr>
            <a:r>
              <a:rPr lang="en-US" sz="2200" dirty="0">
                <a:solidFill>
                  <a:srgbClr val="1B1B1F"/>
                </a:solidFill>
              </a:rPr>
              <a:t>Jedes Ergebnis zwischen 1 und 26? (</a:t>
            </a:r>
            <a:r>
              <a:rPr lang="en-US" sz="2200" b="1" dirty="0">
                <a:solidFill>
                  <a:srgbClr val="1B1B1F"/>
                </a:solidFill>
              </a:rPr>
              <a:t>P2</a:t>
            </a:r>
            <a:r>
              <a:rPr lang="en-US" sz="2200" dirty="0">
                <a:solidFill>
                  <a:srgbClr val="1B1B1F"/>
                </a:solidFill>
              </a:rPr>
              <a:t>) · Stufen rückwärts? (</a:t>
            </a:r>
            <a:r>
              <a:rPr lang="en-US" sz="2200" b="1" dirty="0">
                <a:solidFill>
                  <a:srgbClr val="1B1B1F"/>
                </a:solidFill>
              </a:rPr>
              <a:t>P3</a:t>
            </a:r>
            <a:r>
              <a:rPr lang="en-US" sz="2200" dirty="0">
                <a:solidFill>
                  <a:srgbClr val="1B1B1F"/>
                </a:solidFill>
              </a:rPr>
              <a:t>)</a:t>
            </a:r>
            <a:endParaRPr lang="en-US" sz="2200" dirty="0"/>
          </a:p>
          <a:p>
            <a:pPr marL="279400" indent="-279400">
              <a:spcAft>
                <a:spcPts val="600"/>
              </a:spcAft>
              <a:buSzPct val="100000"/>
              <a:buChar char="●"/>
            </a:pPr>
            <a:r>
              <a:rPr lang="en-US" sz="2200" dirty="0">
                <a:solidFill>
                  <a:srgbClr val="1B1B1F"/>
                </a:solidFill>
              </a:rPr>
              <a:t>Füllzeichen, Blockgröße, Leserichtung? (</a:t>
            </a:r>
            <a:r>
              <a:rPr lang="en-US" sz="2200" b="1" dirty="0">
                <a:solidFill>
                  <a:srgbClr val="1B1B1F"/>
                </a:solidFill>
              </a:rPr>
              <a:t>P4</a:t>
            </a:r>
            <a:r>
              <a:rPr lang="en-US" sz="2200" dirty="0">
                <a:solidFill>
                  <a:srgbClr val="1B1B1F"/>
                </a:solidFill>
              </a:rPr>
              <a:t>)</a:t>
            </a:r>
            <a:endParaRPr lang="en-US" sz="2200" dirty="0"/>
          </a:p>
          <a:p>
            <a:pPr marL="279400" indent="-279400">
              <a:spcAft>
                <a:spcPts val="600"/>
              </a:spcAft>
              <a:buSzPct val="100000"/>
              <a:buChar char="●"/>
            </a:pPr>
            <a:r>
              <a:rPr lang="en-US" sz="2200" dirty="0">
                <a:solidFill>
                  <a:srgbClr val="1B1B1F"/>
                </a:solidFill>
              </a:rPr>
              <a:t>Jede Stufe eingeordnet mit Kriterium? (</a:t>
            </a:r>
            <a:r>
              <a:rPr lang="en-US" sz="2200" b="1" dirty="0">
                <a:solidFill>
                  <a:srgbClr val="1B1B1F"/>
                </a:solidFill>
              </a:rPr>
              <a:t>P5</a:t>
            </a:r>
            <a:r>
              <a:rPr lang="en-US" sz="2200" dirty="0">
                <a:solidFill>
                  <a:srgbClr val="1B1B1F"/>
                </a:solidFill>
              </a:rPr>
              <a:t>)</a:t>
            </a:r>
            <a:endParaRPr lang="en-US" sz="2200" dirty="0"/>
          </a:p>
          <a:p>
            <a:pPr marL="279400" indent="-279400">
              <a:spcAft>
                <a:spcPts val="600"/>
              </a:spcAft>
              <a:buSzPct val="100000"/>
              <a:buChar char="●"/>
            </a:pPr>
            <a:r>
              <a:rPr lang="en-US" sz="2200" dirty="0">
                <a:solidFill>
                  <a:srgbClr val="1B1B1F"/>
                </a:solidFill>
              </a:rPr>
              <a:t>Raster genutzt: Teiltexte, 676, schwache Schlüssel, zweimal? (</a:t>
            </a:r>
            <a:r>
              <a:rPr lang="en-US" sz="2200" b="1" dirty="0">
                <a:solidFill>
                  <a:srgbClr val="1B1B1F"/>
                </a:solidFill>
              </a:rPr>
              <a:t>P6–P8</a:t>
            </a:r>
            <a:r>
              <a:rPr lang="en-US" sz="2200" dirty="0">
                <a:solidFill>
                  <a:srgbClr val="1B1B1F"/>
                </a:solidFill>
              </a:rPr>
              <a:t>)</a:t>
            </a:r>
            <a:endParaRPr lang="en-US" sz="2200" dirty="0"/>
          </a:p>
          <a:p>
            <a:pPr marL="279400" indent="-279400">
              <a:spcAft>
                <a:spcPts val="600"/>
              </a:spcAft>
              <a:buSzPct val="100000"/>
              <a:buChar char="●"/>
            </a:pPr>
            <a:r>
              <a:rPr lang="en-US" sz="2200" dirty="0">
                <a:solidFill>
                  <a:srgbClr val="1B1B1F"/>
                </a:solidFill>
              </a:rPr>
              <a:t>Schlüsselart + Inhaber? (</a:t>
            </a:r>
            <a:r>
              <a:rPr lang="en-US" sz="2200" b="1" dirty="0">
                <a:solidFill>
                  <a:srgbClr val="1B1B1F"/>
                </a:solidFill>
              </a:rPr>
              <a:t>P9</a:t>
            </a:r>
            <a:r>
              <a:rPr lang="en-US" sz="2200" dirty="0">
                <a:solidFill>
                  <a:srgbClr val="1B1B1F"/>
                </a:solidFill>
              </a:rPr>
              <a:t>) · Operator erfüllt? (</a:t>
            </a:r>
            <a:r>
              <a:rPr lang="en-US" sz="2200" b="1" dirty="0">
                <a:solidFill>
                  <a:srgbClr val="1B1B1F"/>
                </a:solidFill>
              </a:rPr>
              <a:t>P10</a:t>
            </a:r>
            <a:r>
              <a:rPr lang="en-US" sz="2200" dirty="0">
                <a:solidFill>
                  <a:srgbClr val="1B1B1F"/>
                </a:solidFill>
              </a:rPr>
              <a: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nimmst du mit</a:t>
            </a:r>
            <a:endParaRPr lang="en-US" sz="3000" dirty="0"/>
          </a:p>
        </p:txBody>
      </p:sp>
      <p:sp>
        <p:nvSpPr>
          <p:cNvPr id="3" name="Merke-Kasten"/>
          <p:cNvSpPr/>
          <p:nvPr/>
        </p:nvSpPr>
        <p:spPr>
          <a:xfrm>
            <a:off x="1097280" y="1508760"/>
            <a:ext cx="9997135" cy="3977640"/>
          </a:xfrm>
          <a:prstGeom prst="roundRect">
            <a:avLst>
              <a:gd name="adj" fmla="val 2299"/>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9174175" cy="727456"/>
          </a:xfrm>
          <a:prstGeom prst="rect">
            <a:avLst/>
          </a:prstGeom>
          <a:noFill/>
          <a:ln/>
        </p:spPr>
        <p:txBody>
          <a:bodyPr wrap="square" lIns="0" tIns="0" rIns="0" bIns="0" rtlCol="0" anchor="t"/>
          <a:lstStyle/>
          <a:p>
            <a:pPr algn="l" indent="0" marL="0">
              <a:buNone/>
            </a:pPr>
            <a:r>
              <a:rPr lang="en-US" sz="2200" dirty="0">
                <a:solidFill>
                  <a:srgbClr val="1B1B1F"/>
                </a:solidFill>
              </a:rPr>
              <a:t>5 Schritte: </a:t>
            </a:r>
            <a:r>
              <a:rPr lang="en-US" sz="2200" b="1" dirty="0">
                <a:solidFill>
                  <a:srgbClr val="1B1B1F"/>
                </a:solidFill>
              </a:rPr>
              <a:t>nachrechnen – anwenden – umkehren – einordnen – beurteilen</a:t>
            </a:r>
            <a:endParaRPr lang="en-US" sz="2200" dirty="0"/>
          </a:p>
        </p:txBody>
      </p:sp>
      <p:sp>
        <p:nvSpPr>
          <p:cNvPr id="6" name="Text 4"/>
          <p:cNvSpPr txBox="1"/>
          <p:nvPr/>
        </p:nvSpPr>
        <p:spPr>
          <a:xfrm>
            <a:off x="1508760" y="3095752"/>
            <a:ext cx="9174175" cy="386588"/>
          </a:xfrm>
          <a:prstGeom prst="rect">
            <a:avLst/>
          </a:prstGeom>
          <a:noFill/>
          <a:ln/>
        </p:spPr>
        <p:txBody>
          <a:bodyPr wrap="square" lIns="0" tIns="0" rIns="0" bIns="0" rtlCol="0" anchor="t"/>
          <a:lstStyle/>
          <a:p>
            <a:pPr algn="l" indent="0" marL="0">
              <a:buNone/>
            </a:pPr>
            <a:r>
              <a:rPr lang="en-US" sz="2200" dirty="0">
                <a:solidFill>
                  <a:srgbClr val="1B1B1F"/>
                </a:solidFill>
              </a:rPr>
              <a:t>Umkehren: jede Stufe invertieren, </a:t>
            </a:r>
            <a:r>
              <a:rPr lang="en-US" sz="2200" b="1" dirty="0">
                <a:solidFill>
                  <a:srgbClr val="1B1B1F"/>
                </a:solidFill>
              </a:rPr>
              <a:t>letzte zuerst</a:t>
            </a:r>
            <a:endParaRPr lang="en-US" sz="2200" dirty="0"/>
          </a:p>
        </p:txBody>
      </p:sp>
      <p:sp>
        <p:nvSpPr>
          <p:cNvPr id="7" name="Text 5"/>
          <p:cNvSpPr txBox="1"/>
          <p:nvPr/>
        </p:nvSpPr>
        <p:spPr>
          <a:xfrm>
            <a:off x="1508760" y="3610356"/>
            <a:ext cx="9174175" cy="727456"/>
          </a:xfrm>
          <a:prstGeom prst="rect">
            <a:avLst/>
          </a:prstGeom>
          <a:noFill/>
          <a:ln/>
        </p:spPr>
        <p:txBody>
          <a:bodyPr wrap="square" lIns="0" tIns="0" rIns="0" bIns="0" rtlCol="0" anchor="t"/>
          <a:lstStyle/>
          <a:p>
            <a:pPr algn="l" indent="0" marL="0">
              <a:buNone/>
            </a:pPr>
            <a:r>
              <a:rPr lang="en-US" sz="2200" dirty="0">
                <a:solidFill>
                  <a:srgbClr val="1B1B1F"/>
                </a:solidFill>
              </a:rPr>
              <a:t>Einordnen je Stufe; Kriterium für mono/poly: gleicher Buchstabe immer gleich ersetzt?</a:t>
            </a:r>
            <a:endParaRPr lang="en-US" sz="2200" dirty="0"/>
          </a:p>
        </p:txBody>
      </p:sp>
      <p:sp>
        <p:nvSpPr>
          <p:cNvPr id="8" name="Text 6"/>
          <p:cNvSpPr txBox="1"/>
          <p:nvPr/>
        </p:nvSpPr>
        <p:spPr>
          <a:xfrm>
            <a:off x="1508760" y="4465828"/>
            <a:ext cx="9174175" cy="386588"/>
          </a:xfrm>
          <a:prstGeom prst="rect">
            <a:avLst/>
          </a:prstGeom>
          <a:noFill/>
          <a:ln/>
        </p:spPr>
        <p:txBody>
          <a:bodyPr wrap="square" lIns="0" tIns="0" rIns="0" bIns="0" rtlCol="0" anchor="t"/>
          <a:lstStyle/>
          <a:p>
            <a:pPr algn="l" indent="0" marL="0">
              <a:buNone/>
            </a:pPr>
            <a:r>
              <a:rPr lang="en-US" sz="2200" dirty="0">
                <a:solidFill>
                  <a:srgbClr val="1B1B1F"/>
                </a:solidFill>
              </a:rPr>
              <a:t>Beurteilen: Kriterien aus dem Raster → Begründung → </a:t>
            </a:r>
            <a:r>
              <a:rPr lang="en-US" sz="2200" b="1" dirty="0">
                <a:solidFill>
                  <a:srgbClr val="1B1B1F"/>
                </a:solidFill>
              </a:rPr>
              <a:t>Urteil</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Weiter im Lab</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1828800"/>
                <a:gridCol w="5486400"/>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Lab</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Level 6.1 „Fallenjagd“, 6.2 „Eves Chiffre“ und 6.3 „Generalprobe“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Werkzeugkarten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WK2 „Die 5-Schritte-Methode“, WK3 „Beurteilungsraster“, WK5 „Operatoren“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Profil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„Deine Fallen“ – dein P1–P10-Radar im Lab</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Online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kryptos.frankjuchim.de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307080"/>
            <a:ext cx="7315200" cy="727456"/>
          </a:xfrm>
          <a:prstGeom prst="rect">
            <a:avLst/>
          </a:prstGeom>
          <a:noFill/>
          <a:ln/>
        </p:spPr>
        <p:txBody>
          <a:bodyPr wrap="square" lIns="0" tIns="0" rIns="0" bIns="0" rtlCol="0" anchor="t"/>
          <a:lstStyle/>
          <a:p>
            <a:pPr algn="l" indent="0" marL="0">
              <a:buNone/>
            </a:pPr>
            <a:r>
              <a:rPr lang="en-US" sz="2200" b="1" dirty="0">
                <a:solidFill>
                  <a:srgbClr val="1B1B1F"/>
                </a:solidFill>
              </a:rPr>
              <a:t>Nächstes Video:</a:t>
            </a:r>
            <a:r>
              <a:rPr lang="en-US" sz="2200" dirty="0">
                <a:solidFill>
                  <a:srgbClr val="1B1B1F"/>
                </a:solidFill>
              </a:rPr>
              <a:t> Zur Wiederholung: die Playlist „Kryptos“ – Video 01 bis 06 zu deinen Top-3-Fallen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Kryptos Zeitmaschine">
  <a:themeElements>
    <a:clrScheme name="Kryptos Zeitmaschine">
      <a:dk1>
        <a:srgbClr val="1B1B1F"/>
      </a:dk1>
      <a:lt1>
        <a:srgbClr val="FFFFFF"/>
      </a:lt1>
      <a:dk2>
        <a:srgbClr val="14213D"/>
      </a:dk2>
      <a:lt2>
        <a:srgbClr val="FBF7EE"/>
      </a:lt2>
      <a:accent1>
        <a:srgbClr val="8A5F1A"/>
      </a:accent1>
      <a:accent2>
        <a:srgbClr val="B07D2B"/>
      </a:accent2>
      <a:accent3>
        <a:srgbClr val="1F4E8C"/>
      </a:accent3>
      <a:accent4>
        <a:srgbClr val="2E7D32"/>
      </a:accent4>
      <a:accent5>
        <a:srgbClr val="B3261E"/>
      </a:accent5>
      <a:accent6>
        <a:srgbClr val="4A4A55"/>
      </a:accent6>
      <a:hlink>
        <a:srgbClr val="1F4E8C"/>
      </a:hlink>
      <a:folHlink>
        <a:srgbClr val="8A5F1A"/>
      </a:folHlink>
    </a:clrScheme>
    <a:fontScheme name="Kryptos Zeitmaschin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Kryptos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Abi-Check: Fremde Chiffren in 5 Schritten</dc:title>
  <dc:subject>Kryptos – Die Zeitreise der Geheimschriften</dc:subject>
  <dc:creator>Frank Juchim</dc:creator>
  <cp:lastModifiedBy>Frank Juchim</cp:lastModifiedBy>
  <cp:revision>1</cp:revision>
  <dcterms:created xsi:type="dcterms:W3CDTF">2026-10-12T02:23:39Z</dcterms:created>
  <dcterms:modified xsi:type="dcterms:W3CDTF">2026-10-12T02:23:39Z</dcterms:modified>
</cp:coreProperties>
</file>