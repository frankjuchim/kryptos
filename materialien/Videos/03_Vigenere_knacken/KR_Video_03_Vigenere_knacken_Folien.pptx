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f6511b4d-18dc-9f2b-8401-090ce1c09213}">
          <p14:sldIdLst>
            <p14:sldId id="256"/>
            <p14:sldId id="257"/>
          </p14:sldIdLst>
        </p14:section>
        <p14:section name="Vigenère in einer Minute" id="{0f42451b-e1d2-7224-4946-8f82de43ae92}">
          <p14:sldIdLst>
            <p14:sldId id="258"/>
          </p14:sldIdLst>
        </p14:section>
        <p14:section name="Warum Zählen nicht reicht" id="{2e3ab642-9c85-2daf-e757-2adaaf1fced5}">
          <p14:sldIdLst>
            <p14:sldId id="259"/>
            <p14:sldId id="260"/>
            <p14:sldId id="261"/>
          </p14:sldIdLst>
        </p14:section>
        <p14:section name="Kasiski-Test" id="{e1e9de96-fb37-f463-df68-7d76843d8961}">
          <p14:sldIdLst>
            <p14:sldId id="262"/>
            <p14:sldId id="263"/>
            <p14:sldId id="264"/>
          </p14:sldIdLst>
        </p14:section>
        <p14:section name="Friedman-Test (eA)" id="{8eab633c-2812-4bf0-b753-871bcc09ce59}">
          <p14:sldIdLst>
            <p14:sldId id="265"/>
            <p14:sldId id="266"/>
          </p14:sldIdLst>
        </p14:section>
        <p14:section name="Teiltexte knacken" id="{16acd485-f877-1c73-3e39-3f97007f4954}">
          <p14:sldIdLst>
            <p14:sldId id="267"/>
          </p14:sldIdLst>
        </p14:section>
        <p14:section name="Selbst ausprobieren" id="{ca7f6cdb-ee46-94d4-9aac-afc115a5cdd1}">
          <p14:sldIdLst>
            <p14:sldId id="268"/>
            <p14:sldId id="269"/>
            <p14:sldId id="270"/>
          </p14:sldIdLst>
        </p14:section>
        <p14:section name="Typische Fehler" id="{58b924b5-f448-eb85-7e86-c3d608127cd6}">
          <p14:sldIdLst>
            <p14:sldId id="271"/>
            <p14:sldId id="272"/>
          </p14:sldIdLst>
        </p14:section>
        <p14:section name="Zusammenfassung" id="{110181bd-feda-0c4c-a950-5065d9518c34}">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B1F"/>
                </a:solidFill>
                <a:latin typeface="Arial"/>
              </a:defRPr>
            </a:pPr>
            <a:r>
              <a:rPr sz="1400" b="0" i="0" u="none" strike="noStrike">
                <a:solidFill>
                  <a:srgbClr val="1B1B1F"/>
                </a:solidFill>
                <a:latin typeface="Arial"/>
              </a:rPr>
              <a:t>Geheimtext des Flotten-Briefs</a:t>
            </a:r>
          </a:p>
        </c:rich>
      </c:tx>
      <c:layout/>
      <c:overlay val="0"/>
    </c:title>
    <c:autoTitleDeleted val="0"/>
    <c:plotArea>
      <c:layout/>
      <c:barChart>
        <c:barDir val="col"/>
        <c:grouping val="clustered"/>
        <c:varyColors val="0"/>
        <c:ser>
          <c:idx val="0"/>
          <c:order val="0"/>
          <c:tx>
            <c:strRef>
              <c:f>Sheet1!$B$1</c:f>
              <c:strCache>
                <c:ptCount val="1"/>
                <c:pt idx="0">
                  <c:v>Anteil (%)</c:v>
                </c:pt>
              </c:strCache>
            </c:strRef>
          </c:tx>
          <c:spPr>
            <a:solidFill>
              <a:srgbClr val="7A2E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W</c:v>
                  </c:pt>
                  <c:pt idx="1">
                    <c:v>X</c:v>
                  </c:pt>
                  <c:pt idx="2">
                    <c:v>S</c:v>
                  </c:pt>
                  <c:pt idx="3">
                    <c:v>E</c:v>
                  </c:pt>
                  <c:pt idx="4">
                    <c:v>G</c:v>
                  </c:pt>
                  <c:pt idx="5">
                    <c:v>T</c:v>
                  </c:pt>
                  <c:pt idx="6">
                    <c:v>F</c:v>
                  </c:pt>
                  <c:pt idx="7">
                    <c:v>H</c:v>
                  </c:pt>
                  <c:pt idx="8">
                    <c:v>R</c:v>
                  </c:pt>
                  <c:pt idx="9">
                    <c:v>V</c:v>
                  </c:pt>
                  <c:pt idx="10">
                    <c:v>Y</c:v>
                  </c:pt>
                  <c:pt idx="11">
                    <c:v>J</c:v>
                  </c:pt>
                  <c:pt idx="12">
                    <c:v>K</c:v>
                  </c:pt>
                  <c:pt idx="13">
                    <c:v>P</c:v>
                  </c:pt>
                  <c:pt idx="14">
                    <c:v>L</c:v>
                  </c:pt>
                  <c:pt idx="15">
                    <c:v>M</c:v>
                  </c:pt>
                  <c:pt idx="16">
                    <c:v>O</c:v>
                  </c:pt>
                  <c:pt idx="17">
                    <c:v>B</c:v>
                  </c:pt>
                  <c:pt idx="18">
                    <c:v>C</c:v>
                  </c:pt>
                  <c:pt idx="19">
                    <c:v>D</c:v>
                  </c:pt>
                  <c:pt idx="20">
                    <c:v>A</c:v>
                  </c:pt>
                  <c:pt idx="21">
                    <c:v>N</c:v>
                  </c:pt>
                  <c:pt idx="22">
                    <c:v>U</c:v>
                  </c:pt>
                  <c:pt idx="23">
                    <c:v>I</c:v>
                  </c:pt>
                  <c:pt idx="24">
                    <c:v>Z</c:v>
                  </c:pt>
                  <c:pt idx="25">
                    <c:v>Q</c:v>
                  </c:pt>
                </c:lvl>
              </c:multiLvlStrCache>
            </c:multiLvlStrRef>
          </c:cat>
          <c:val>
            <c:numRef>
              <c:f>Sheet1!$B$2:$B$27</c:f>
              <c:numCache>
                <c:formatCode>General</c:formatCode>
                <c:ptCount val="26"/>
                <c:pt idx="0">
                  <c:v>9</c:v>
                </c:pt>
                <c:pt idx="1">
                  <c:v>7.2</c:v>
                </c:pt>
                <c:pt idx="2">
                  <c:v>6.8</c:v>
                </c:pt>
                <c:pt idx="3">
                  <c:v>5.9</c:v>
                </c:pt>
                <c:pt idx="4">
                  <c:v>5.9</c:v>
                </c:pt>
                <c:pt idx="5">
                  <c:v>5.4</c:v>
                </c:pt>
                <c:pt idx="6">
                  <c:v>5</c:v>
                </c:pt>
                <c:pt idx="7">
                  <c:v>4.1</c:v>
                </c:pt>
                <c:pt idx="8">
                  <c:v>4.1</c:v>
                </c:pt>
                <c:pt idx="9">
                  <c:v>4.1</c:v>
                </c:pt>
                <c:pt idx="10">
                  <c:v>4.1</c:v>
                </c:pt>
                <c:pt idx="11">
                  <c:v>3.6</c:v>
                </c:pt>
                <c:pt idx="12">
                  <c:v>3.6</c:v>
                </c:pt>
                <c:pt idx="13">
                  <c:v>3.6</c:v>
                </c:pt>
                <c:pt idx="14">
                  <c:v>3.2</c:v>
                </c:pt>
                <c:pt idx="15">
                  <c:v>3.2</c:v>
                </c:pt>
                <c:pt idx="16">
                  <c:v>3.2</c:v>
                </c:pt>
                <c:pt idx="17">
                  <c:v>2.7</c:v>
                </c:pt>
                <c:pt idx="18">
                  <c:v>2.7</c:v>
                </c:pt>
                <c:pt idx="19">
                  <c:v>2.7</c:v>
                </c:pt>
                <c:pt idx="20">
                  <c:v>2.3</c:v>
                </c:pt>
                <c:pt idx="21">
                  <c:v>2.3</c:v>
                </c:pt>
                <c:pt idx="22">
                  <c:v>2.3</c:v>
                </c:pt>
                <c:pt idx="23">
                  <c:v>1.4</c:v>
                </c:pt>
                <c:pt idx="24">
                  <c:v>1.4</c:v>
                </c:pt>
                <c:pt idx="25">
                  <c:v>0.9</c:v>
                </c:pt>
              </c:numCache>
            </c:numRef>
          </c:val>
        </c:ser>
        <c:ser>
          <c:idx val="1"/>
          <c:order val="1"/>
          <c:tx>
            <c:strRef>
              <c:f>Sheet1!$C$1</c:f>
              <c:strCache>
                <c:ptCount val="1"/>
                <c:pt idx="0">
                  <c:v>Deutsch nach Rang (%)</c:v>
                </c:pt>
              </c:strCache>
            </c:strRef>
          </c:tx>
          <c:spPr>
            <a:solidFill>
              <a:srgbClr val="B07D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W</c:v>
                  </c:pt>
                  <c:pt idx="1">
                    <c:v>X</c:v>
                  </c:pt>
                  <c:pt idx="2">
                    <c:v>S</c:v>
                  </c:pt>
                  <c:pt idx="3">
                    <c:v>E</c:v>
                  </c:pt>
                  <c:pt idx="4">
                    <c:v>G</c:v>
                  </c:pt>
                  <c:pt idx="5">
                    <c:v>T</c:v>
                  </c:pt>
                  <c:pt idx="6">
                    <c:v>F</c:v>
                  </c:pt>
                  <c:pt idx="7">
                    <c:v>H</c:v>
                  </c:pt>
                  <c:pt idx="8">
                    <c:v>R</c:v>
                  </c:pt>
                  <c:pt idx="9">
                    <c:v>V</c:v>
                  </c:pt>
                  <c:pt idx="10">
                    <c:v>Y</c:v>
                  </c:pt>
                  <c:pt idx="11">
                    <c:v>J</c:v>
                  </c:pt>
                  <c:pt idx="12">
                    <c:v>K</c:v>
                  </c:pt>
                  <c:pt idx="13">
                    <c:v>P</c:v>
                  </c:pt>
                  <c:pt idx="14">
                    <c:v>L</c:v>
                  </c:pt>
                  <c:pt idx="15">
                    <c:v>M</c:v>
                  </c:pt>
                  <c:pt idx="16">
                    <c:v>O</c:v>
                  </c:pt>
                  <c:pt idx="17">
                    <c:v>B</c:v>
                  </c:pt>
                  <c:pt idx="18">
                    <c:v>C</c:v>
                  </c:pt>
                  <c:pt idx="19">
                    <c:v>D</c:v>
                  </c:pt>
                  <c:pt idx="20">
                    <c:v>A</c:v>
                  </c:pt>
                  <c:pt idx="21">
                    <c:v>N</c:v>
                  </c:pt>
                  <c:pt idx="22">
                    <c:v>U</c:v>
                  </c:pt>
                  <c:pt idx="23">
                    <c:v>I</c:v>
                  </c:pt>
                  <c:pt idx="24">
                    <c:v>Z</c:v>
                  </c:pt>
                  <c:pt idx="25">
                    <c:v>Q</c:v>
                  </c:pt>
                </c:lvl>
              </c:multiLvlStrCache>
            </c:multiLvlStrRef>
          </c:cat>
          <c:val>
            <c:numRef>
              <c:f>Sheet1!$C$2:$C$27</c:f>
              <c:numCache>
                <c:formatCode>General</c:formatCode>
                <c:ptCount val="26"/>
                <c:pt idx="0">
                  <c:v>17.4</c:v>
                </c:pt>
                <c:pt idx="1">
                  <c:v>9.78</c:v>
                </c:pt>
                <c:pt idx="2">
                  <c:v>7.55</c:v>
                </c:pt>
                <c:pt idx="3">
                  <c:v>7.27</c:v>
                </c:pt>
                <c:pt idx="4">
                  <c:v>7</c:v>
                </c:pt>
                <c:pt idx="5">
                  <c:v>6.51</c:v>
                </c:pt>
                <c:pt idx="6">
                  <c:v>6.15</c:v>
                </c:pt>
                <c:pt idx="7">
                  <c:v>5.08</c:v>
                </c:pt>
                <c:pt idx="8">
                  <c:v>4.76</c:v>
                </c:pt>
                <c:pt idx="9">
                  <c:v>4.35</c:v>
                </c:pt>
                <c:pt idx="10">
                  <c:v>3.44</c:v>
                </c:pt>
                <c:pt idx="11">
                  <c:v>3.06</c:v>
                </c:pt>
                <c:pt idx="12">
                  <c:v>3.01</c:v>
                </c:pt>
                <c:pt idx="13">
                  <c:v>2.53</c:v>
                </c:pt>
                <c:pt idx="14">
                  <c:v>2.51</c:v>
                </c:pt>
                <c:pt idx="15">
                  <c:v>1.89</c:v>
                </c:pt>
                <c:pt idx="16">
                  <c:v>1.89</c:v>
                </c:pt>
                <c:pt idx="17">
                  <c:v>1.66</c:v>
                </c:pt>
                <c:pt idx="18">
                  <c:v>1.21</c:v>
                </c:pt>
                <c:pt idx="19">
                  <c:v>1.13</c:v>
                </c:pt>
                <c:pt idx="20">
                  <c:v>0.79</c:v>
                </c:pt>
                <c:pt idx="21">
                  <c:v>0.67</c:v>
                </c:pt>
                <c:pt idx="22">
                  <c:v>0.27</c:v>
                </c:pt>
                <c:pt idx="23">
                  <c:v>0.04</c:v>
                </c:pt>
                <c:pt idx="24">
                  <c:v>0.03</c:v>
                </c:pt>
                <c:pt idx="25">
                  <c:v>0.02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B1F"/>
                </a:solidFill>
                <a:latin typeface="Consola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CDB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4A5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mit Ochsenblut-Akzent und Wachssiegel.
SPRECHERTEXT: Le chiffre indéchiffrable – die unentzifferbare Chiffre. So nannte man das Vigenère-Verfahren. Rund dreihundert Jahre lang galt es als sicher. Heute knacken wir es – und zwar mit Ideen, die du im Abitur brauchst: Teiltexte bilden, die Schlüssellänge bestimmen und für jeden Teiltext die Häufigkeitsanalyse anwenden. Willkommen in der Renaissance!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Stichpunkte nacheinander einblenden, den Kasten rechts zum Schluss.
SPRECHERTEXT: Im Abitur taucht Vigenère in fünf von siebzehn Aufgaben auf erhöhtem Niveau als Baustein oder Vergleich auf. In vier Aufgaben geht es um periodische Teiltexte bei bekannter Schlüssellänge. Und einmal hieß es sinngemäß: Begründen Sie, ob der Angriff auch bei unbekannter Schlüssellänge gelingt. Die Namen Kasiski und Friedman stehen in keiner Aufgabe – aber genau ihre Ideen liefern dir die Antwort.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Vigenère in einer Minute]
REGIE: Im Quadrat Zeile K und Spalte D zeigen, Schnittpunkt N.
SPRECHERTEXT: Kurz zur Erinnerung: Bei Vigenère schreibst du das Schlüsselwort immer wieder unter den Klartext. Unser Schlüsselwort ist KRYPTOS, sieben Buchstaben. Jeder Schlüsselbuchstabe bestimmt eine Caesar-Verschiebung – und zwar so wie im Quadrat der Abitur-Anlage: A bedeutet Verschiebung null, K bedeutet zehn. Der erste Klartextbuchstabe ist d. Im Quadrat gehst du in die Zeile K und die Spalte D und findest N. Dann i mit R: Verschiebung siebzehn, ergibt Z. Dann e mit Y: Verschiebung vierundzwanzig, ergibt C. Nach sieben Buchstaben beginnt das Schlüsselwort von vorn.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Warum Zählen nicht reicht]
REGIE: Geheimtext ruhig stehen lassen; beim Erklären mit dem Zeiger den Gruppen folgen.
SPRECHERTEXT: Eve hat diesen Brief abgefangen: zweihundertzweiundzwanzig Buchstaben. Sie weiß, dass er mit Vigenère verschlüsselt ist und dass der Klartext deutsch ist. Mehr nicht – weder das Schlüsselwort noch wie lang es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Auf die genannten Bildteile zeigen; Kasten rechts nach dem ersten Satz einblenden.
SPRECHERTEXT: Probieren wir Al-Kindis Methode. Das Histogramm sieht ganz anders aus als im letzten Video: Kein Buchstabe sticht heraus, der häufigste, W, kommt gerade auf neun Prozent. Der Grund: Je nachdem, unter welchem Schlüsselbuchstaben ein e steht, wird es zu O, V, C, T, X, S oder W. Derselbe Klartextbuchstabe wird also verschieden ersetzt – das Verfahren ist polyalphabetisch. Die Häufigkeiten verteilen sich auf viele Buchstaben und verwischen.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Stichpunkte nacheinander einblenden, den Kasten rechts zum Schluss.
SPRECHERTEXT: Aber es gibt einen Ausweg. Wenn wir wüssten, wie lang das Schlüsselwort ist, sagen wir L, dann stünde jeder L-te Buchstabe unter demselben Schlüsselbuchstaben. Wir könnten den Text in L Teiltexte zerlegen – und jeder davon wäre nur eine Caesar-Verschiebung. Die knacken wir mit der Häufigkeitsanalyse. Teile und herrsche! Bleibt die entscheidende Frage: Wie finden wir die Schlüssellänge? Dafür gibt es zwei Werkzeuge: den Kasiski-Test und den Friedman-Test.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Kasiski-Test]
REGIE: Die beiden Paare nacheinander farbig einkreisen: RAOWJDMHW (Ochsenblut), NWSTFTGJGWKSGF (Lapis).
SPRECHERTEXT: Achtzehnhundertdreiundsechzig veröffentlichte der preußische Offizier Friedrich Wilhelm Kasiski eine Methode, nach der man nur genau hinschauen muss. Charles Babbage soll schon einige Jahre vorher auf dieselbe Idee gekommen sein, hat sie aber nicht veröffentlicht. Die Idee: Wir suchen im Geheimtext Buchstabenfolgen, die mehrfach vorkommen. Und tatsächlich: R A O W J D M H W steht zweimal da – neun Buchstaben lang. Und N W S T F T G J G W K S G F sogar vierzehn Buchstaben lang. Das ist kein Zufall.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Tabelle zeilenweise aufdecken und beim Sprechen mit dem Zeiger mitgehen.
SPRECHERTEXT: Warum wiederholt sich etwas? Hinter beiden Stellen steckt derselbe Klartext: die flotte. Und beide Male steht er unter denselben Schlüsselbuchstaben, nämlich O S K R Y P T O S. Dann muss auch derselbe Geheimtext herauskommen. Das klappt aber nur, wenn das Schlüsselwort zwischen den beiden Stellen genau ein paar Mal komplett durchgelaufen ist. Der Abstand – hier achtundzwanzig – ist also ein Vielfaches der Schlüssellänge.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Spalte „Teiler“ von oben nach unten durchgehen, die 7 jeweils antippen; letzte Zeile (16) als Ausreißer markieren.
SPRECHERTEXT: Jetzt sammeln wir alle Wiederholungen ab drei Buchstaben, notieren die Abstände und deren Teiler. Achtundzwanzig, einundzwanzig, achtundneunzig, siebenundsiebzig, hunderteinundsechzig, hundertfünfundsiebzig – alle durch sieben teilbar. Nur die letzte Zeile passt nicht: Abstand sechzehn. Schauen wir nach, steckt dahinter verschiedener Klartext, einmal e d e, einmal f e i. Ein Zufallstreffer. Die gibt es immer, deshalb entscheidet die Mehrheit: Die Schlüssellänge ist sieben. Theoretisch käme auch ein Vielfaches wie vierzehn in Frage, aber vierzehn teilt nur zwei der Abstände.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Friedman-Test (eA)]
REGIE: Stichpunkte nacheinander einblenden, den Kasten rechts zum Schluss.
SPRECHERTEXT: Das zweite Werkzeug stammt von William Friedman aus den zwanziger Jahren des zwanzigsten Jahrhunderts – im Kurs ist es Stoff für das erhöhte Niveau. Friedman fragt: Wenn ich zwei Buchstaben zufällig aus dem Text ziehe, wie wahrscheinlich sind sie gleich? Das ist der Koinzidenzindex I. Du berechnest ihn mit der Formel auf der Folie. In deutschem Text ist I ungefähr null Komma null sieben sechs, weil e und n so häufig sind. In einem völlig zufälligen Text ist I ein Sechsundzwanzigstel, etwa null Komma null drei acht. Eine monoalphabetische Verschlüsselung benennt die Buchstaben nur um – I bleibt gleich. Polyalphabetisch verwischt die Verteilung, und I sinkt. Je länger der Schlüssel, desto näher an null Komma null drei 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Zeile für Zeile aufdecken; bei „Ergebnis“ auf den Kasten rechts zeigen.
SPRECHERTEXT: Rechnen wir das für unseren Brief. Der Text hat zweihundertzweiundzwanzig Buchstaben. Für die Summe nimmst du jede Anzahl mal die Anzahl minus eins: W kommt zwanzigmal vor, also zwanzig mal neunzehn, X sechzehnmal, also sechzehn mal fünfzehn, und so weiter. Zusammen ergibt das zweitausendeinhundertdreißig. Geteilt durch zweihundertzweiundzwanzig mal zweihunderteinundzwanzig ergibt I ungefähr null Komma null vier drei vier. Das liegt deutlich unter dem Wert für Deutsch – ein klares Zeichen für ein polyalphabetisches Verfahren. Friedmans Formel schätzt daraus die Schlüssellänge: Eingesetzt erhalten wir etwa sechs Komma acht fünf, also ungefähr sieben. Aber Vorsicht: Bei so kurzen Texten ist das nur eine grobe Schätzung. Zusammen mit Kasiski sind wir uns aber sicher: Die Schlüssellänge ist sieben.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Teiltexte knacken]
REGIE: Geheimtext ruhig stehen lassen; beim Erklären mit dem Zeiger den Gruppen folgen.
SPRECHERTEXT: Jetzt zerlegen wir den Text in sieben Teiltexte. Teiltext sieben besteht aus dem siebten, vierzehnten, einundzwanzigsten Buchstaben und so weiter. Alle stehen unter demselben Schlüsselbuchstaben – das ist also ein ganz normaler Caesar-Text. Hier sticht W heraus: zehn von einunddreißig Buchstaben. Wir vermuten: W steht für e. W hat die Nummer dreiundzwanzig, e die Nummer fünf. Die Differenz ist achtzehn, also Verschiebung achtzehn. Und welcher Schlüsselbuchstabe gehört zur Verschiebung achtzehn? Weil A für null steht, ist es der neunzehnte Buchstabe: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Selbst ausprobieren]
REGIE: Einblendung „⏸ Video anhalten“.
SPRECHERTEXT: Jetzt bist du dran. Hier ist Teiltext vier, also der vierte, elfte, achtzehnte Buchstabe und so weiter. Die Häufigkeiten stehen schon darunter. Halte das Video an und bestimme den Schlüsselbuchstaben. Achte auf die Zählbasis! Danach geht es weiter.
PAUSE: 8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Tabelle zeilenweise aufdecken und beim Sprechen mit dem Zeiger mitgehen.
SPRECHERTEXT: Die Auflösung: In Teiltext vier ist T am häufigsten. T hat die Nummer zwanzig, minus fünf ergibt fünfzehn. Verschiebung fünfzehn gehört zum sechzehnten Buchstaben: P. Wenn du O herausbekommen hast, hast du die Verschiebung fünfzehn direkt als Nummer genommen – das ist Falle P1. Machen wir das für alle sieben Teiltexte, erhalten wir K, A, B, P, T, O, S. Fünf davon sehen vernünftig aus. Bei A und B setze ich aber ein Fragezeichen: Die Teiltexte sind nur zweiunddreißig Buchstaben lang, und da muss der häufigste Buchstabe nicht unbedingt das e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Geheimtext ruhig stehen lassen; beim Erklären mit dem Zeiger den Gruppen folgen.
SPRECHERTEXT: Entschlüsseln wir trotzdem einmal mit K A B P T O S. Heraus kommt: d z b flott v i aeuft d l rgen. Fünf von sieben Buchstaben stimmen, und der Rest ist ein Kreuzworträtsel: Das heißt natürlich die flotte läuft morgen. An Stelle zwei steht Z, gemeint ist i. Sechsundzwanzig minus neun ergibt Verschiebung siebzehn, also R. An Stelle drei steht C, gemeint ist e. Drei minus fünf ergibt minus zwei, plus sechsundzwanzig gleich Verschiebung vierundzwanzig, also Y. Das Schlüsselwort lautet KRYPTOS. Übrigens: So heißt auch eine Skulptur von Jim Sanborn vor dem Hauptquartier der CIA. Zwei ihrer vier Teile sind mit einer Variante von Vigenère verschlüsselt, und der letzte Teil hat Rätselfreunde jahrzehntelang beschäftigt.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Typische Fehler]
REGIE: Erst die Spalte ✗ „So nicht“ zeigen, kurze Pause, dann ✓ „So geht’s“ und die Regel einblenden.
SPRECHERTEXT: Damit zu den Fallen. Die wichtigste bei Vigenère ist P1, die Zählbasis. Der Schlüsselbuchstabe K hat zwar die Nummer elf, bedeutet aber Verschiebung zehn – denn im Quadrat der Anlage steht A für Verschiebung null. Wer mit elf rechnet, macht aus dem d ein O statt ein N, und zwar bei jedem K im ganzen Text. Merke: Verschiebung gleich Nummer minus eins – und auf dem Rückweg Nummer gleich Verschiebung plus eins.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Stichpunkte nacheinander einblenden, den Kasten rechts zum Schluss.
SPRECHERTEXT: Noch vier Fallen. P5: Vigenère ist polyalphabetisch, weil derselbe Klartextbuchstabe je nach Stelle verschieden ersetzt wird. P6: Die Häufigkeitsanalyse wendest du nicht auf den ganzen Text an, sondern erst nach dem Bestimmen der Schlüssellänge auf jeden Teiltext. P7: Der Schlüsselraum ist mit sechsundzwanzig hoch sieben riesig – aber wer die Länge kennt, braucht nur sieben mal sechsundzwanzig Versuche. Kurze Schlüssel sind deshalb schwach. Und P10: Wenn gefragt ist, ob der Angriff auch bei unbekannter Schlüssellänge klappt, genügt kein „ja“. Du begründest: Die Länge lässt sich mit Wiederholungen oder dem Koinzidenzindex bestimmen, danach geht es mit Teiltexten weiter.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REGIE: Merksätze nacheinander einblenden; ruhig und etwas langsamer sprechen.
SPRECHERTEXT: Das nimmst du mit: Vigenère ist polyalphabetisch – jeder Buchstabe des Schlüsselworts ist eine eigene Caesar-Verschiebung. Kennst du die Schlüssellänge, zerlegst du den Text in Teiltexte und knackst jeden mit der Häufigkeitsanalyse. Die Länge findest du mit dem Kasiski-Test über die Abstände von Wiederholungen. Und auf erhöhtem Niveau schätzt du sie zusätzlich mit dem Koinzidenzindex nach Friedman.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Endcard über die letzten 20 s legen.
SPRECHERTEXT: Weiter geht es im Lab mit Level zwei Punkt zwei, Kasiskis Spur, und auf erhöhtem Niveau mit Level zwei Punkt drei. Die Vigenère-Werkbank im Kryptolabor markiert dir Wiederholungen und rechnet den Koinzidenzindex. Im nächsten Video springen wir ins Maschinenzeitalter: zu Bits, XOR und dem einzigen Verfahren, das beweisbar sicher ist. Bis dann im Archiv!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2_7d3f73e380808cd5.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2 · Le chiffre indéchiffrable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2_7d3f73e380808cd5.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2 · Le chiffre indéchiffrable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2_7d3f73e380808cd5.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2 · Le chiffre indéchiffrable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fa0409f923b65dc6.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2_7d3f73e380808cd5.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D98C8C"/>
                </a:solidFill>
                <a:latin typeface="Consolas" pitchFamily="34" charset="0"/>
                <a:ea typeface="Consolas" pitchFamily="34" charset="-122"/>
                <a:cs typeface="Consolas" pitchFamily="34" charset="-120"/>
              </a:rPr>
              <a:t>VIDEO 03 · EUROPA · 1553–1863</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Vigenère knacken: Kasiski-Test und Friedman-Test</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Schlüssellänge finden, Teiltexte bilden, Caesar knacken – siebenmal</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Vigenère im Abitur</a:t>
            </a:r>
            <a:endParaRPr lang="en-US" sz="3000" dirty="0"/>
          </a:p>
        </p:txBody>
      </p:sp>
      <p:sp>
        <p:nvSpPr>
          <p:cNvPr id="3" name="Text 1"/>
          <p:cNvSpPr txBox="1"/>
          <p:nvPr/>
        </p:nvSpPr>
        <p:spPr>
          <a:xfrm>
            <a:off x="548640" y="1325880"/>
            <a:ext cx="4308653" cy="3783584"/>
          </a:xfrm>
          <a:prstGeom prst="rect">
            <a:avLst/>
          </a:prstGeom>
          <a:noFill/>
          <a:ln/>
        </p:spPr>
        <p:txBody>
          <a:bodyPr wrap="square" lIns="0" tIns="0" rIns="0" bIns="0" rtlCol="0" anchor="t"/>
          <a:lstStyle/>
          <a:p>
            <a:pPr marL="279400" indent="-279400">
              <a:spcAft>
                <a:spcPts val="600"/>
              </a:spcAft>
              <a:buSzPct val="100000"/>
              <a:buChar char="●"/>
            </a:pPr>
            <a:r>
              <a:rPr lang="en-US" sz="2000" dirty="0">
                <a:solidFill>
                  <a:srgbClr val="1B1B1F"/>
                </a:solidFill>
              </a:rPr>
              <a:t>Vigenère als Baustein oder Vergleich: </a:t>
            </a:r>
            <a:r>
              <a:rPr lang="en-US" sz="2000" b="1" dirty="0">
                <a:solidFill>
                  <a:srgbClr val="1B1B1F"/>
                </a:solidFill>
              </a:rPr>
              <a:t>5 von 17</a:t>
            </a:r>
            <a:r>
              <a:rPr lang="en-US" sz="2000" dirty="0">
                <a:solidFill>
                  <a:srgbClr val="1B1B1F"/>
                </a:solidFill>
              </a:rPr>
              <a:t> eA-Aufgaben (2021–2026)</a:t>
            </a:r>
            <a:endParaRPr lang="en-US" sz="2000" dirty="0"/>
          </a:p>
          <a:p>
            <a:pPr marL="279400" indent="-279400">
              <a:spcAft>
                <a:spcPts val="600"/>
              </a:spcAft>
              <a:buSzPct val="100000"/>
              <a:buChar char="●"/>
            </a:pPr>
            <a:r>
              <a:rPr lang="en-US" sz="2000" b="1" dirty="0">
                <a:solidFill>
                  <a:srgbClr val="1B1B1F"/>
                </a:solidFill>
              </a:rPr>
              <a:t>Periodische Teiltexte</a:t>
            </a:r>
            <a:r>
              <a:rPr lang="en-US" sz="2000" dirty="0">
                <a:solidFill>
                  <a:srgbClr val="1B1B1F"/>
                </a:solidFill>
              </a:rPr>
              <a:t> bei bekannter Schlüssellänge: </a:t>
            </a:r>
            <a:r>
              <a:rPr lang="en-US" sz="2000" b="1" dirty="0">
                <a:solidFill>
                  <a:srgbClr val="1B1B1F"/>
                </a:solidFill>
              </a:rPr>
              <a:t>4 von 17</a:t>
            </a:r>
            <a:endParaRPr lang="en-US" sz="2000" dirty="0"/>
          </a:p>
          <a:p>
            <a:pPr marL="279400" indent="-279400">
              <a:spcAft>
                <a:spcPts val="600"/>
              </a:spcAft>
              <a:buSzPct val="100000"/>
              <a:buChar char="●"/>
            </a:pPr>
            <a:r>
              <a:rPr lang="en-US" sz="2000" dirty="0">
                <a:solidFill>
                  <a:srgbClr val="1B1B1F"/>
                </a:solidFill>
              </a:rPr>
              <a:t>Sinngemäß (2021): Gelingt der Angriff auch bei </a:t>
            </a:r>
            <a:r>
              <a:rPr lang="en-US" sz="2000" b="1" dirty="0">
                <a:solidFill>
                  <a:srgbClr val="1B1B1F"/>
                </a:solidFill>
              </a:rPr>
              <a:t>unbekannter</a:t>
            </a:r>
            <a:r>
              <a:rPr lang="en-US" sz="2000" dirty="0">
                <a:solidFill>
                  <a:srgbClr val="1B1B1F"/>
                </a:solidFill>
              </a:rPr>
              <a:t> Schlüssellänge? </a:t>
            </a:r>
            <a:r>
              <a:rPr lang="en-US" sz="2000" b="1" dirty="0">
                <a:solidFill>
                  <a:srgbClr val="1B1B1F"/>
                </a:solidFill>
              </a:rPr>
              <a:t>Begründen</a:t>
            </a:r>
            <a:r>
              <a:rPr lang="en-US" sz="2000" dirty="0">
                <a:solidFill>
                  <a:srgbClr val="1B1B1F"/>
                </a:solidFill>
              </a:rPr>
              <a:t> Sie.</a:t>
            </a:r>
            <a:endParaRPr lang="en-US" sz="2000" dirty="0"/>
          </a:p>
          <a:p>
            <a:pPr marL="279400" indent="-279400">
              <a:spcAft>
                <a:spcPts val="600"/>
              </a:spcAft>
              <a:buSzPct val="100000"/>
              <a:buChar char="●"/>
            </a:pPr>
            <a:r>
              <a:rPr lang="en-US" sz="2000" dirty="0">
                <a:solidFill>
                  <a:srgbClr val="1B1B1F"/>
                </a:solidFill>
              </a:rPr>
              <a:t>Die Namen Kasiski und Friedman fallen nie – die </a:t>
            </a:r>
            <a:r>
              <a:rPr lang="en-US" sz="2000" b="1" dirty="0">
                <a:solidFill>
                  <a:srgbClr val="1B1B1F"/>
                </a:solidFill>
              </a:rPr>
              <a:t>Ideen</a:t>
            </a:r>
            <a:r>
              <a:rPr lang="en-US" sz="2000" dirty="0">
                <a:solidFill>
                  <a:srgbClr val="1B1B1F"/>
                </a:solidFill>
              </a:rPr>
              <a:t> brauchst du trotzdem</a:t>
            </a:r>
            <a:endParaRPr lang="en-US" sz="2000" dirty="0"/>
          </a:p>
        </p:txBody>
      </p:sp>
      <p:sp>
        <p:nvSpPr>
          <p:cNvPr id="4" name="Shape 2"/>
          <p:cNvSpPr/>
          <p:nvPr/>
        </p:nvSpPr>
        <p:spPr>
          <a:xfrm>
            <a:off x="5223053" y="1325880"/>
            <a:ext cx="2640787" cy="3867912"/>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HEUTE</a:t>
            </a:r>
            <a:endParaRPr lang="en-US" sz="1300" dirty="0"/>
          </a:p>
        </p:txBody>
      </p:sp>
      <p:sp>
        <p:nvSpPr>
          <p:cNvPr id="6" name="Text 4"/>
          <p:cNvSpPr txBox="1"/>
          <p:nvPr/>
        </p:nvSpPr>
        <p:spPr>
          <a:xfrm>
            <a:off x="5451653" y="178308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Vigenère in einer Minute</a:t>
            </a:r>
            <a:endParaRPr lang="en-US" sz="1800" dirty="0"/>
          </a:p>
        </p:txBody>
      </p:sp>
      <p:sp>
        <p:nvSpPr>
          <p:cNvPr id="7" name="Text 5"/>
          <p:cNvSpPr txBox="1"/>
          <p:nvPr/>
        </p:nvSpPr>
        <p:spPr>
          <a:xfrm>
            <a:off x="5451653" y="251460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Warum Zählen nicht reicht</a:t>
            </a:r>
            <a:endParaRPr lang="en-US" sz="1800" dirty="0"/>
          </a:p>
        </p:txBody>
      </p:sp>
      <p:sp>
        <p:nvSpPr>
          <p:cNvPr id="8" name="Text 6"/>
          <p:cNvSpPr txBox="1"/>
          <p:nvPr/>
        </p:nvSpPr>
        <p:spPr>
          <a:xfrm>
            <a:off x="5451653" y="3246120"/>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Kasiski-Test</a:t>
            </a:r>
            <a:endParaRPr lang="en-US" sz="1800" dirty="0"/>
          </a:p>
        </p:txBody>
      </p:sp>
      <p:sp>
        <p:nvSpPr>
          <p:cNvPr id="9" name="Text 7"/>
          <p:cNvSpPr txBox="1"/>
          <p:nvPr/>
        </p:nvSpPr>
        <p:spPr>
          <a:xfrm>
            <a:off x="5451653" y="3698748"/>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Friedman-Test (eA)</a:t>
            </a:r>
            <a:endParaRPr lang="en-US" sz="1800" dirty="0"/>
          </a:p>
        </p:txBody>
      </p:sp>
      <p:sp>
        <p:nvSpPr>
          <p:cNvPr id="10" name="Text 8"/>
          <p:cNvSpPr txBox="1"/>
          <p:nvPr/>
        </p:nvSpPr>
        <p:spPr>
          <a:xfrm>
            <a:off x="5451653" y="4151376"/>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Teiltexte knacken</a:t>
            </a:r>
            <a:endParaRPr lang="en-US" sz="1800" dirty="0"/>
          </a:p>
        </p:txBody>
      </p:sp>
      <p:sp>
        <p:nvSpPr>
          <p:cNvPr id="11" name="Text 9"/>
          <p:cNvSpPr txBox="1"/>
          <p:nvPr/>
        </p:nvSpPr>
        <p:spPr>
          <a:xfrm>
            <a:off x="5451653" y="4604004"/>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Fallen</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Vigenère in einer Minute</a:t>
            </a:r>
            <a:endParaRPr lang="en-US" sz="3000" dirty="0"/>
          </a:p>
        </p:txBody>
      </p:sp>
      <p:sp>
        <p:nvSpPr>
          <p:cNvPr id="3" name="Text 1"/>
          <p:cNvSpPr txBox="1"/>
          <p:nvPr/>
        </p:nvSpPr>
        <p:spPr>
          <a:xfrm>
            <a:off x="548640" y="1325880"/>
            <a:ext cx="4308653" cy="541528"/>
          </a:xfrm>
          <a:prstGeom prst="rect">
            <a:avLst/>
          </a:prstGeom>
          <a:noFill/>
          <a:ln/>
        </p:spPr>
        <p:txBody>
          <a:bodyPr wrap="square" lIns="0" tIns="0" rIns="0" bIns="0" rtlCol="0" anchor="t"/>
          <a:lstStyle/>
          <a:p>
            <a:pPr algn="l" indent="0" marL="0">
              <a:buNone/>
            </a:pPr>
            <a:r>
              <a:rPr lang="en-US" sz="1600" dirty="0">
                <a:solidFill>
                  <a:srgbClr val="1B1B1F"/>
                </a:solidFill>
              </a:rPr>
              <a:t>Schlüsselwort </a:t>
            </a:r>
            <a:r>
              <a:rPr lang="en-US" sz="1600" b="1" dirty="0">
                <a:solidFill>
                  <a:srgbClr val="1B1B1F"/>
                </a:solidFill>
              </a:rPr>
              <a:t>KRYPTOS</a:t>
            </a:r>
            <a:r>
              <a:rPr lang="en-US" sz="1600" dirty="0">
                <a:solidFill>
                  <a:srgbClr val="1B1B1F"/>
                </a:solidFill>
              </a:rPr>
              <a:t> wird wiederholt · Schlüsselbuchstabe = Verschiebung (</a:t>
            </a:r>
            <a:r>
              <a:rPr lang="en-US" sz="1600" b="1" dirty="0">
                <a:solidFill>
                  <a:srgbClr val="1B1B1F"/>
                </a:solidFill>
              </a:rPr>
              <a:t>A = 0</a:t>
            </a:r>
            <a:r>
              <a:rPr lang="en-US" sz="1600" dirty="0">
                <a:solidFill>
                  <a:srgbClr val="1B1B1F"/>
                </a:solidFill>
              </a:rPr>
              <a: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7006" y="1995424"/>
          <a:ext cx="3931920" cy="914400"/>
        </p:xfrm>
        <a:graphic>
          <a:graphicData uri="http://schemas.openxmlformats.org/drawingml/2006/table">
            <a:tbl>
              <a:tblPr/>
              <a:tblGrid>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gridCol w="145627"/>
              </a:tblGrid>
              <a:tr h="145627">
                <a:tc>
                  <a:txBody>
                    <a:bodyPr/>
                    <a:lstStyle/>
                    <a:p>
                      <a:pPr algn="ctr" indent="0" marL="0">
                        <a:buNone/>
                      </a:pP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145627">
                <a:tc>
                  <a:txBody>
                    <a:bodyPr/>
                    <a:lstStyle/>
                    <a:p>
                      <a:pPr algn="ctr" indent="0" marL="0">
                        <a:buNone/>
                      </a:pPr>
                      <a:r>
                        <a:rPr lang="en-US" sz="700" b="1"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Z</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A</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B</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C</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D</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E</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F</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G</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H</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I</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J</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K</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L</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M</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N</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O</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P</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Q</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R</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S</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T</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U</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V</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W</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X</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700" dirty="0">
                          <a:solidFill>
                            <a:srgbClr val="1B1B1F"/>
                          </a:solidFill>
                          <a:latin typeface="Consolas" pitchFamily="34" charset="0"/>
                          <a:ea typeface="Consolas" pitchFamily="34" charset="-122"/>
                          <a:cs typeface="Consolas" pitchFamily="34" charset="-120"/>
                        </a:rPr>
                        <a:t>Y</a:t>
                      </a:r>
                      <a:endParaRPr lang="en-US" sz="700" dirty="0">
                        <a:latin typeface="Consolas" charset="0"/>
                        <a:ea typeface="Consolas" charset="0"/>
                        <a:cs typeface="Consolas" charset="0"/>
                      </a:endParaRPr>
                    </a:p>
                  </a:txBody>
                  <a:tcPr marL="0" marR="0" marT="0" marB="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Shape 2"/>
          <p:cNvSpPr/>
          <p:nvPr/>
        </p:nvSpPr>
        <p:spPr>
          <a:xfrm>
            <a:off x="5223053" y="1325880"/>
            <a:ext cx="2640787" cy="2156968"/>
          </a:xfrm>
          <a:prstGeom prst="roundRect">
            <a:avLst>
              <a:gd name="adj" fmla="val 3391"/>
            </a:avLst>
          </a:prstGeom>
          <a:solidFill>
            <a:srgbClr val="F2EADB"/>
          </a:solidFill>
          <a:ln w="12700">
            <a:solidFill>
              <a:srgbClr val="7A2E2E"/>
            </a:solidFill>
            <a:prstDash val="solid"/>
          </a:ln>
        </p:spPr>
      </p:sp>
      <p:sp>
        <p:nvSpPr>
          <p:cNvPr id="6"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DIE ERSTEN BUCHSTABEN</a:t>
            </a:r>
            <a:endParaRPr lang="en-US" sz="1300" dirty="0"/>
          </a:p>
        </p:txBody>
      </p:sp>
      <p:sp>
        <p:nvSpPr>
          <p:cNvPr id="7" name="Text 4"/>
          <p:cNvSpPr txBox="1"/>
          <p:nvPr/>
        </p:nvSpPr>
        <p:spPr>
          <a:xfrm>
            <a:off x="5451653" y="1783080"/>
            <a:ext cx="2183587" cy="262636"/>
          </a:xfrm>
          <a:prstGeom prst="rect">
            <a:avLst/>
          </a:prstGeom>
          <a:noFill/>
          <a:ln/>
        </p:spPr>
        <p:txBody>
          <a:bodyPr wrap="square" lIns="0" tIns="0" rIns="0" bIns="0" rtlCol="0" anchor="t"/>
          <a:lstStyle/>
          <a:p>
            <a:pPr algn="l" indent="0" marL="0">
              <a:buNone/>
            </a:pPr>
            <a:r>
              <a:rPr lang="en-US" sz="1400" dirty="0">
                <a:solidFill>
                  <a:srgbClr val="1B1B1F"/>
                </a:solidFill>
              </a:rPr>
              <a:t>d + </a:t>
            </a:r>
            <a:r>
              <a:rPr lang="en-US" sz="1400" b="1" dirty="0">
                <a:solidFill>
                  <a:srgbClr val="1B1B1F"/>
                </a:solidFill>
              </a:rPr>
              <a:t>K</a:t>
            </a:r>
            <a:r>
              <a:rPr lang="en-US" sz="1400" dirty="0">
                <a:solidFill>
                  <a:srgbClr val="1B1B1F"/>
                </a:solidFill>
              </a:rPr>
              <a:t> (10) → N</a:t>
            </a:r>
            <a:endParaRPr lang="en-US" sz="1400" dirty="0"/>
          </a:p>
        </p:txBody>
      </p:sp>
      <p:sp>
        <p:nvSpPr>
          <p:cNvPr id="8" name="Text 5"/>
          <p:cNvSpPr txBox="1"/>
          <p:nvPr/>
        </p:nvSpPr>
        <p:spPr>
          <a:xfrm>
            <a:off x="5451653" y="2173732"/>
            <a:ext cx="2183587" cy="262636"/>
          </a:xfrm>
          <a:prstGeom prst="rect">
            <a:avLst/>
          </a:prstGeom>
          <a:noFill/>
          <a:ln/>
        </p:spPr>
        <p:txBody>
          <a:bodyPr wrap="square" lIns="0" tIns="0" rIns="0" bIns="0" rtlCol="0" anchor="t"/>
          <a:lstStyle/>
          <a:p>
            <a:pPr algn="l" indent="0" marL="0">
              <a:buNone/>
            </a:pPr>
            <a:r>
              <a:rPr lang="en-US" sz="1400" dirty="0">
                <a:solidFill>
                  <a:srgbClr val="1B1B1F"/>
                </a:solidFill>
              </a:rPr>
              <a:t>i + </a:t>
            </a:r>
            <a:r>
              <a:rPr lang="en-US" sz="1400" b="1" dirty="0">
                <a:solidFill>
                  <a:srgbClr val="1B1B1F"/>
                </a:solidFill>
              </a:rPr>
              <a:t>R</a:t>
            </a:r>
            <a:r>
              <a:rPr lang="en-US" sz="1400" dirty="0">
                <a:solidFill>
                  <a:srgbClr val="1B1B1F"/>
                </a:solidFill>
              </a:rPr>
              <a:t> (17) → 26 → Z</a:t>
            </a:r>
            <a:endParaRPr lang="en-US" sz="1400" dirty="0"/>
          </a:p>
        </p:txBody>
      </p:sp>
      <p:sp>
        <p:nvSpPr>
          <p:cNvPr id="9" name="Text 6"/>
          <p:cNvSpPr txBox="1"/>
          <p:nvPr/>
        </p:nvSpPr>
        <p:spPr>
          <a:xfrm>
            <a:off x="5451653" y="2564384"/>
            <a:ext cx="2183587" cy="262636"/>
          </a:xfrm>
          <a:prstGeom prst="rect">
            <a:avLst/>
          </a:prstGeom>
          <a:noFill/>
          <a:ln/>
        </p:spPr>
        <p:txBody>
          <a:bodyPr wrap="square" lIns="0" tIns="0" rIns="0" bIns="0" rtlCol="0" anchor="t"/>
          <a:lstStyle/>
          <a:p>
            <a:pPr algn="l" indent="0" marL="0">
              <a:buNone/>
            </a:pPr>
            <a:r>
              <a:rPr lang="en-US" sz="1400" dirty="0">
                <a:solidFill>
                  <a:srgbClr val="1B1B1F"/>
                </a:solidFill>
              </a:rPr>
              <a:t>e + </a:t>
            </a:r>
            <a:r>
              <a:rPr lang="en-US" sz="1400" b="1" dirty="0">
                <a:solidFill>
                  <a:srgbClr val="1B1B1F"/>
                </a:solidFill>
              </a:rPr>
              <a:t>Y</a:t>
            </a:r>
            <a:r>
              <a:rPr lang="en-US" sz="1400" dirty="0">
                <a:solidFill>
                  <a:srgbClr val="1B1B1F"/>
                </a:solidFill>
              </a:rPr>
              <a:t> (24) → 29 → 3 → C</a:t>
            </a:r>
            <a:endParaRPr lang="en-US" sz="1400" dirty="0"/>
          </a:p>
        </p:txBody>
      </p:sp>
      <p:sp>
        <p:nvSpPr>
          <p:cNvPr id="10" name="Text 7"/>
          <p:cNvSpPr txBox="1"/>
          <p:nvPr/>
        </p:nvSpPr>
        <p:spPr>
          <a:xfrm>
            <a:off x="5451653" y="2955036"/>
            <a:ext cx="2183587" cy="262636"/>
          </a:xfrm>
          <a:prstGeom prst="rect">
            <a:avLst/>
          </a:prstGeom>
          <a:noFill/>
          <a:ln/>
        </p:spPr>
        <p:txBody>
          <a:bodyPr wrap="square" lIns="0" tIns="0" rIns="0" bIns="0" rtlCol="0" anchor="t"/>
          <a:lstStyle/>
          <a:p>
            <a:pPr algn="l" indent="0" marL="0">
              <a:buNone/>
            </a:pPr>
            <a:r>
              <a:rPr lang="en-US" sz="1400" dirty="0">
                <a:solidFill>
                  <a:srgbClr val="1B1B1F"/>
                </a:solidFill>
              </a:rPr>
              <a:t>Geheimtext: NZCUE CL…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Eves Problem</a:t>
            </a:r>
            <a:endParaRPr lang="en-US" sz="3000" dirty="0"/>
          </a:p>
        </p:txBody>
      </p:sp>
      <p:sp>
        <p:nvSpPr>
          <p:cNvPr id="3" name="Text 1"/>
          <p:cNvSpPr txBox="1"/>
          <p:nvPr/>
        </p:nvSpPr>
        <p:spPr>
          <a:xfrm>
            <a:off x="548640" y="1325880"/>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Bekannt: Vigenère, deutscher Text. Unbekannt: der Schlüssel – und seine Länge.</a:t>
            </a:r>
            <a:endParaRPr lang="en-US" sz="2200" dirty="0"/>
          </a:p>
        </p:txBody>
      </p:sp>
      <p:sp>
        <p:nvSpPr>
          <p:cNvPr id="4" name="Geheimtext-Kasten"/>
          <p:cNvSpPr/>
          <p:nvPr/>
        </p:nvSpPr>
        <p:spPr>
          <a:xfrm>
            <a:off x="548640" y="2181352"/>
            <a:ext cx="7315200" cy="2594610"/>
          </a:xfrm>
          <a:prstGeom prst="rect">
            <a:avLst/>
          </a:prstGeom>
          <a:solidFill>
            <a:srgbClr val="F2EADB"/>
          </a:solidFill>
          <a:ln w="9525">
            <a:solidFill>
              <a:srgbClr val="D8CDB8"/>
            </a:solidFill>
            <a:prstDash val="solid"/>
          </a:ln>
        </p:spPr>
      </p:sp>
      <p:sp>
        <p:nvSpPr>
          <p:cNvPr id="5" name="Text 3"/>
          <p:cNvSpPr txBox="1"/>
          <p:nvPr/>
        </p:nvSpPr>
        <p:spPr>
          <a:xfrm>
            <a:off x="777240" y="2291080"/>
            <a:ext cx="6858000" cy="237515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NZCUE CLDVJ PXIXD DMGZS FLVGH HBFOE YJYUS</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XXYJL RAOWJ DMHWR RROPC WVWQR AWXPV SCWRA</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OWJDM HWGRP IXHSE WCXGN WSTFT GJGWK SGFKW</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XEBPL NWSTF TGJGW KSGFY GWDRH XUWVE YAESK</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MYGUY SFKTF HNSVO EFPEH WNZCH XBSMY PXVVL</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QVFTB AMXUT TKPJO ELTWS FLIGT YRWXE BXXTW</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SEBTE SKOEK XM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Warum Zählen hier nicht reicht</a:t>
            </a:r>
            <a:endParaRPr lang="en-US" sz="3000" dirty="0"/>
          </a:p>
        </p:txBody>
      </p:sp>
      <p:graphicFrame>
        <p:nvGraphicFramePr>
          <p:cNvPr id="3" name="Häufigkeitsdiagramm" descr=""/>
          <p:cNvGraphicFramePr/>
          <p:nvPr/>
        </p:nvGraphicFramePr>
        <p:xfrm>
          <a:off x="548640" y="1325880"/>
          <a:ext cx="4308653" cy="29260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223053" y="1325880"/>
            <a:ext cx="2640787" cy="3594608"/>
          </a:xfrm>
          <a:prstGeom prst="roundRect">
            <a:avLst>
              <a:gd name="adj" fmla="val 2770"/>
            </a:avLst>
          </a:prstGeom>
          <a:solidFill>
            <a:srgbClr val="F2EADB"/>
          </a:solidFill>
          <a:ln w="12700">
            <a:solidFill>
              <a:srgbClr val="7A2E2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DAS E VERSTECKT SICH</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e unter K R Y P T O S → </a:t>
            </a:r>
            <a:r>
              <a:rPr lang="en-US" sz="2000" b="1" dirty="0">
                <a:solidFill>
                  <a:srgbClr val="1B1B1F"/>
                </a:solidFill>
              </a:rPr>
              <a:t>O V C T X S W</a:t>
            </a:r>
            <a:endParaRPr lang="en-US" sz="2000" dirty="0"/>
          </a:p>
        </p:txBody>
      </p:sp>
      <p:sp>
        <p:nvSpPr>
          <p:cNvPr id="7" name="Text 4"/>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Häufigster Buchstabe W: nur 9,0 %</a:t>
            </a:r>
            <a:endParaRPr lang="en-US" sz="2000" dirty="0"/>
          </a:p>
        </p:txBody>
      </p:sp>
      <p:sp>
        <p:nvSpPr>
          <p:cNvPr id="8" name="Text 5"/>
          <p:cNvSpPr txBox="1"/>
          <p:nvPr/>
        </p:nvSpPr>
        <p:spPr>
          <a:xfrm>
            <a:off x="5451653" y="3679952"/>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Polyalphabetisch: Die Verteilung </a:t>
            </a:r>
            <a:r>
              <a:rPr lang="en-US" sz="2000" b="1" dirty="0">
                <a:solidFill>
                  <a:srgbClr val="1B1B1F"/>
                </a:solidFill>
              </a:rPr>
              <a:t>verwischt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Der Plan: Teile und herrsche</a:t>
            </a:r>
            <a:endParaRPr lang="en-US" sz="3000" dirty="0"/>
          </a:p>
        </p:txBody>
      </p:sp>
      <p:sp>
        <p:nvSpPr>
          <p:cNvPr id="3" name="Text 1"/>
          <p:cNvSpPr txBox="1"/>
          <p:nvPr/>
        </p:nvSpPr>
        <p:spPr>
          <a:xfrm>
            <a:off x="548640" y="1325880"/>
            <a:ext cx="4308653" cy="4465320"/>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Ist die Schlüssellänge </a:t>
            </a:r>
            <a:r>
              <a:rPr lang="en-US" sz="2200" b="1" dirty="0">
                <a:solidFill>
                  <a:srgbClr val="1B1B1F"/>
                </a:solidFill>
              </a:rPr>
              <a:t>L</a:t>
            </a:r>
            <a:r>
              <a:rPr lang="en-US" sz="2200" dirty="0">
                <a:solidFill>
                  <a:srgbClr val="1B1B1F"/>
                </a:solidFill>
              </a:rPr>
              <a:t> bekannt, steht jeder </a:t>
            </a:r>
            <a:r>
              <a:rPr lang="en-US" sz="2200" b="1" dirty="0">
                <a:solidFill>
                  <a:srgbClr val="1B1B1F"/>
                </a:solidFill>
              </a:rPr>
              <a:t>L-te</a:t>
            </a:r>
            <a:r>
              <a:rPr lang="en-US" sz="2200" dirty="0">
                <a:solidFill>
                  <a:srgbClr val="1B1B1F"/>
                </a:solidFill>
              </a:rPr>
              <a:t> Buchstabe unter </a:t>
            </a:r>
            <a:r>
              <a:rPr lang="en-US" sz="2200" b="1" dirty="0">
                <a:solidFill>
                  <a:srgbClr val="1B1B1F"/>
                </a:solidFill>
              </a:rPr>
              <a:t>demselben</a:t>
            </a:r>
            <a:r>
              <a:rPr lang="en-US" sz="2200" dirty="0">
                <a:solidFill>
                  <a:srgbClr val="1B1B1F"/>
                </a:solidFill>
              </a:rPr>
              <a:t> Schlüsselbuchstaben</a:t>
            </a:r>
            <a:endParaRPr lang="en-US" sz="2200" dirty="0"/>
          </a:p>
          <a:p>
            <a:pPr marL="279400" indent="-279400">
              <a:spcAft>
                <a:spcPts val="600"/>
              </a:spcAft>
              <a:buSzPct val="100000"/>
              <a:buChar char="●"/>
            </a:pPr>
            <a:r>
              <a:rPr lang="en-US" sz="2200" dirty="0">
                <a:solidFill>
                  <a:srgbClr val="1B1B1F"/>
                </a:solidFill>
              </a:rPr>
              <a:t>Also: Text in </a:t>
            </a:r>
            <a:r>
              <a:rPr lang="en-US" sz="2200" b="1" dirty="0">
                <a:solidFill>
                  <a:srgbClr val="1B1B1F"/>
                </a:solidFill>
              </a:rPr>
              <a:t>L Teiltexte</a:t>
            </a:r>
            <a:r>
              <a:rPr lang="en-US" sz="2200" dirty="0">
                <a:solidFill>
                  <a:srgbClr val="1B1B1F"/>
                </a:solidFill>
              </a:rPr>
              <a:t> zerlegen – jeder ist eine </a:t>
            </a:r>
            <a:r>
              <a:rPr lang="en-US" sz="2200" b="1" dirty="0">
                <a:solidFill>
                  <a:srgbClr val="1B1B1F"/>
                </a:solidFill>
              </a:rPr>
              <a:t>Caesar-Verschiebung</a:t>
            </a:r>
            <a:endParaRPr lang="en-US" sz="2200" dirty="0"/>
          </a:p>
          <a:p>
            <a:pPr marL="279400" indent="-279400">
              <a:spcAft>
                <a:spcPts val="600"/>
              </a:spcAft>
              <a:buSzPct val="100000"/>
              <a:buChar char="●"/>
            </a:pPr>
            <a:r>
              <a:rPr lang="en-US" sz="2200" dirty="0">
                <a:solidFill>
                  <a:srgbClr val="1B1B1F"/>
                </a:solidFill>
              </a:rPr>
              <a:t>Je Teiltext: Häufigkeitsanalyse → Verschiebung → Schlüsselbuchstabe</a:t>
            </a:r>
            <a:endParaRPr lang="en-US" sz="2200" dirty="0"/>
          </a:p>
          <a:p>
            <a:pPr marL="279400" indent="-279400">
              <a:spcAft>
                <a:spcPts val="600"/>
              </a:spcAft>
              <a:buSzPct val="100000"/>
              <a:buChar char="●"/>
            </a:pPr>
            <a:r>
              <a:rPr lang="en-US" sz="2200" dirty="0">
                <a:solidFill>
                  <a:srgbClr val="1B1B1F"/>
                </a:solidFill>
              </a:rPr>
              <a:t>Offene Frage: Wie finden wir </a:t>
            </a:r>
            <a:r>
              <a:rPr lang="en-US" sz="2200" b="1" dirty="0">
                <a:solidFill>
                  <a:srgbClr val="1B1B1F"/>
                </a:solidFill>
              </a:rPr>
              <a:t>L</a:t>
            </a:r>
            <a:r>
              <a:rPr lang="en-US" sz="2200" dirty="0">
                <a:solidFill>
                  <a:srgbClr val="1B1B1F"/>
                </a:solidFill>
              </a:rPr>
              <a:t>?</a:t>
            </a:r>
            <a:endParaRPr lang="en-US" sz="2200" dirty="0"/>
          </a:p>
        </p:txBody>
      </p:sp>
      <p:sp>
        <p:nvSpPr>
          <p:cNvPr id="4" name="Shape 2"/>
          <p:cNvSpPr/>
          <p:nvPr/>
        </p:nvSpPr>
        <p:spPr>
          <a:xfrm>
            <a:off x="5223053" y="1325880"/>
            <a:ext cx="2640787" cy="2491232"/>
          </a:xfrm>
          <a:prstGeom prst="roundRect">
            <a:avLst>
              <a:gd name="adj" fmla="val 2936"/>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ZWEI WERKZEUGE</a:t>
            </a:r>
            <a:endParaRPr lang="en-US" sz="1300" dirty="0"/>
          </a:p>
        </p:txBody>
      </p:sp>
      <p:sp>
        <p:nvSpPr>
          <p:cNvPr id="6" name="Text 4"/>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b="1" dirty="0">
                <a:solidFill>
                  <a:srgbClr val="1B1B1F"/>
                </a:solidFill>
              </a:rPr>
              <a:t>Kasiski-Test</a:t>
            </a:r>
            <a:r>
              <a:rPr lang="en-US" sz="2000" dirty="0">
                <a:solidFill>
                  <a:srgbClr val="1B1B1F"/>
                </a:solidFill>
              </a:rPr>
              <a:t> – Wiederholungen</a:t>
            </a:r>
            <a:endParaRPr lang="en-US" sz="2000" dirty="0"/>
          </a:p>
        </p:txBody>
      </p:sp>
      <p:sp>
        <p:nvSpPr>
          <p:cNvPr id="7" name="Text 5"/>
          <p:cNvSpPr txBox="1"/>
          <p:nvPr/>
        </p:nvSpPr>
        <p:spPr>
          <a:xfrm>
            <a:off x="5451653" y="2576576"/>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Friedman-Test</a:t>
            </a:r>
            <a:r>
              <a:rPr lang="en-US" sz="2000" dirty="0">
                <a:solidFill>
                  <a:srgbClr val="1B1B1F"/>
                </a:solidFill>
              </a:rPr>
              <a:t> – Koinzidenzindex (eA)</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Kasiski-Test: Wiederholungen suchen</a:t>
            </a:r>
            <a:endParaRPr lang="en-US" sz="3000" dirty="0"/>
          </a:p>
        </p:txBody>
      </p:sp>
      <p:sp>
        <p:nvSpPr>
          <p:cNvPr id="3" name="Text 1"/>
          <p:cNvSpPr txBox="1"/>
          <p:nvPr/>
        </p:nvSpPr>
        <p:spPr>
          <a:xfrm>
            <a:off x="548640" y="1325880"/>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Gesucht: gleiche Buchstabenfolgen (ab 3 Buchstaben) im Geheimtext</a:t>
            </a:r>
            <a:endParaRPr lang="en-US" sz="2200" dirty="0"/>
          </a:p>
        </p:txBody>
      </p:sp>
      <p:sp>
        <p:nvSpPr>
          <p:cNvPr id="4" name="Geheimtext-Kasten"/>
          <p:cNvSpPr/>
          <p:nvPr/>
        </p:nvSpPr>
        <p:spPr>
          <a:xfrm>
            <a:off x="548640" y="2181352"/>
            <a:ext cx="7315200" cy="2594610"/>
          </a:xfrm>
          <a:prstGeom prst="rect">
            <a:avLst/>
          </a:prstGeom>
          <a:solidFill>
            <a:srgbClr val="F2EADB"/>
          </a:solidFill>
          <a:ln w="9525">
            <a:solidFill>
              <a:srgbClr val="D8CDB8"/>
            </a:solidFill>
            <a:prstDash val="solid"/>
          </a:ln>
        </p:spPr>
      </p:sp>
      <p:sp>
        <p:nvSpPr>
          <p:cNvPr id="5" name="Text 3"/>
          <p:cNvSpPr txBox="1"/>
          <p:nvPr/>
        </p:nvSpPr>
        <p:spPr>
          <a:xfrm>
            <a:off x="777240" y="2291080"/>
            <a:ext cx="6858000" cy="2375154"/>
          </a:xfrm>
          <a:prstGeom prst="rect">
            <a:avLst/>
          </a:prstGeom>
          <a:noFill/>
          <a:ln/>
        </p:spPr>
        <p:txBody>
          <a:bodyPr wrap="square" lIns="0" tIns="0" rIns="0" bIns="0" rtlCol="0" anchor="t"/>
          <a:lstStyle/>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NZCUE CLDVJ PXIXD DMGZS FLVGH HBFOE YJYUS</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XXYJL RAOWJ DMHWR RROPC WVWQR AWXPV SCWRA</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OWJDM HWGRP IXHSE WCXGN WSTFT GJGWK SGFKW</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XEBPL NWSTF TGJGW KSGFY GWDRH XUWVE YAESK</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MYGUY SFKTF HNSVO EFPEH WNZCH XBSMY PXVVL</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QVFTB AMXUT TKPJO ELTWS FLIGT YRWXE BXXTW</a:t>
            </a:r>
            <a:endParaRPr lang="en-US" sz="1800" dirty="0"/>
          </a:p>
          <a:p>
            <a:pPr indent="0" marL="0">
              <a:lnSpc>
                <a:spcPct val="115000"/>
              </a:lnSpc>
              <a:buNone/>
            </a:pPr>
            <a:r>
              <a:rPr lang="en-US" sz="1800" b="1" spc="200" kern="0" dirty="0">
                <a:solidFill>
                  <a:srgbClr val="1B1B1F"/>
                </a:solidFill>
                <a:latin typeface="Consolas" pitchFamily="34" charset="0"/>
                <a:ea typeface="Consolas" pitchFamily="34" charset="-122"/>
                <a:cs typeface="Consolas" pitchFamily="34" charset="-120"/>
              </a:rPr>
              <a:t>SEBTE SKOEK XM</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Warum wiederholt sich etwas?</a:t>
            </a:r>
            <a:endParaRPr lang="en-US" sz="3000" dirty="0"/>
          </a:p>
        </p:txBody>
      </p:sp>
      <p:sp>
        <p:nvSpPr>
          <p:cNvPr id="3" name="Text 1"/>
          <p:cNvSpPr txBox="1"/>
          <p:nvPr/>
        </p:nvSpPr>
        <p:spPr>
          <a:xfrm>
            <a:off x="548640" y="1325880"/>
            <a:ext cx="4308653" cy="603504"/>
          </a:xfrm>
          <a:prstGeom prst="rect">
            <a:avLst/>
          </a:prstGeom>
          <a:noFill/>
          <a:ln/>
        </p:spPr>
        <p:txBody>
          <a:bodyPr wrap="square" lIns="0" tIns="0" rIns="0" bIns="0" rtlCol="0" anchor="t"/>
          <a:lstStyle/>
          <a:p>
            <a:pPr algn="l" indent="0" marL="0">
              <a:buNone/>
            </a:pPr>
            <a:r>
              <a:rPr lang="en-US" sz="1800" dirty="0">
                <a:solidFill>
                  <a:srgbClr val="1B1B1F"/>
                </a:solidFill>
              </a:rPr>
              <a:t>Beide Male steht derselbe Klartext unter denselben Schlüsselbuchstaben:</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4308653" cy="914400"/>
        </p:xfrm>
        <a:graphic>
          <a:graphicData uri="http://schemas.openxmlformats.org/drawingml/2006/table">
            <a:tbl>
              <a:tblPr/>
              <a:tblGrid>
                <a:gridCol w="931601"/>
                <a:gridCol w="1688526"/>
                <a:gridCol w="1688526"/>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Stelle 41 … 49</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Stelle 69 … 77</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Klartext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d i e f l o t t 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d i e f l o t t 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Schlüssel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O S K R Y P T O 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O S K R Y P T O 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Geheimtext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R A O W J D M H W</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R A O W J D M H W</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030216"/>
            <a:ext cx="4308653" cy="603504"/>
          </a:xfrm>
          <a:prstGeom prst="rect">
            <a:avLst/>
          </a:prstGeom>
          <a:noFill/>
          <a:ln/>
        </p:spPr>
        <p:txBody>
          <a:bodyPr wrap="square" lIns="0" tIns="0" rIns="0" bIns="0" rtlCol="0" anchor="t"/>
          <a:lstStyle/>
          <a:p>
            <a:pPr algn="l" indent="0" marL="0">
              <a:buNone/>
            </a:pPr>
            <a:r>
              <a:rPr lang="en-US" sz="1800" dirty="0">
                <a:solidFill>
                  <a:srgbClr val="1B1B1F"/>
                </a:solidFill>
              </a:rPr>
              <a:t>Abstand 69 − 41 = </a:t>
            </a:r>
            <a:r>
              <a:rPr lang="en-US" sz="1800" b="1" dirty="0">
                <a:solidFill>
                  <a:srgbClr val="1B1B1F"/>
                </a:solidFill>
              </a:rPr>
              <a:t>28</a:t>
            </a:r>
            <a:r>
              <a:rPr lang="en-US" sz="1800" dirty="0">
                <a:solidFill>
                  <a:srgbClr val="1B1B1F"/>
                </a:solidFill>
              </a:rPr>
              <a:t> = 4 · 7 – ein </a:t>
            </a:r>
            <a:r>
              <a:rPr lang="en-US" sz="1800" b="1" dirty="0">
                <a:solidFill>
                  <a:srgbClr val="1B1B1F"/>
                </a:solidFill>
              </a:rPr>
              <a:t>Vielfaches der Schlüssellänge</a:t>
            </a:r>
            <a:endParaRPr lang="en-US" sz="1800" dirty="0"/>
          </a:p>
        </p:txBody>
      </p:sp>
      <p:sp>
        <p:nvSpPr>
          <p:cNvPr id="6" name="Shape 3"/>
          <p:cNvSpPr/>
          <p:nvPr/>
        </p:nvSpPr>
        <p:spPr>
          <a:xfrm>
            <a:off x="5223053" y="1325880"/>
            <a:ext cx="2640787" cy="2429256"/>
          </a:xfrm>
          <a:prstGeom prst="roundRect">
            <a:avLst>
              <a:gd name="adj" fmla="val 3011"/>
            </a:avLst>
          </a:prstGeom>
          <a:solidFill>
            <a:srgbClr val="F2EADB"/>
          </a:solidFill>
          <a:ln w="12700">
            <a:solidFill>
              <a:srgbClr val="7A2E2E"/>
            </a:solidFill>
            <a:prstDash val="solid"/>
          </a:ln>
        </p:spPr>
      </p:sp>
      <p:sp>
        <p:nvSpPr>
          <p:cNvPr id="7" name="Text 4"/>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KASISKI</a:t>
            </a:r>
            <a:endParaRPr lang="en-US" sz="1300" dirty="0"/>
          </a:p>
        </p:txBody>
      </p:sp>
      <p:sp>
        <p:nvSpPr>
          <p:cNvPr id="8" name="Text 5"/>
          <p:cNvSpPr txBox="1"/>
          <p:nvPr/>
        </p:nvSpPr>
        <p:spPr>
          <a:xfrm>
            <a:off x="5451653" y="1783080"/>
            <a:ext cx="2183587" cy="1037336"/>
          </a:xfrm>
          <a:prstGeom prst="rect">
            <a:avLst/>
          </a:prstGeom>
          <a:noFill/>
          <a:ln/>
        </p:spPr>
        <p:txBody>
          <a:bodyPr wrap="square" lIns="0" tIns="0" rIns="0" bIns="0" rtlCol="0" anchor="t"/>
          <a:lstStyle/>
          <a:p>
            <a:pPr algn="l" indent="0" marL="0">
              <a:buNone/>
            </a:pPr>
            <a:r>
              <a:rPr lang="en-US" sz="1600" dirty="0">
                <a:solidFill>
                  <a:srgbClr val="1B1B1F"/>
                </a:solidFill>
              </a:rPr>
              <a:t>gleicher Klartext + gleiche Stelle im Schlüssel → gleicher Geheimtext</a:t>
            </a:r>
            <a:endParaRPr lang="en-US" sz="1600" dirty="0"/>
          </a:p>
        </p:txBody>
      </p:sp>
      <p:sp>
        <p:nvSpPr>
          <p:cNvPr id="9" name="Text 6"/>
          <p:cNvSpPr txBox="1"/>
          <p:nvPr/>
        </p:nvSpPr>
        <p:spPr>
          <a:xfrm>
            <a:off x="5451653" y="2948432"/>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Abstand = Vielfaches von L</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Abstände und Teiler</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308653" cy="914400"/>
        </p:xfrm>
        <a:graphic>
          <a:graphicData uri="http://schemas.openxmlformats.org/drawingml/2006/table">
            <a:tbl>
              <a:tblPr/>
              <a:tblGrid>
                <a:gridCol w="1357521"/>
                <a:gridCol w="826317"/>
                <a:gridCol w="590226"/>
                <a:gridCol w="1534589"/>
              </a:tblGrid>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Wiederholung</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Stellen</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Abstand</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Teiler (&gt; 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RAOWJDMHW</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41 und 69</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2, 4, </a:t>
                      </a:r>
                      <a:r>
                        <a:rPr lang="en-US" sz="1500" b="1" dirty="0">
                          <a:solidFill>
                            <a:srgbClr val="1B1B1F"/>
                          </a:solidFill>
                          <a:latin typeface="Calibri" pitchFamily="34" charset="0"/>
                          <a:ea typeface="Calibri" pitchFamily="34" charset="-122"/>
                          <a:cs typeface="Calibri" pitchFamily="34" charset="-120"/>
                        </a:rPr>
                        <a:t>7</a:t>
                      </a:r>
                      <a:r>
                        <a:rPr lang="en-US" sz="1500" dirty="0">
                          <a:solidFill>
                            <a:srgbClr val="1B1B1F"/>
                          </a:solidFill>
                          <a:latin typeface="Calibri" pitchFamily="34" charset="0"/>
                          <a:ea typeface="Calibri" pitchFamily="34" charset="-122"/>
                          <a:cs typeface="Calibri" pitchFamily="34" charset="-120"/>
                        </a:rPr>
                        <a:t>, 14, 28</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NWSTFTGJGWKSGF</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90 und 111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3, </a:t>
                      </a:r>
                      <a:r>
                        <a:rPr lang="en-US" sz="1500" b="1" dirty="0">
                          <a:solidFill>
                            <a:srgbClr val="1B1B1F"/>
                          </a:solidFill>
                          <a:latin typeface="Calibri" pitchFamily="34" charset="0"/>
                          <a:ea typeface="Calibri" pitchFamily="34" charset="-122"/>
                          <a:cs typeface="Calibri" pitchFamily="34" charset="-120"/>
                        </a:rPr>
                        <a:t>7</a:t>
                      </a:r>
                      <a:r>
                        <a:rPr lang="en-US" sz="1500" dirty="0">
                          <a:solidFill>
                            <a:srgbClr val="1B1B1F"/>
                          </a:solidFill>
                          <a:latin typeface="Calibri" pitchFamily="34" charset="0"/>
                          <a:ea typeface="Calibri" pitchFamily="34" charset="-122"/>
                          <a:cs typeface="Calibri" pitchFamily="34" charset="-120"/>
                        </a:rPr>
                        <a:t>, 21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WXEB</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105 und 203</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98</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2, </a:t>
                      </a:r>
                      <a:r>
                        <a:rPr lang="en-US" sz="1500" b="1" dirty="0">
                          <a:solidFill>
                            <a:srgbClr val="1B1B1F"/>
                          </a:solidFill>
                          <a:latin typeface="Calibri" pitchFamily="34" charset="0"/>
                          <a:ea typeface="Calibri" pitchFamily="34" charset="-122"/>
                          <a:cs typeface="Calibri" pitchFamily="34" charset="-120"/>
                        </a:rPr>
                        <a:t>7</a:t>
                      </a:r>
                      <a:r>
                        <a:rPr lang="en-US" sz="1500" dirty="0">
                          <a:solidFill>
                            <a:srgbClr val="1B1B1F"/>
                          </a:solidFill>
                          <a:latin typeface="Calibri" pitchFamily="34" charset="0"/>
                          <a:ea typeface="Calibri" pitchFamily="34" charset="-122"/>
                          <a:cs typeface="Calibri" pitchFamily="34" charset="-120"/>
                        </a:rPr>
                        <a:t>, 14, 49, 98</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ESK</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138 und 215</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77</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7</a:t>
                      </a:r>
                      <a:r>
                        <a:rPr lang="en-US" sz="1500" dirty="0">
                          <a:solidFill>
                            <a:srgbClr val="1B1B1F"/>
                          </a:solidFill>
                          <a:latin typeface="Calibri" pitchFamily="34" charset="0"/>
                          <a:ea typeface="Calibri" pitchFamily="34" charset="-122"/>
                          <a:cs typeface="Calibri" pitchFamily="34" charset="-120"/>
                        </a:rPr>
                        <a:t>, 11, 77</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NZC</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 und 162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161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7</a:t>
                      </a:r>
                      <a:r>
                        <a:rPr lang="en-US" sz="1500" dirty="0">
                          <a:solidFill>
                            <a:srgbClr val="1B1B1F"/>
                          </a:solidFill>
                          <a:latin typeface="Calibri" pitchFamily="34" charset="0"/>
                          <a:ea typeface="Calibri" pitchFamily="34" charset="-122"/>
                          <a:cs typeface="Calibri" pitchFamily="34" charset="-120"/>
                        </a:rPr>
                        <a:t>, 23, 161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SFL</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20 und 195</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175</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5, </a:t>
                      </a:r>
                      <a:r>
                        <a:rPr lang="en-US" sz="1500" b="1" dirty="0">
                          <a:solidFill>
                            <a:srgbClr val="1B1B1F"/>
                          </a:solidFill>
                          <a:latin typeface="Calibri" pitchFamily="34" charset="0"/>
                          <a:ea typeface="Calibri" pitchFamily="34" charset="-122"/>
                          <a:cs typeface="Calibri" pitchFamily="34" charset="-120"/>
                        </a:rPr>
                        <a:t>7</a:t>
                      </a:r>
                      <a:r>
                        <a:rPr lang="en-US" sz="1500" dirty="0">
                          <a:solidFill>
                            <a:srgbClr val="1B1B1F"/>
                          </a:solidFill>
                          <a:latin typeface="Calibri" pitchFamily="34" charset="0"/>
                          <a:ea typeface="Calibri" pitchFamily="34" charset="-122"/>
                          <a:cs typeface="Calibri" pitchFamily="34" charset="-120"/>
                        </a:rPr>
                        <a:t>, 25, 35, 175</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TWS</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193 und 209</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2, 4, 8, 16</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4" name="Shape 1"/>
          <p:cNvSpPr/>
          <p:nvPr/>
        </p:nvSpPr>
        <p:spPr>
          <a:xfrm>
            <a:off x="5223053" y="1325880"/>
            <a:ext cx="2640787" cy="2974848"/>
          </a:xfrm>
          <a:prstGeom prst="roundRect">
            <a:avLst>
              <a:gd name="adj" fmla="val 2770"/>
            </a:avLst>
          </a:prstGeom>
          <a:solidFill>
            <a:srgbClr val="F2EADB"/>
          </a:solidFill>
          <a:ln w="12700">
            <a:solidFill>
              <a:srgbClr val="7A2E2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ERGEBNIS</a:t>
            </a:r>
            <a:endParaRPr lang="en-US" sz="1300" dirty="0"/>
          </a:p>
        </p:txBody>
      </p:sp>
      <p:sp>
        <p:nvSpPr>
          <p:cNvPr id="6" name="Text 3"/>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b="1" dirty="0">
                <a:solidFill>
                  <a:srgbClr val="1B1B1F"/>
                </a:solidFill>
              </a:rPr>
              <a:t>7</a:t>
            </a:r>
            <a:r>
              <a:rPr lang="en-US" sz="2000" dirty="0">
                <a:solidFill>
                  <a:srgbClr val="1B1B1F"/>
                </a:solidFill>
              </a:rPr>
              <a:t> teilt 6 von 7 Abständen</a:t>
            </a:r>
            <a:endParaRPr lang="en-US" sz="2000" dirty="0"/>
          </a:p>
        </p:txBody>
      </p:sp>
      <p:sp>
        <p:nvSpPr>
          <p:cNvPr id="7" name="Text 4"/>
          <p:cNvSpPr txBox="1"/>
          <p:nvPr/>
        </p:nvSpPr>
        <p:spPr>
          <a:xfrm>
            <a:off x="5451653" y="257657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16: </a:t>
            </a:r>
            <a:r>
              <a:rPr lang="en-US" sz="2000" b="1" dirty="0">
                <a:solidFill>
                  <a:srgbClr val="1B1B1F"/>
                </a:solidFill>
              </a:rPr>
              <a:t>Zufallstreffer</a:t>
            </a:r>
            <a:endParaRPr lang="en-US" sz="2000" dirty="0"/>
          </a:p>
        </p:txBody>
      </p:sp>
      <p:sp>
        <p:nvSpPr>
          <p:cNvPr id="8" name="Text 5"/>
          <p:cNvSpPr txBox="1"/>
          <p:nvPr/>
        </p:nvSpPr>
        <p:spPr>
          <a:xfrm>
            <a:off x="5451653" y="337007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 Schlüssellänge </a:t>
            </a:r>
            <a:r>
              <a:rPr lang="en-US" sz="2000" b="1" dirty="0">
                <a:solidFill>
                  <a:srgbClr val="1B1B1F"/>
                </a:solidFill>
              </a:rPr>
              <a:t>7</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Friedman: Wie bunt ist ein Text?</a:t>
            </a:r>
            <a:endParaRPr lang="en-US" sz="3000" dirty="0"/>
          </a:p>
        </p:txBody>
      </p:sp>
      <p:sp>
        <p:nvSpPr>
          <p:cNvPr id="3" name="Text 1"/>
          <p:cNvSpPr txBox="1"/>
          <p:nvPr/>
        </p:nvSpPr>
        <p:spPr>
          <a:xfrm>
            <a:off x="548640" y="1325880"/>
            <a:ext cx="4308653" cy="4093464"/>
          </a:xfrm>
          <a:prstGeom prst="rect">
            <a:avLst/>
          </a:prstGeom>
          <a:noFill/>
          <a:ln/>
        </p:spPr>
        <p:txBody>
          <a:bodyPr wrap="square" lIns="0" tIns="0" rIns="0" bIns="0" rtlCol="0" anchor="t"/>
          <a:lstStyle/>
          <a:p>
            <a:pPr marL="279400" indent="-279400">
              <a:spcAft>
                <a:spcPts val="600"/>
              </a:spcAft>
              <a:buSzPct val="100000"/>
              <a:buChar char="●"/>
            </a:pPr>
            <a:r>
              <a:rPr lang="en-US" sz="2000" b="1" dirty="0">
                <a:solidFill>
                  <a:srgbClr val="1B1B1F"/>
                </a:solidFill>
              </a:rPr>
              <a:t>Koinzidenzindex</a:t>
            </a:r>
            <a:r>
              <a:rPr lang="en-US" sz="2000" dirty="0">
                <a:solidFill>
                  <a:srgbClr val="1B1B1F"/>
                </a:solidFill>
              </a:rPr>
              <a:t>: Wahrscheinlichkeit, dass zwei zufällig gewählte Buchstaben </a:t>
            </a:r>
            <a:r>
              <a:rPr lang="en-US" sz="2000" b="1" dirty="0">
                <a:solidFill>
                  <a:srgbClr val="1B1B1F"/>
                </a:solidFill>
              </a:rPr>
              <a:t>gleich</a:t>
            </a:r>
            <a:r>
              <a:rPr lang="en-US" sz="2000" dirty="0">
                <a:solidFill>
                  <a:srgbClr val="1B1B1F"/>
                </a:solidFill>
              </a:rPr>
              <a:t> sind</a:t>
            </a:r>
            <a:endParaRPr lang="en-US" sz="2000" dirty="0"/>
          </a:p>
          <a:p>
            <a:pPr marL="279400" indent="-279400">
              <a:spcAft>
                <a:spcPts val="600"/>
              </a:spcAft>
              <a:buSzPct val="100000"/>
              <a:buChar char="●"/>
            </a:pPr>
            <a:r>
              <a:rPr lang="en-US" sz="2000" b="1" dirty="0">
                <a:solidFill>
                  <a:srgbClr val="1B1B1F"/>
                </a:solidFill>
              </a:rPr>
              <a:t>I = Σ nᵢ(nᵢ − 1) / (n(n − 1))</a:t>
            </a:r>
            <a:r>
              <a:rPr lang="en-US" sz="2000" dirty="0">
                <a:solidFill>
                  <a:srgbClr val="1B1B1F"/>
                </a:solidFill>
              </a:rPr>
              <a:t> – nᵢ: Anzahl des i-ten Buchstabens, n: Textlänge</a:t>
            </a:r>
            <a:endParaRPr lang="en-US" sz="2000" dirty="0"/>
          </a:p>
          <a:p>
            <a:pPr marL="279400" indent="-279400">
              <a:spcAft>
                <a:spcPts val="600"/>
              </a:spcAft>
              <a:buSzPct val="100000"/>
              <a:buChar char="●"/>
            </a:pPr>
            <a:r>
              <a:rPr lang="en-US" sz="2000" dirty="0">
                <a:solidFill>
                  <a:srgbClr val="1B1B1F"/>
                </a:solidFill>
              </a:rPr>
              <a:t>Deutscher Text: </a:t>
            </a:r>
            <a:r>
              <a:rPr lang="en-US" sz="2000" b="1" dirty="0">
                <a:solidFill>
                  <a:srgbClr val="1B1B1F"/>
                </a:solidFill>
              </a:rPr>
              <a:t>I_D ≈ 0,076</a:t>
            </a:r>
            <a:r>
              <a:rPr lang="en-US" sz="2000" dirty="0">
                <a:solidFill>
                  <a:srgbClr val="1B1B1F"/>
                </a:solidFill>
              </a:rPr>
              <a:t> · Zufallstext: </a:t>
            </a:r>
            <a:r>
              <a:rPr lang="en-US" sz="2000" b="1" dirty="0">
                <a:solidFill>
                  <a:srgbClr val="1B1B1F"/>
                </a:solidFill>
              </a:rPr>
              <a:t>I_Z = 1/26 ≈ 0,038</a:t>
            </a:r>
            <a:endParaRPr lang="en-US" sz="2000" dirty="0"/>
          </a:p>
          <a:p>
            <a:pPr marL="279400" indent="-279400">
              <a:spcAft>
                <a:spcPts val="600"/>
              </a:spcAft>
              <a:buSzPct val="100000"/>
              <a:buChar char="●"/>
            </a:pPr>
            <a:r>
              <a:rPr lang="en-US" sz="2000" dirty="0">
                <a:solidFill>
                  <a:srgbClr val="1B1B1F"/>
                </a:solidFill>
              </a:rPr>
              <a:t>Monoalphabetisch bleibt I gleich, polyalphabetisch sinkt I – je länger der Schlüssel, desto tiefer</a:t>
            </a:r>
            <a:endParaRPr lang="en-US" sz="2000" dirty="0"/>
          </a:p>
        </p:txBody>
      </p:sp>
      <p:sp>
        <p:nvSpPr>
          <p:cNvPr id="4" name="Shape 2"/>
          <p:cNvSpPr/>
          <p:nvPr/>
        </p:nvSpPr>
        <p:spPr>
          <a:xfrm>
            <a:off x="5223053" y="1325880"/>
            <a:ext cx="2640787" cy="2788920"/>
          </a:xfrm>
          <a:prstGeom prst="roundRect">
            <a:avLst>
              <a:gd name="adj" fmla="val 2770"/>
            </a:avLst>
          </a:prstGeom>
          <a:solidFill>
            <a:srgbClr val="EEF3FA"/>
          </a:solidFill>
          <a:ln w="12700">
            <a:solidFill>
              <a:srgbClr val="1F4E8C"/>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UNSER BRIEF</a:t>
            </a:r>
            <a:endParaRPr lang="en-US" sz="1300" dirty="0"/>
          </a:p>
        </p:txBody>
      </p:sp>
      <p:sp>
        <p:nvSpPr>
          <p:cNvPr id="6" name="Text 4"/>
          <p:cNvSpPr txBox="1"/>
          <p:nvPr/>
        </p:nvSpPr>
        <p:spPr>
          <a:xfrm>
            <a:off x="5451653" y="178308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Klartext: I ≈ 0,0745</a:t>
            </a:r>
            <a:endParaRPr lang="en-US" sz="1800" dirty="0"/>
          </a:p>
        </p:txBody>
      </p:sp>
      <p:sp>
        <p:nvSpPr>
          <p:cNvPr id="7" name="Text 5"/>
          <p:cNvSpPr txBox="1"/>
          <p:nvPr/>
        </p:nvSpPr>
        <p:spPr>
          <a:xfrm>
            <a:off x="5451653" y="251460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mit Caesar: I ≈ 0,0745</a:t>
            </a:r>
            <a:endParaRPr lang="en-US" sz="1800" dirty="0"/>
          </a:p>
        </p:txBody>
      </p:sp>
      <p:sp>
        <p:nvSpPr>
          <p:cNvPr id="8" name="Text 6"/>
          <p:cNvSpPr txBox="1"/>
          <p:nvPr/>
        </p:nvSpPr>
        <p:spPr>
          <a:xfrm>
            <a:off x="5451653" y="324612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mit Vigenère: I ≈ 0,0434</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Friedman-Test für unseren Brief</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308653" cy="914400"/>
        </p:xfrm>
        <a:graphic>
          <a:graphicData uri="http://schemas.openxmlformats.org/drawingml/2006/table">
            <a:tbl>
              <a:tblPr/>
              <a:tblGrid>
                <a:gridCol w="984835"/>
                <a:gridCol w="3323818"/>
              </a:tblGrid>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Schritt</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Rechnung</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Textlänge</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 = 222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Summe</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Σ nᵢ(nᵢ − 1) = 20·19 + 16·15 + 15·14 + … = 2130</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Nenner</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n(n − 1) = 222 · 221 = 49 062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Koinzidenzindex</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I = 2130 / 49 062 ≈ </a:t>
                      </a:r>
                      <a:r>
                        <a:rPr lang="en-US" sz="1500" b="1" dirty="0">
                          <a:solidFill>
                            <a:srgbClr val="1B1B1F"/>
                          </a:solidFill>
                          <a:latin typeface="Calibri" pitchFamily="34" charset="0"/>
                          <a:ea typeface="Calibri" pitchFamily="34" charset="-122"/>
                          <a:cs typeface="Calibri" pitchFamily="34" charset="-120"/>
                        </a:rPr>
                        <a:t>0,0434</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Formel</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k ≈ (I_D − I_Z) · n / ((n − 1) · I − I_Z · n + I_D)</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Einsetzen</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k ≈ 0,038 · 222 / (221 · 0,0434 − 0,038 · 222 + 0,076)</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Ergebnis</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k ≈ 8,436 / 1,2314 ≈ </a:t>
                      </a:r>
                      <a:r>
                        <a:rPr lang="en-US" sz="1500" b="1" dirty="0">
                          <a:solidFill>
                            <a:srgbClr val="1B1B1F"/>
                          </a:solidFill>
                          <a:latin typeface="Calibri" pitchFamily="34" charset="0"/>
                          <a:ea typeface="Calibri" pitchFamily="34" charset="-122"/>
                          <a:cs typeface="Calibri" pitchFamily="34" charset="-120"/>
                        </a:rPr>
                        <a:t>6,85 ≈ 7</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4" name="Shape 1"/>
          <p:cNvSpPr/>
          <p:nvPr/>
        </p:nvSpPr>
        <p:spPr>
          <a:xfrm>
            <a:off x="5223053" y="1325880"/>
            <a:ext cx="2640787" cy="2974848"/>
          </a:xfrm>
          <a:prstGeom prst="roundRect">
            <a:avLst>
              <a:gd name="adj" fmla="val 2770"/>
            </a:avLst>
          </a:prstGeom>
          <a:solidFill>
            <a:srgbClr val="EEF6EE"/>
          </a:solidFill>
          <a:ln w="12700">
            <a:solidFill>
              <a:srgbClr val="2E7D32"/>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2E7D32"/>
                </a:solidFill>
              </a:rPr>
              <a:t>PASST ZU KASISKI</a:t>
            </a:r>
            <a:endParaRPr lang="en-US" sz="1300" dirty="0"/>
          </a:p>
        </p:txBody>
      </p:sp>
      <p:sp>
        <p:nvSpPr>
          <p:cNvPr id="6" name="Text 3"/>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Friedman: </a:t>
            </a:r>
            <a:r>
              <a:rPr lang="en-US" sz="2000" b="1" dirty="0">
                <a:solidFill>
                  <a:srgbClr val="1B1B1F"/>
                </a:solidFill>
              </a:rPr>
              <a:t>Schätzung</a:t>
            </a:r>
            <a:r>
              <a:rPr lang="en-US" sz="2000" dirty="0">
                <a:solidFill>
                  <a:srgbClr val="1B1B1F"/>
                </a:solidFill>
              </a:rPr>
              <a:t> ≈ 7</a:t>
            </a:r>
            <a:endParaRPr lang="en-US" sz="2000" dirty="0"/>
          </a:p>
        </p:txBody>
      </p:sp>
      <p:sp>
        <p:nvSpPr>
          <p:cNvPr id="7" name="Text 4"/>
          <p:cNvSpPr txBox="1"/>
          <p:nvPr/>
        </p:nvSpPr>
        <p:spPr>
          <a:xfrm>
            <a:off x="5451653" y="257657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Kasiski: Kandidat </a:t>
            </a:r>
            <a:r>
              <a:rPr lang="en-US" sz="2000" b="1" dirty="0">
                <a:solidFill>
                  <a:srgbClr val="1B1B1F"/>
                </a:solidFill>
              </a:rPr>
              <a:t>7</a:t>
            </a:r>
            <a:endParaRPr lang="en-US" sz="2000" dirty="0"/>
          </a:p>
        </p:txBody>
      </p:sp>
      <p:sp>
        <p:nvSpPr>
          <p:cNvPr id="8" name="Text 5"/>
          <p:cNvSpPr txBox="1"/>
          <p:nvPr/>
        </p:nvSpPr>
        <p:spPr>
          <a:xfrm>
            <a:off x="5451653" y="337007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 Schlüssellänge 7</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Teiltext 7: jeder siebte Buchstabe</a:t>
            </a:r>
            <a:endParaRPr lang="en-US" sz="3000" dirty="0"/>
          </a:p>
        </p:txBody>
      </p:sp>
      <p:sp>
        <p:nvSpPr>
          <p:cNvPr id="3" name="Text 1"/>
          <p:cNvSpPr txBox="1"/>
          <p:nvPr/>
        </p:nvSpPr>
        <p:spPr>
          <a:xfrm>
            <a:off x="548640" y="1325880"/>
            <a:ext cx="4308653" cy="1068324"/>
          </a:xfrm>
          <a:prstGeom prst="rect">
            <a:avLst/>
          </a:prstGeom>
          <a:noFill/>
          <a:ln/>
        </p:spPr>
        <p:txBody>
          <a:bodyPr wrap="square" lIns="0" tIns="0" rIns="0" bIns="0" rtlCol="0" anchor="t"/>
          <a:lstStyle/>
          <a:p>
            <a:pPr algn="l" indent="0" marL="0">
              <a:buNone/>
            </a:pPr>
            <a:r>
              <a:rPr lang="en-US" sz="2200" dirty="0">
                <a:solidFill>
                  <a:srgbClr val="1B1B1F"/>
                </a:solidFill>
              </a:rPr>
              <a:t>Buchstaben Nr. 7, 14, 21, … – alle unter demselben Schlüsselbuchstaben:</a:t>
            </a:r>
            <a:endParaRPr lang="en-US" sz="2200" dirty="0"/>
          </a:p>
        </p:txBody>
      </p:sp>
      <p:sp>
        <p:nvSpPr>
          <p:cNvPr id="4" name="Geheimtext-Kasten"/>
          <p:cNvSpPr/>
          <p:nvPr/>
        </p:nvSpPr>
        <p:spPr>
          <a:xfrm>
            <a:off x="548640" y="2522220"/>
            <a:ext cx="4308653" cy="1600200"/>
          </a:xfrm>
          <a:prstGeom prst="rect">
            <a:avLst/>
          </a:prstGeom>
          <a:solidFill>
            <a:srgbClr val="F2EADB"/>
          </a:solidFill>
          <a:ln w="9525">
            <a:solidFill>
              <a:srgbClr val="D8CDB8"/>
            </a:solidFill>
            <a:prstDash val="solid"/>
          </a:ln>
        </p:spPr>
      </p:sp>
      <p:sp>
        <p:nvSpPr>
          <p:cNvPr id="5" name="Text 3"/>
          <p:cNvSpPr txBox="1"/>
          <p:nvPr/>
        </p:nvSpPr>
        <p:spPr>
          <a:xfrm>
            <a:off x="777240" y="2631948"/>
            <a:ext cx="3851453" cy="1380744"/>
          </a:xfrm>
          <a:prstGeom prst="rect">
            <a:avLst/>
          </a:prstGeom>
          <a:noFill/>
          <a:ln/>
        </p:spPr>
        <p:txBody>
          <a:bodyPr wrap="square" lIns="0" tIns="0" rIns="0" bIns="0" rtlCol="0" anchor="t"/>
          <a:lstStyle/>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LXFFS AWWXA WSWGW</a:t>
            </a:r>
            <a:endParaRPr lang="en-US" sz="2400" dirty="0"/>
          </a:p>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WGGWK FVWSL MJFWW</a:t>
            </a:r>
            <a:endParaRPr lang="en-US" sz="2400" dirty="0"/>
          </a:p>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K</a:t>
            </a:r>
            <a:endParaRPr lang="en-US" sz="2400" dirty="0"/>
          </a:p>
        </p:txBody>
      </p:sp>
      <p:sp>
        <p:nvSpPr>
          <p:cNvPr id="6" name="Shape 4"/>
          <p:cNvSpPr/>
          <p:nvPr/>
        </p:nvSpPr>
        <p:spPr>
          <a:xfrm>
            <a:off x="5223053" y="1325880"/>
            <a:ext cx="2640787" cy="3768344"/>
          </a:xfrm>
          <a:prstGeom prst="roundRect">
            <a:avLst>
              <a:gd name="adj" fmla="val 2770"/>
            </a:avLst>
          </a:prstGeom>
          <a:solidFill>
            <a:srgbClr val="F2EADB"/>
          </a:solidFill>
          <a:ln w="12700">
            <a:solidFill>
              <a:srgbClr val="7A2E2E"/>
            </a:solidFill>
            <a:prstDash val="solid"/>
          </a:ln>
        </p:spPr>
      </p:sp>
      <p:sp>
        <p:nvSpPr>
          <p:cNvPr id="7" name="Text 5"/>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CAESAR KNACKEN</a:t>
            </a:r>
            <a:endParaRPr lang="en-US" sz="1300" dirty="0"/>
          </a:p>
        </p:txBody>
      </p:sp>
      <p:sp>
        <p:nvSpPr>
          <p:cNvPr id="8" name="Text 6"/>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häufigster Buchstabe: </a:t>
            </a:r>
            <a:r>
              <a:rPr lang="en-US" sz="2000" b="1" dirty="0">
                <a:solidFill>
                  <a:srgbClr val="1B1B1F"/>
                </a:solidFill>
              </a:rPr>
              <a:t>W</a:t>
            </a:r>
            <a:r>
              <a:rPr lang="en-US" sz="2000" dirty="0">
                <a:solidFill>
                  <a:srgbClr val="1B1B1F"/>
                </a:solidFill>
              </a:rPr>
              <a:t> (10 von 31)</a:t>
            </a:r>
            <a:endParaRPr lang="en-US" sz="2000" dirty="0"/>
          </a:p>
        </p:txBody>
      </p:sp>
      <p:sp>
        <p:nvSpPr>
          <p:cNvPr id="9" name="Text 7"/>
          <p:cNvSpPr txBox="1"/>
          <p:nvPr/>
        </p:nvSpPr>
        <p:spPr>
          <a:xfrm>
            <a:off x="5451653" y="2886456"/>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Annahme W = e</a:t>
            </a:r>
            <a:endParaRPr lang="en-US" sz="2000" dirty="0"/>
          </a:p>
        </p:txBody>
      </p:sp>
      <p:sp>
        <p:nvSpPr>
          <p:cNvPr id="10" name="Text 8"/>
          <p:cNvSpPr txBox="1"/>
          <p:nvPr/>
        </p:nvSpPr>
        <p:spPr>
          <a:xfrm>
            <a:off x="5451653" y="337007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23 − 5 = </a:t>
            </a:r>
            <a:r>
              <a:rPr lang="en-US" sz="2000" b="1" dirty="0">
                <a:solidFill>
                  <a:srgbClr val="1B1B1F"/>
                </a:solidFill>
              </a:rPr>
              <a:t>18</a:t>
            </a:r>
            <a:r>
              <a:rPr lang="en-US" sz="2000" dirty="0">
                <a:solidFill>
                  <a:srgbClr val="1B1B1F"/>
                </a:solidFill>
              </a:rPr>
              <a:t> → Verschiebung 18</a:t>
            </a:r>
            <a:endParaRPr lang="en-US" sz="2000" dirty="0"/>
          </a:p>
        </p:txBody>
      </p:sp>
      <p:sp>
        <p:nvSpPr>
          <p:cNvPr id="11" name="Text 9"/>
          <p:cNvSpPr txBox="1"/>
          <p:nvPr/>
        </p:nvSpPr>
        <p:spPr>
          <a:xfrm>
            <a:off x="5451653" y="4163568"/>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Schlüsselbuchstabe </a:t>
            </a:r>
            <a:r>
              <a:rPr lang="en-US" sz="2000" b="1" dirty="0">
                <a:solidFill>
                  <a:srgbClr val="1B1B1F"/>
                </a:solidFill>
              </a:rPr>
              <a:t>S</a:t>
            </a:r>
            <a:r>
              <a:rPr lang="en-US" sz="2000" dirty="0">
                <a:solidFill>
                  <a:srgbClr val="1B1B1F"/>
                </a:solidFill>
              </a:rPr>
              <a:t> (A = 0)</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Jetzt du: Teiltext 4</a:t>
            </a:r>
            <a:endParaRPr lang="en-US" sz="3000" dirty="0"/>
          </a:p>
        </p:txBody>
      </p:sp>
      <p:sp>
        <p:nvSpPr>
          <p:cNvPr id="3" name="Text 1"/>
          <p:cNvSpPr txBox="1"/>
          <p:nvPr/>
        </p:nvSpPr>
        <p:spPr>
          <a:xfrm>
            <a:off x="548640" y="1325880"/>
            <a:ext cx="1463040" cy="384048"/>
          </a:xfrm>
          <a:prstGeom prst="rect">
            <a:avLst/>
          </a:prstGeom>
          <a:solidFill>
            <a:srgbClr val="7A2E2E"/>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1285240"/>
          </a:xfrm>
          <a:prstGeom prst="rect">
            <a:avLst/>
          </a:prstGeom>
          <a:noFill/>
          <a:ln/>
        </p:spPr>
        <p:txBody>
          <a:bodyPr wrap="square" lIns="0" tIns="0" rIns="0" bIns="0" rtlCol="0" anchor="t"/>
          <a:lstStyle/>
          <a:p>
            <a:pPr algn="l" indent="0" marL="0">
              <a:buNone/>
            </a:pPr>
            <a:r>
              <a:rPr lang="en-US" sz="1600" dirty="0">
                <a:solidFill>
                  <a:srgbClr val="1B1B1F"/>
                </a:solidFill>
              </a:rPr>
              <a:t>Bestimme den Schlüsselbuchstaben von Teiltext 4 (Buchstaben Nr. 4, 11, 18, …). Annahme: häufigster Buchstabe = e. Nummerierung A = 1, Schlüsselbuchstabe A = Verschiebung 0.</a:t>
            </a:r>
            <a:endParaRPr lang="en-US" sz="1600" dirty="0"/>
          </a:p>
        </p:txBody>
      </p:sp>
      <p:sp>
        <p:nvSpPr>
          <p:cNvPr id="7" name="Geheimtext-Kasten"/>
          <p:cNvSpPr/>
          <p:nvPr/>
        </p:nvSpPr>
        <p:spPr>
          <a:xfrm>
            <a:off x="548640" y="3379216"/>
            <a:ext cx="4308653" cy="1379220"/>
          </a:xfrm>
          <a:prstGeom prst="rect">
            <a:avLst/>
          </a:prstGeom>
          <a:solidFill>
            <a:srgbClr val="F2EADB"/>
          </a:solidFill>
          <a:ln w="9525">
            <a:solidFill>
              <a:srgbClr val="D8CDB8"/>
            </a:solidFill>
            <a:prstDash val="solid"/>
          </a:ln>
        </p:spPr>
      </p:sp>
      <p:sp>
        <p:nvSpPr>
          <p:cNvPr id="8" name="Text 6"/>
          <p:cNvSpPr txBox="1"/>
          <p:nvPr/>
        </p:nvSpPr>
        <p:spPr>
          <a:xfrm>
            <a:off x="777240" y="3488944"/>
            <a:ext cx="3851453" cy="1159764"/>
          </a:xfrm>
          <a:prstGeom prst="rect">
            <a:avLst/>
          </a:prstGeom>
          <a:noFill/>
          <a:ln/>
        </p:spPr>
        <p:txBody>
          <a:bodyPr wrap="square" lIns="0" tIns="0" rIns="0" bIns="0" rtlCol="0" anchor="t"/>
          <a:lstStyle/>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UPGHJ JDORC DIXTG</a:t>
            </a:r>
            <a:endParaRPr lang="en-US" sz="2000" dirty="0"/>
          </a:p>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PTGHA UHPHX TTTTX</a:t>
            </a:r>
            <a:endParaRPr lang="en-US" sz="2000" dirty="0"/>
          </a:p>
          <a:p>
            <a:pPr indent="0" marL="0">
              <a:lnSpc>
                <a:spcPct val="115000"/>
              </a:lnSpc>
              <a:buNone/>
            </a:pPr>
            <a:r>
              <a:rPr lang="en-US" sz="2000" b="1" spc="200" kern="0" dirty="0">
                <a:solidFill>
                  <a:srgbClr val="1B1B1F"/>
                </a:solidFill>
                <a:latin typeface="Consolas" pitchFamily="34" charset="0"/>
                <a:ea typeface="Consolas" pitchFamily="34" charset="-122"/>
                <a:cs typeface="Consolas" pitchFamily="34" charset="-120"/>
              </a:rPr>
              <a:t>TX</a:t>
            </a:r>
            <a:endParaRPr lang="en-US" sz="2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4886452"/>
          <a:ext cx="4308653" cy="914400"/>
        </p:xfrm>
        <a:graphic>
          <a:graphicData uri="http://schemas.openxmlformats.org/drawingml/2006/table">
            <a:tbl>
              <a:tblPr/>
              <a:tblGrid>
                <a:gridCol w="718109"/>
                <a:gridCol w="718109"/>
                <a:gridCol w="718109"/>
                <a:gridCol w="718109"/>
                <a:gridCol w="718109"/>
                <a:gridCol w="718109"/>
              </a:tblGrid>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Buchstabe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H</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X</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P</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Anzahl</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10" name="Shape 7"/>
          <p:cNvSpPr/>
          <p:nvPr/>
        </p:nvSpPr>
        <p:spPr>
          <a:xfrm>
            <a:off x="5223053" y="1965960"/>
            <a:ext cx="2640787" cy="1809496"/>
          </a:xfrm>
          <a:prstGeom prst="roundRect">
            <a:avLst>
              <a:gd name="adj" fmla="val 4043"/>
            </a:avLst>
          </a:prstGeom>
          <a:solidFill>
            <a:srgbClr val="FBF3E2"/>
          </a:solidFill>
          <a:ln w="12700">
            <a:solidFill>
              <a:srgbClr val="8A5F1A"/>
            </a:solidFill>
            <a:prstDash val="solid"/>
          </a:ln>
        </p:spPr>
      </p:sp>
      <p:sp>
        <p:nvSpPr>
          <p:cNvPr id="11" name="Text 8"/>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12" name="Text 9"/>
          <p:cNvSpPr txBox="1"/>
          <p:nvPr/>
        </p:nvSpPr>
        <p:spPr>
          <a:xfrm>
            <a:off x="5451653" y="2423160"/>
            <a:ext cx="2183587" cy="479552"/>
          </a:xfrm>
          <a:prstGeom prst="rect">
            <a:avLst/>
          </a:prstGeom>
          <a:noFill/>
          <a:ln/>
        </p:spPr>
        <p:txBody>
          <a:bodyPr wrap="square" lIns="0" tIns="0" rIns="0" bIns="0" rtlCol="0" anchor="t"/>
          <a:lstStyle/>
          <a:p>
            <a:pPr algn="l" indent="0" marL="0">
              <a:buNone/>
            </a:pPr>
            <a:r>
              <a:rPr lang="en-US" sz="1400" dirty="0">
                <a:solidFill>
                  <a:srgbClr val="1B1B1F"/>
                </a:solidFill>
              </a:rPr>
              <a:t>Verschiebung = Nummer − 5</a:t>
            </a:r>
            <a:endParaRPr lang="en-US" sz="1400" dirty="0"/>
          </a:p>
        </p:txBody>
      </p:sp>
      <p:sp>
        <p:nvSpPr>
          <p:cNvPr id="13" name="Text 10"/>
          <p:cNvSpPr txBox="1"/>
          <p:nvPr/>
        </p:nvSpPr>
        <p:spPr>
          <a:xfrm>
            <a:off x="5451653" y="3030728"/>
            <a:ext cx="2183587" cy="479552"/>
          </a:xfrm>
          <a:prstGeom prst="rect">
            <a:avLst/>
          </a:prstGeom>
          <a:noFill/>
          <a:ln/>
        </p:spPr>
        <p:txBody>
          <a:bodyPr wrap="square" lIns="0" tIns="0" rIns="0" bIns="0" rtlCol="0" anchor="t"/>
          <a:lstStyle/>
          <a:p>
            <a:pPr algn="l" indent="0" marL="0">
              <a:buNone/>
            </a:pPr>
            <a:r>
              <a:rPr lang="en-US" sz="1400" dirty="0">
                <a:solidFill>
                  <a:srgbClr val="1B1B1F"/>
                </a:solidFill>
              </a:rPr>
              <a:t>Schlüsselbuchstabe = Verschiebung + 1</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 – und alle sieben Teiltexte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308653" cy="914400"/>
        </p:xfrm>
        <a:graphic>
          <a:graphicData uri="http://schemas.openxmlformats.org/drawingml/2006/table">
            <a:tbl>
              <a:tblPr/>
              <a:tblGrid>
                <a:gridCol w="718109"/>
                <a:gridCol w="957478"/>
                <a:gridCol w="1436218"/>
                <a:gridCol w="1196848"/>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Teiltext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häufigster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Verschiebung, wenn = 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Schlüsselbuchstabe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O (6×)</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15 − 5 = 10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E (8×)</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5 − 5 = 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F (5×)</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6 − 5 = 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T (7×)</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20 − 5 = 15</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X (5×)</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24 − 5 = 19</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 (6×)</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19 − 5 = 14</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W (10×)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23 − 5 = 18</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223053" y="1325880"/>
            <a:ext cx="2640787" cy="2491232"/>
          </a:xfrm>
          <a:prstGeom prst="roundRect">
            <a:avLst>
              <a:gd name="adj" fmla="val 2936"/>
            </a:avLst>
          </a:prstGeom>
          <a:solidFill>
            <a:srgbClr val="FDF3F2"/>
          </a:solidFill>
          <a:ln w="12700">
            <a:solidFill>
              <a:srgbClr val="B3261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ACHTUNG</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Teiltext 2 und 3: nur 32 Buchstaben</a:t>
            </a:r>
            <a:endParaRPr lang="en-US" sz="2000" dirty="0"/>
          </a:p>
        </p:txBody>
      </p:sp>
      <p:sp>
        <p:nvSpPr>
          <p:cNvPr id="7" name="Text 4"/>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der häufigste muss </a:t>
            </a:r>
            <a:r>
              <a:rPr lang="en-US" sz="2000" b="1" dirty="0">
                <a:solidFill>
                  <a:srgbClr val="1B1B1F"/>
                </a:solidFill>
              </a:rPr>
              <a:t>nicht</a:t>
            </a:r>
            <a:r>
              <a:rPr lang="en-US" sz="2000" dirty="0">
                <a:solidFill>
                  <a:srgbClr val="1B1B1F"/>
                </a:solidFill>
              </a:rPr>
              <a:t> e sein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Lücken schließen wie im Kreuzworträtsel</a:t>
            </a:r>
            <a:endParaRPr lang="en-US" sz="3000" dirty="0"/>
          </a:p>
        </p:txBody>
      </p:sp>
      <p:sp>
        <p:nvSpPr>
          <p:cNvPr id="3" name="Text 1"/>
          <p:cNvSpPr txBox="1"/>
          <p:nvPr/>
        </p:nvSpPr>
        <p:spPr>
          <a:xfrm>
            <a:off x="548640" y="1325880"/>
            <a:ext cx="4308653" cy="1068324"/>
          </a:xfrm>
          <a:prstGeom prst="rect">
            <a:avLst/>
          </a:prstGeom>
          <a:noFill/>
          <a:ln/>
        </p:spPr>
        <p:txBody>
          <a:bodyPr wrap="square" lIns="0" tIns="0" rIns="0" bIns="0" rtlCol="0" anchor="t"/>
          <a:lstStyle/>
          <a:p>
            <a:pPr algn="l" indent="0" marL="0">
              <a:buNone/>
            </a:pPr>
            <a:r>
              <a:rPr lang="en-US" sz="2200" dirty="0">
                <a:solidFill>
                  <a:srgbClr val="1B1B1F"/>
                </a:solidFill>
              </a:rPr>
              <a:t>Entschlüsselt mit </a:t>
            </a:r>
            <a:r>
              <a:rPr lang="en-US" sz="2200" b="1" dirty="0">
                <a:solidFill>
                  <a:srgbClr val="1B1B1F"/>
                </a:solidFill>
              </a:rPr>
              <a:t>K A B P T O S</a:t>
            </a:r>
            <a:r>
              <a:rPr lang="en-US" sz="2200" dirty="0">
                <a:solidFill>
                  <a:srgbClr val="1B1B1F"/>
                </a:solidFill>
              </a:rPr>
              <a:t> – Teiltexte 2 und 3 markiert:</a:t>
            </a:r>
            <a:endParaRPr lang="en-US" sz="2200" dirty="0"/>
          </a:p>
        </p:txBody>
      </p:sp>
      <p:sp>
        <p:nvSpPr>
          <p:cNvPr id="4" name="Geheimtext-Kasten"/>
          <p:cNvSpPr/>
          <p:nvPr/>
        </p:nvSpPr>
        <p:spPr>
          <a:xfrm>
            <a:off x="548640" y="2522220"/>
            <a:ext cx="4308653" cy="1600200"/>
          </a:xfrm>
          <a:prstGeom prst="rect">
            <a:avLst/>
          </a:prstGeom>
          <a:solidFill>
            <a:srgbClr val="F2EADB"/>
          </a:solidFill>
          <a:ln w="9525">
            <a:solidFill>
              <a:srgbClr val="D8CDB8"/>
            </a:solidFill>
            <a:prstDash val="solid"/>
          </a:ln>
        </p:spPr>
      </p:sp>
      <p:sp>
        <p:nvSpPr>
          <p:cNvPr id="5" name="Text 3"/>
          <p:cNvSpPr txBox="1"/>
          <p:nvPr/>
        </p:nvSpPr>
        <p:spPr>
          <a:xfrm>
            <a:off x="777240" y="2631948"/>
            <a:ext cx="3851453" cy="1380744"/>
          </a:xfrm>
          <a:prstGeom prst="rect">
            <a:avLst/>
          </a:prstGeom>
          <a:noFill/>
          <a:ln/>
        </p:spPr>
        <p:txBody>
          <a:bodyPr wrap="square" lIns="0" tIns="0" rIns="0" bIns="0" rtlCol="0" anchor="t"/>
          <a:lstStyle/>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NZCUE CLDVJ PXIXD</a:t>
            </a:r>
            <a:endParaRPr lang="en-US" sz="2400" dirty="0"/>
          </a:p>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DMGZS FLVGH HBFOE</a:t>
            </a:r>
            <a:endParaRPr lang="en-US" sz="2400" dirty="0"/>
          </a:p>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YJYUS XXYJL RA</a:t>
            </a:r>
            <a:endParaRPr lang="en-US" sz="2400" dirty="0"/>
          </a:p>
        </p:txBody>
      </p:sp>
      <p:sp>
        <p:nvSpPr>
          <p:cNvPr id="6" name="Geheimtext-Kasten"/>
          <p:cNvSpPr/>
          <p:nvPr/>
        </p:nvSpPr>
        <p:spPr>
          <a:xfrm>
            <a:off x="548640" y="4250436"/>
            <a:ext cx="4308653" cy="716280"/>
          </a:xfrm>
          <a:prstGeom prst="rect">
            <a:avLst/>
          </a:prstGeom>
          <a:solidFill>
            <a:srgbClr val="F2EADB"/>
          </a:solidFill>
          <a:ln w="9525">
            <a:solidFill>
              <a:srgbClr val="D8CDB8"/>
            </a:solidFill>
            <a:prstDash val="solid"/>
          </a:ln>
        </p:spPr>
      </p:sp>
      <p:sp>
        <p:nvSpPr>
          <p:cNvPr id="7" name="Text 5"/>
          <p:cNvSpPr txBox="1"/>
          <p:nvPr/>
        </p:nvSpPr>
        <p:spPr>
          <a:xfrm>
            <a:off x="777240" y="4360164"/>
            <a:ext cx="3851453" cy="496824"/>
          </a:xfrm>
          <a:prstGeom prst="rect">
            <a:avLst/>
          </a:prstGeom>
          <a:noFill/>
          <a:ln/>
        </p:spPr>
        <p:txBody>
          <a:bodyPr wrap="square" lIns="0" tIns="0" rIns="0" bIns="0" rtlCol="0" anchor="t"/>
          <a:lstStyle/>
          <a:p>
            <a:pPr indent="0" marL="0">
              <a:lnSpc>
                <a:spcPct val="115000"/>
              </a:lnSpc>
              <a:buNone/>
            </a:pPr>
            <a:r>
              <a:rPr lang="en-US" sz="2400" spc="200" kern="0" dirty="0">
                <a:solidFill>
                  <a:srgbClr val="4A4A55"/>
                </a:solidFill>
                <a:latin typeface="Consolas" pitchFamily="34" charset="0"/>
                <a:ea typeface="Consolas" pitchFamily="34" charset="-122"/>
                <a:cs typeface="Consolas" pitchFamily="34" charset="-120"/>
              </a:rPr>
              <a:t>dzbflottviaeuftdlrgenbvfsonneexufganxxusdi</a:t>
            </a:r>
            <a:endParaRPr lang="en-US" sz="2400" dirty="0"/>
          </a:p>
        </p:txBody>
      </p:sp>
      <p:sp>
        <p:nvSpPr>
          <p:cNvPr id="8" name="Shape 6"/>
          <p:cNvSpPr/>
          <p:nvPr/>
        </p:nvSpPr>
        <p:spPr>
          <a:xfrm>
            <a:off x="5223053" y="1325880"/>
            <a:ext cx="2640787" cy="3594608"/>
          </a:xfrm>
          <a:prstGeom prst="roundRect">
            <a:avLst>
              <a:gd name="adj" fmla="val 2770"/>
            </a:avLst>
          </a:prstGeom>
          <a:solidFill>
            <a:srgbClr val="EEF6EE"/>
          </a:solidFill>
          <a:ln w="12700">
            <a:solidFill>
              <a:srgbClr val="2E7D32"/>
            </a:solidFill>
            <a:prstDash val="solid"/>
          </a:ln>
        </p:spPr>
      </p:sp>
      <p:sp>
        <p:nvSpPr>
          <p:cNvPr id="9" name="Text 7"/>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2E7D32"/>
                </a:solidFill>
              </a:rPr>
              <a:t>„DIE FLOTTE …“</a:t>
            </a:r>
            <a:endParaRPr lang="en-US" sz="1300" dirty="0"/>
          </a:p>
        </p:txBody>
      </p:sp>
      <p:sp>
        <p:nvSpPr>
          <p:cNvPr id="10" name="Text 8"/>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Stelle 2: Z soll i sein: 26 − 9 = 17 → </a:t>
            </a:r>
            <a:r>
              <a:rPr lang="en-US" sz="2000" b="1" dirty="0">
                <a:solidFill>
                  <a:srgbClr val="1B1B1F"/>
                </a:solidFill>
              </a:rPr>
              <a:t>R</a:t>
            </a:r>
            <a:endParaRPr lang="en-US" sz="2000" dirty="0"/>
          </a:p>
        </p:txBody>
      </p:sp>
      <p:sp>
        <p:nvSpPr>
          <p:cNvPr id="11" name="Text 9"/>
          <p:cNvSpPr txBox="1"/>
          <p:nvPr/>
        </p:nvSpPr>
        <p:spPr>
          <a:xfrm>
            <a:off x="5451653" y="2886456"/>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Stelle 3: C soll e sein: 3 − 5 = −2 → 24 → </a:t>
            </a:r>
            <a:r>
              <a:rPr lang="en-US" sz="2000" b="1" dirty="0">
                <a:solidFill>
                  <a:srgbClr val="1B1B1F"/>
                </a:solidFill>
              </a:rPr>
              <a:t>Y</a:t>
            </a:r>
            <a:endParaRPr lang="en-US" sz="2000" dirty="0"/>
          </a:p>
        </p:txBody>
      </p:sp>
      <p:sp>
        <p:nvSpPr>
          <p:cNvPr id="12" name="Text 10"/>
          <p:cNvSpPr txBox="1"/>
          <p:nvPr/>
        </p:nvSpPr>
        <p:spPr>
          <a:xfrm>
            <a:off x="5451653" y="398983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Schlüssel: </a:t>
            </a:r>
            <a:r>
              <a:rPr lang="en-US" sz="2000" b="1" dirty="0">
                <a:solidFill>
                  <a:srgbClr val="1B1B1F"/>
                </a:solidFill>
              </a:rPr>
              <a:t>KRYPTOS</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P1 · Zählbasis verwechselt</a:t>
            </a:r>
            <a:endParaRPr lang="en-US" sz="3000" dirty="0"/>
          </a:p>
        </p:txBody>
      </p:sp>
      <p:sp>
        <p:nvSpPr>
          <p:cNvPr id="3" name="Text 1"/>
          <p:cNvSpPr txBox="1"/>
          <p:nvPr/>
        </p:nvSpPr>
        <p:spPr>
          <a:xfrm>
            <a:off x="548640" y="1325880"/>
            <a:ext cx="7315200" cy="401320"/>
          </a:xfrm>
          <a:prstGeom prst="rect">
            <a:avLst/>
          </a:prstGeom>
          <a:noFill/>
          <a:ln/>
        </p:spPr>
        <p:txBody>
          <a:bodyPr wrap="square" lIns="0" tIns="0" rIns="0" bIns="0" rtlCol="0" anchor="t"/>
          <a:lstStyle/>
          <a:p>
            <a:pPr indent="0" marL="0">
              <a:buNone/>
            </a:pPr>
            <a:r>
              <a:rPr lang="en-US" sz="2000" dirty="0">
                <a:solidFill>
                  <a:srgbClr val="1B1B1F"/>
                </a:solidFill>
              </a:rPr>
              <a:t>Verschiebung = Nummer des Schlüsselbuchstabens − 1.</a:t>
            </a:r>
            <a:endParaRPr lang="en-US" sz="2000" dirty="0"/>
          </a:p>
        </p:txBody>
      </p:sp>
      <p:sp>
        <p:nvSpPr>
          <p:cNvPr id="4" name="Shape 2"/>
          <p:cNvSpPr/>
          <p:nvPr/>
        </p:nvSpPr>
        <p:spPr>
          <a:xfrm>
            <a:off x="548640" y="1910080"/>
            <a:ext cx="3474720" cy="2284476"/>
          </a:xfrm>
          <a:prstGeom prst="roundRect">
            <a:avLst>
              <a:gd name="adj" fmla="val 3202"/>
            </a:avLst>
          </a:prstGeom>
          <a:solidFill>
            <a:srgbClr val="FDF3F2"/>
          </a:solidFill>
          <a:ln w="15875">
            <a:solidFill>
              <a:srgbClr val="B3261E"/>
            </a:solidFill>
            <a:prstDash val="solid"/>
          </a:ln>
        </p:spPr>
      </p:sp>
      <p:sp>
        <p:nvSpPr>
          <p:cNvPr id="5" name="Text 3"/>
          <p:cNvSpPr txBox="1"/>
          <p:nvPr/>
        </p:nvSpPr>
        <p:spPr>
          <a:xfrm>
            <a:off x="822960" y="2092960"/>
            <a:ext cx="2926080"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595880"/>
            <a:ext cx="2926080" cy="727456"/>
          </a:xfrm>
          <a:prstGeom prst="rect">
            <a:avLst/>
          </a:prstGeom>
          <a:noFill/>
          <a:ln/>
        </p:spPr>
        <p:txBody>
          <a:bodyPr wrap="square" lIns="0" tIns="0" rIns="0" bIns="0" rtlCol="0" anchor="t"/>
          <a:lstStyle/>
          <a:p>
            <a:pPr algn="l" indent="0" marL="0">
              <a:buNone/>
            </a:pPr>
            <a:r>
              <a:rPr lang="en-US" sz="2200" dirty="0">
                <a:solidFill>
                  <a:srgbClr val="1B1B1F"/>
                </a:solidFill>
              </a:rPr>
              <a:t>K hat die Nummer 11 → Verschiebung </a:t>
            </a:r>
            <a:r>
              <a:rPr lang="en-US" sz="2200" b="1" dirty="0">
                <a:solidFill>
                  <a:srgbClr val="1B1B1F"/>
                </a:solidFill>
              </a:rPr>
              <a:t>11</a:t>
            </a:r>
            <a:endParaRPr lang="en-US" sz="2200" dirty="0"/>
          </a:p>
        </p:txBody>
      </p:sp>
      <p:sp>
        <p:nvSpPr>
          <p:cNvPr id="7" name="Text 5"/>
          <p:cNvSpPr txBox="1"/>
          <p:nvPr/>
        </p:nvSpPr>
        <p:spPr>
          <a:xfrm>
            <a:off x="822960" y="3451352"/>
            <a:ext cx="2926080" cy="386588"/>
          </a:xfrm>
          <a:prstGeom prst="rect">
            <a:avLst/>
          </a:prstGeom>
          <a:noFill/>
          <a:ln/>
        </p:spPr>
        <p:txBody>
          <a:bodyPr wrap="square" lIns="0" tIns="0" rIns="0" bIns="0" rtlCol="0" anchor="t"/>
          <a:lstStyle/>
          <a:p>
            <a:pPr algn="l" indent="0" marL="0">
              <a:buNone/>
            </a:pPr>
            <a:r>
              <a:rPr lang="en-US" sz="2200" dirty="0">
                <a:solidFill>
                  <a:srgbClr val="1B1B1F"/>
                </a:solidFill>
              </a:rPr>
              <a:t>d + 11 → </a:t>
            </a:r>
            <a:r>
              <a:rPr lang="en-US" sz="2200" b="1" dirty="0">
                <a:solidFill>
                  <a:srgbClr val="1B1B1F"/>
                </a:solidFill>
              </a:rPr>
              <a:t>O</a:t>
            </a:r>
            <a:endParaRPr lang="en-US" sz="2200" dirty="0"/>
          </a:p>
        </p:txBody>
      </p:sp>
      <p:sp>
        <p:nvSpPr>
          <p:cNvPr id="8" name="Shape 6"/>
          <p:cNvSpPr/>
          <p:nvPr/>
        </p:nvSpPr>
        <p:spPr>
          <a:xfrm>
            <a:off x="4389120" y="1910080"/>
            <a:ext cx="3474720" cy="4162552"/>
          </a:xfrm>
          <a:prstGeom prst="roundRect">
            <a:avLst>
              <a:gd name="adj" fmla="val 2105"/>
            </a:avLst>
          </a:prstGeom>
          <a:solidFill>
            <a:srgbClr val="EEF6EE"/>
          </a:solidFill>
          <a:ln w="15875">
            <a:solidFill>
              <a:srgbClr val="2E7D32"/>
            </a:solidFill>
            <a:prstDash val="solid"/>
          </a:ln>
        </p:spPr>
      </p:sp>
      <p:sp>
        <p:nvSpPr>
          <p:cNvPr id="9" name="Text 7"/>
          <p:cNvSpPr txBox="1"/>
          <p:nvPr/>
        </p:nvSpPr>
        <p:spPr>
          <a:xfrm>
            <a:off x="4663440" y="2092960"/>
            <a:ext cx="2926080"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0" name="Text 8"/>
          <p:cNvSpPr txBox="1"/>
          <p:nvPr/>
        </p:nvSpPr>
        <p:spPr>
          <a:xfrm>
            <a:off x="4663440" y="2595880"/>
            <a:ext cx="2926080" cy="1068324"/>
          </a:xfrm>
          <a:prstGeom prst="rect">
            <a:avLst/>
          </a:prstGeom>
          <a:noFill/>
          <a:ln/>
        </p:spPr>
        <p:txBody>
          <a:bodyPr wrap="square" lIns="0" tIns="0" rIns="0" bIns="0" rtlCol="0" anchor="t"/>
          <a:lstStyle/>
          <a:p>
            <a:pPr algn="l" indent="0" marL="0">
              <a:buNone/>
            </a:pPr>
            <a:r>
              <a:rPr lang="en-US" sz="2200" dirty="0">
                <a:solidFill>
                  <a:srgbClr val="1B1B1F"/>
                </a:solidFill>
              </a:rPr>
              <a:t>Quadrat der Anlage: Zeile </a:t>
            </a:r>
            <a:r>
              <a:rPr lang="en-US" sz="2200" b="1" dirty="0">
                <a:solidFill>
                  <a:srgbClr val="1B1B1F"/>
                </a:solidFill>
              </a:rPr>
              <a:t>A = Verschiebung 0</a:t>
            </a:r>
            <a:endParaRPr lang="en-US" sz="2200" dirty="0"/>
          </a:p>
        </p:txBody>
      </p:sp>
      <p:sp>
        <p:nvSpPr>
          <p:cNvPr id="11" name="Text 9"/>
          <p:cNvSpPr txBox="1"/>
          <p:nvPr/>
        </p:nvSpPr>
        <p:spPr>
          <a:xfrm>
            <a:off x="4663440" y="3792220"/>
            <a:ext cx="2926080" cy="727456"/>
          </a:xfrm>
          <a:prstGeom prst="rect">
            <a:avLst/>
          </a:prstGeom>
          <a:noFill/>
          <a:ln/>
        </p:spPr>
        <p:txBody>
          <a:bodyPr wrap="square" lIns="0" tIns="0" rIns="0" bIns="0" rtlCol="0" anchor="t"/>
          <a:lstStyle/>
          <a:p>
            <a:pPr algn="l" indent="0" marL="0">
              <a:buNone/>
            </a:pPr>
            <a:r>
              <a:rPr lang="en-US" sz="2200" dirty="0">
                <a:solidFill>
                  <a:srgbClr val="1B1B1F"/>
                </a:solidFill>
              </a:rPr>
              <a:t>K → Verschiebung </a:t>
            </a:r>
            <a:r>
              <a:rPr lang="en-US" sz="2200" b="1" dirty="0">
                <a:solidFill>
                  <a:srgbClr val="1B1B1F"/>
                </a:solidFill>
              </a:rPr>
              <a:t>10</a:t>
            </a:r>
            <a:r>
              <a:rPr lang="en-US" sz="2200" dirty="0">
                <a:solidFill>
                  <a:srgbClr val="1B1B1F"/>
                </a:solidFill>
              </a:rPr>
              <a:t>: d + 10 → </a:t>
            </a:r>
            <a:r>
              <a:rPr lang="en-US" sz="2200" b="1" dirty="0">
                <a:solidFill>
                  <a:srgbClr val="1B1B1F"/>
                </a:solidFill>
              </a:rPr>
              <a:t>N</a:t>
            </a:r>
            <a:endParaRPr lang="en-US" sz="2200" dirty="0"/>
          </a:p>
        </p:txBody>
      </p:sp>
      <p:sp>
        <p:nvSpPr>
          <p:cNvPr id="12" name="Text 10"/>
          <p:cNvSpPr txBox="1"/>
          <p:nvPr/>
        </p:nvSpPr>
        <p:spPr>
          <a:xfrm>
            <a:off x="4663440" y="4647692"/>
            <a:ext cx="2926080" cy="1068324"/>
          </a:xfrm>
          <a:prstGeom prst="rect">
            <a:avLst/>
          </a:prstGeom>
          <a:noFill/>
          <a:ln/>
        </p:spPr>
        <p:txBody>
          <a:bodyPr wrap="square" lIns="0" tIns="0" rIns="0" bIns="0" rtlCol="0" anchor="t"/>
          <a:lstStyle/>
          <a:p>
            <a:pPr algn="l" indent="0" marL="0">
              <a:buNone/>
            </a:pPr>
            <a:r>
              <a:rPr lang="en-US" sz="2200" dirty="0">
                <a:solidFill>
                  <a:srgbClr val="1B1B1F"/>
                </a:solidFill>
              </a:rPr>
              <a:t>Rückweg: Verschiebung 18 → </a:t>
            </a:r>
            <a:r>
              <a:rPr lang="en-US" sz="2200" b="1" dirty="0">
                <a:solidFill>
                  <a:srgbClr val="1B1B1F"/>
                </a:solidFill>
              </a:rPr>
              <a:t>S</a:t>
            </a:r>
            <a:r>
              <a:rPr lang="en-US" sz="2200" dirty="0">
                <a:solidFill>
                  <a:srgbClr val="1B1B1F"/>
                </a:solidFill>
              </a:rPr>
              <a:t> (19. Buchstabe)</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Weitere Fallen – und dein Abi-Check</a:t>
            </a:r>
            <a:endParaRPr lang="en-US" sz="3000" dirty="0"/>
          </a:p>
        </p:txBody>
      </p:sp>
      <p:sp>
        <p:nvSpPr>
          <p:cNvPr id="3" name="Text 1"/>
          <p:cNvSpPr txBox="1"/>
          <p:nvPr/>
        </p:nvSpPr>
        <p:spPr>
          <a:xfrm>
            <a:off x="548640" y="1325880"/>
            <a:ext cx="4308653" cy="4000500"/>
          </a:xfrm>
          <a:prstGeom prst="rect">
            <a:avLst/>
          </a:prstGeom>
          <a:noFill/>
          <a:ln/>
        </p:spPr>
        <p:txBody>
          <a:bodyPr wrap="square" lIns="0" tIns="0" rIns="0" bIns="0" rtlCol="0" anchor="t"/>
          <a:lstStyle/>
          <a:p>
            <a:pPr marL="279400" indent="-279400">
              <a:spcAft>
                <a:spcPts val="600"/>
              </a:spcAft>
              <a:buSzPct val="100000"/>
              <a:buChar char="●"/>
            </a:pPr>
            <a:r>
              <a:rPr lang="en-US" sz="1800" b="1" dirty="0">
                <a:solidFill>
                  <a:srgbClr val="1B1B1F"/>
                </a:solidFill>
              </a:rPr>
              <a:t>P5</a:t>
            </a:r>
            <a:r>
              <a:rPr lang="en-US" sz="1800" dirty="0">
                <a:solidFill>
                  <a:srgbClr val="1B1B1F"/>
                </a:solidFill>
              </a:rPr>
              <a:t> Vigenère ist </a:t>
            </a:r>
            <a:r>
              <a:rPr lang="en-US" sz="1800" b="1" dirty="0">
                <a:solidFill>
                  <a:srgbClr val="1B1B1F"/>
                </a:solidFill>
              </a:rPr>
              <a:t>polyalphabetisch</a:t>
            </a:r>
            <a:r>
              <a:rPr lang="en-US" sz="1800" dirty="0">
                <a:solidFill>
                  <a:srgbClr val="1B1B1F"/>
                </a:solidFill>
              </a:rPr>
              <a:t>: Derselbe Klartextbuchstabe wird je nach Stelle verschieden ersetzt</a:t>
            </a:r>
            <a:endParaRPr lang="en-US" sz="1800" dirty="0"/>
          </a:p>
          <a:p>
            <a:pPr marL="279400" indent="-279400">
              <a:spcAft>
                <a:spcPts val="600"/>
              </a:spcAft>
              <a:buSzPct val="100000"/>
              <a:buChar char="●"/>
            </a:pPr>
            <a:r>
              <a:rPr lang="en-US" sz="1800" b="1" dirty="0">
                <a:solidFill>
                  <a:srgbClr val="1B1B1F"/>
                </a:solidFill>
              </a:rPr>
              <a:t>P6</a:t>
            </a:r>
            <a:r>
              <a:rPr lang="en-US" sz="1800" dirty="0">
                <a:solidFill>
                  <a:srgbClr val="1B1B1F"/>
                </a:solidFill>
              </a:rPr>
              <a:t> Häufigkeitsanalyse </a:t>
            </a:r>
            <a:r>
              <a:rPr lang="en-US" sz="1800" b="1" dirty="0">
                <a:solidFill>
                  <a:srgbClr val="1B1B1F"/>
                </a:solidFill>
              </a:rPr>
              <a:t>nicht</a:t>
            </a:r>
            <a:r>
              <a:rPr lang="en-US" sz="1800" dirty="0">
                <a:solidFill>
                  <a:srgbClr val="1B1B1F"/>
                </a:solidFill>
              </a:rPr>
              <a:t> auf den ganzen Text – erst Schlüssellänge, dann </a:t>
            </a:r>
            <a:r>
              <a:rPr lang="en-US" sz="1800" b="1" dirty="0">
                <a:solidFill>
                  <a:srgbClr val="1B1B1F"/>
                </a:solidFill>
              </a:rPr>
              <a:t>je Teiltext</a:t>
            </a:r>
            <a:endParaRPr lang="en-US" sz="1800" dirty="0"/>
          </a:p>
          <a:p>
            <a:pPr marL="279400" indent="-279400">
              <a:spcAft>
                <a:spcPts val="600"/>
              </a:spcAft>
              <a:buSzPct val="100000"/>
              <a:buChar char="●"/>
            </a:pPr>
            <a:r>
              <a:rPr lang="en-US" sz="1800" b="1" dirty="0">
                <a:solidFill>
                  <a:srgbClr val="1B1B1F"/>
                </a:solidFill>
              </a:rPr>
              <a:t>P7</a:t>
            </a:r>
            <a:r>
              <a:rPr lang="en-US" sz="1800" dirty="0">
                <a:solidFill>
                  <a:srgbClr val="1B1B1F"/>
                </a:solidFill>
              </a:rPr>
              <a:t> Schlüsselraum 26⁷ ≈ 8 · 10⁹ – mit bekannter Länge nur 7 · 26 Versuche; kurze Schlüssel sind schwach</a:t>
            </a:r>
            <a:endParaRPr lang="en-US" sz="1800" dirty="0"/>
          </a:p>
          <a:p>
            <a:pPr marL="279400" indent="-279400">
              <a:spcAft>
                <a:spcPts val="600"/>
              </a:spcAft>
              <a:buSzPct val="100000"/>
              <a:buChar char="●"/>
            </a:pPr>
            <a:r>
              <a:rPr lang="en-US" sz="1800" b="1" dirty="0">
                <a:solidFill>
                  <a:srgbClr val="1B1B1F"/>
                </a:solidFill>
              </a:rPr>
              <a:t>P10</a:t>
            </a:r>
            <a:r>
              <a:rPr lang="en-US" sz="1800" dirty="0">
                <a:solidFill>
                  <a:srgbClr val="1B1B1F"/>
                </a:solidFill>
              </a:rPr>
              <a:t> „Auch bei unbekannter Schlüssellänge?“ – nicht nur „ja“: </a:t>
            </a:r>
            <a:r>
              <a:rPr lang="en-US" sz="1800" b="1" dirty="0">
                <a:solidFill>
                  <a:srgbClr val="1B1B1F"/>
                </a:solidFill>
              </a:rPr>
              <a:t>Länge mit Kasiski/Friedman bestimmen, dann Teiltexte</a:t>
            </a:r>
            <a:endParaRPr lang="en-US" sz="1800" dirty="0"/>
          </a:p>
        </p:txBody>
      </p:sp>
      <p:sp>
        <p:nvSpPr>
          <p:cNvPr id="4" name="Shape 2"/>
          <p:cNvSpPr/>
          <p:nvPr/>
        </p:nvSpPr>
        <p:spPr>
          <a:xfrm>
            <a:off x="5223053" y="1325880"/>
            <a:ext cx="2640787" cy="3272536"/>
          </a:xfrm>
          <a:prstGeom prst="roundRect">
            <a:avLst>
              <a:gd name="adj" fmla="val 2770"/>
            </a:avLst>
          </a:prstGeom>
          <a:solidFill>
            <a:srgbClr val="FDF3F2"/>
          </a:solidFill>
          <a:ln w="12700">
            <a:solidFill>
              <a:srgbClr val="B3261E"/>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ABI-CHECK</a:t>
            </a:r>
            <a:endParaRPr lang="en-US" sz="1300" dirty="0"/>
          </a:p>
        </p:txBody>
      </p:sp>
      <p:sp>
        <p:nvSpPr>
          <p:cNvPr id="6" name="Text 4"/>
          <p:cNvSpPr txBox="1"/>
          <p:nvPr/>
        </p:nvSpPr>
        <p:spPr>
          <a:xfrm>
            <a:off x="5451653" y="1783080"/>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Zählbasis des Materials?</a:t>
            </a:r>
            <a:endParaRPr lang="en-US" sz="1600" dirty="0"/>
          </a:p>
        </p:txBody>
      </p:sp>
      <p:sp>
        <p:nvSpPr>
          <p:cNvPr id="7" name="Text 5"/>
          <p:cNvSpPr txBox="1"/>
          <p:nvPr/>
        </p:nvSpPr>
        <p:spPr>
          <a:xfrm>
            <a:off x="5451653" y="2452624"/>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Teiltexte statt Gesamttext?</a:t>
            </a:r>
            <a:endParaRPr lang="en-US" sz="1600" dirty="0"/>
          </a:p>
        </p:txBody>
      </p:sp>
      <p:sp>
        <p:nvSpPr>
          <p:cNvPr id="8" name="Text 6"/>
          <p:cNvSpPr txBox="1"/>
          <p:nvPr/>
        </p:nvSpPr>
        <p:spPr>
          <a:xfrm>
            <a:off x="5451653" y="3122168"/>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Zufallstreffer aussortiert?</a:t>
            </a:r>
            <a:endParaRPr lang="en-US" sz="1600" dirty="0"/>
          </a:p>
        </p:txBody>
      </p:sp>
      <p:sp>
        <p:nvSpPr>
          <p:cNvPr id="9" name="Text 7"/>
          <p:cNvSpPr txBox="1"/>
          <p:nvPr/>
        </p:nvSpPr>
        <p:spPr>
          <a:xfrm>
            <a:off x="5451653" y="3791712"/>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Begründung mit „weil“?</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6217920" cy="4663440"/>
          </a:xfrm>
          <a:prstGeom prst="roundRect">
            <a:avLst>
              <a:gd name="adj" fmla="val 1961"/>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5394960" cy="789432"/>
          </a:xfrm>
          <a:prstGeom prst="rect">
            <a:avLst/>
          </a:prstGeom>
          <a:noFill/>
          <a:ln/>
        </p:spPr>
        <p:txBody>
          <a:bodyPr wrap="square" lIns="0" tIns="0" rIns="0" bIns="0" rtlCol="0" anchor="t"/>
          <a:lstStyle/>
          <a:p>
            <a:pPr algn="l" indent="0" marL="0">
              <a:buNone/>
            </a:pPr>
            <a:r>
              <a:rPr lang="en-US" sz="1600" dirty="0">
                <a:solidFill>
                  <a:srgbClr val="1B1B1F"/>
                </a:solidFill>
              </a:rPr>
              <a:t>Vigenère ist </a:t>
            </a:r>
            <a:r>
              <a:rPr lang="en-US" sz="1600" b="1" dirty="0">
                <a:solidFill>
                  <a:srgbClr val="1B1B1F"/>
                </a:solidFill>
              </a:rPr>
              <a:t>polyalphabetisch</a:t>
            </a:r>
            <a:r>
              <a:rPr lang="en-US" sz="1600" dirty="0">
                <a:solidFill>
                  <a:srgbClr val="1B1B1F"/>
                </a:solidFill>
              </a:rPr>
              <a:t>: Schlüsselwort wiederholt, jeder Schlüsselbuchstabe eine Caesar-Verschiebung (A = 0)</a:t>
            </a:r>
            <a:endParaRPr lang="en-US" sz="1600" dirty="0"/>
          </a:p>
        </p:txBody>
      </p:sp>
      <p:sp>
        <p:nvSpPr>
          <p:cNvPr id="6" name="Text 4"/>
          <p:cNvSpPr txBox="1"/>
          <p:nvPr/>
        </p:nvSpPr>
        <p:spPr>
          <a:xfrm>
            <a:off x="1508760" y="3157728"/>
            <a:ext cx="5394960" cy="541528"/>
          </a:xfrm>
          <a:prstGeom prst="rect">
            <a:avLst/>
          </a:prstGeom>
          <a:noFill/>
          <a:ln/>
        </p:spPr>
        <p:txBody>
          <a:bodyPr wrap="square" lIns="0" tIns="0" rIns="0" bIns="0" rtlCol="0" anchor="t"/>
          <a:lstStyle/>
          <a:p>
            <a:pPr algn="l" indent="0" marL="0">
              <a:buNone/>
            </a:pPr>
            <a:r>
              <a:rPr lang="en-US" sz="1600" dirty="0">
                <a:solidFill>
                  <a:srgbClr val="1B1B1F"/>
                </a:solidFill>
              </a:rPr>
              <a:t>Bekannte Schlüssellänge L → </a:t>
            </a:r>
            <a:r>
              <a:rPr lang="en-US" sz="1600" b="1" dirty="0">
                <a:solidFill>
                  <a:srgbClr val="1B1B1F"/>
                </a:solidFill>
              </a:rPr>
              <a:t>L Teiltexte</a:t>
            </a:r>
            <a:r>
              <a:rPr lang="en-US" sz="1600" dirty="0">
                <a:solidFill>
                  <a:srgbClr val="1B1B1F"/>
                </a:solidFill>
              </a:rPr>
              <a:t> → je Teiltext Häufigkeitsanalyse</a:t>
            </a:r>
            <a:endParaRPr lang="en-US" sz="1600" dirty="0"/>
          </a:p>
        </p:txBody>
      </p:sp>
      <p:sp>
        <p:nvSpPr>
          <p:cNvPr id="7" name="Text 5"/>
          <p:cNvSpPr txBox="1"/>
          <p:nvPr/>
        </p:nvSpPr>
        <p:spPr>
          <a:xfrm>
            <a:off x="1508760" y="3827272"/>
            <a:ext cx="5394960" cy="789432"/>
          </a:xfrm>
          <a:prstGeom prst="rect">
            <a:avLst/>
          </a:prstGeom>
          <a:noFill/>
          <a:ln/>
        </p:spPr>
        <p:txBody>
          <a:bodyPr wrap="square" lIns="0" tIns="0" rIns="0" bIns="0" rtlCol="0" anchor="t"/>
          <a:lstStyle/>
          <a:p>
            <a:pPr algn="l" indent="0" marL="0">
              <a:buNone/>
            </a:pPr>
            <a:r>
              <a:rPr lang="en-US" sz="1600" b="1" dirty="0">
                <a:solidFill>
                  <a:srgbClr val="1B1B1F"/>
                </a:solidFill>
              </a:rPr>
              <a:t>Kasiski</a:t>
            </a:r>
            <a:r>
              <a:rPr lang="en-US" sz="1600" dirty="0">
                <a:solidFill>
                  <a:srgbClr val="1B1B1F"/>
                </a:solidFill>
              </a:rPr>
              <a:t>: Abstände gleicher Geheimtextstücke → gemeinsamer Teiler = Schlüssellänge (Zufallstreffer aussortieren)</a:t>
            </a:r>
            <a:endParaRPr lang="en-US" sz="1600" dirty="0"/>
          </a:p>
        </p:txBody>
      </p:sp>
      <p:sp>
        <p:nvSpPr>
          <p:cNvPr id="8" name="Text 6"/>
          <p:cNvSpPr txBox="1"/>
          <p:nvPr/>
        </p:nvSpPr>
        <p:spPr>
          <a:xfrm>
            <a:off x="1508760" y="4744720"/>
            <a:ext cx="5394960" cy="541528"/>
          </a:xfrm>
          <a:prstGeom prst="rect">
            <a:avLst/>
          </a:prstGeom>
          <a:noFill/>
          <a:ln/>
        </p:spPr>
        <p:txBody>
          <a:bodyPr wrap="square" lIns="0" tIns="0" rIns="0" bIns="0" rtlCol="0" anchor="t"/>
          <a:lstStyle/>
          <a:p>
            <a:pPr algn="l" indent="0" marL="0">
              <a:buNone/>
            </a:pPr>
            <a:r>
              <a:rPr lang="en-US" sz="1600" b="1" dirty="0">
                <a:solidFill>
                  <a:srgbClr val="1B1B1F"/>
                </a:solidFill>
              </a:rPr>
              <a:t>Friedman</a:t>
            </a:r>
            <a:r>
              <a:rPr lang="en-US" sz="1600" dirty="0">
                <a:solidFill>
                  <a:srgbClr val="1B1B1F"/>
                </a:solidFill>
              </a:rPr>
              <a:t> (eA): I = Σ nᵢ(nᵢ − 1) / (n(n − 1)); deutsch ≈ 0,076, zufällig ≈ 0,038 → Schätzung der Länge</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2.2 „Kasiskis Spur“, Level 2.3 „Friedmans Zufall“ (eA), Kür K1 „Friedmans Formel“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Akte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Akten W2·2 und W2·3</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Kryptolabor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Vigenère-Werkbank: Wiederholungen markieren, Abstände, Koinzidenzindex, Teiltexte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Online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307080"/>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04 · XOR, One-Time-Pad und Blockchiffren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Kryptos Renaissance">
  <a:themeElements>
    <a:clrScheme name="Kryptos Renaissance">
      <a:dk1>
        <a:srgbClr val="1B1B1F"/>
      </a:dk1>
      <a:lt1>
        <a:srgbClr val="FFFFFF"/>
      </a:lt1>
      <a:dk2>
        <a:srgbClr val="14213D"/>
      </a:dk2>
      <a:lt2>
        <a:srgbClr val="FBF7EE"/>
      </a:lt2>
      <a:accent1>
        <a:srgbClr val="7A2E2E"/>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Renaissan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Vigenère knacken: Kasiski-Test und Friedman-Test</dc:title>
  <dc:subject>Kryptos – Die Zeitreise der Geheimschriften</dc:subject>
  <dc:creator>Frank Juchim</dc:creator>
  <cp:lastModifiedBy>Frank Juchim</cp:lastModifiedBy>
  <cp:revision>1</cp:revision>
  <dcterms:created xsi:type="dcterms:W3CDTF">2026-10-14T19:25:01Z</dcterms:created>
  <dcterms:modified xsi:type="dcterms:W3CDTF">2026-10-14T19:25:01Z</dcterms:modified>
</cp:coreProperties>
</file>