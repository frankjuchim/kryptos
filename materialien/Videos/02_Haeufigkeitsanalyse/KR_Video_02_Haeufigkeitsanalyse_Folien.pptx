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instieg" id="{af132929-f546-18ed-ad02-c2cdd392805c}">
          <p14:sldIdLst>
            <p14:sldId id="256"/>
            <p14:sldId id="257"/>
          </p14:sldIdLst>
        </p14:section>
        <p14:section name="Substitution mit Schlüsselwort" id="{b75a4523-c27b-1323-b175-d22345d56235}">
          <p14:sldIdLst>
            <p14:sldId id="258"/>
          </p14:sldIdLst>
        </p14:section>
        <p14:section name="Al-Kindis Idee" id="{81bd88c0-b4f1-1d75-7f6c-09d9d3e8eb3c}">
          <p14:sldIdLst>
            <p14:sldId id="259"/>
          </p14:sldIdLst>
        </p14:section>
        <p14:section name="Ein Brief wird geknackt" id="{633130ff-8ecc-e366-a94f-60bfefb9b294}">
          <p14:sldIdLst>
            <p14:sldId id="260"/>
            <p14:sldId id="261"/>
            <p14:sldId id="262"/>
          </p14:sldIdLst>
        </p14:section>
        <p14:section name="Selbst ausprobieren" id="{833bcd83-c8a0-4e7b-7a84-ac3794c11527}">
          <p14:sldIdLst>
            <p14:sldId id="263"/>
            <p14:sldId id="264"/>
            <p14:sldId id="265"/>
          </p14:sldIdLst>
        </p14:section>
        <p14:section name="Prinzip erläutern" id="{929ad2de-0aab-a081-0089-60392a5b9de4}">
          <p14:sldIdLst>
            <p14:sldId id="266"/>
          </p14:sldIdLst>
        </p14:section>
        <p14:section name="Grenzen und Fallen" id="{61d6ca16-a376-6266-c1bb-a5ac4d2254b8}">
          <p14:sldIdLst>
            <p14:sldId id="267"/>
          </p14:sldIdLst>
        </p14:section>
        <p14:section name="Gegenmittel" id="{1e92f780-d60b-4c90-77eb-6deb3c26bab4}">
          <p14:sldIdLst>
            <p14:sldId id="268"/>
          </p14:sldIdLst>
        </p14:section>
        <p14:section name="Typische Fehler" id="{a00475a1-b085-b6fe-f56f-5885f31f09ea}">
          <p14:sldIdLst>
            <p14:sldId id="269"/>
          </p14:sldIdLst>
        </p14:section>
        <p14:section name="Zusammenfassung" id="{7cdf7650-e4fa-2332-a526-4e7d643434cb}">
          <p14:sldIdLst>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1B1F"/>
                </a:solidFill>
                <a:latin typeface="Arial"/>
              </a:defRPr>
            </a:pPr>
            <a:r>
              <a:rPr sz="1400" b="0" i="0" u="none" strike="noStrike">
                <a:solidFill>
                  <a:srgbClr val="1B1B1F"/>
                </a:solidFill>
                <a:latin typeface="Arial"/>
              </a:rPr>
              <a:t>Geheimtext des Briefs</a:t>
            </a:r>
          </a:p>
        </c:rich>
      </c:tx>
      <c:layout/>
      <c:overlay val="0"/>
    </c:title>
    <c:autoTitleDeleted val="0"/>
    <c:plotArea>
      <c:layout/>
      <c:barChart>
        <c:barDir val="col"/>
        <c:grouping val="clustered"/>
        <c:varyColors val="0"/>
        <c:ser>
          <c:idx val="0"/>
          <c:order val="0"/>
          <c:tx>
            <c:strRef>
              <c:f>Sheet1!$B$1</c:f>
              <c:strCache>
                <c:ptCount val="1"/>
                <c:pt idx="0">
                  <c:v>Anteil (%)</c:v>
                </c:pt>
              </c:strCache>
            </c:strRef>
          </c:tx>
          <c:spPr>
            <a:solidFill>
              <a:srgbClr val="1F4E8C"/>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Sheet1!$A$2:$A$27</c:f>
              <c:multiLvlStrCache>
                <c:ptCount val="26"/>
                <c:lvl>
                  <c:pt idx="0">
                    <c:v>R</c:v>
                  </c:pt>
                  <c:pt idx="1">
                    <c:v>L</c:v>
                  </c:pt>
                  <c:pt idx="2">
                    <c:v>D</c:v>
                  </c:pt>
                  <c:pt idx="3">
                    <c:v>P</c:v>
                  </c:pt>
                  <c:pt idx="4">
                    <c:v>Z</c:v>
                  </c:pt>
                  <c:pt idx="5">
                    <c:v>E</c:v>
                  </c:pt>
                  <c:pt idx="6">
                    <c:v>Q</c:v>
                  </c:pt>
                  <c:pt idx="7">
                    <c:v>S</c:v>
                  </c:pt>
                  <c:pt idx="8">
                    <c:v>C</c:v>
                  </c:pt>
                  <c:pt idx="9">
                    <c:v>A</c:v>
                  </c:pt>
                  <c:pt idx="10">
                    <c:v>T</c:v>
                  </c:pt>
                  <c:pt idx="11">
                    <c:v>J</c:v>
                  </c:pt>
                  <c:pt idx="12">
                    <c:v>K</c:v>
                  </c:pt>
                  <c:pt idx="13">
                    <c:v>I</c:v>
                  </c:pt>
                  <c:pt idx="14">
                    <c:v>M</c:v>
                  </c:pt>
                  <c:pt idx="15">
                    <c:v>B</c:v>
                  </c:pt>
                  <c:pt idx="16">
                    <c:v>F</c:v>
                  </c:pt>
                  <c:pt idx="17">
                    <c:v>H</c:v>
                  </c:pt>
                  <c:pt idx="18">
                    <c:v>U</c:v>
                  </c:pt>
                  <c:pt idx="19">
                    <c:v>N</c:v>
                  </c:pt>
                  <c:pt idx="20">
                    <c:v>V</c:v>
                  </c:pt>
                  <c:pt idx="21">
                    <c:v>Y</c:v>
                  </c:pt>
                  <c:pt idx="22">
                    <c:v>G</c:v>
                  </c:pt>
                  <c:pt idx="23">
                    <c:v>O</c:v>
                  </c:pt>
                  <c:pt idx="24">
                    <c:v>W</c:v>
                  </c:pt>
                  <c:pt idx="25">
                    <c:v>X</c:v>
                  </c:pt>
                </c:lvl>
              </c:multiLvlStrCache>
            </c:multiLvlStrRef>
          </c:cat>
          <c:val>
            <c:numRef>
              <c:f>Sheet1!$B$2:$B$27</c:f>
              <c:numCache>
                <c:formatCode>General</c:formatCode>
                <c:ptCount val="26"/>
                <c:pt idx="0">
                  <c:v>19.3</c:v>
                </c:pt>
                <c:pt idx="1">
                  <c:v>13.2</c:v>
                </c:pt>
                <c:pt idx="2">
                  <c:v>7.8</c:v>
                </c:pt>
                <c:pt idx="3">
                  <c:v>7.8</c:v>
                </c:pt>
                <c:pt idx="4">
                  <c:v>6.8</c:v>
                </c:pt>
                <c:pt idx="5">
                  <c:v>5.4</c:v>
                </c:pt>
                <c:pt idx="6">
                  <c:v>5.4</c:v>
                </c:pt>
                <c:pt idx="7">
                  <c:v>4.7</c:v>
                </c:pt>
                <c:pt idx="8">
                  <c:v>4.1</c:v>
                </c:pt>
                <c:pt idx="9">
                  <c:v>3.4</c:v>
                </c:pt>
                <c:pt idx="10">
                  <c:v>3.4</c:v>
                </c:pt>
                <c:pt idx="11">
                  <c:v>3.1</c:v>
                </c:pt>
                <c:pt idx="12">
                  <c:v>2.7</c:v>
                </c:pt>
                <c:pt idx="13">
                  <c:v>2.4</c:v>
                </c:pt>
                <c:pt idx="14">
                  <c:v>2.4</c:v>
                </c:pt>
                <c:pt idx="15">
                  <c:v>2</c:v>
                </c:pt>
                <c:pt idx="16">
                  <c:v>1.7</c:v>
                </c:pt>
                <c:pt idx="17">
                  <c:v>1.4</c:v>
                </c:pt>
                <c:pt idx="18">
                  <c:v>1.4</c:v>
                </c:pt>
                <c:pt idx="19">
                  <c:v>0.7</c:v>
                </c:pt>
                <c:pt idx="20">
                  <c:v>0.7</c:v>
                </c:pt>
                <c:pt idx="21">
                  <c:v>0.3</c:v>
                </c:pt>
                <c:pt idx="22">
                  <c:v>0</c:v>
                </c:pt>
                <c:pt idx="23">
                  <c:v>0</c:v>
                </c:pt>
                <c:pt idx="24">
                  <c:v>0</c:v>
                </c:pt>
                <c:pt idx="25">
                  <c:v>0</c:v>
                </c:pt>
              </c:numCache>
            </c:numRef>
          </c:val>
        </c:ser>
        <c:ser>
          <c:idx val="1"/>
          <c:order val="1"/>
          <c:tx>
            <c:strRef>
              <c:f>Sheet1!$C$1</c:f>
              <c:strCache>
                <c:ptCount val="1"/>
                <c:pt idx="0">
                  <c:v>Deutsch nach Rang (%)</c:v>
                </c:pt>
              </c:strCache>
            </c:strRef>
          </c:tx>
          <c:spPr>
            <a:solidFill>
              <a:srgbClr val="B07D2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Sheet1!$A$2:$A$27</c:f>
              <c:multiLvlStrCache>
                <c:ptCount val="26"/>
                <c:lvl>
                  <c:pt idx="0">
                    <c:v>R</c:v>
                  </c:pt>
                  <c:pt idx="1">
                    <c:v>L</c:v>
                  </c:pt>
                  <c:pt idx="2">
                    <c:v>D</c:v>
                  </c:pt>
                  <c:pt idx="3">
                    <c:v>P</c:v>
                  </c:pt>
                  <c:pt idx="4">
                    <c:v>Z</c:v>
                  </c:pt>
                  <c:pt idx="5">
                    <c:v>E</c:v>
                  </c:pt>
                  <c:pt idx="6">
                    <c:v>Q</c:v>
                  </c:pt>
                  <c:pt idx="7">
                    <c:v>S</c:v>
                  </c:pt>
                  <c:pt idx="8">
                    <c:v>C</c:v>
                  </c:pt>
                  <c:pt idx="9">
                    <c:v>A</c:v>
                  </c:pt>
                  <c:pt idx="10">
                    <c:v>T</c:v>
                  </c:pt>
                  <c:pt idx="11">
                    <c:v>J</c:v>
                  </c:pt>
                  <c:pt idx="12">
                    <c:v>K</c:v>
                  </c:pt>
                  <c:pt idx="13">
                    <c:v>I</c:v>
                  </c:pt>
                  <c:pt idx="14">
                    <c:v>M</c:v>
                  </c:pt>
                  <c:pt idx="15">
                    <c:v>B</c:v>
                  </c:pt>
                  <c:pt idx="16">
                    <c:v>F</c:v>
                  </c:pt>
                  <c:pt idx="17">
                    <c:v>H</c:v>
                  </c:pt>
                  <c:pt idx="18">
                    <c:v>U</c:v>
                  </c:pt>
                  <c:pt idx="19">
                    <c:v>N</c:v>
                  </c:pt>
                  <c:pt idx="20">
                    <c:v>V</c:v>
                  </c:pt>
                  <c:pt idx="21">
                    <c:v>Y</c:v>
                  </c:pt>
                  <c:pt idx="22">
                    <c:v>G</c:v>
                  </c:pt>
                  <c:pt idx="23">
                    <c:v>O</c:v>
                  </c:pt>
                  <c:pt idx="24">
                    <c:v>W</c:v>
                  </c:pt>
                  <c:pt idx="25">
                    <c:v>X</c:v>
                  </c:pt>
                </c:lvl>
              </c:multiLvlStrCache>
            </c:multiLvlStrRef>
          </c:cat>
          <c:val>
            <c:numRef>
              <c:f>Sheet1!$C$2:$C$27</c:f>
              <c:numCache>
                <c:formatCode>General</c:formatCode>
                <c:ptCount val="26"/>
                <c:pt idx="0">
                  <c:v>17.4</c:v>
                </c:pt>
                <c:pt idx="1">
                  <c:v>9.78</c:v>
                </c:pt>
                <c:pt idx="2">
                  <c:v>7.55</c:v>
                </c:pt>
                <c:pt idx="3">
                  <c:v>7.27</c:v>
                </c:pt>
                <c:pt idx="4">
                  <c:v>7</c:v>
                </c:pt>
                <c:pt idx="5">
                  <c:v>6.51</c:v>
                </c:pt>
                <c:pt idx="6">
                  <c:v>6.15</c:v>
                </c:pt>
                <c:pt idx="7">
                  <c:v>5.08</c:v>
                </c:pt>
                <c:pt idx="8">
                  <c:v>4.76</c:v>
                </c:pt>
                <c:pt idx="9">
                  <c:v>4.35</c:v>
                </c:pt>
                <c:pt idx="10">
                  <c:v>3.44</c:v>
                </c:pt>
                <c:pt idx="11">
                  <c:v>3.06</c:v>
                </c:pt>
                <c:pt idx="12">
                  <c:v>3.01</c:v>
                </c:pt>
                <c:pt idx="13">
                  <c:v>2.53</c:v>
                </c:pt>
                <c:pt idx="14">
                  <c:v>2.51</c:v>
                </c:pt>
                <c:pt idx="15">
                  <c:v>1.89</c:v>
                </c:pt>
                <c:pt idx="16">
                  <c:v>1.89</c:v>
                </c:pt>
                <c:pt idx="17">
                  <c:v>1.66</c:v>
                </c:pt>
                <c:pt idx="18">
                  <c:v>1.21</c:v>
                </c:pt>
                <c:pt idx="19">
                  <c:v>1.13</c:v>
                </c:pt>
                <c:pt idx="20">
                  <c:v>0.79</c:v>
                </c:pt>
                <c:pt idx="21">
                  <c:v>0.67</c:v>
                </c:pt>
                <c:pt idx="22">
                  <c:v>0.27</c:v>
                </c:pt>
                <c:pt idx="23">
                  <c:v>0.04</c:v>
                </c:pt>
                <c:pt idx="24">
                  <c:v>0.03</c:v>
                </c:pt>
                <c:pt idx="25">
                  <c:v>0.02</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1B1F"/>
                </a:solidFill>
                <a:latin typeface="Consolas"/>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8CDB8"/>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A4A55"/>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200">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[Kapitel: Einstieg]
REGIE: Kamera unten rechts, Titelfolie mit Lapis-Akzent.
SPRECHERTEXT: Bagdad, um achthundertfünfzig. In den Bibliotheken der Stadt werden Schriften aus aller Welt gesammelt und übersetzt. Und ein Gelehrter beschreibt dort eine Methode, mit der man Geheimschriften lesen kann, ohne den Schlüssel zu kennen. Willkommen im Haus der Weisheit! Heute lernst du die Häufigkeitsanalyse – das Werkzeug, mit dem du im Abitur fast jede klassische Chiffre beurteilst.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REGIE: Stichpunkte nacheinander einblenden, den Kasten rechts zum Schluss.
SPRECHERTEXT: Ein Blick in die Abituraufgaben zeigt: In neun von siebzehn Aufgaben auf erhöhtem Niveau wird die Häufigkeitsanalyse ausdrücklich gefragt, in drei weiteren steckt sie indirekt drin. Typisch sind Aufträge wie: Erläutern Sie das Prinzip der Häufigkeitsanalyse. Oder: Entscheiden Sie begründet, ob sie hier weiterhilft. Dafür musst du nicht nur wissen, wie sie funktioniert, sondern auch, wann sie versagt.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[Kapitel: Substitution mit Schlüsselwort]
REGIE: Erst die Schlüsselwort-Buchstaben Z I F E R (hervorgehoben) zeigen, dann den alphabetischen Rest.
SPRECHERTEXT: Zuerst das Verfahren, um das es geht. Statt alle Buchstaben um gleich viele Stellen zu verschieben, darf jetzt jeder Klartextbuchstabe durch irgendeinen Geheimtextbuchstaben ersetzt werden. Damit man sich die Zuordnung merken kann, nimmt man ein Schlüsselwort – hier ZIFFER. Doppelte Buchstaben schreibt man nur einmal, danach folgt der Rest des Alphabets der Reihe nach. Ein passendes Wort übrigens: Ziffer und Chiffre stammen vom arabischen Wort sifr – leer, Null. Wie viele Schlüssel gibt es? Für das a gibt es sechsundzwanzig Möglichkeiten, für das b noch fünfundzwanzig und so weiter: sechsundzwanzig Fakultät, rund vier mal zehn hoch sechsundzwanzig. Selbst mit einer Milliarde Versuchen pro Sekunde bräuchte man etwa dreizehn Milliarden Jahre. Brute Force ist also hoffnungslos.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[Kapitel: Al-Kindis Idee]
REGIE: Auf die genannten Bildteile zeigen; Kasten rechts nach dem ersten Satz einblenden.
SPRECHERTEXT: Hier kommt Al-Kindi ins Spiel, ein Gelehrter, der im neunten Jahrhundert in Bagdad gearbeitet hat. Seine Abhandlung über das Entschlüsseln geheimer Botschaften gilt als die älteste bekannte Beschreibung der Häufigkeitsanalyse – sie wurde übrigens erst im zwanzigsten Jahrhundert in einem Archiv in Istanbul wiederentdeckt. Die Idee ist verblüffend einfach: In jeder Sprache kommen die Buchstaben unterschiedlich oft vor. Im Deutschen ist etwa jeder sechste Buchstabe ein e, jeder zehnte ein n. Bei einer monoalphabetischen Substitution wird jedes e immer gleich ersetzt. Die Häufigkeit bleibt also erhalten – sie steht nur bei einem anderen Buchstaben. Man muss also nicht probieren, sondern zählen.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[Kapitel: Ein Brief wird geknackt]
REGIE: Ruhig stehen lassen; mit dem Zeiger über die Zeilen fahren, ohne einzelne Gruppen zu deuten.
SPRECHERTEXT: Eve hat einen Brief abgefangen. Sie weiß, dass er auf Deutsch geschrieben und monoalphabetisch verschlüsselt ist. Den Schlüssel kennt sie nicht. Zweihundertfünfundneunzig Buchstaben, in Fünfergruppen – auf den ersten Blick völlig undurchdringlich. Schauen wir, wie weit wir mit Al-Kindis Methode kommen.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REGIE: Auf die beiden hohen Balken R und L zeigen, dann auf das „Mittelfeld“ D, P, Z.
SPRECHERTEXT: Schritt eins: zählen. Das Histogramm zeigt, wie oft jeder Geheimtextbuchstabe vorkommt, nach Häufigkeit sortiert. Ganz vorne steht R mit siebenundfünfzig von zweihundertfünfundneunzig Buchstaben – gut neunzehn Prozent. Im Deutschen ist das e mit etwa siebzehn Prozent der Spitzenreiter. Also vermuten wir: R steht für e. Auf Platz zwei kommt L mit gut dreizehn Prozent – ein Kandidat für n. Danach wird es eng: D, P und Z liegen dicht beieinander. Hier hilft Zählen allein nicht weiter. Wir brauchen mehr Information.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REGIE: Tabelle zeilenweise aufdecken und beim Sprechen mit dem Zeiger mitgehen.
SPRECHERTEXT: Schritt zwei: Wir schauen auf Paare und Dreiergruppen. Das häufigste Paar im Geheimtext ist R L, siebzehnmal. Mit unserer Vermutung wäre das e n – und en ist zusammen mit er das häufigste Paar im Deutschen. Das bestätigt R gleich e und L gleich n. Auf Platz zwei kommt R P, vierzehnmal. e und dann? Natürlich er – also P gleich r. D R und R D kommen beide oft vor: ie und ei, also D gleich i. Und die Dreiergruppe E D R taucht viermal auf: ein Wort, das mit i e endet – die. Also E gleich 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[Kapitel: Selbst ausprobieren]
REGIE: Einblendung „⏸ Video anhalten“; Klartextzeile in --text-2, unbekannte Buchstaben GROSS in Mono.
SPRECHERTEXT: Jetzt bist du dran. Hier ist der Anfang des Briefs. Die kleinen Buchstaben kennen wir schon, die großen noch nicht. Halte das Video an und ergänze den ersten Satz wie ein Kreuzworträtsel. Ein Tipp: Es geht um Sterne. Danach kommt die Auflösung.
PAUSE: 8 s Einblendung „⏸ Video anhalten“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REGIE: Tabelle zeilenweise aufdecken und beim Sprechen mit dem Zeiger mitgehen.
SPRECHERTEXT: Die Auflösung: Der Brief beginnt mit „die neue Abschrift der Sternentafeln ist fertig“. Damit kennen wir zehn weitere Buchstaben: T ist u, Z ist a, I ist b, Q ist s, F ist c, C ist h, A ist f, S ist t, J ist l und B ist g. Wenn du „neue“ und „Sternentafeln“ gefunden hast, war der Rest nur noch Fleißarbeit. Und so geht es weiter: Jeder neue Buchstabe macht die übrigen leichter.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REGIE: Lücken (·) zeigen, dann „ZIFER“ am Anfang einkreisen.
SPRECHERTEXT: Mit dieser Methode lässt sich der ganze Brief lesen: Jemand hat die Abschrift in einer Kiste unter den Büchern versteckt, und Händler aus dem Hafen wollen sie verkaufen. Spannend ist, was dabei mit dem Schlüssel passiert. Schreiben wir die gefundenen Zuordnungen in die Alphabetleiste, entstehen vier Lücken – j, q, x und y kommen im Brief gar nicht vor. Aber vorne steht Z I F E R, danach geht es alphabetisch weiter. Damit ist das Schlüsselwort klar, und die Lücken füllen sich von selbst. Eve kann jetzt auch jeden weiteren Brief mit diesem Schlüssel sofort lesen.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[Kapitel: Prinzip erläutern]
REGIE: Stichpunkte nacheinander einblenden, den Kasten rechts zum Schluss.
SPRECHERTEXT: Warum funktioniert das? Weil bei einer monoalphabetischen Substitution jeder Klartextbuchstabe immer gleich ersetzt wird. Die Häufigkeitsverteilung der Sprache bleibt deshalb erhalten – die Buchstaben tragen nur andere Namen. Dafür braucht es zwei Voraussetzungen: genug Text und eine bekannte Sprache. Und die wichtigste Lehre für das Abitur: Ein großer Schlüsselraum ist notwendig, aber nicht hinreichend. Sechsundzwanzig Fakultät Schlüssel haben nicht geholfen. Wenn du das Prinzip erläutern sollst, kannst du dich an den Mustersätzen rechts orientieren: Was man tut, warum es funktioniert, und wie man die Zuordnung bestätigt.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[Kapitel: Grenzen und Fallen]
REGIE: Erst die Spalte ✗ „So nicht“ zeigen, kurze Pause, dann ✓ „So geht’s“ und die Regel einblenden.
SPRECHERTEXT: Und jetzt die Grenzen – Falle P6: Häufigkeitsanalyse pauschal. Erstens: Bei kurzen Texten ist sie unzuverlässig. Erinnerst du dich an unseren Caesar-Geheimtext aus dem letzten Video? Neunzehn Buchstaben, am häufigsten ist T. Wer T gleich e annimmt, landet bei der Verschiebung fünfzehn und bei Unsinn. In Wahrheit steht T für n. Zweitens: Bei einer Transposition werden Buchstaben nur umgestellt. Die Verteilung bleibt gleich – du erkennst daran den Verfahrenstyp, aber nicht den Schlüssel. Drittens: Bei polyalphabetischen Verfahren wird jedes e mal so, mal anders ersetzt. Die Verteilung verwischt. Dann musst du erst Teiltexte bilden – das zeige ich dir im nächsten Video. Und wird in Paaren ersetzt, zählst du Paare.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[Kapitel: Gegenmittel]
REGIE: Stichpunkte nacheinander einblenden, den Kasten rechts zum Schluss.
SPRECHERTEXT: Wie haben sich die Kryptografen gewehrt? Mit Ideen, die die Häufigkeiten verwischen. Bei einer homophonen Chiffre bekommen häufige Buchstaben wie das e mehrere verschiedene Geheimzeichen – dann ist keines mehr auffällig häufig. Bei einer Bigramm-Substitution wie Playfair werden Buchstabenpaare ersetzt statt einzelner Buchstaben. Und bei polyalphabetischen Verfahren wie Vigenère wechselt die Ersetzung von Position zu Position. Genau solche Ideen brauchst du, wenn du im Abitur auf erhöhtem Niveau eine Verbesserung eines Verfahrens vorschlagen und begründen sollst.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[Kapitel: Typische Fehler]
REGIE: Stichpunkte nacheinander einblenden, den Kasten rechts zum Schluss.
SPRECHERTEXT: Die typischen Fehler auf einen Blick. P5, die Einordnung: Monoalphabetisch ist ein Verfahren, wenn derselbe Klartextbuchstabe immer gleich ersetzt wird – egal, wie kompliziert die Ersetzung aussieht. P6: Nenne immer, was gezählt wird und unter welchen Voraussetzungen. P7: Die Substitution hat sechsundzwanzig Fakultät Schlüssel, Caesar nur fünfundzwanzig sinnvolle. Und P10: Wer nur sagt „großer Schlüsselraum, also sicher“, verschenkt Punkte, weil das entscheidende Argument fehlt.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[Kapitel: Zusammenfassung]
REGIE: Merksätze nacheinander einblenden; ruhig und etwas langsamer sprechen.
SPRECHERTEXT: Das nimmst du mit: Eine monoalphabetische Substitution hat sechsundzwanzig Fakultät Schlüssel – Brute Force ist unmöglich. Aber die Häufigkeitsverteilung der Sprache bleibt erhalten. Du zählst, vergleichst mit dem Deutschen und bestätigst mit Paaren, häufigen Wörtern und dem Kontext. Und du kennst die Grenzen: kurze Texte, Transposition und polyalphabetische Verfahren.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REGIE: Endcard über die letzten 20 s legen.
SPRECHERTEXT: Weiter geht es im Lab mit Level eins Punkt eins, Al-Kindis Handschrift. Mit der Substitutions-Werkbank im Kryptolabor knackst du selbst eine Substitution. Im nächsten Video wird es schwieriger: Wir knacken ein Verfahren, das rund dreihundert Jahre lang als unknackbar galt. Bis dann im Archiv!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R Titel">
    <p:bg>
      <p:bgPr>
        <a:solidFill>
          <a:srgbClr val="14213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331720"/>
            <a:ext cx="7498080" cy="1554480"/>
          </a:xfrm>
          <a:prstGeom prst="rect">
            <a:avLst/>
          </a:prstGeom>
          <a:noFill/>
          <a:ln/>
        </p:spPr>
        <p:txBody>
          <a:bodyPr wrap="square" rtlCol="0"/>
          <a:lstStyle>
            <a:lvl1pPr algn="l" indent="0" marL="0">
              <a:buNone/>
              <a:defRPr lang="en-US" sz="4600" b="1" dirty="0">
                <a:solidFill>
                  <a:srgbClr val="FBF7EE"/>
                </a:solidFill>
                <a:latin typeface="Georgia" pitchFamily="34" charset="0"/>
                <a:ea typeface="Georgia" pitchFamily="34" charset="-122"/>
                <a:cs typeface="Georgia" pitchFamily="34" charset="-120"/>
              </a:defRPr>
            </a:lvl1pPr>
          </a:lstStyle>
          <a:p>
            <a:pPr algn="l" indent="0" marL="0">
              <a:buNone/>
            </a:pPr>
            <a:endParaRPr lang="en-US" sz="4600" dirty="0"/>
          </a:p>
        </p:txBody>
      </p:sp>
      <p:sp>
        <p:nvSpPr>
          <p:cNvPr id="3" name="Text 0"/>
          <p:cNvSpPr/>
          <p:nvPr>
            <p:ph idx="101" type="body" hasCustomPrompt="1"/>
          </p:nvPr>
        </p:nvSpPr>
        <p:spPr>
          <a:xfrm>
            <a:off x="548640" y="3931920"/>
            <a:ext cx="7315200" cy="914400"/>
          </a:xfrm>
          <a:prstGeom prst="rect">
            <a:avLst/>
          </a:prstGeom>
          <a:noFill/>
          <a:ln/>
        </p:spPr>
        <p:txBody>
          <a:bodyPr wrap="square" rtlCol="0"/>
          <a:lstStyle>
            <a:lvl1pPr algn="l" indent="0" marL="0">
              <a:buNone/>
              <a:defRPr lang="en-US" sz="2200" dirty="0">
                <a:solidFill>
                  <a:srgbClr val="D9A441"/>
                </a:solidFill>
                <a:latin typeface="Calibri" pitchFamily="34" charset="0"/>
                <a:ea typeface="Calibri" pitchFamily="34" charset="-122"/>
                <a:cs typeface="Calibri" pitchFamily="34" charset="-120"/>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R Abschnitt">
    <p:bg>
      <p:bgPr>
        <a:solidFill>
          <a:srgbClr val="14213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1645920" y="2651760"/>
            <a:ext cx="9601200" cy="1097280"/>
          </a:xfrm>
          <a:prstGeom prst="rect">
            <a:avLst/>
          </a:prstGeom>
          <a:noFill/>
          <a:ln/>
        </p:spPr>
        <p:txBody>
          <a:bodyPr wrap="square" rtlCol="0"/>
          <a:lstStyle>
            <a:lvl1pPr algn="l" indent="0" marL="0">
              <a:buNone/>
              <a:defRPr lang="en-US" sz="4000" b="1" dirty="0">
                <a:solidFill>
                  <a:srgbClr val="FBF7EE"/>
                </a:solidFill>
                <a:latin typeface="Georgia" pitchFamily="34" charset="0"/>
                <a:ea typeface="Georgia" pitchFamily="34" charset="-122"/>
                <a:cs typeface="Georgia" pitchFamily="34" charset="-120"/>
              </a:defRPr>
            </a:lvl1pPr>
          </a:lstStyle>
          <a:p>
            <a:pPr algn="l" indent="0" marL="0">
              <a:buNone/>
            </a:pPr>
            <a:endParaRPr lang="en-US" sz="4000" dirty="0"/>
          </a:p>
        </p:txBody>
      </p:sp>
      <p:pic>
        <p:nvPicPr>
          <p:cNvPr id="3" name="Image 0" descr="/tmp/kr_bildcache/siegel1_933b36bad32b4e56.png">    </p:cNvPr>
          <p:cNvPicPr>
            <a:picLocks noChangeAspect="1"/>
          </p:cNvPicPr>
          <p:nvPr/>
        </p:nvPicPr>
        <p:blipFill>
          <a:blip r:embed="rId1"/>
          <a:stretch>
            <a:fillRect/>
          </a:stretch>
        </p:blipFill>
        <p:spPr>
          <a:xfrm>
            <a:off x="548640" y="2788920"/>
            <a:ext cx="868680" cy="868680"/>
          </a:xfrm>
          <a:prstGeom prst="rect">
            <a:avLst/>
          </a:prstGeom>
        </p:spPr>
      </p:pic>
      <p:sp>
        <p:nvSpPr>
          <p:cNvPr id="4" name="Text 0"/>
          <p:cNvSpPr/>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D9A441"/>
                </a:solidFill>
                <a:latin typeface="Calibri" pitchFamily="34" charset="0"/>
                <a:ea typeface="Calibri" pitchFamily="34" charset="-122"/>
                <a:cs typeface="Calibri" pitchFamily="34" charset="-120"/>
              </a:rPr>
              <a:t>Kryptos · Welt 1 · Das Haus der Weisheit</a:t>
            </a:r>
            <a:endParaRPr lang="en-US" sz="1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9A441"/>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KR Inhalt">
    <p:bg>
      <p:bgPr>
        <a:solidFill>
          <a:srgbClr val="FBF7EE"/>
        </a:solidFill>
      </p:bgPr>
    </p:bg>
    <p:spTree>
      <p:nvGrpSpPr>
        <p:cNvPr id="1" name=""/>
        <p:cNvGrpSpPr/>
        <p:nvPr/>
      </p:nvGrpSpPr>
      <p:grpSpPr>
        <a:xfrm>
          <a:off x="0" y="0"/>
          <a:ext cx="0" cy="0"/>
          <a:chOff x="0" y="0"/>
          <a:chExt cx="0" cy="0"/>
        </a:xfrm>
      </p:grpSpPr>
      <p:pic>
        <p:nvPicPr>
          <p:cNvPr id="2" name="Image 0" descr="/tmp/kr_bildcache/siegel1_933b36bad32b4e56.png">    </p:cNvPr>
          <p:cNvPicPr>
            <a:picLocks noChangeAspect="1"/>
          </p:cNvPicPr>
          <p:nvPr/>
        </p:nvPicPr>
        <p:blipFill>
          <a:blip r:embed="rId1"/>
          <a:stretch>
            <a:fillRect/>
          </a:stretch>
        </p:blipFill>
        <p:spPr>
          <a:xfrm>
            <a:off x="548640" y="384048"/>
            <a:ext cx="566928" cy="566928"/>
          </a:xfrm>
          <a:prstGeom prst="rect">
            <a:avLst/>
          </a:prstGeom>
        </p:spPr>
      </p:pic>
      <p:sp>
        <p:nvSpPr>
          <p:cNvPr id="3" name="Text 0"/>
          <p:cNvSpPr/>
          <p:nvPr>
            <p:ph idx="101" type="title" hasCustomPrompt="1"/>
          </p:nvPr>
        </p:nvSpPr>
        <p:spPr>
          <a:xfrm>
            <a:off x="1325880" y="347472"/>
            <a:ext cx="10317175" cy="658368"/>
          </a:xfrm>
          <a:prstGeom prst="rect">
            <a:avLst/>
          </a:prstGeom>
          <a:noFill/>
          <a:ln/>
        </p:spPr>
        <p:txBody>
          <a:bodyPr wrap="square" rtlCol="0"/>
          <a:lstStyle>
            <a:lvl1pPr algn="l" indent="0" marL="0">
              <a:buNone/>
              <a:defRPr lang="en-US" sz="3000" b="1" dirty="0">
                <a:solidFill>
                  <a:srgbClr val="14213D"/>
                </a:solidFill>
                <a:latin typeface="Georgia" pitchFamily="34" charset="0"/>
                <a:ea typeface="Georgia" pitchFamily="34" charset="-122"/>
                <a:cs typeface="Georgia" pitchFamily="34" charset="-120"/>
              </a:defRPr>
            </a:lvl1pPr>
          </a:lstStyle>
          <a:p>
            <a:pPr algn="l" indent="0" marL="0">
              <a:buNone/>
            </a:pPr>
            <a:endParaRPr lang="en-US" sz="3000" dirty="0"/>
          </a:p>
        </p:txBody>
      </p:sp>
      <p:sp>
        <p:nvSpPr>
          <p:cNvPr id="4" name="Text 0"/>
          <p:cNvSpPr/>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4A4A55"/>
                </a:solidFill>
                <a:latin typeface="Calibri" pitchFamily="34" charset="0"/>
                <a:ea typeface="Calibri" pitchFamily="34" charset="-122"/>
                <a:cs typeface="Calibri" pitchFamily="34" charset="-120"/>
              </a:rPr>
              <a:t>Kryptos · Welt 1 · Das Haus der Weisheit</a:t>
            </a:r>
            <a:endParaRPr lang="en-US" sz="1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KR Dunkel">
    <p:bg>
      <p:bgPr>
        <a:solidFill>
          <a:srgbClr val="0B1426"/>
        </a:solidFill>
      </p:bgPr>
    </p:bg>
    <p:spTree>
      <p:nvGrpSpPr>
        <p:cNvPr id="1" name=""/>
        <p:cNvGrpSpPr/>
        <p:nvPr/>
      </p:nvGrpSpPr>
      <p:grpSpPr>
        <a:xfrm>
          <a:off x="0" y="0"/>
          <a:ext cx="0" cy="0"/>
          <a:chOff x="0" y="0"/>
          <a:chExt cx="0" cy="0"/>
        </a:xfrm>
      </p:grpSpPr>
      <p:pic>
        <p:nvPicPr>
          <p:cNvPr id="2" name="Image 0" descr="/tmp/kr_bildcache/siegel1_933b36bad32b4e56.png">    </p:cNvPr>
          <p:cNvPicPr>
            <a:picLocks noChangeAspect="1"/>
          </p:cNvPicPr>
          <p:nvPr/>
        </p:nvPicPr>
        <p:blipFill>
          <a:blip r:embed="rId1"/>
          <a:stretch>
            <a:fillRect/>
          </a:stretch>
        </p:blipFill>
        <p:spPr>
          <a:xfrm>
            <a:off x="548640" y="384048"/>
            <a:ext cx="566928" cy="566928"/>
          </a:xfrm>
          <a:prstGeom prst="rect">
            <a:avLst/>
          </a:prstGeom>
        </p:spPr>
      </p:pic>
      <p:sp>
        <p:nvSpPr>
          <p:cNvPr id="3" name="Text 0"/>
          <p:cNvSpPr/>
          <p:nvPr>
            <p:ph idx="101" type="title" hasCustomPrompt="1"/>
          </p:nvPr>
        </p:nvSpPr>
        <p:spPr>
          <a:xfrm>
            <a:off x="1325880" y="347472"/>
            <a:ext cx="10317175" cy="658368"/>
          </a:xfrm>
          <a:prstGeom prst="rect">
            <a:avLst/>
          </a:prstGeom>
          <a:noFill/>
          <a:ln/>
        </p:spPr>
        <p:txBody>
          <a:bodyPr wrap="square" rtlCol="0"/>
          <a:lstStyle>
            <a:lvl1pPr algn="l" indent="0" marL="0">
              <a:buNone/>
              <a:defRPr lang="en-US" sz="3000" b="1" dirty="0">
                <a:solidFill>
                  <a:srgbClr val="FBF7EE"/>
                </a:solidFill>
                <a:latin typeface="Georgia" pitchFamily="34" charset="0"/>
                <a:ea typeface="Georgia" pitchFamily="34" charset="-122"/>
                <a:cs typeface="Georgia" pitchFamily="34" charset="-120"/>
              </a:defRPr>
            </a:lvl1pPr>
          </a:lstStyle>
          <a:p>
            <a:pPr algn="l" indent="0" marL="0">
              <a:buNone/>
            </a:pPr>
            <a:endParaRPr lang="en-US" sz="3000" dirty="0"/>
          </a:p>
        </p:txBody>
      </p:sp>
      <p:sp>
        <p:nvSpPr>
          <p:cNvPr id="4" name="Text 0"/>
          <p:cNvSpPr/>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D9A441"/>
                </a:solidFill>
                <a:latin typeface="Calibri" pitchFamily="34" charset="0"/>
                <a:ea typeface="Calibri" pitchFamily="34" charset="-122"/>
                <a:cs typeface="Calibri" pitchFamily="34" charset="-120"/>
              </a:rPr>
              <a:t>Kryptos · Welt 1 · Das Haus der Weisheit</a:t>
            </a:r>
            <a:endParaRPr lang="en-US" sz="1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9A441"/>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9A44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Chiffrierscheibe" descr="/tmp/kr_bildcache/scheibe_929f17d95773e627.png">    </p:cNvPr>
          <p:cNvPicPr>
            <a:picLocks noChangeAspect="1"/>
          </p:cNvPicPr>
          <p:nvPr/>
        </p:nvPicPr>
        <p:blipFill>
          <a:blip r:embed="rId1">
            <a:alphaModFix amt="45000"/>
          </a:blip>
          <a:stretch>
            <a:fillRect/>
          </a:stretch>
        </p:blipFill>
        <p:spPr>
          <a:xfrm>
            <a:off x="7223760" y="-1005840"/>
            <a:ext cx="6766560" cy="6766560"/>
          </a:xfrm>
          <a:prstGeom prst="rect">
            <a:avLst/>
          </a:prstGeom>
        </p:spPr>
      </p:pic>
      <p:pic>
        <p:nvPicPr>
          <p:cNvPr id="3" name="Image 1" descr="/tmp/kr_bildcache/siegel1_933b36bad32b4e56.png">    </p:cNvPr>
          <p:cNvPicPr>
            <a:picLocks noChangeAspect="1"/>
          </p:cNvPicPr>
          <p:nvPr/>
        </p:nvPicPr>
        <p:blipFill>
          <a:blip r:embed="rId2"/>
          <a:stretch>
            <a:fillRect/>
          </a:stretch>
        </p:blipFill>
        <p:spPr>
          <a:xfrm>
            <a:off x="548640" y="685800"/>
            <a:ext cx="1005840" cy="1005840"/>
          </a:xfrm>
          <a:prstGeom prst="rect">
            <a:avLst/>
          </a:prstGeom>
        </p:spPr>
      </p:pic>
      <p:sp>
        <p:nvSpPr>
          <p:cNvPr id="4" name="Text 0"/>
          <p:cNvSpPr txBox="1"/>
          <p:nvPr/>
        </p:nvSpPr>
        <p:spPr>
          <a:xfrm>
            <a:off x="548640" y="1828800"/>
            <a:ext cx="7772400" cy="365760"/>
          </a:xfrm>
          <a:prstGeom prst="rect">
            <a:avLst/>
          </a:prstGeom>
          <a:noFill/>
          <a:ln/>
        </p:spPr>
        <p:txBody>
          <a:bodyPr wrap="square" lIns="0" tIns="0" rIns="0" bIns="0" rtlCol="0" anchor="ctr"/>
          <a:lstStyle/>
          <a:p>
            <a:pPr indent="0" marL="0">
              <a:buNone/>
            </a:pPr>
            <a:r>
              <a:rPr lang="en-US" sz="1600" b="1" spc="300" kern="0" dirty="0">
                <a:solidFill>
                  <a:srgbClr val="7FA8E0"/>
                </a:solidFill>
                <a:latin typeface="Consolas" pitchFamily="34" charset="0"/>
                <a:ea typeface="Consolas" pitchFamily="34" charset="-122"/>
                <a:cs typeface="Consolas" pitchFamily="34" charset="-120"/>
              </a:rPr>
              <a:t>VIDEO 02 · BAGDAD · UM 850</a:t>
            </a:r>
            <a:endParaRPr lang="en-US" sz="1600" dirty="0"/>
          </a:p>
        </p:txBody>
      </p:sp>
      <p:sp>
        <p:nvSpPr>
          <p:cNvPr id="5" name="Text 0"/>
          <p:cNvSpPr/>
          <p:nvPr>
            <p:ph idx="100" type="title" hasCustomPrompt="1"/>
          </p:nvPr>
        </p:nvSpPr>
        <p:spPr>
          <a:xfrm>
            <a:off x="548640" y="2331720"/>
            <a:ext cx="7498080" cy="1554480"/>
          </a:xfrm>
          <a:prstGeom prst="rect">
            <a:avLst/>
          </a:prstGeom>
          <a:noFill/>
          <a:ln/>
        </p:spPr>
        <p:txBody>
          <a:bodyPr wrap="square" lIns="0" tIns="0" rIns="0" bIns="0" rtlCol="0" anchor="t"/>
          <a:lstStyle/>
          <a:p>
            <a:pPr algn="l" indent="0" marL="0">
              <a:buNone/>
            </a:pPr>
            <a:r>
              <a:rPr lang="en-US" sz="4600" b="1" dirty="0">
                <a:solidFill>
                  <a:srgbClr val="FBF7EE"/>
                </a:solidFill>
                <a:latin typeface="Georgia" pitchFamily="34" charset="0"/>
                <a:ea typeface="Georgia" pitchFamily="34" charset="-122"/>
                <a:cs typeface="Georgia" pitchFamily="34" charset="-120"/>
              </a:rPr>
              <a:t>Häufigkeitsanalyse: Wie Al-Kindi jede Substitution knackt</a:t>
            </a:r>
            <a:endParaRPr lang="en-US" sz="4600" dirty="0"/>
          </a:p>
        </p:txBody>
      </p:sp>
      <p:sp>
        <p:nvSpPr>
          <p:cNvPr id="6" name="Text 0"/>
          <p:cNvSpPr/>
          <p:nvPr>
            <p:ph idx="101" type="body" hasCustomPrompt="1"/>
          </p:nvPr>
        </p:nvSpPr>
        <p:spPr>
          <a:xfrm>
            <a:off x="548640" y="3931920"/>
            <a:ext cx="7315200" cy="914400"/>
          </a:xfrm>
          <a:prstGeom prst="rect">
            <a:avLst/>
          </a:prstGeom>
          <a:noFill/>
          <a:ln/>
        </p:spPr>
        <p:txBody>
          <a:bodyPr wrap="square" lIns="0" tIns="0" rIns="0" bIns="0" rtlCol="0" anchor="t"/>
          <a:lstStyle/>
          <a:p>
            <a:pPr algn="l" indent="0" marL="0">
              <a:buNone/>
            </a:pPr>
            <a:r>
              <a:rPr lang="en-US" sz="2200" dirty="0">
                <a:solidFill>
                  <a:srgbClr val="D9A441"/>
                </a:solidFill>
                <a:latin typeface="Calibri" pitchFamily="34" charset="0"/>
                <a:ea typeface="Calibri" pitchFamily="34" charset="-122"/>
                <a:cs typeface="Calibri" pitchFamily="34" charset="-120"/>
              </a:rPr>
              <a:t>26! Schlüssel – und trotzdem in einer Viertelstunde geknackt</a:t>
            </a:r>
            <a:endParaRPr lang="en-US" sz="2200" dirty="0"/>
          </a:p>
        </p:txBody>
      </p:sp>
      <p:sp>
        <p:nvSpPr>
          <p:cNvPr id="7" name="Text 3"/>
          <p:cNvSpPr txBox="1"/>
          <p:nvPr/>
        </p:nvSpPr>
        <p:spPr>
          <a:xfrm>
            <a:off x="548640" y="6172200"/>
            <a:ext cx="7315200" cy="320040"/>
          </a:xfrm>
          <a:prstGeom prst="rect">
            <a:avLst/>
          </a:prstGeom>
          <a:noFill/>
          <a:ln/>
        </p:spPr>
        <p:txBody>
          <a:bodyPr wrap="square" lIns="0" tIns="0" rIns="0" bIns="0" rtlCol="0" anchor="ctr"/>
          <a:lstStyle/>
          <a:p>
            <a:pPr indent="0" marL="0">
              <a:buNone/>
            </a:pPr>
            <a:r>
              <a:rPr lang="en-US" sz="1200" spc="400" kern="0" dirty="0">
                <a:solidFill>
                  <a:srgbClr val="D9A441"/>
                </a:solidFill>
              </a:rPr>
              <a:t>KRYPTOS · DIE ZEITREISE DER GEHEIMSCHRIFTEN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Häufigkeitsanalyse im Abitur</a:t>
            </a:r>
            <a:endParaRPr lang="en-US" sz="3000" dirty="0"/>
          </a:p>
        </p:txBody>
      </p:sp>
      <p:sp>
        <p:nvSpPr>
          <p:cNvPr id="3" name="Text 1"/>
          <p:cNvSpPr txBox="1"/>
          <p:nvPr/>
        </p:nvSpPr>
        <p:spPr>
          <a:xfrm>
            <a:off x="548640" y="1325880"/>
            <a:ext cx="4308653" cy="4465320"/>
          </a:xfrm>
          <a:prstGeom prst="rect">
            <a:avLst/>
          </a:prstGeom>
          <a:noFill/>
          <a:ln/>
        </p:spPr>
        <p:txBody>
          <a:bodyPr wrap="square" lIns="0" tIns="0" rIns="0" bIns="0" rtlCol="0" anchor="t"/>
          <a:lstStyle/>
          <a:p>
            <a:pPr marL="279400" indent="-279400">
              <a:spcAft>
                <a:spcPts val="600"/>
              </a:spcAft>
              <a:buSzPct val="100000"/>
              <a:buChar char="●"/>
            </a:pPr>
            <a:r>
              <a:rPr lang="en-US" sz="2200" dirty="0">
                <a:solidFill>
                  <a:srgbClr val="1B1B1F"/>
                </a:solidFill>
              </a:rPr>
              <a:t>In </a:t>
            </a:r>
            <a:r>
              <a:rPr lang="en-US" sz="2200" b="1" dirty="0">
                <a:solidFill>
                  <a:srgbClr val="1B1B1F"/>
                </a:solidFill>
              </a:rPr>
              <a:t>9 von 17</a:t>
            </a:r>
            <a:r>
              <a:rPr lang="en-US" sz="2200" dirty="0">
                <a:solidFill>
                  <a:srgbClr val="1B1B1F"/>
                </a:solidFill>
              </a:rPr>
              <a:t> eA-Abituraufgaben (2021–2026) ausdrücklich gefragt, in 3 weiteren indirekt</a:t>
            </a:r>
            <a:endParaRPr lang="en-US" sz="2200" dirty="0"/>
          </a:p>
          <a:p>
            <a:pPr marL="279400" indent="-279400">
              <a:spcAft>
                <a:spcPts val="600"/>
              </a:spcAft>
              <a:buSzPct val="100000"/>
              <a:buChar char="●"/>
            </a:pPr>
            <a:r>
              <a:rPr lang="en-US" sz="2200" dirty="0">
                <a:solidFill>
                  <a:srgbClr val="1B1B1F"/>
                </a:solidFill>
              </a:rPr>
              <a:t>„</a:t>
            </a:r>
            <a:r>
              <a:rPr lang="en-US" sz="2200" b="1" dirty="0">
                <a:solidFill>
                  <a:srgbClr val="1B1B1F"/>
                </a:solidFill>
              </a:rPr>
              <a:t>Erläutern</a:t>
            </a:r>
            <a:r>
              <a:rPr lang="en-US" sz="2200" dirty="0">
                <a:solidFill>
                  <a:srgbClr val="1B1B1F"/>
                </a:solidFill>
              </a:rPr>
              <a:t> Sie das Prinzip der Häufigkeitsanalyse.“</a:t>
            </a:r>
            <a:endParaRPr lang="en-US" sz="2200" dirty="0"/>
          </a:p>
          <a:p>
            <a:pPr marL="279400" indent="-279400">
              <a:spcAft>
                <a:spcPts val="600"/>
              </a:spcAft>
              <a:buSzPct val="100000"/>
              <a:buChar char="●"/>
            </a:pPr>
            <a:r>
              <a:rPr lang="en-US" sz="2200" dirty="0">
                <a:solidFill>
                  <a:srgbClr val="1B1B1F"/>
                </a:solidFill>
              </a:rPr>
              <a:t>„</a:t>
            </a:r>
            <a:r>
              <a:rPr lang="en-US" sz="2200" b="1" dirty="0">
                <a:solidFill>
                  <a:srgbClr val="1B1B1F"/>
                </a:solidFill>
              </a:rPr>
              <a:t>Entscheiden</a:t>
            </a:r>
            <a:r>
              <a:rPr lang="en-US" sz="2200" dirty="0">
                <a:solidFill>
                  <a:srgbClr val="1B1B1F"/>
                </a:solidFill>
              </a:rPr>
              <a:t> Sie begründet, ob eine Häufigkeitsanalyse hier hilft.“</a:t>
            </a:r>
            <a:endParaRPr lang="en-US" sz="2200" dirty="0"/>
          </a:p>
          <a:p>
            <a:pPr marL="279400" indent="-279400">
              <a:spcAft>
                <a:spcPts val="600"/>
              </a:spcAft>
              <a:buSzPct val="100000"/>
              <a:buChar char="●"/>
            </a:pPr>
            <a:r>
              <a:rPr lang="en-US" sz="2200" dirty="0">
                <a:solidFill>
                  <a:srgbClr val="1B1B1F"/>
                </a:solidFill>
              </a:rPr>
              <a:t>Dafür musst du wissen, </a:t>
            </a:r>
            <a:r>
              <a:rPr lang="en-US" sz="2200" b="1" dirty="0">
                <a:solidFill>
                  <a:srgbClr val="1B1B1F"/>
                </a:solidFill>
              </a:rPr>
              <a:t>wann</a:t>
            </a:r>
            <a:r>
              <a:rPr lang="en-US" sz="2200" dirty="0">
                <a:solidFill>
                  <a:srgbClr val="1B1B1F"/>
                </a:solidFill>
              </a:rPr>
              <a:t> sie funktioniert – und wann nicht</a:t>
            </a:r>
            <a:endParaRPr lang="en-US" sz="2200" dirty="0"/>
          </a:p>
        </p:txBody>
      </p:sp>
      <p:sp>
        <p:nvSpPr>
          <p:cNvPr id="4" name="Shape 2"/>
          <p:cNvSpPr/>
          <p:nvPr/>
        </p:nvSpPr>
        <p:spPr>
          <a:xfrm>
            <a:off x="5223053" y="1325880"/>
            <a:ext cx="2640787" cy="4251960"/>
          </a:xfrm>
          <a:prstGeom prst="roundRect">
            <a:avLst>
              <a:gd name="adj" fmla="val 2770"/>
            </a:avLst>
          </a:prstGeom>
          <a:solidFill>
            <a:srgbClr val="FBF3E2"/>
          </a:solidFill>
          <a:ln w="12700">
            <a:solidFill>
              <a:srgbClr val="8A5F1A"/>
            </a:solidFill>
            <a:prstDash val="solid"/>
          </a:ln>
        </p:spPr>
      </p:sp>
      <p:sp>
        <p:nvSpPr>
          <p:cNvPr id="5" name="Text 3"/>
          <p:cNvSpPr txBox="1"/>
          <p:nvPr/>
        </p:nvSpPr>
        <p:spPr>
          <a:xfrm>
            <a:off x="5451653" y="1435608"/>
            <a:ext cx="2183587" cy="274320"/>
          </a:xfrm>
          <a:prstGeom prst="rect">
            <a:avLst/>
          </a:prstGeom>
          <a:noFill/>
          <a:ln/>
        </p:spPr>
        <p:txBody>
          <a:bodyPr wrap="square" lIns="0" tIns="0" rIns="0" bIns="0" rtlCol="0" anchor="ctr"/>
          <a:lstStyle/>
          <a:p>
            <a:pPr indent="0" marL="0">
              <a:buNone/>
            </a:pPr>
            <a:r>
              <a:rPr lang="en-US" sz="1300" b="1" spc="200" kern="0" dirty="0">
                <a:solidFill>
                  <a:srgbClr val="8A5F1A"/>
                </a:solidFill>
              </a:rPr>
              <a:t>HEUTE</a:t>
            </a:r>
            <a:endParaRPr lang="en-US" sz="1300" dirty="0"/>
          </a:p>
        </p:txBody>
      </p:sp>
      <p:sp>
        <p:nvSpPr>
          <p:cNvPr id="6" name="Text 4"/>
          <p:cNvSpPr txBox="1"/>
          <p:nvPr/>
        </p:nvSpPr>
        <p:spPr>
          <a:xfrm>
            <a:off x="5451653" y="1783080"/>
            <a:ext cx="2183587" cy="665480"/>
          </a:xfrm>
          <a:prstGeom prst="rect">
            <a:avLst/>
          </a:prstGeom>
          <a:noFill/>
          <a:ln/>
        </p:spPr>
        <p:txBody>
          <a:bodyPr wrap="square" lIns="0" tIns="0" rIns="0" bIns="0" rtlCol="0" anchor="t"/>
          <a:lstStyle/>
          <a:p>
            <a:pPr algn="l" indent="0" marL="0">
              <a:buNone/>
            </a:pPr>
            <a:r>
              <a:rPr lang="en-US" sz="2000" dirty="0">
                <a:solidFill>
                  <a:srgbClr val="1B1B1F"/>
                </a:solidFill>
              </a:rPr>
              <a:t>Substitution mit Schlüsselwort</a:t>
            </a:r>
            <a:endParaRPr lang="en-US" sz="2000" dirty="0"/>
          </a:p>
        </p:txBody>
      </p:sp>
      <p:sp>
        <p:nvSpPr>
          <p:cNvPr id="7" name="Text 5"/>
          <p:cNvSpPr txBox="1"/>
          <p:nvPr/>
        </p:nvSpPr>
        <p:spPr>
          <a:xfrm>
            <a:off x="5451653" y="2576576"/>
            <a:ext cx="2183587" cy="355600"/>
          </a:xfrm>
          <a:prstGeom prst="rect">
            <a:avLst/>
          </a:prstGeom>
          <a:noFill/>
          <a:ln/>
        </p:spPr>
        <p:txBody>
          <a:bodyPr wrap="square" lIns="0" tIns="0" rIns="0" bIns="0" rtlCol="0" anchor="t"/>
          <a:lstStyle/>
          <a:p>
            <a:pPr algn="l" indent="0" marL="0">
              <a:buNone/>
            </a:pPr>
            <a:r>
              <a:rPr lang="en-US" sz="2000" dirty="0">
                <a:solidFill>
                  <a:srgbClr val="1B1B1F"/>
                </a:solidFill>
              </a:rPr>
              <a:t>Schlüsselraum 26!</a:t>
            </a:r>
            <a:endParaRPr lang="en-US" sz="2000" dirty="0"/>
          </a:p>
        </p:txBody>
      </p:sp>
      <p:sp>
        <p:nvSpPr>
          <p:cNvPr id="8" name="Text 6"/>
          <p:cNvSpPr txBox="1"/>
          <p:nvPr/>
        </p:nvSpPr>
        <p:spPr>
          <a:xfrm>
            <a:off x="5451653" y="3060192"/>
            <a:ext cx="2183587" cy="665480"/>
          </a:xfrm>
          <a:prstGeom prst="rect">
            <a:avLst/>
          </a:prstGeom>
          <a:noFill/>
          <a:ln/>
        </p:spPr>
        <p:txBody>
          <a:bodyPr wrap="square" lIns="0" tIns="0" rIns="0" bIns="0" rtlCol="0" anchor="t"/>
          <a:lstStyle/>
          <a:p>
            <a:pPr algn="l" indent="0" marL="0">
              <a:buNone/>
            </a:pPr>
            <a:r>
              <a:rPr lang="en-US" sz="2000" dirty="0">
                <a:solidFill>
                  <a:srgbClr val="1B1B1F"/>
                </a:solidFill>
              </a:rPr>
              <a:t>Zählen, Paare, Dreiergruppen</a:t>
            </a:r>
            <a:endParaRPr lang="en-US" sz="2000" dirty="0"/>
          </a:p>
        </p:txBody>
      </p:sp>
      <p:sp>
        <p:nvSpPr>
          <p:cNvPr id="9" name="Text 7"/>
          <p:cNvSpPr txBox="1"/>
          <p:nvPr/>
        </p:nvSpPr>
        <p:spPr>
          <a:xfrm>
            <a:off x="5451653" y="3853688"/>
            <a:ext cx="2183587" cy="665480"/>
          </a:xfrm>
          <a:prstGeom prst="rect">
            <a:avLst/>
          </a:prstGeom>
          <a:noFill/>
          <a:ln/>
        </p:spPr>
        <p:txBody>
          <a:bodyPr wrap="square" lIns="0" tIns="0" rIns="0" bIns="0" rtlCol="0" anchor="t"/>
          <a:lstStyle/>
          <a:p>
            <a:pPr algn="l" indent="0" marL="0">
              <a:buNone/>
            </a:pPr>
            <a:r>
              <a:rPr lang="en-US" sz="2000" dirty="0">
                <a:solidFill>
                  <a:srgbClr val="1B1B1F"/>
                </a:solidFill>
              </a:rPr>
              <a:t>Ein Brief wird geknackt</a:t>
            </a:r>
            <a:endParaRPr lang="en-US" sz="2000" dirty="0"/>
          </a:p>
        </p:txBody>
      </p:sp>
      <p:sp>
        <p:nvSpPr>
          <p:cNvPr id="10" name="Text 8"/>
          <p:cNvSpPr txBox="1"/>
          <p:nvPr/>
        </p:nvSpPr>
        <p:spPr>
          <a:xfrm>
            <a:off x="5451653" y="4647184"/>
            <a:ext cx="2183587" cy="665480"/>
          </a:xfrm>
          <a:prstGeom prst="rect">
            <a:avLst/>
          </a:prstGeom>
          <a:noFill/>
          <a:ln/>
        </p:spPr>
        <p:txBody>
          <a:bodyPr wrap="square" lIns="0" tIns="0" rIns="0" bIns="0" rtlCol="0" anchor="t"/>
          <a:lstStyle/>
          <a:p>
            <a:pPr algn="l" indent="0" marL="0">
              <a:buNone/>
            </a:pPr>
            <a:r>
              <a:rPr lang="en-US" sz="2000" dirty="0">
                <a:solidFill>
                  <a:srgbClr val="1B1B1F"/>
                </a:solidFill>
              </a:rPr>
              <a:t>Grenzen der Methode</a:t>
            </a:r>
            <a:endParaRPr lang="en-US" sz="2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Substitution mit Schlüsselwort</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7315200" cy="914400"/>
        </p:xfrm>
        <a:graphic>
          <a:graphicData uri="http://schemas.openxmlformats.org/drawingml/2006/table">
            <a:tbl>
              <a:tblPr/>
              <a:tblGrid>
                <a:gridCol w="281354"/>
                <a:gridCol w="281354"/>
                <a:gridCol w="281354"/>
                <a:gridCol w="281354"/>
                <a:gridCol w="281354"/>
                <a:gridCol w="281354"/>
                <a:gridCol w="281354"/>
                <a:gridCol w="281354"/>
                <a:gridCol w="281354"/>
                <a:gridCol w="281354"/>
                <a:gridCol w="281354"/>
                <a:gridCol w="281354"/>
                <a:gridCol w="281354"/>
                <a:gridCol w="281354"/>
                <a:gridCol w="281354"/>
                <a:gridCol w="281354"/>
                <a:gridCol w="281354"/>
                <a:gridCol w="281354"/>
                <a:gridCol w="281354"/>
                <a:gridCol w="281354"/>
                <a:gridCol w="281354"/>
                <a:gridCol w="281354"/>
                <a:gridCol w="281354"/>
                <a:gridCol w="281354"/>
                <a:gridCol w="281354"/>
                <a:gridCol w="281354"/>
              </a:tblGrid>
              <a:tr h="0">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A</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B</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C</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D</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E</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F</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G</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H</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I</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J</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K</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L</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M</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N</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O</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P</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Q</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R</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S</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T</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U</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V</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W</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X</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Y</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Z</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r>
              <a:tr h="0">
                <a:tc>
                  <a:txBody>
                    <a:bodyPr/>
                    <a:lstStyle/>
                    <a:p>
                      <a:pPr algn="ctr" indent="0" marL="0">
                        <a:buNone/>
                      </a:pPr>
                      <a:r>
                        <a:rPr lang="en-US" sz="914" dirty="0">
                          <a:solidFill>
                            <a:srgbClr val="4A4A55"/>
                          </a:solidFill>
                          <a:latin typeface="Calibri" pitchFamily="34" charset="0"/>
                          <a:ea typeface="Calibri" pitchFamily="34" charset="-122"/>
                          <a:cs typeface="Calibri" pitchFamily="34" charset="-120"/>
                        </a:rPr>
                        <a:t>1</a:t>
                      </a:r>
                      <a:endParaRPr lang="en-US" sz="914" dirty="0">
                        <a:latin typeface="Calibri" charset="0"/>
                        <a:ea typeface="Calibri" charset="0"/>
                        <a:cs typeface="Calibri"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914" dirty="0">
                          <a:solidFill>
                            <a:srgbClr val="4A4A55"/>
                          </a:solidFill>
                          <a:latin typeface="Calibri" pitchFamily="34" charset="0"/>
                          <a:ea typeface="Calibri" pitchFamily="34" charset="-122"/>
                          <a:cs typeface="Calibri" pitchFamily="34" charset="-120"/>
                        </a:rPr>
                        <a:t>2</a:t>
                      </a:r>
                      <a:endParaRPr lang="en-US" sz="914" dirty="0">
                        <a:latin typeface="Calibri" charset="0"/>
                        <a:ea typeface="Calibri" charset="0"/>
                        <a:cs typeface="Calibri"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914" dirty="0">
                          <a:solidFill>
                            <a:srgbClr val="4A4A55"/>
                          </a:solidFill>
                          <a:latin typeface="Calibri" pitchFamily="34" charset="0"/>
                          <a:ea typeface="Calibri" pitchFamily="34" charset="-122"/>
                          <a:cs typeface="Calibri" pitchFamily="34" charset="-120"/>
                        </a:rPr>
                        <a:t>3</a:t>
                      </a:r>
                      <a:endParaRPr lang="en-US" sz="914" dirty="0">
                        <a:latin typeface="Calibri" charset="0"/>
                        <a:ea typeface="Calibri" charset="0"/>
                        <a:cs typeface="Calibri"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914" dirty="0">
                          <a:solidFill>
                            <a:srgbClr val="4A4A55"/>
                          </a:solidFill>
                          <a:latin typeface="Calibri" pitchFamily="34" charset="0"/>
                          <a:ea typeface="Calibri" pitchFamily="34" charset="-122"/>
                          <a:cs typeface="Calibri" pitchFamily="34" charset="-120"/>
                        </a:rPr>
                        <a:t>4</a:t>
                      </a:r>
                      <a:endParaRPr lang="en-US" sz="914" dirty="0">
                        <a:latin typeface="Calibri" charset="0"/>
                        <a:ea typeface="Calibri" charset="0"/>
                        <a:cs typeface="Calibri"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914" dirty="0">
                          <a:solidFill>
                            <a:srgbClr val="4A4A55"/>
                          </a:solidFill>
                          <a:latin typeface="Calibri" pitchFamily="34" charset="0"/>
                          <a:ea typeface="Calibri" pitchFamily="34" charset="-122"/>
                          <a:cs typeface="Calibri" pitchFamily="34" charset="-120"/>
                        </a:rPr>
                        <a:t>5</a:t>
                      </a:r>
                      <a:endParaRPr lang="en-US" sz="914" dirty="0">
                        <a:latin typeface="Calibri" charset="0"/>
                        <a:ea typeface="Calibri" charset="0"/>
                        <a:cs typeface="Calibri"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914" dirty="0">
                          <a:solidFill>
                            <a:srgbClr val="4A4A55"/>
                          </a:solidFill>
                          <a:latin typeface="Calibri" pitchFamily="34" charset="0"/>
                          <a:ea typeface="Calibri" pitchFamily="34" charset="-122"/>
                          <a:cs typeface="Calibri" pitchFamily="34" charset="-120"/>
                        </a:rPr>
                        <a:t>6</a:t>
                      </a:r>
                      <a:endParaRPr lang="en-US" sz="914" dirty="0">
                        <a:latin typeface="Calibri" charset="0"/>
                        <a:ea typeface="Calibri" charset="0"/>
                        <a:cs typeface="Calibri"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914" dirty="0">
                          <a:solidFill>
                            <a:srgbClr val="4A4A55"/>
                          </a:solidFill>
                          <a:latin typeface="Calibri" pitchFamily="34" charset="0"/>
                          <a:ea typeface="Calibri" pitchFamily="34" charset="-122"/>
                          <a:cs typeface="Calibri" pitchFamily="34" charset="-120"/>
                        </a:rPr>
                        <a:t>7</a:t>
                      </a:r>
                      <a:endParaRPr lang="en-US" sz="914" dirty="0">
                        <a:latin typeface="Calibri" charset="0"/>
                        <a:ea typeface="Calibri" charset="0"/>
                        <a:cs typeface="Calibri"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914" dirty="0">
                          <a:solidFill>
                            <a:srgbClr val="4A4A55"/>
                          </a:solidFill>
                          <a:latin typeface="Calibri" pitchFamily="34" charset="0"/>
                          <a:ea typeface="Calibri" pitchFamily="34" charset="-122"/>
                          <a:cs typeface="Calibri" pitchFamily="34" charset="-120"/>
                        </a:rPr>
                        <a:t>8</a:t>
                      </a:r>
                      <a:endParaRPr lang="en-US" sz="914" dirty="0">
                        <a:latin typeface="Calibri" charset="0"/>
                        <a:ea typeface="Calibri" charset="0"/>
                        <a:cs typeface="Calibri"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914" dirty="0">
                          <a:solidFill>
                            <a:srgbClr val="4A4A55"/>
                          </a:solidFill>
                          <a:latin typeface="Calibri" pitchFamily="34" charset="0"/>
                          <a:ea typeface="Calibri" pitchFamily="34" charset="-122"/>
                          <a:cs typeface="Calibri" pitchFamily="34" charset="-120"/>
                        </a:rPr>
                        <a:t>9</a:t>
                      </a:r>
                      <a:endParaRPr lang="en-US" sz="914" dirty="0">
                        <a:latin typeface="Calibri" charset="0"/>
                        <a:ea typeface="Calibri" charset="0"/>
                        <a:cs typeface="Calibri"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914" dirty="0">
                          <a:solidFill>
                            <a:srgbClr val="4A4A55"/>
                          </a:solidFill>
                          <a:latin typeface="Calibri" pitchFamily="34" charset="0"/>
                          <a:ea typeface="Calibri" pitchFamily="34" charset="-122"/>
                          <a:cs typeface="Calibri" pitchFamily="34" charset="-120"/>
                        </a:rPr>
                        <a:t>10</a:t>
                      </a:r>
                      <a:endParaRPr lang="en-US" sz="914" dirty="0">
                        <a:latin typeface="Calibri" charset="0"/>
                        <a:ea typeface="Calibri" charset="0"/>
                        <a:cs typeface="Calibri"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914" dirty="0">
                          <a:solidFill>
                            <a:srgbClr val="4A4A55"/>
                          </a:solidFill>
                          <a:latin typeface="Calibri" pitchFamily="34" charset="0"/>
                          <a:ea typeface="Calibri" pitchFamily="34" charset="-122"/>
                          <a:cs typeface="Calibri" pitchFamily="34" charset="-120"/>
                        </a:rPr>
                        <a:t>11</a:t>
                      </a:r>
                      <a:endParaRPr lang="en-US" sz="914" dirty="0">
                        <a:latin typeface="Calibri" charset="0"/>
                        <a:ea typeface="Calibri" charset="0"/>
                        <a:cs typeface="Calibri"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914" dirty="0">
                          <a:solidFill>
                            <a:srgbClr val="4A4A55"/>
                          </a:solidFill>
                          <a:latin typeface="Calibri" pitchFamily="34" charset="0"/>
                          <a:ea typeface="Calibri" pitchFamily="34" charset="-122"/>
                          <a:cs typeface="Calibri" pitchFamily="34" charset="-120"/>
                        </a:rPr>
                        <a:t>12</a:t>
                      </a:r>
                      <a:endParaRPr lang="en-US" sz="914" dirty="0">
                        <a:latin typeface="Calibri" charset="0"/>
                        <a:ea typeface="Calibri" charset="0"/>
                        <a:cs typeface="Calibri"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914" dirty="0">
                          <a:solidFill>
                            <a:srgbClr val="4A4A55"/>
                          </a:solidFill>
                          <a:latin typeface="Calibri" pitchFamily="34" charset="0"/>
                          <a:ea typeface="Calibri" pitchFamily="34" charset="-122"/>
                          <a:cs typeface="Calibri" pitchFamily="34" charset="-120"/>
                        </a:rPr>
                        <a:t>13</a:t>
                      </a:r>
                      <a:endParaRPr lang="en-US" sz="914" dirty="0">
                        <a:latin typeface="Calibri" charset="0"/>
                        <a:ea typeface="Calibri" charset="0"/>
                        <a:cs typeface="Calibri"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914" dirty="0">
                          <a:solidFill>
                            <a:srgbClr val="4A4A55"/>
                          </a:solidFill>
                          <a:latin typeface="Calibri" pitchFamily="34" charset="0"/>
                          <a:ea typeface="Calibri" pitchFamily="34" charset="-122"/>
                          <a:cs typeface="Calibri" pitchFamily="34" charset="-120"/>
                        </a:rPr>
                        <a:t>14</a:t>
                      </a:r>
                      <a:endParaRPr lang="en-US" sz="914" dirty="0">
                        <a:latin typeface="Calibri" charset="0"/>
                        <a:ea typeface="Calibri" charset="0"/>
                        <a:cs typeface="Calibri"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914" dirty="0">
                          <a:solidFill>
                            <a:srgbClr val="4A4A55"/>
                          </a:solidFill>
                          <a:latin typeface="Calibri" pitchFamily="34" charset="0"/>
                          <a:ea typeface="Calibri" pitchFamily="34" charset="-122"/>
                          <a:cs typeface="Calibri" pitchFamily="34" charset="-120"/>
                        </a:rPr>
                        <a:t>15</a:t>
                      </a:r>
                      <a:endParaRPr lang="en-US" sz="914" dirty="0">
                        <a:latin typeface="Calibri" charset="0"/>
                        <a:ea typeface="Calibri" charset="0"/>
                        <a:cs typeface="Calibri"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914" dirty="0">
                          <a:solidFill>
                            <a:srgbClr val="4A4A55"/>
                          </a:solidFill>
                          <a:latin typeface="Calibri" pitchFamily="34" charset="0"/>
                          <a:ea typeface="Calibri" pitchFamily="34" charset="-122"/>
                          <a:cs typeface="Calibri" pitchFamily="34" charset="-120"/>
                        </a:rPr>
                        <a:t>16</a:t>
                      </a:r>
                      <a:endParaRPr lang="en-US" sz="914" dirty="0">
                        <a:latin typeface="Calibri" charset="0"/>
                        <a:ea typeface="Calibri" charset="0"/>
                        <a:cs typeface="Calibri"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914" dirty="0">
                          <a:solidFill>
                            <a:srgbClr val="4A4A55"/>
                          </a:solidFill>
                          <a:latin typeface="Calibri" pitchFamily="34" charset="0"/>
                          <a:ea typeface="Calibri" pitchFamily="34" charset="-122"/>
                          <a:cs typeface="Calibri" pitchFamily="34" charset="-120"/>
                        </a:rPr>
                        <a:t>17</a:t>
                      </a:r>
                      <a:endParaRPr lang="en-US" sz="914" dirty="0">
                        <a:latin typeface="Calibri" charset="0"/>
                        <a:ea typeface="Calibri" charset="0"/>
                        <a:cs typeface="Calibri"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914" dirty="0">
                          <a:solidFill>
                            <a:srgbClr val="4A4A55"/>
                          </a:solidFill>
                          <a:latin typeface="Calibri" pitchFamily="34" charset="0"/>
                          <a:ea typeface="Calibri" pitchFamily="34" charset="-122"/>
                          <a:cs typeface="Calibri" pitchFamily="34" charset="-120"/>
                        </a:rPr>
                        <a:t>18</a:t>
                      </a:r>
                      <a:endParaRPr lang="en-US" sz="914" dirty="0">
                        <a:latin typeface="Calibri" charset="0"/>
                        <a:ea typeface="Calibri" charset="0"/>
                        <a:cs typeface="Calibri"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914" dirty="0">
                          <a:solidFill>
                            <a:srgbClr val="4A4A55"/>
                          </a:solidFill>
                          <a:latin typeface="Calibri" pitchFamily="34" charset="0"/>
                          <a:ea typeface="Calibri" pitchFamily="34" charset="-122"/>
                          <a:cs typeface="Calibri" pitchFamily="34" charset="-120"/>
                        </a:rPr>
                        <a:t>19</a:t>
                      </a:r>
                      <a:endParaRPr lang="en-US" sz="914" dirty="0">
                        <a:latin typeface="Calibri" charset="0"/>
                        <a:ea typeface="Calibri" charset="0"/>
                        <a:cs typeface="Calibri"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914" dirty="0">
                          <a:solidFill>
                            <a:srgbClr val="4A4A55"/>
                          </a:solidFill>
                          <a:latin typeface="Calibri" pitchFamily="34" charset="0"/>
                          <a:ea typeface="Calibri" pitchFamily="34" charset="-122"/>
                          <a:cs typeface="Calibri" pitchFamily="34" charset="-120"/>
                        </a:rPr>
                        <a:t>20</a:t>
                      </a:r>
                      <a:endParaRPr lang="en-US" sz="914" dirty="0">
                        <a:latin typeface="Calibri" charset="0"/>
                        <a:ea typeface="Calibri" charset="0"/>
                        <a:cs typeface="Calibri"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914" dirty="0">
                          <a:solidFill>
                            <a:srgbClr val="4A4A55"/>
                          </a:solidFill>
                          <a:latin typeface="Calibri" pitchFamily="34" charset="0"/>
                          <a:ea typeface="Calibri" pitchFamily="34" charset="-122"/>
                          <a:cs typeface="Calibri" pitchFamily="34" charset="-120"/>
                        </a:rPr>
                        <a:t>21</a:t>
                      </a:r>
                      <a:endParaRPr lang="en-US" sz="914" dirty="0">
                        <a:latin typeface="Calibri" charset="0"/>
                        <a:ea typeface="Calibri" charset="0"/>
                        <a:cs typeface="Calibri"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914" dirty="0">
                          <a:solidFill>
                            <a:srgbClr val="4A4A55"/>
                          </a:solidFill>
                          <a:latin typeface="Calibri" pitchFamily="34" charset="0"/>
                          <a:ea typeface="Calibri" pitchFamily="34" charset="-122"/>
                          <a:cs typeface="Calibri" pitchFamily="34" charset="-120"/>
                        </a:rPr>
                        <a:t>22</a:t>
                      </a:r>
                      <a:endParaRPr lang="en-US" sz="914" dirty="0">
                        <a:latin typeface="Calibri" charset="0"/>
                        <a:ea typeface="Calibri" charset="0"/>
                        <a:cs typeface="Calibri"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914" dirty="0">
                          <a:solidFill>
                            <a:srgbClr val="4A4A55"/>
                          </a:solidFill>
                          <a:latin typeface="Calibri" pitchFamily="34" charset="0"/>
                          <a:ea typeface="Calibri" pitchFamily="34" charset="-122"/>
                          <a:cs typeface="Calibri" pitchFamily="34" charset="-120"/>
                        </a:rPr>
                        <a:t>23</a:t>
                      </a:r>
                      <a:endParaRPr lang="en-US" sz="914" dirty="0">
                        <a:latin typeface="Calibri" charset="0"/>
                        <a:ea typeface="Calibri" charset="0"/>
                        <a:cs typeface="Calibri"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914" dirty="0">
                          <a:solidFill>
                            <a:srgbClr val="4A4A55"/>
                          </a:solidFill>
                          <a:latin typeface="Calibri" pitchFamily="34" charset="0"/>
                          <a:ea typeface="Calibri" pitchFamily="34" charset="-122"/>
                          <a:cs typeface="Calibri" pitchFamily="34" charset="-120"/>
                        </a:rPr>
                        <a:t>24</a:t>
                      </a:r>
                      <a:endParaRPr lang="en-US" sz="914" dirty="0">
                        <a:latin typeface="Calibri" charset="0"/>
                        <a:ea typeface="Calibri" charset="0"/>
                        <a:cs typeface="Calibri"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914" dirty="0">
                          <a:solidFill>
                            <a:srgbClr val="4A4A55"/>
                          </a:solidFill>
                          <a:latin typeface="Calibri" pitchFamily="34" charset="0"/>
                          <a:ea typeface="Calibri" pitchFamily="34" charset="-122"/>
                          <a:cs typeface="Calibri" pitchFamily="34" charset="-120"/>
                        </a:rPr>
                        <a:t>25</a:t>
                      </a:r>
                      <a:endParaRPr lang="en-US" sz="914" dirty="0">
                        <a:latin typeface="Calibri" charset="0"/>
                        <a:ea typeface="Calibri" charset="0"/>
                        <a:cs typeface="Calibri"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914" dirty="0">
                          <a:solidFill>
                            <a:srgbClr val="4A4A55"/>
                          </a:solidFill>
                          <a:latin typeface="Calibri" pitchFamily="34" charset="0"/>
                          <a:ea typeface="Calibri" pitchFamily="34" charset="-122"/>
                          <a:cs typeface="Calibri" pitchFamily="34" charset="-120"/>
                        </a:rPr>
                        <a:t>26</a:t>
                      </a:r>
                      <a:endParaRPr lang="en-US" sz="914" dirty="0">
                        <a:latin typeface="Calibri" charset="0"/>
                        <a:ea typeface="Calibri" charset="0"/>
                        <a:cs typeface="Calibri"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r>
              <a:tr h="0">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Z</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I</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F</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E</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R</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A</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B</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C</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D</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G</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H</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J</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K</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L</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M</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N</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O</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P</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Q</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S</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T</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U</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V</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W</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X</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Y</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2243094"/>
            <a:ext cx="7315200" cy="727456"/>
          </a:xfrm>
          <a:prstGeom prst="rect">
            <a:avLst/>
          </a:prstGeom>
          <a:noFill/>
          <a:ln/>
        </p:spPr>
        <p:txBody>
          <a:bodyPr wrap="square" lIns="0" tIns="0" rIns="0" bIns="0" rtlCol="0" anchor="t"/>
          <a:lstStyle/>
          <a:p>
            <a:pPr algn="l" indent="0" marL="0">
              <a:buNone/>
            </a:pPr>
            <a:r>
              <a:rPr lang="en-US" sz="2200" dirty="0">
                <a:solidFill>
                  <a:srgbClr val="1B1B1F"/>
                </a:solidFill>
              </a:rPr>
              <a:t>Schlüsselwort </a:t>
            </a:r>
            <a:r>
              <a:rPr lang="en-US" sz="2200" b="1" dirty="0">
                <a:solidFill>
                  <a:srgbClr val="1B1B1F"/>
                </a:solidFill>
              </a:rPr>
              <a:t>ZIFFER</a:t>
            </a:r>
            <a:r>
              <a:rPr lang="en-US" sz="2200" dirty="0">
                <a:solidFill>
                  <a:srgbClr val="1B1B1F"/>
                </a:solidFill>
              </a:rPr>
              <a:t>: doppelte Buchstaben nur einmal, dann der </a:t>
            </a:r>
            <a:r>
              <a:rPr lang="en-US" sz="2200" b="1" dirty="0">
                <a:solidFill>
                  <a:srgbClr val="1B1B1F"/>
                </a:solidFill>
              </a:rPr>
              <a:t>Rest</a:t>
            </a:r>
            <a:r>
              <a:rPr lang="en-US" sz="2200" dirty="0">
                <a:solidFill>
                  <a:srgbClr val="1B1B1F"/>
                </a:solidFill>
              </a:rPr>
              <a:t> des Alphabets der Reihe nach</a:t>
            </a:r>
            <a:endParaRPr lang="en-US" sz="2200" dirty="0"/>
          </a:p>
        </p:txBody>
      </p:sp>
      <p:sp>
        <p:nvSpPr>
          <p:cNvPr id="5" name="Text 2"/>
          <p:cNvSpPr txBox="1"/>
          <p:nvPr/>
        </p:nvSpPr>
        <p:spPr>
          <a:xfrm>
            <a:off x="548640" y="3098566"/>
            <a:ext cx="7315200" cy="727456"/>
          </a:xfrm>
          <a:prstGeom prst="rect">
            <a:avLst/>
          </a:prstGeom>
          <a:noFill/>
          <a:ln/>
        </p:spPr>
        <p:txBody>
          <a:bodyPr wrap="square" lIns="0" tIns="0" rIns="0" bIns="0" rtlCol="0" anchor="t"/>
          <a:lstStyle/>
          <a:p>
            <a:pPr algn="l" indent="0" marL="0">
              <a:buNone/>
            </a:pPr>
            <a:r>
              <a:rPr lang="en-US" sz="2200" dirty="0">
                <a:solidFill>
                  <a:srgbClr val="1B1B1F"/>
                </a:solidFill>
              </a:rPr>
              <a:t>Jede Zuordnung ist ein Schlüssel: </a:t>
            </a:r>
            <a:r>
              <a:rPr lang="en-US" sz="2200" b="1" dirty="0">
                <a:solidFill>
                  <a:srgbClr val="1B1B1F"/>
                </a:solidFill>
              </a:rPr>
              <a:t>26! ≈ 4 · 10²⁶</a:t>
            </a:r>
            <a:r>
              <a:rPr lang="en-US" sz="2200" dirty="0">
                <a:solidFill>
                  <a:srgbClr val="1B1B1F"/>
                </a:solidFill>
              </a:rPr>
              <a:t> Möglichkeiten</a:t>
            </a:r>
            <a:endParaRPr lang="en-US" sz="2200" dirty="0"/>
          </a:p>
        </p:txBody>
      </p:sp>
      <p:sp>
        <p:nvSpPr>
          <p:cNvPr id="6" name="Text 3"/>
          <p:cNvSpPr txBox="1"/>
          <p:nvPr/>
        </p:nvSpPr>
        <p:spPr>
          <a:xfrm>
            <a:off x="548640" y="3954038"/>
            <a:ext cx="7315200" cy="727456"/>
          </a:xfrm>
          <a:prstGeom prst="rect">
            <a:avLst/>
          </a:prstGeom>
          <a:noFill/>
          <a:ln/>
        </p:spPr>
        <p:txBody>
          <a:bodyPr wrap="square" lIns="0" tIns="0" rIns="0" bIns="0" rtlCol="0" anchor="t"/>
          <a:lstStyle/>
          <a:p>
            <a:pPr algn="l" indent="0" marL="0">
              <a:buNone/>
            </a:pPr>
            <a:r>
              <a:rPr lang="en-US" sz="2200" dirty="0">
                <a:solidFill>
                  <a:srgbClr val="1B1B1F"/>
                </a:solidFill>
              </a:rPr>
              <a:t>1 Milliarde Versuche pro Sekunde → </a:t>
            </a:r>
            <a:r>
              <a:rPr lang="en-US" sz="2200" b="1" dirty="0">
                <a:solidFill>
                  <a:srgbClr val="1B1B1F"/>
                </a:solidFill>
              </a:rPr>
              <a:t>≈ 13 Milliarden Jahre</a:t>
            </a:r>
            <a:endParaRPr lang="en-US" sz="2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Al-Kindi: Zählen statt Probieren</a:t>
            </a:r>
            <a:endParaRPr lang="en-US" sz="3000" dirty="0"/>
          </a:p>
        </p:txBody>
      </p:sp>
      <p:pic>
        <p:nvPicPr>
          <p:cNvPr id="3" name="Image 0" descr="Stilisierte Seite einer arabischen Handschrift (keine echte Faksimile-Abbildung, nichts Lesbares) mit Girih-Stern-Ornament in Lapis und Gold; Beschriftung „Bagdad, 9. Jahrhundert“">    </p:cNvPr>
          <p:cNvPicPr>
            <a:picLocks noChangeAspect="1"/>
          </p:cNvPicPr>
          <p:nvPr/>
        </p:nvPicPr>
        <p:blipFill>
          <a:blip r:embed="rId1"/>
          <a:stretch>
            <a:fillRect/>
          </a:stretch>
        </p:blipFill>
        <p:spPr>
          <a:xfrm>
            <a:off x="548640" y="1325880"/>
            <a:ext cx="4308653" cy="2423617"/>
          </a:xfrm>
          <a:prstGeom prst="rect">
            <a:avLst/>
          </a:prstGeom>
        </p:spPr>
      </p:pic>
      <p:sp>
        <p:nvSpPr>
          <p:cNvPr id="4" name="Shape 1"/>
          <p:cNvSpPr/>
          <p:nvPr/>
        </p:nvSpPr>
        <p:spPr>
          <a:xfrm>
            <a:off x="5223053" y="1325880"/>
            <a:ext cx="2640787" cy="4016248"/>
          </a:xfrm>
          <a:prstGeom prst="roundRect">
            <a:avLst>
              <a:gd name="adj" fmla="val 2770"/>
            </a:avLst>
          </a:prstGeom>
          <a:solidFill>
            <a:srgbClr val="F2EADB"/>
          </a:solidFill>
          <a:ln w="12700">
            <a:solidFill>
              <a:srgbClr val="1F4E8C"/>
            </a:solidFill>
            <a:prstDash val="solid"/>
          </a:ln>
        </p:spPr>
      </p:sp>
      <p:sp>
        <p:nvSpPr>
          <p:cNvPr id="5" name="Text 2"/>
          <p:cNvSpPr txBox="1"/>
          <p:nvPr/>
        </p:nvSpPr>
        <p:spPr>
          <a:xfrm>
            <a:off x="5451653" y="1435608"/>
            <a:ext cx="2183587" cy="274320"/>
          </a:xfrm>
          <a:prstGeom prst="rect">
            <a:avLst/>
          </a:prstGeom>
          <a:noFill/>
          <a:ln/>
        </p:spPr>
        <p:txBody>
          <a:bodyPr wrap="square" lIns="0" tIns="0" rIns="0" bIns="0" rtlCol="0" anchor="ctr"/>
          <a:lstStyle/>
          <a:p>
            <a:pPr indent="0" marL="0">
              <a:buNone/>
            </a:pPr>
            <a:r>
              <a:rPr lang="en-US" sz="1300" b="1" spc="200" kern="0" dirty="0">
                <a:solidFill>
                  <a:srgbClr val="14213D"/>
                </a:solidFill>
              </a:rPr>
              <a:t>DIE IDEE</a:t>
            </a:r>
            <a:endParaRPr lang="en-US" sz="1300" dirty="0"/>
          </a:p>
        </p:txBody>
      </p:sp>
      <p:sp>
        <p:nvSpPr>
          <p:cNvPr id="6" name="Text 3"/>
          <p:cNvSpPr txBox="1"/>
          <p:nvPr/>
        </p:nvSpPr>
        <p:spPr>
          <a:xfrm>
            <a:off x="5451653" y="1783080"/>
            <a:ext cx="2183587" cy="789432"/>
          </a:xfrm>
          <a:prstGeom prst="rect">
            <a:avLst/>
          </a:prstGeom>
          <a:noFill/>
          <a:ln/>
        </p:spPr>
        <p:txBody>
          <a:bodyPr wrap="square" lIns="0" tIns="0" rIns="0" bIns="0" rtlCol="0" anchor="t"/>
          <a:lstStyle/>
          <a:p>
            <a:pPr algn="l" indent="0" marL="0">
              <a:buNone/>
            </a:pPr>
            <a:r>
              <a:rPr lang="en-US" sz="1600" dirty="0">
                <a:solidFill>
                  <a:srgbClr val="1B1B1F"/>
                </a:solidFill>
              </a:rPr>
              <a:t>In jeder Sprache kommen Buchstaben </a:t>
            </a:r>
            <a:r>
              <a:rPr lang="en-US" sz="1600" b="1" dirty="0">
                <a:solidFill>
                  <a:srgbClr val="1B1B1F"/>
                </a:solidFill>
              </a:rPr>
              <a:t>unterschiedlich oft</a:t>
            </a:r>
            <a:r>
              <a:rPr lang="en-US" sz="1600" dirty="0">
                <a:solidFill>
                  <a:srgbClr val="1B1B1F"/>
                </a:solidFill>
              </a:rPr>
              <a:t> vor</a:t>
            </a:r>
            <a:endParaRPr lang="en-US" sz="1600" dirty="0"/>
          </a:p>
        </p:txBody>
      </p:sp>
      <p:sp>
        <p:nvSpPr>
          <p:cNvPr id="7" name="Text 4"/>
          <p:cNvSpPr txBox="1"/>
          <p:nvPr/>
        </p:nvSpPr>
        <p:spPr>
          <a:xfrm>
            <a:off x="5451653" y="2700528"/>
            <a:ext cx="2183587" cy="541528"/>
          </a:xfrm>
          <a:prstGeom prst="rect">
            <a:avLst/>
          </a:prstGeom>
          <a:noFill/>
          <a:ln/>
        </p:spPr>
        <p:txBody>
          <a:bodyPr wrap="square" lIns="0" tIns="0" rIns="0" bIns="0" rtlCol="0" anchor="t"/>
          <a:lstStyle/>
          <a:p>
            <a:pPr algn="l" indent="0" marL="0">
              <a:buNone/>
            </a:pPr>
            <a:r>
              <a:rPr lang="en-US" sz="1600" dirty="0">
                <a:solidFill>
                  <a:srgbClr val="1B1B1F"/>
                </a:solidFill>
              </a:rPr>
              <a:t>Deutsch: </a:t>
            </a:r>
            <a:r>
              <a:rPr lang="en-US" sz="1600" b="1" dirty="0">
                <a:solidFill>
                  <a:srgbClr val="1B1B1F"/>
                </a:solidFill>
              </a:rPr>
              <a:t>e</a:t>
            </a:r>
            <a:r>
              <a:rPr lang="en-US" sz="1600" dirty="0">
                <a:solidFill>
                  <a:srgbClr val="1B1B1F"/>
                </a:solidFill>
              </a:rPr>
              <a:t> ≈ 17 %, </a:t>
            </a:r>
            <a:r>
              <a:rPr lang="en-US" sz="1600" b="1" dirty="0">
                <a:solidFill>
                  <a:srgbClr val="1B1B1F"/>
                </a:solidFill>
              </a:rPr>
              <a:t>n</a:t>
            </a:r>
            <a:r>
              <a:rPr lang="en-US" sz="1600" dirty="0">
                <a:solidFill>
                  <a:srgbClr val="1B1B1F"/>
                </a:solidFill>
              </a:rPr>
              <a:t> ≈ 10 %</a:t>
            </a:r>
            <a:endParaRPr lang="en-US" sz="1600" dirty="0"/>
          </a:p>
        </p:txBody>
      </p:sp>
      <p:sp>
        <p:nvSpPr>
          <p:cNvPr id="8" name="Text 5"/>
          <p:cNvSpPr txBox="1"/>
          <p:nvPr/>
        </p:nvSpPr>
        <p:spPr>
          <a:xfrm>
            <a:off x="5451653" y="3370072"/>
            <a:ext cx="2183587" cy="1037336"/>
          </a:xfrm>
          <a:prstGeom prst="rect">
            <a:avLst/>
          </a:prstGeom>
          <a:noFill/>
          <a:ln/>
        </p:spPr>
        <p:txBody>
          <a:bodyPr wrap="square" lIns="0" tIns="0" rIns="0" bIns="0" rtlCol="0" anchor="t"/>
          <a:lstStyle/>
          <a:p>
            <a:pPr algn="l" indent="0" marL="0">
              <a:buNone/>
            </a:pPr>
            <a:r>
              <a:rPr lang="en-US" sz="1600" dirty="0">
                <a:solidFill>
                  <a:srgbClr val="1B1B1F"/>
                </a:solidFill>
              </a:rPr>
              <a:t>Monoalphabetisch: Die Häufigkeiten wandern nur zu </a:t>
            </a:r>
            <a:r>
              <a:rPr lang="en-US" sz="1600" b="1" dirty="0">
                <a:solidFill>
                  <a:srgbClr val="1B1B1F"/>
                </a:solidFill>
              </a:rPr>
              <a:t>anderen Buchstaben</a:t>
            </a:r>
            <a:endParaRPr lang="en-US" sz="1600" dirty="0"/>
          </a:p>
        </p:txBody>
      </p:sp>
      <p:sp>
        <p:nvSpPr>
          <p:cNvPr id="9" name="Text 6"/>
          <p:cNvSpPr txBox="1"/>
          <p:nvPr/>
        </p:nvSpPr>
        <p:spPr>
          <a:xfrm>
            <a:off x="5451653" y="4535424"/>
            <a:ext cx="2183587" cy="541528"/>
          </a:xfrm>
          <a:prstGeom prst="rect">
            <a:avLst/>
          </a:prstGeom>
          <a:noFill/>
          <a:ln/>
        </p:spPr>
        <p:txBody>
          <a:bodyPr wrap="square" lIns="0" tIns="0" rIns="0" bIns="0" rtlCol="0" anchor="t"/>
          <a:lstStyle/>
          <a:p>
            <a:pPr algn="l" indent="0" marL="0">
              <a:buNone/>
            </a:pPr>
            <a:r>
              <a:rPr lang="en-US" sz="1600" dirty="0">
                <a:solidFill>
                  <a:srgbClr val="1B1B1F"/>
                </a:solidFill>
              </a:rPr>
              <a:t>Also: zählen und vergleichen</a:t>
            </a:r>
            <a:endParaRPr lang="en-US" sz="16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Ein abgefangener Brief</a:t>
            </a:r>
            <a:endParaRPr lang="en-US" sz="3000" dirty="0"/>
          </a:p>
        </p:txBody>
      </p:sp>
      <p:sp>
        <p:nvSpPr>
          <p:cNvPr id="3" name="Text 1"/>
          <p:cNvSpPr txBox="1"/>
          <p:nvPr/>
        </p:nvSpPr>
        <p:spPr>
          <a:xfrm>
            <a:off x="548640" y="1325880"/>
            <a:ext cx="7315200" cy="727456"/>
          </a:xfrm>
          <a:prstGeom prst="rect">
            <a:avLst/>
          </a:prstGeom>
          <a:noFill/>
          <a:ln/>
        </p:spPr>
        <p:txBody>
          <a:bodyPr wrap="square" lIns="0" tIns="0" rIns="0" bIns="0" rtlCol="0" anchor="t"/>
          <a:lstStyle/>
          <a:p>
            <a:pPr algn="l" indent="0" marL="0">
              <a:buNone/>
            </a:pPr>
            <a:r>
              <a:rPr lang="en-US" sz="2200" dirty="0">
                <a:solidFill>
                  <a:srgbClr val="1B1B1F"/>
                </a:solidFill>
              </a:rPr>
              <a:t>Eve weiß: deutscher Text, monoalphabetische Substitution. Der Schlüssel ist unbekannt.</a:t>
            </a:r>
            <a:endParaRPr lang="en-US" sz="2200" dirty="0"/>
          </a:p>
        </p:txBody>
      </p:sp>
      <p:sp>
        <p:nvSpPr>
          <p:cNvPr id="4" name="Geheimtext-Kasten"/>
          <p:cNvSpPr/>
          <p:nvPr/>
        </p:nvSpPr>
        <p:spPr>
          <a:xfrm>
            <a:off x="548640" y="2181352"/>
            <a:ext cx="7315200" cy="3257550"/>
          </a:xfrm>
          <a:prstGeom prst="rect">
            <a:avLst/>
          </a:prstGeom>
          <a:solidFill>
            <a:srgbClr val="F2EADB"/>
          </a:solidFill>
          <a:ln w="9525">
            <a:solidFill>
              <a:srgbClr val="D8CDB8"/>
            </a:solidFill>
            <a:prstDash val="solid"/>
          </a:ln>
        </p:spPr>
      </p:sp>
      <p:sp>
        <p:nvSpPr>
          <p:cNvPr id="5" name="Text 3"/>
          <p:cNvSpPr txBox="1"/>
          <p:nvPr/>
        </p:nvSpPr>
        <p:spPr>
          <a:xfrm>
            <a:off x="777240" y="2291080"/>
            <a:ext cx="6858000" cy="3038094"/>
          </a:xfrm>
          <a:prstGeom prst="rect">
            <a:avLst/>
          </a:prstGeom>
          <a:noFill/>
          <a:ln/>
        </p:spPr>
        <p:txBody>
          <a:bodyPr wrap="square" lIns="0" tIns="0" rIns="0" bIns="0" rtlCol="0" anchor="t"/>
          <a:lstStyle/>
          <a:p>
            <a:pPr indent="0" marL="0">
              <a:lnSpc>
                <a:spcPct val="115000"/>
              </a:lnSpc>
              <a:buNone/>
            </a:pPr>
            <a:r>
              <a:rPr lang="en-US" sz="1800" b="1" spc="200" kern="0" dirty="0">
                <a:solidFill>
                  <a:srgbClr val="1B1B1F"/>
                </a:solidFill>
                <a:latin typeface="Consolas" pitchFamily="34" charset="0"/>
                <a:ea typeface="Consolas" pitchFamily="34" charset="-122"/>
                <a:cs typeface="Consolas" pitchFamily="34" charset="-120"/>
              </a:rPr>
              <a:t>EDRLR TRZIQ FCPDA SERPQ SRPLR LSZAR JLDQS</a:t>
            </a:r>
            <a:endParaRPr lang="en-US" sz="1800" dirty="0"/>
          </a:p>
          <a:p>
            <a:pPr indent="0" marL="0">
              <a:lnSpc>
                <a:spcPct val="115000"/>
              </a:lnSpc>
              <a:buNone/>
            </a:pPr>
            <a:r>
              <a:rPr lang="en-US" sz="1800" b="1" spc="200" kern="0" dirty="0">
                <a:solidFill>
                  <a:srgbClr val="1B1B1F"/>
                </a:solidFill>
                <a:latin typeface="Consolas" pitchFamily="34" charset="0"/>
                <a:ea typeface="Consolas" pitchFamily="34" charset="-122"/>
                <a:cs typeface="Consolas" pitchFamily="34" charset="-120"/>
              </a:rPr>
              <a:t>ARPSD BDFCC ZIRQD RDLRD LRPHD QSRTL SRPER</a:t>
            </a:r>
            <a:endParaRPr lang="en-US" sz="1800" dirty="0"/>
          </a:p>
          <a:p>
            <a:pPr indent="0" marL="0">
              <a:lnSpc>
                <a:spcPct val="115000"/>
              </a:lnSpc>
              <a:buNone/>
            </a:pPr>
            <a:r>
              <a:rPr lang="en-US" sz="1800" b="1" spc="200" kern="0" dirty="0">
                <a:solidFill>
                  <a:srgbClr val="1B1B1F"/>
                </a:solidFill>
                <a:latin typeface="Consolas" pitchFamily="34" charset="0"/>
                <a:ea typeface="Consolas" pitchFamily="34" charset="-122"/>
                <a:cs typeface="Consolas" pitchFamily="34" charset="-120"/>
              </a:rPr>
              <a:t>LITRF CRPLD KYVRD SRLQZ ZJURP QSRFH SLDRK</a:t>
            </a:r>
            <a:endParaRPr lang="en-US" sz="1800" dirty="0"/>
          </a:p>
          <a:p>
            <a:pPr indent="0" marL="0">
              <a:lnSpc>
                <a:spcPct val="115000"/>
              </a:lnSpc>
              <a:buNone/>
            </a:pPr>
            <a:r>
              <a:rPr lang="en-US" sz="1800" b="1" spc="200" kern="0" dirty="0">
                <a:solidFill>
                  <a:srgbClr val="1B1B1F"/>
                </a:solidFill>
                <a:latin typeface="Consolas" pitchFamily="34" charset="0"/>
                <a:ea typeface="Consolas" pitchFamily="34" charset="-122"/>
                <a:cs typeface="Consolas" pitchFamily="34" charset="-120"/>
              </a:rPr>
              <a:t>ZLEZT QQRPE DPEZP AEZUM LRPAZ CPRLE RLLED</a:t>
            </a:r>
            <a:endParaRPr lang="en-US" sz="1800" dirty="0"/>
          </a:p>
          <a:p>
            <a:pPr indent="0" marL="0">
              <a:lnSpc>
                <a:spcPct val="115000"/>
              </a:lnSpc>
              <a:buNone/>
            </a:pPr>
            <a:r>
              <a:rPr lang="en-US" sz="1800" b="1" spc="200" kern="0" dirty="0">
                <a:solidFill>
                  <a:srgbClr val="1B1B1F"/>
                </a:solidFill>
                <a:latin typeface="Consolas" pitchFamily="34" charset="0"/>
                <a:ea typeface="Consolas" pitchFamily="34" charset="-122"/>
                <a:cs typeface="Consolas" pitchFamily="34" charset="-120"/>
              </a:rPr>
              <a:t>RCZRL EJRPZ TQERK CZARL VMJJR LEDRS ZARJL</a:t>
            </a:r>
            <a:endParaRPr lang="en-US" sz="1800" dirty="0"/>
          </a:p>
          <a:p>
            <a:pPr indent="0" marL="0">
              <a:lnSpc>
                <a:spcPct val="115000"/>
              </a:lnSpc>
              <a:buNone/>
            </a:pPr>
            <a:r>
              <a:rPr lang="en-US" sz="1800" b="1" spc="200" kern="0" dirty="0">
                <a:solidFill>
                  <a:srgbClr val="1B1B1F"/>
                </a:solidFill>
                <a:latin typeface="Consolas" pitchFamily="34" charset="0"/>
                <a:ea typeface="Consolas" pitchFamily="34" charset="-122"/>
                <a:cs typeface="Consolas" pitchFamily="34" charset="-120"/>
              </a:rPr>
              <a:t>ATRPR DLRLC MCRLN PRDQU RPHZT ARLHM KKKMP</a:t>
            </a:r>
            <a:endParaRPr lang="en-US" sz="1800" dirty="0"/>
          </a:p>
          <a:p>
            <a:pPr indent="0" marL="0">
              <a:lnSpc>
                <a:spcPct val="115000"/>
              </a:lnSpc>
              <a:buNone/>
            </a:pPr>
            <a:r>
              <a:rPr lang="en-US" sz="1800" b="1" spc="200" kern="0" dirty="0">
                <a:solidFill>
                  <a:srgbClr val="1B1B1F"/>
                </a:solidFill>
                <a:latin typeface="Consolas" pitchFamily="34" charset="0"/>
                <a:ea typeface="Consolas" pitchFamily="34" charset="-122"/>
                <a:cs typeface="Consolas" pitchFamily="34" charset="-120"/>
              </a:rPr>
              <a:t>BRLLZ FCQML LRLTL SRPBZ LBTLE IPDLB RRDLR</a:t>
            </a:r>
            <a:endParaRPr lang="en-US" sz="1800" dirty="0"/>
          </a:p>
          <a:p>
            <a:pPr indent="0" marL="0">
              <a:lnSpc>
                <a:spcPct val="115000"/>
              </a:lnSpc>
              <a:buNone/>
            </a:pPr>
            <a:r>
              <a:rPr lang="en-US" sz="1800" b="1" spc="200" kern="0" dirty="0">
                <a:solidFill>
                  <a:srgbClr val="1B1B1F"/>
                </a:solidFill>
                <a:latin typeface="Consolas" pitchFamily="34" charset="0"/>
                <a:ea typeface="Consolas" pitchFamily="34" charset="-122"/>
                <a:cs typeface="Consolas" pitchFamily="34" charset="-120"/>
              </a:rPr>
              <a:t>JZKNR KDSUR PIPRL LREDR QRLIP DRAQM IZJEE</a:t>
            </a:r>
            <a:endParaRPr lang="en-US" sz="1800" dirty="0"/>
          </a:p>
          <a:p>
            <a:pPr indent="0" marL="0">
              <a:lnSpc>
                <a:spcPct val="115000"/>
              </a:lnSpc>
              <a:buNone/>
            </a:pPr>
            <a:r>
              <a:rPr lang="en-US" sz="1800" b="1" spc="200" kern="0" dirty="0">
                <a:solidFill>
                  <a:srgbClr val="1B1B1F"/>
                </a:solidFill>
                <a:latin typeface="Consolas" pitchFamily="34" charset="0"/>
                <a:ea typeface="Consolas" pitchFamily="34" charset="-122"/>
                <a:cs typeface="Consolas" pitchFamily="34" charset="-120"/>
              </a:rPr>
              <a:t>TDCLB RJRQR LCZQS</a:t>
            </a:r>
            <a:endParaRPr lang="en-US" sz="18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Schritt 1: Zählen</a:t>
            </a:r>
            <a:endParaRPr lang="en-US" sz="3000" dirty="0"/>
          </a:p>
        </p:txBody>
      </p:sp>
      <p:graphicFrame>
        <p:nvGraphicFramePr>
          <p:cNvPr id="3" name="Häufigkeitsdiagramm" descr=""/>
          <p:cNvGraphicFramePr/>
          <p:nvPr/>
        </p:nvGraphicFramePr>
        <p:xfrm>
          <a:off x="548640" y="1325880"/>
          <a:ext cx="4308653" cy="292608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5223053" y="1325880"/>
            <a:ext cx="2640787" cy="4214368"/>
          </a:xfrm>
          <a:prstGeom prst="roundRect">
            <a:avLst>
              <a:gd name="adj" fmla="val 2770"/>
            </a:avLst>
          </a:prstGeom>
          <a:solidFill>
            <a:srgbClr val="F2EADB"/>
          </a:solidFill>
          <a:ln w="12700">
            <a:solidFill>
              <a:srgbClr val="1F4E8C"/>
            </a:solidFill>
            <a:prstDash val="solid"/>
          </a:ln>
        </p:spPr>
      </p:sp>
      <p:sp>
        <p:nvSpPr>
          <p:cNvPr id="5" name="Text 2"/>
          <p:cNvSpPr txBox="1"/>
          <p:nvPr/>
        </p:nvSpPr>
        <p:spPr>
          <a:xfrm>
            <a:off x="5451653" y="1435608"/>
            <a:ext cx="2183587" cy="274320"/>
          </a:xfrm>
          <a:prstGeom prst="rect">
            <a:avLst/>
          </a:prstGeom>
          <a:noFill/>
          <a:ln/>
        </p:spPr>
        <p:txBody>
          <a:bodyPr wrap="square" lIns="0" tIns="0" rIns="0" bIns="0" rtlCol="0" anchor="ctr"/>
          <a:lstStyle/>
          <a:p>
            <a:pPr indent="0" marL="0">
              <a:buNone/>
            </a:pPr>
            <a:r>
              <a:rPr lang="en-US" sz="1300" b="1" spc="200" kern="0" dirty="0">
                <a:solidFill>
                  <a:srgbClr val="14213D"/>
                </a:solidFill>
              </a:rPr>
              <a:t>VERGLEICH</a:t>
            </a:r>
            <a:endParaRPr lang="en-US" sz="1300" dirty="0"/>
          </a:p>
        </p:txBody>
      </p:sp>
      <p:sp>
        <p:nvSpPr>
          <p:cNvPr id="6" name="Text 3"/>
          <p:cNvSpPr txBox="1"/>
          <p:nvPr/>
        </p:nvSpPr>
        <p:spPr>
          <a:xfrm>
            <a:off x="5451653" y="1783080"/>
            <a:ext cx="2183587" cy="975360"/>
          </a:xfrm>
          <a:prstGeom prst="rect">
            <a:avLst/>
          </a:prstGeom>
          <a:noFill/>
          <a:ln/>
        </p:spPr>
        <p:txBody>
          <a:bodyPr wrap="square" lIns="0" tIns="0" rIns="0" bIns="0" rtlCol="0" anchor="t"/>
          <a:lstStyle/>
          <a:p>
            <a:pPr algn="l" indent="0" marL="0">
              <a:buNone/>
            </a:pPr>
            <a:r>
              <a:rPr lang="en-US" sz="2000" b="1" dirty="0">
                <a:solidFill>
                  <a:srgbClr val="1B1B1F"/>
                </a:solidFill>
              </a:rPr>
              <a:t>R</a:t>
            </a:r>
            <a:r>
              <a:rPr lang="en-US" sz="2000" dirty="0">
                <a:solidFill>
                  <a:srgbClr val="1B1B1F"/>
                </a:solidFill>
              </a:rPr>
              <a:t>: 57 von 295 = 19,3 % → </a:t>
            </a:r>
            <a:r>
              <a:rPr lang="en-US" sz="2000" b="1" dirty="0">
                <a:solidFill>
                  <a:srgbClr val="1B1B1F"/>
                </a:solidFill>
              </a:rPr>
              <a:t>e</a:t>
            </a:r>
            <a:r>
              <a:rPr lang="en-US" sz="2000" dirty="0">
                <a:solidFill>
                  <a:srgbClr val="1B1B1F"/>
                </a:solidFill>
              </a:rPr>
              <a:t> (≈ 17 %)</a:t>
            </a:r>
            <a:endParaRPr lang="en-US" sz="2000" dirty="0"/>
          </a:p>
        </p:txBody>
      </p:sp>
      <p:sp>
        <p:nvSpPr>
          <p:cNvPr id="7" name="Text 4"/>
          <p:cNvSpPr txBox="1"/>
          <p:nvPr/>
        </p:nvSpPr>
        <p:spPr>
          <a:xfrm>
            <a:off x="5451653" y="2886456"/>
            <a:ext cx="2183587" cy="665480"/>
          </a:xfrm>
          <a:prstGeom prst="rect">
            <a:avLst/>
          </a:prstGeom>
          <a:noFill/>
          <a:ln/>
        </p:spPr>
        <p:txBody>
          <a:bodyPr wrap="square" lIns="0" tIns="0" rIns="0" bIns="0" rtlCol="0" anchor="t"/>
          <a:lstStyle/>
          <a:p>
            <a:pPr algn="l" indent="0" marL="0">
              <a:buNone/>
            </a:pPr>
            <a:r>
              <a:rPr lang="en-US" sz="2000" b="1" dirty="0">
                <a:solidFill>
                  <a:srgbClr val="1B1B1F"/>
                </a:solidFill>
              </a:rPr>
              <a:t>L</a:t>
            </a:r>
            <a:r>
              <a:rPr lang="en-US" sz="2000" dirty="0">
                <a:solidFill>
                  <a:srgbClr val="1B1B1F"/>
                </a:solidFill>
              </a:rPr>
              <a:t>: 39 = 13,2 % → </a:t>
            </a:r>
            <a:r>
              <a:rPr lang="en-US" sz="2000" b="1" dirty="0">
                <a:solidFill>
                  <a:srgbClr val="1B1B1F"/>
                </a:solidFill>
              </a:rPr>
              <a:t>n</a:t>
            </a:r>
            <a:r>
              <a:rPr lang="en-US" sz="2000" dirty="0">
                <a:solidFill>
                  <a:srgbClr val="1B1B1F"/>
                </a:solidFill>
              </a:rPr>
              <a:t> (≈ 10 %)</a:t>
            </a:r>
            <a:endParaRPr lang="en-US" sz="2000" dirty="0"/>
          </a:p>
        </p:txBody>
      </p:sp>
      <p:sp>
        <p:nvSpPr>
          <p:cNvPr id="8" name="Text 5"/>
          <p:cNvSpPr txBox="1"/>
          <p:nvPr/>
        </p:nvSpPr>
        <p:spPr>
          <a:xfrm>
            <a:off x="5451653" y="3679952"/>
            <a:ext cx="2183587" cy="1595120"/>
          </a:xfrm>
          <a:prstGeom prst="rect">
            <a:avLst/>
          </a:prstGeom>
          <a:noFill/>
          <a:ln/>
        </p:spPr>
        <p:txBody>
          <a:bodyPr wrap="square" lIns="0" tIns="0" rIns="0" bIns="0" rtlCol="0" anchor="t"/>
          <a:lstStyle/>
          <a:p>
            <a:pPr algn="l" indent="0" marL="0">
              <a:buNone/>
            </a:pPr>
            <a:r>
              <a:rPr lang="en-US" sz="2000" dirty="0">
                <a:solidFill>
                  <a:srgbClr val="1B1B1F"/>
                </a:solidFill>
              </a:rPr>
              <a:t>danach D, P, Z: eng beieinander – hier hilft Zählen allein nicht mehr</a:t>
            </a:r>
            <a:endParaRPr lang="en-US" sz="2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Schritt 2: Paare und Dreiergruppen</a:t>
            </a:r>
            <a:endParaRPr lang="en-US" sz="3000" dirty="0"/>
          </a:p>
        </p:txBody>
      </p:sp>
      <p:sp>
        <p:nvSpPr>
          <p:cNvPr id="3" name="Text 1"/>
          <p:cNvSpPr txBox="1"/>
          <p:nvPr/>
        </p:nvSpPr>
        <p:spPr>
          <a:xfrm>
            <a:off x="548640" y="1325880"/>
            <a:ext cx="4308653" cy="1068324"/>
          </a:xfrm>
          <a:prstGeom prst="rect">
            <a:avLst/>
          </a:prstGeom>
          <a:noFill/>
          <a:ln/>
        </p:spPr>
        <p:txBody>
          <a:bodyPr wrap="square" lIns="0" tIns="0" rIns="0" bIns="0" rtlCol="0" anchor="t"/>
          <a:lstStyle/>
          <a:p>
            <a:pPr algn="l" indent="0" marL="0">
              <a:buNone/>
            </a:pPr>
            <a:r>
              <a:rPr lang="en-US" sz="2200" dirty="0">
                <a:solidFill>
                  <a:srgbClr val="1B1B1F"/>
                </a:solidFill>
              </a:rPr>
              <a:t>Häufigste Paare (Bigramme) im Geheimtext – Annahme R = e, L = n:</a:t>
            </a:r>
            <a:endParaRPr lang="en-US" sz="2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2522220"/>
          <a:ext cx="4308653" cy="914400"/>
        </p:xfrm>
        <a:graphic>
          <a:graphicData uri="http://schemas.openxmlformats.org/drawingml/2006/table">
            <a:tbl>
              <a:tblPr/>
              <a:tblGrid>
                <a:gridCol w="826317"/>
                <a:gridCol w="885340"/>
                <a:gridCol w="590226"/>
                <a:gridCol w="2006770"/>
              </a:tblGrid>
              <a:tr h="0">
                <a:tc>
                  <a:txBody>
                    <a:bodyPr/>
                    <a:lstStyle/>
                    <a:p>
                      <a:pPr algn="l" indent="0" marL="0">
                        <a:buNone/>
                      </a:pPr>
                      <a:r>
                        <a:rPr lang="en-US" sz="1700" b="1" dirty="0">
                          <a:solidFill>
                            <a:srgbClr val="1B1B1F"/>
                          </a:solidFill>
                          <a:latin typeface="Calibri" pitchFamily="34" charset="0"/>
                          <a:ea typeface="Calibri" pitchFamily="34" charset="-122"/>
                          <a:cs typeface="Calibri" pitchFamily="34" charset="-120"/>
                        </a:rPr>
                        <a:t>Geheimtext</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700" b="1" dirty="0">
                          <a:solidFill>
                            <a:srgbClr val="1B1B1F"/>
                          </a:solidFill>
                          <a:latin typeface="Calibri" pitchFamily="34" charset="0"/>
                          <a:ea typeface="Calibri" pitchFamily="34" charset="-122"/>
                          <a:cs typeface="Calibri" pitchFamily="34" charset="-120"/>
                        </a:rPr>
                        <a:t>Anzahl</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700" b="1" dirty="0">
                          <a:solidFill>
                            <a:srgbClr val="1B1B1F"/>
                          </a:solidFill>
                          <a:latin typeface="Calibri" pitchFamily="34" charset="0"/>
                          <a:ea typeface="Calibri" pitchFamily="34" charset="-122"/>
                          <a:cs typeface="Calibri" pitchFamily="34" charset="-120"/>
                        </a:rPr>
                        <a:t>Klartext</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700" b="1" dirty="0">
                          <a:solidFill>
                            <a:srgbClr val="1B1B1F"/>
                          </a:solidFill>
                          <a:latin typeface="Calibri" pitchFamily="34" charset="0"/>
                          <a:ea typeface="Calibri" pitchFamily="34" charset="-122"/>
                          <a:cs typeface="Calibri" pitchFamily="34" charset="-120"/>
                        </a:rPr>
                        <a:t>Folgerung</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r>
              <a:tr h="0">
                <a:tc>
                  <a:txBody>
                    <a:bodyPr/>
                    <a:lstStyle/>
                    <a:p>
                      <a:pPr algn="l" indent="0" marL="0">
                        <a:buNone/>
                      </a:pPr>
                      <a:r>
                        <a:rPr lang="en-US" sz="1700" dirty="0">
                          <a:solidFill>
                            <a:srgbClr val="1B1B1F"/>
                          </a:solidFill>
                          <a:latin typeface="Calibri" pitchFamily="34" charset="0"/>
                          <a:ea typeface="Calibri" pitchFamily="34" charset="-122"/>
                          <a:cs typeface="Calibri" pitchFamily="34" charset="-120"/>
                        </a:rPr>
                        <a:t>RL</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B1B1F"/>
                          </a:solidFill>
                          <a:latin typeface="Calibri" pitchFamily="34" charset="0"/>
                          <a:ea typeface="Calibri" pitchFamily="34" charset="-122"/>
                          <a:cs typeface="Calibri" pitchFamily="34" charset="-120"/>
                        </a:rPr>
                        <a:t>17</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B1B1F"/>
                          </a:solidFill>
                          <a:latin typeface="Calibri" pitchFamily="34" charset="0"/>
                          <a:ea typeface="Calibri" pitchFamily="34" charset="-122"/>
                          <a:cs typeface="Calibri" pitchFamily="34" charset="-120"/>
                        </a:rPr>
                        <a:t>en</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B1B1F"/>
                          </a:solidFill>
                          <a:latin typeface="Calibri" pitchFamily="34" charset="0"/>
                          <a:ea typeface="Calibri" pitchFamily="34" charset="-122"/>
                          <a:cs typeface="Calibri" pitchFamily="34" charset="-120"/>
                        </a:rPr>
                        <a:t>R = e, L = n passt: </a:t>
                      </a:r>
                      <a:r>
                        <a:rPr lang="en-US" sz="1700" b="1" dirty="0">
                          <a:solidFill>
                            <a:srgbClr val="1B1B1F"/>
                          </a:solidFill>
                          <a:latin typeface="Calibri" pitchFamily="34" charset="0"/>
                          <a:ea typeface="Calibri" pitchFamily="34" charset="-122"/>
                          <a:cs typeface="Calibri" pitchFamily="34" charset="-120"/>
                        </a:rPr>
                        <a:t>en</a:t>
                      </a:r>
                      <a:r>
                        <a:rPr lang="en-US" sz="1700" dirty="0">
                          <a:solidFill>
                            <a:srgbClr val="1B1B1F"/>
                          </a:solidFill>
                          <a:latin typeface="Calibri" pitchFamily="34" charset="0"/>
                          <a:ea typeface="Calibri" pitchFamily="34" charset="-122"/>
                          <a:cs typeface="Calibri" pitchFamily="34" charset="-120"/>
                        </a:rPr>
                        <a:t> ist eines der häufigsten Paare</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700" dirty="0">
                          <a:solidFill>
                            <a:srgbClr val="1B1B1F"/>
                          </a:solidFill>
                          <a:latin typeface="Calibri" pitchFamily="34" charset="0"/>
                          <a:ea typeface="Calibri" pitchFamily="34" charset="-122"/>
                          <a:cs typeface="Calibri" pitchFamily="34" charset="-120"/>
                        </a:rPr>
                        <a:t>RP</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B1B1F"/>
                          </a:solidFill>
                          <a:latin typeface="Calibri" pitchFamily="34" charset="0"/>
                          <a:ea typeface="Calibri" pitchFamily="34" charset="-122"/>
                          <a:cs typeface="Calibri" pitchFamily="34" charset="-120"/>
                        </a:rPr>
                        <a:t>14</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B1B1F"/>
                          </a:solidFill>
                          <a:latin typeface="Calibri" pitchFamily="34" charset="0"/>
                          <a:ea typeface="Calibri" pitchFamily="34" charset="-122"/>
                          <a:cs typeface="Calibri" pitchFamily="34" charset="-120"/>
                        </a:rPr>
                        <a:t>er</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B1B1F"/>
                          </a:solidFill>
                          <a:latin typeface="Calibri" pitchFamily="34" charset="0"/>
                          <a:ea typeface="Calibri" pitchFamily="34" charset="-122"/>
                          <a:cs typeface="Calibri" pitchFamily="34" charset="-120"/>
                        </a:rPr>
                        <a:t>→ </a:t>
                      </a:r>
                      <a:r>
                        <a:rPr lang="en-US" sz="1700" b="1" dirty="0">
                          <a:solidFill>
                            <a:srgbClr val="1B1B1F"/>
                          </a:solidFill>
                          <a:latin typeface="Calibri" pitchFamily="34" charset="0"/>
                          <a:ea typeface="Calibri" pitchFamily="34" charset="-122"/>
                          <a:cs typeface="Calibri" pitchFamily="34" charset="-120"/>
                        </a:rPr>
                        <a:t>P = r</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700" dirty="0">
                          <a:solidFill>
                            <a:srgbClr val="1B1B1F"/>
                          </a:solidFill>
                          <a:latin typeface="Calibri" pitchFamily="34" charset="0"/>
                          <a:ea typeface="Calibri" pitchFamily="34" charset="-122"/>
                          <a:cs typeface="Calibri" pitchFamily="34" charset="-120"/>
                        </a:rPr>
                        <a:t>DR · RD</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B1B1F"/>
                          </a:solidFill>
                          <a:latin typeface="Calibri" pitchFamily="34" charset="0"/>
                          <a:ea typeface="Calibri" pitchFamily="34" charset="-122"/>
                          <a:cs typeface="Calibri" pitchFamily="34" charset="-120"/>
                        </a:rPr>
                        <a:t>7 · 6</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B1B1F"/>
                          </a:solidFill>
                          <a:latin typeface="Calibri" pitchFamily="34" charset="0"/>
                          <a:ea typeface="Calibri" pitchFamily="34" charset="-122"/>
                          <a:cs typeface="Calibri" pitchFamily="34" charset="-120"/>
                        </a:rPr>
                        <a:t>ie · ei</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B1B1F"/>
                          </a:solidFill>
                          <a:latin typeface="Calibri" pitchFamily="34" charset="0"/>
                          <a:ea typeface="Calibri" pitchFamily="34" charset="-122"/>
                          <a:cs typeface="Calibri" pitchFamily="34" charset="-120"/>
                        </a:rPr>
                        <a:t>→ </a:t>
                      </a:r>
                      <a:r>
                        <a:rPr lang="en-US" sz="1700" b="1" dirty="0">
                          <a:solidFill>
                            <a:srgbClr val="1B1B1F"/>
                          </a:solidFill>
                          <a:latin typeface="Calibri" pitchFamily="34" charset="0"/>
                          <a:ea typeface="Calibri" pitchFamily="34" charset="-122"/>
                          <a:cs typeface="Calibri" pitchFamily="34" charset="-120"/>
                        </a:rPr>
                        <a:t>D = i</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700" dirty="0">
                          <a:solidFill>
                            <a:srgbClr val="1B1B1F"/>
                          </a:solidFill>
                          <a:latin typeface="Calibri" pitchFamily="34" charset="0"/>
                          <a:ea typeface="Calibri" pitchFamily="34" charset="-122"/>
                          <a:cs typeface="Calibri" pitchFamily="34" charset="-120"/>
                        </a:rPr>
                        <a:t>EDR</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B1B1F"/>
                          </a:solidFill>
                          <a:latin typeface="Calibri" pitchFamily="34" charset="0"/>
                          <a:ea typeface="Calibri" pitchFamily="34" charset="-122"/>
                          <a:cs typeface="Calibri" pitchFamily="34" charset="-120"/>
                        </a:rPr>
                        <a:t>4 (Dreiergruppe)</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B1B1F"/>
                          </a:solidFill>
                          <a:latin typeface="Calibri" pitchFamily="34" charset="0"/>
                          <a:ea typeface="Calibri" pitchFamily="34" charset="-122"/>
                          <a:cs typeface="Calibri" pitchFamily="34" charset="-120"/>
                        </a:rPr>
                        <a:t>die</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B1B1F"/>
                          </a:solidFill>
                          <a:latin typeface="Calibri" pitchFamily="34" charset="0"/>
                          <a:ea typeface="Calibri" pitchFamily="34" charset="-122"/>
                          <a:cs typeface="Calibri" pitchFamily="34" charset="-120"/>
                        </a:rPr>
                        <a:t>→ </a:t>
                      </a:r>
                      <a:r>
                        <a:rPr lang="en-US" sz="1700" b="1" dirty="0">
                          <a:solidFill>
                            <a:srgbClr val="1B1B1F"/>
                          </a:solidFill>
                          <a:latin typeface="Calibri" pitchFamily="34" charset="0"/>
                          <a:ea typeface="Calibri" pitchFamily="34" charset="-122"/>
                          <a:cs typeface="Calibri" pitchFamily="34" charset="-120"/>
                        </a:rPr>
                        <a:t>E = d</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bl>
          </a:graphicData>
        </a:graphic>
      </p:graphicFrame>
      <p:sp>
        <p:nvSpPr>
          <p:cNvPr id="5" name="Shape 2"/>
          <p:cNvSpPr/>
          <p:nvPr/>
        </p:nvSpPr>
        <p:spPr>
          <a:xfrm>
            <a:off x="5223053" y="1325880"/>
            <a:ext cx="2640787" cy="2491232"/>
          </a:xfrm>
          <a:prstGeom prst="roundRect">
            <a:avLst>
              <a:gd name="adj" fmla="val 2936"/>
            </a:avLst>
          </a:prstGeom>
          <a:solidFill>
            <a:srgbClr val="EEF3FA"/>
          </a:solidFill>
          <a:ln w="12700">
            <a:solidFill>
              <a:srgbClr val="1F4E8C"/>
            </a:solidFill>
            <a:prstDash val="solid"/>
          </a:ln>
        </p:spPr>
      </p:sp>
      <p:sp>
        <p:nvSpPr>
          <p:cNvPr id="6" name="Text 3"/>
          <p:cNvSpPr txBox="1"/>
          <p:nvPr/>
        </p:nvSpPr>
        <p:spPr>
          <a:xfrm>
            <a:off x="5451653" y="1435608"/>
            <a:ext cx="2183587" cy="274320"/>
          </a:xfrm>
          <a:prstGeom prst="rect">
            <a:avLst/>
          </a:prstGeom>
          <a:noFill/>
          <a:ln/>
        </p:spPr>
        <p:txBody>
          <a:bodyPr wrap="square" lIns="0" tIns="0" rIns="0" bIns="0" rtlCol="0" anchor="ctr"/>
          <a:lstStyle/>
          <a:p>
            <a:pPr indent="0" marL="0">
              <a:buNone/>
            </a:pPr>
            <a:r>
              <a:rPr lang="en-US" sz="1300" b="1" spc="200" kern="0" dirty="0">
                <a:solidFill>
                  <a:srgbClr val="1F4E8C"/>
                </a:solidFill>
              </a:rPr>
              <a:t>DEUTSCH</a:t>
            </a:r>
            <a:endParaRPr lang="en-US" sz="1300" dirty="0"/>
          </a:p>
        </p:txBody>
      </p:sp>
      <p:sp>
        <p:nvSpPr>
          <p:cNvPr id="7" name="Text 4"/>
          <p:cNvSpPr txBox="1"/>
          <p:nvPr/>
        </p:nvSpPr>
        <p:spPr>
          <a:xfrm>
            <a:off x="5451653" y="1783080"/>
            <a:ext cx="2183587" cy="975360"/>
          </a:xfrm>
          <a:prstGeom prst="rect">
            <a:avLst/>
          </a:prstGeom>
          <a:noFill/>
          <a:ln/>
        </p:spPr>
        <p:txBody>
          <a:bodyPr wrap="square" lIns="0" tIns="0" rIns="0" bIns="0" rtlCol="0" anchor="t"/>
          <a:lstStyle/>
          <a:p>
            <a:pPr algn="l" indent="0" marL="0">
              <a:buNone/>
            </a:pPr>
            <a:r>
              <a:rPr lang="en-US" sz="2000" dirty="0">
                <a:solidFill>
                  <a:srgbClr val="1B1B1F"/>
                </a:solidFill>
              </a:rPr>
              <a:t>häufige Paare: </a:t>
            </a:r>
            <a:r>
              <a:rPr lang="en-US" sz="2000" b="1" dirty="0">
                <a:solidFill>
                  <a:srgbClr val="1B1B1F"/>
                </a:solidFill>
              </a:rPr>
              <a:t>en, er, ch, ei, ie, nd, te</a:t>
            </a:r>
            <a:endParaRPr lang="en-US" sz="2000" dirty="0"/>
          </a:p>
        </p:txBody>
      </p:sp>
      <p:sp>
        <p:nvSpPr>
          <p:cNvPr id="8" name="Text 5"/>
          <p:cNvSpPr txBox="1"/>
          <p:nvPr/>
        </p:nvSpPr>
        <p:spPr>
          <a:xfrm>
            <a:off x="5451653" y="2886456"/>
            <a:ext cx="2183587" cy="665480"/>
          </a:xfrm>
          <a:prstGeom prst="rect">
            <a:avLst/>
          </a:prstGeom>
          <a:noFill/>
          <a:ln/>
        </p:spPr>
        <p:txBody>
          <a:bodyPr wrap="square" lIns="0" tIns="0" rIns="0" bIns="0" rtlCol="0" anchor="t"/>
          <a:lstStyle/>
          <a:p>
            <a:pPr algn="l" indent="0" marL="0">
              <a:buNone/>
            </a:pPr>
            <a:r>
              <a:rPr lang="en-US" sz="2000" dirty="0">
                <a:solidFill>
                  <a:srgbClr val="1B1B1F"/>
                </a:solidFill>
              </a:rPr>
              <a:t>häufige Wörter: </a:t>
            </a:r>
            <a:r>
              <a:rPr lang="en-US" sz="2000" b="1" dirty="0">
                <a:solidFill>
                  <a:srgbClr val="1B1B1F"/>
                </a:solidFill>
              </a:rPr>
              <a:t>die, der, und, ein</a:t>
            </a:r>
            <a:endParaRPr lang="en-US" sz="2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Jetzt du: Der erste Satz</a:t>
            </a:r>
            <a:endParaRPr lang="en-US" sz="3000" dirty="0"/>
          </a:p>
        </p:txBody>
      </p:sp>
      <p:sp>
        <p:nvSpPr>
          <p:cNvPr id="3" name="Text 1"/>
          <p:cNvSpPr txBox="1"/>
          <p:nvPr/>
        </p:nvSpPr>
        <p:spPr>
          <a:xfrm>
            <a:off x="548640" y="1325880"/>
            <a:ext cx="1463040" cy="384048"/>
          </a:xfrm>
          <a:prstGeom prst="rect">
            <a:avLst/>
          </a:prstGeom>
          <a:solidFill>
            <a:srgbClr val="1F4E8C"/>
          </a:solidFill>
          <a:ln/>
        </p:spPr>
        <p:txBody>
          <a:bodyPr wrap="square" lIns="0" tIns="0" rIns="0" bIns="0" rtlCol="0" anchor="ctr"/>
          <a:lstStyle/>
          <a:p>
            <a:pPr algn="ctr" indent="0" marL="0">
              <a:buNone/>
            </a:pPr>
            <a:r>
              <a:rPr lang="en-US" sz="1400" b="1" spc="300" kern="0" dirty="0">
                <a:solidFill>
                  <a:srgbClr val="FFFFFF"/>
                </a:solidFill>
              </a:rPr>
              <a:t>AUFTRAG</a:t>
            </a:r>
            <a:endParaRPr lang="en-US" sz="1400" dirty="0"/>
          </a:p>
        </p:txBody>
      </p:sp>
      <p:sp>
        <p:nvSpPr>
          <p:cNvPr id="4" name="Text 2"/>
          <p:cNvSpPr txBox="1"/>
          <p:nvPr/>
        </p:nvSpPr>
        <p:spPr>
          <a:xfrm>
            <a:off x="2148840" y="1325880"/>
            <a:ext cx="2075688" cy="384048"/>
          </a:xfrm>
          <a:prstGeom prst="rect">
            <a:avLst/>
          </a:prstGeom>
          <a:solidFill>
            <a:srgbClr val="F2EADB"/>
          </a:solidFill>
          <a:ln/>
        </p:spPr>
        <p:txBody>
          <a:bodyPr wrap="square" lIns="0" tIns="0" rIns="0" bIns="0" rtlCol="0" anchor="ctr"/>
          <a:lstStyle/>
          <a:p>
            <a:pPr algn="ctr" indent="0" marL="0">
              <a:buNone/>
            </a:pPr>
            <a:r>
              <a:rPr lang="en-US" sz="1400" dirty="0">
                <a:solidFill>
                  <a:srgbClr val="1B1B1F"/>
                </a:solidFill>
              </a:rPr>
              <a:t>⏸ Video anhalten</a:t>
            </a:r>
            <a:endParaRPr lang="en-US" sz="1400" dirty="0"/>
          </a:p>
        </p:txBody>
      </p:sp>
      <p:sp>
        <p:nvSpPr>
          <p:cNvPr id="5" name="Text 3"/>
          <p:cNvSpPr txBox="1"/>
          <p:nvPr/>
        </p:nvSpPr>
        <p:spPr>
          <a:xfrm>
            <a:off x="4361688" y="1325880"/>
            <a:ext cx="2075688" cy="384048"/>
          </a:xfrm>
          <a:prstGeom prst="rect">
            <a:avLst/>
          </a:prstGeom>
          <a:solidFill>
            <a:srgbClr val="F2EADB"/>
          </a:solidFill>
          <a:ln/>
        </p:spPr>
        <p:txBody>
          <a:bodyPr wrap="square" lIns="0" tIns="0" rIns="0" bIns="0" rtlCol="0" anchor="ctr"/>
          <a:lstStyle/>
          <a:p>
            <a:pPr algn="ctr" indent="0" marL="0">
              <a:buNone/>
            </a:pPr>
            <a:r>
              <a:rPr lang="en-US" sz="1400" dirty="0">
                <a:solidFill>
                  <a:srgbClr val="1B1B1F"/>
                </a:solidFill>
              </a:rPr>
              <a:t>selbst probieren</a:t>
            </a:r>
            <a:endParaRPr lang="en-US" sz="1400" dirty="0"/>
          </a:p>
        </p:txBody>
      </p:sp>
      <p:sp>
        <p:nvSpPr>
          <p:cNvPr id="6" name="Text 4"/>
          <p:cNvSpPr txBox="1"/>
          <p:nvPr/>
        </p:nvSpPr>
        <p:spPr>
          <a:xfrm>
            <a:off x="548640" y="1965960"/>
            <a:ext cx="4308653" cy="1285240"/>
          </a:xfrm>
          <a:prstGeom prst="rect">
            <a:avLst/>
          </a:prstGeom>
          <a:noFill/>
          <a:ln/>
        </p:spPr>
        <p:txBody>
          <a:bodyPr wrap="square" lIns="0" tIns="0" rIns="0" bIns="0" rtlCol="0" anchor="t"/>
          <a:lstStyle/>
          <a:p>
            <a:pPr algn="l" indent="0" marL="0">
              <a:buNone/>
            </a:pPr>
            <a:r>
              <a:rPr lang="en-US" sz="1600" dirty="0">
                <a:solidFill>
                  <a:srgbClr val="1B1B1F"/>
                </a:solidFill>
              </a:rPr>
              <a:t>Bekannt: </a:t>
            </a:r>
            <a:r>
              <a:rPr lang="en-US" sz="1600" b="1" dirty="0">
                <a:solidFill>
                  <a:srgbClr val="1B1B1F"/>
                </a:solidFill>
              </a:rPr>
              <a:t>R = e, L = n, P = r, D = i, E = d</a:t>
            </a:r>
            <a:r>
              <a:rPr lang="en-US" sz="1600" dirty="0">
                <a:solidFill>
                  <a:srgbClr val="1B1B1F"/>
                </a:solidFill>
              </a:rPr>
              <a:t> (klein = schon entschlüsselt, GROSS = noch unbekannt). Ergänze den ersten Satz. Welche Klartextbuchstaben stehen hinter </a:t>
            </a:r>
            <a:r>
              <a:rPr lang="en-US" sz="1600" b="1" dirty="0">
                <a:solidFill>
                  <a:srgbClr val="1B1B1F"/>
                </a:solidFill>
              </a:rPr>
              <a:t>T, Z, I, Q, F, C, A, S, J, B</a:t>
            </a:r>
            <a:r>
              <a:rPr lang="en-US" sz="1600" dirty="0">
                <a:solidFill>
                  <a:srgbClr val="1B1B1F"/>
                </a:solidFill>
              </a:rPr>
              <a:t>?</a:t>
            </a:r>
            <a:endParaRPr lang="en-US" sz="1600" dirty="0"/>
          </a:p>
        </p:txBody>
      </p:sp>
      <p:sp>
        <p:nvSpPr>
          <p:cNvPr id="7" name="Geheimtext-Kasten"/>
          <p:cNvSpPr/>
          <p:nvPr/>
        </p:nvSpPr>
        <p:spPr>
          <a:xfrm>
            <a:off x="548640" y="3379216"/>
            <a:ext cx="4308653" cy="1379220"/>
          </a:xfrm>
          <a:prstGeom prst="rect">
            <a:avLst/>
          </a:prstGeom>
          <a:solidFill>
            <a:srgbClr val="F2EADB"/>
          </a:solidFill>
          <a:ln w="9525">
            <a:solidFill>
              <a:srgbClr val="D8CDB8"/>
            </a:solidFill>
            <a:prstDash val="solid"/>
          </a:ln>
        </p:spPr>
      </p:sp>
      <p:sp>
        <p:nvSpPr>
          <p:cNvPr id="8" name="Text 6"/>
          <p:cNvSpPr txBox="1"/>
          <p:nvPr/>
        </p:nvSpPr>
        <p:spPr>
          <a:xfrm>
            <a:off x="777240" y="3488944"/>
            <a:ext cx="3851453" cy="1159764"/>
          </a:xfrm>
          <a:prstGeom prst="rect">
            <a:avLst/>
          </a:prstGeom>
          <a:noFill/>
          <a:ln/>
        </p:spPr>
        <p:txBody>
          <a:bodyPr wrap="square" lIns="0" tIns="0" rIns="0" bIns="0" rtlCol="0" anchor="t"/>
          <a:lstStyle/>
          <a:p>
            <a:pPr indent="0" marL="0">
              <a:lnSpc>
                <a:spcPct val="115000"/>
              </a:lnSpc>
              <a:buNone/>
            </a:pPr>
            <a:r>
              <a:rPr lang="en-US" sz="2000" b="1" spc="200" kern="0" dirty="0">
                <a:solidFill>
                  <a:srgbClr val="1B1B1F"/>
                </a:solidFill>
                <a:latin typeface="Consolas" pitchFamily="34" charset="0"/>
                <a:ea typeface="Consolas" pitchFamily="34" charset="-122"/>
                <a:cs typeface="Consolas" pitchFamily="34" charset="-120"/>
              </a:rPr>
              <a:t>EDRLR TRZIQ FCPDA</a:t>
            </a:r>
            <a:endParaRPr lang="en-US" sz="2000" dirty="0"/>
          </a:p>
          <a:p>
            <a:pPr indent="0" marL="0">
              <a:lnSpc>
                <a:spcPct val="115000"/>
              </a:lnSpc>
              <a:buNone/>
            </a:pPr>
            <a:r>
              <a:rPr lang="en-US" sz="2000" b="1" spc="200" kern="0" dirty="0">
                <a:solidFill>
                  <a:srgbClr val="1B1B1F"/>
                </a:solidFill>
                <a:latin typeface="Consolas" pitchFamily="34" charset="0"/>
                <a:ea typeface="Consolas" pitchFamily="34" charset="-122"/>
                <a:cs typeface="Consolas" pitchFamily="34" charset="-120"/>
              </a:rPr>
              <a:t>SERPQ SRPLR LSZAR</a:t>
            </a:r>
            <a:endParaRPr lang="en-US" sz="2000" dirty="0"/>
          </a:p>
          <a:p>
            <a:pPr indent="0" marL="0">
              <a:lnSpc>
                <a:spcPct val="115000"/>
              </a:lnSpc>
              <a:buNone/>
            </a:pPr>
            <a:r>
              <a:rPr lang="en-US" sz="2000" b="1" spc="200" kern="0" dirty="0">
                <a:solidFill>
                  <a:srgbClr val="1B1B1F"/>
                </a:solidFill>
                <a:latin typeface="Consolas" pitchFamily="34" charset="0"/>
                <a:ea typeface="Consolas" pitchFamily="34" charset="-122"/>
                <a:cs typeface="Consolas" pitchFamily="34" charset="-120"/>
              </a:rPr>
              <a:t>JLDQS ARPSD B</a:t>
            </a:r>
            <a:endParaRPr lang="en-US" sz="2000" dirty="0"/>
          </a:p>
        </p:txBody>
      </p:sp>
      <p:sp>
        <p:nvSpPr>
          <p:cNvPr id="9" name="Geheimtext-Kasten"/>
          <p:cNvSpPr/>
          <p:nvPr/>
        </p:nvSpPr>
        <p:spPr>
          <a:xfrm>
            <a:off x="548640" y="4886452"/>
            <a:ext cx="4308653" cy="642620"/>
          </a:xfrm>
          <a:prstGeom prst="rect">
            <a:avLst/>
          </a:prstGeom>
          <a:solidFill>
            <a:srgbClr val="F2EADB"/>
          </a:solidFill>
          <a:ln w="9525">
            <a:solidFill>
              <a:srgbClr val="D8CDB8"/>
            </a:solidFill>
            <a:prstDash val="solid"/>
          </a:ln>
        </p:spPr>
      </p:sp>
      <p:sp>
        <p:nvSpPr>
          <p:cNvPr id="10" name="Text 8"/>
          <p:cNvSpPr txBox="1"/>
          <p:nvPr/>
        </p:nvSpPr>
        <p:spPr>
          <a:xfrm>
            <a:off x="777240" y="4996180"/>
            <a:ext cx="3851453" cy="423164"/>
          </a:xfrm>
          <a:prstGeom prst="rect">
            <a:avLst/>
          </a:prstGeom>
          <a:noFill/>
          <a:ln/>
        </p:spPr>
        <p:txBody>
          <a:bodyPr wrap="square" lIns="0" tIns="0" rIns="0" bIns="0" rtlCol="0" anchor="t"/>
          <a:lstStyle/>
          <a:p>
            <a:pPr indent="0" marL="0">
              <a:lnSpc>
                <a:spcPct val="115000"/>
              </a:lnSpc>
              <a:buNone/>
            </a:pPr>
            <a:r>
              <a:rPr lang="en-US" sz="2000" spc="200" kern="0" dirty="0">
                <a:solidFill>
                  <a:srgbClr val="4A4A55"/>
                </a:solidFill>
                <a:latin typeface="Consolas" pitchFamily="34" charset="0"/>
                <a:ea typeface="Consolas" pitchFamily="34" charset="-122"/>
                <a:cs typeface="Consolas" pitchFamily="34" charset="-120"/>
              </a:rPr>
              <a:t>dieneTeZIQFCriASderQSernenSZAeJniQSAerSiB</a:t>
            </a:r>
            <a:endParaRPr lang="en-US" sz="2000" dirty="0"/>
          </a:p>
        </p:txBody>
      </p:sp>
      <p:sp>
        <p:nvSpPr>
          <p:cNvPr id="11" name="Shape 9"/>
          <p:cNvSpPr/>
          <p:nvPr/>
        </p:nvSpPr>
        <p:spPr>
          <a:xfrm>
            <a:off x="5223053" y="1965960"/>
            <a:ext cx="2640787" cy="1592580"/>
          </a:xfrm>
          <a:prstGeom prst="roundRect">
            <a:avLst>
              <a:gd name="adj" fmla="val 4593"/>
            </a:avLst>
          </a:prstGeom>
          <a:solidFill>
            <a:srgbClr val="FBF3E2"/>
          </a:solidFill>
          <a:ln w="12700">
            <a:solidFill>
              <a:srgbClr val="8A5F1A"/>
            </a:solidFill>
            <a:prstDash val="solid"/>
          </a:ln>
        </p:spPr>
      </p:sp>
      <p:sp>
        <p:nvSpPr>
          <p:cNvPr id="12" name="Text 10"/>
          <p:cNvSpPr txBox="1"/>
          <p:nvPr/>
        </p:nvSpPr>
        <p:spPr>
          <a:xfrm>
            <a:off x="5451653" y="2075688"/>
            <a:ext cx="2183587" cy="274320"/>
          </a:xfrm>
          <a:prstGeom prst="rect">
            <a:avLst/>
          </a:prstGeom>
          <a:noFill/>
          <a:ln/>
        </p:spPr>
        <p:txBody>
          <a:bodyPr wrap="square" lIns="0" tIns="0" rIns="0" bIns="0" rtlCol="0" anchor="ctr"/>
          <a:lstStyle/>
          <a:p>
            <a:pPr indent="0" marL="0">
              <a:buNone/>
            </a:pPr>
            <a:r>
              <a:rPr lang="en-US" sz="1300" b="1" spc="200" kern="0" dirty="0">
                <a:solidFill>
                  <a:srgbClr val="8A5F1A"/>
                </a:solidFill>
              </a:rPr>
              <a:t>TIPP</a:t>
            </a:r>
            <a:endParaRPr lang="en-US" sz="1300" dirty="0"/>
          </a:p>
        </p:txBody>
      </p:sp>
      <p:sp>
        <p:nvSpPr>
          <p:cNvPr id="13" name="Text 11"/>
          <p:cNvSpPr txBox="1"/>
          <p:nvPr/>
        </p:nvSpPr>
        <p:spPr>
          <a:xfrm>
            <a:off x="5451653" y="2423160"/>
            <a:ext cx="2183587" cy="262636"/>
          </a:xfrm>
          <a:prstGeom prst="rect">
            <a:avLst/>
          </a:prstGeom>
          <a:noFill/>
          <a:ln/>
        </p:spPr>
        <p:txBody>
          <a:bodyPr wrap="square" lIns="0" tIns="0" rIns="0" bIns="0" rtlCol="0" anchor="t"/>
          <a:lstStyle/>
          <a:p>
            <a:pPr algn="l" indent="0" marL="0">
              <a:buNone/>
            </a:pPr>
            <a:r>
              <a:rPr lang="en-US" sz="1400" dirty="0">
                <a:solidFill>
                  <a:srgbClr val="1B1B1F"/>
                </a:solidFill>
              </a:rPr>
              <a:t>Es geht um Sterne</a:t>
            </a:r>
            <a:endParaRPr lang="en-US" sz="1400" dirty="0"/>
          </a:p>
        </p:txBody>
      </p:sp>
      <p:sp>
        <p:nvSpPr>
          <p:cNvPr id="14" name="Text 12"/>
          <p:cNvSpPr txBox="1"/>
          <p:nvPr/>
        </p:nvSpPr>
        <p:spPr>
          <a:xfrm>
            <a:off x="5451653" y="2813812"/>
            <a:ext cx="2183587" cy="479552"/>
          </a:xfrm>
          <a:prstGeom prst="rect">
            <a:avLst/>
          </a:prstGeom>
          <a:noFill/>
          <a:ln/>
        </p:spPr>
        <p:txBody>
          <a:bodyPr wrap="square" lIns="0" tIns="0" rIns="0" bIns="0" rtlCol="0" anchor="t"/>
          <a:lstStyle/>
          <a:p>
            <a:pPr algn="l" indent="0" marL="0">
              <a:buNone/>
            </a:pPr>
            <a:r>
              <a:rPr lang="en-US" sz="1400" dirty="0">
                <a:solidFill>
                  <a:srgbClr val="1B1B1F"/>
                </a:solidFill>
              </a:rPr>
              <a:t>„sch“ und „st“ sind häufig</a:t>
            </a:r>
            <a:endParaRPr lang="en-US" sz="1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Auflösung: Satz 1</a:t>
            </a:r>
            <a:endParaRPr lang="en-US" sz="3000" dirty="0"/>
          </a:p>
        </p:txBody>
      </p:sp>
      <p:sp>
        <p:nvSpPr>
          <p:cNvPr id="3" name="Text 1"/>
          <p:cNvSpPr txBox="1"/>
          <p:nvPr/>
        </p:nvSpPr>
        <p:spPr>
          <a:xfrm>
            <a:off x="548640" y="1325880"/>
            <a:ext cx="4308653" cy="727456"/>
          </a:xfrm>
          <a:prstGeom prst="rect">
            <a:avLst/>
          </a:prstGeom>
          <a:noFill/>
          <a:ln/>
        </p:spPr>
        <p:txBody>
          <a:bodyPr wrap="square" lIns="0" tIns="0" rIns="0" bIns="0" rtlCol="0" anchor="t"/>
          <a:lstStyle/>
          <a:p>
            <a:pPr algn="l" indent="0" marL="0">
              <a:buNone/>
            </a:pPr>
            <a:r>
              <a:rPr lang="en-US" sz="2200" b="1" dirty="0">
                <a:solidFill>
                  <a:srgbClr val="1B1B1F"/>
                </a:solidFill>
              </a:rPr>
              <a:t>die neue abschrift der sternentafeln ist fertig</a:t>
            </a:r>
            <a:endParaRPr lang="en-US" sz="2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2181352"/>
          <a:ext cx="4308653" cy="914400"/>
        </p:xfrm>
        <a:graphic>
          <a:graphicData uri="http://schemas.openxmlformats.org/drawingml/2006/table">
            <a:tbl>
              <a:tblPr/>
              <a:tblGrid>
                <a:gridCol w="391696"/>
                <a:gridCol w="391696"/>
                <a:gridCol w="391696"/>
                <a:gridCol w="391696"/>
                <a:gridCol w="391696"/>
                <a:gridCol w="391696"/>
                <a:gridCol w="391696"/>
                <a:gridCol w="391696"/>
                <a:gridCol w="391696"/>
                <a:gridCol w="391696"/>
                <a:gridCol w="391696"/>
              </a:tblGrid>
              <a:tr h="0">
                <a:tc>
                  <a:txBody>
                    <a:bodyPr/>
                    <a:lstStyle/>
                    <a:p>
                      <a:pPr algn="l" indent="0" marL="0">
                        <a:buNone/>
                      </a:pPr>
                      <a:r>
                        <a:rPr lang="en-US" sz="2000" b="1" dirty="0">
                          <a:solidFill>
                            <a:srgbClr val="1B1B1F"/>
                          </a:solidFill>
                          <a:latin typeface="Calibri" pitchFamily="34" charset="0"/>
                          <a:ea typeface="Calibri" pitchFamily="34" charset="-122"/>
                          <a:cs typeface="Calibri" pitchFamily="34" charset="-120"/>
                        </a:rPr>
                        <a:t>Geheimtext</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2000" b="1" dirty="0">
                          <a:solidFill>
                            <a:srgbClr val="1B1B1F"/>
                          </a:solidFill>
                          <a:latin typeface="Calibri" pitchFamily="34" charset="0"/>
                          <a:ea typeface="Calibri" pitchFamily="34" charset="-122"/>
                          <a:cs typeface="Calibri" pitchFamily="34" charset="-120"/>
                        </a:rPr>
                        <a:t>T</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2000" b="1" dirty="0">
                          <a:solidFill>
                            <a:srgbClr val="1B1B1F"/>
                          </a:solidFill>
                          <a:latin typeface="Calibri" pitchFamily="34" charset="0"/>
                          <a:ea typeface="Calibri" pitchFamily="34" charset="-122"/>
                          <a:cs typeface="Calibri" pitchFamily="34" charset="-120"/>
                        </a:rPr>
                        <a:t>Z</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2000" b="1" dirty="0">
                          <a:solidFill>
                            <a:srgbClr val="1B1B1F"/>
                          </a:solidFill>
                          <a:latin typeface="Calibri" pitchFamily="34" charset="0"/>
                          <a:ea typeface="Calibri" pitchFamily="34" charset="-122"/>
                          <a:cs typeface="Calibri" pitchFamily="34" charset="-120"/>
                        </a:rPr>
                        <a:t>I</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2000" b="1" dirty="0">
                          <a:solidFill>
                            <a:srgbClr val="1B1B1F"/>
                          </a:solidFill>
                          <a:latin typeface="Calibri" pitchFamily="34" charset="0"/>
                          <a:ea typeface="Calibri" pitchFamily="34" charset="-122"/>
                          <a:cs typeface="Calibri" pitchFamily="34" charset="-120"/>
                        </a:rPr>
                        <a:t>Q</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2000" b="1" dirty="0">
                          <a:solidFill>
                            <a:srgbClr val="1B1B1F"/>
                          </a:solidFill>
                          <a:latin typeface="Calibri" pitchFamily="34" charset="0"/>
                          <a:ea typeface="Calibri" pitchFamily="34" charset="-122"/>
                          <a:cs typeface="Calibri" pitchFamily="34" charset="-120"/>
                        </a:rPr>
                        <a:t>F</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2000" b="1" dirty="0">
                          <a:solidFill>
                            <a:srgbClr val="1B1B1F"/>
                          </a:solidFill>
                          <a:latin typeface="Calibri" pitchFamily="34" charset="0"/>
                          <a:ea typeface="Calibri" pitchFamily="34" charset="-122"/>
                          <a:cs typeface="Calibri" pitchFamily="34" charset="-120"/>
                        </a:rPr>
                        <a:t>C</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2000" b="1" dirty="0">
                          <a:solidFill>
                            <a:srgbClr val="1B1B1F"/>
                          </a:solidFill>
                          <a:latin typeface="Calibri" pitchFamily="34" charset="0"/>
                          <a:ea typeface="Calibri" pitchFamily="34" charset="-122"/>
                          <a:cs typeface="Calibri" pitchFamily="34" charset="-120"/>
                        </a:rPr>
                        <a:t>A</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2000" b="1" dirty="0">
                          <a:solidFill>
                            <a:srgbClr val="1B1B1F"/>
                          </a:solidFill>
                          <a:latin typeface="Calibri" pitchFamily="34" charset="0"/>
                          <a:ea typeface="Calibri" pitchFamily="34" charset="-122"/>
                          <a:cs typeface="Calibri" pitchFamily="34" charset="-120"/>
                        </a:rPr>
                        <a:t>S</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2000" b="1" dirty="0">
                          <a:solidFill>
                            <a:srgbClr val="1B1B1F"/>
                          </a:solidFill>
                          <a:latin typeface="Calibri" pitchFamily="34" charset="0"/>
                          <a:ea typeface="Calibri" pitchFamily="34" charset="-122"/>
                          <a:cs typeface="Calibri" pitchFamily="34" charset="-120"/>
                        </a:rPr>
                        <a:t>J</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2000" b="1" dirty="0">
                          <a:solidFill>
                            <a:srgbClr val="1B1B1F"/>
                          </a:solidFill>
                          <a:latin typeface="Calibri" pitchFamily="34" charset="0"/>
                          <a:ea typeface="Calibri" pitchFamily="34" charset="-122"/>
                          <a:cs typeface="Calibri" pitchFamily="34" charset="-120"/>
                        </a:rPr>
                        <a:t>B</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r>
              <a:tr h="0">
                <a:tc>
                  <a:txBody>
                    <a:bodyPr/>
                    <a:lstStyle/>
                    <a:p>
                      <a:pPr algn="l" indent="0" marL="0">
                        <a:buNone/>
                      </a:pPr>
                      <a:r>
                        <a:rPr lang="en-US" sz="2000" dirty="0">
                          <a:solidFill>
                            <a:srgbClr val="1B1B1F"/>
                          </a:solidFill>
                          <a:latin typeface="Calibri" pitchFamily="34" charset="0"/>
                          <a:ea typeface="Calibri" pitchFamily="34" charset="-122"/>
                          <a:cs typeface="Calibri" pitchFamily="34" charset="-120"/>
                        </a:rPr>
                        <a:t>Klartext</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1B1F"/>
                          </a:solidFill>
                          <a:latin typeface="Calibri" pitchFamily="34" charset="0"/>
                          <a:ea typeface="Calibri" pitchFamily="34" charset="-122"/>
                          <a:cs typeface="Calibri" pitchFamily="34" charset="-120"/>
                        </a:rPr>
                        <a:t>u</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1B1F"/>
                          </a:solidFill>
                          <a:latin typeface="Calibri" pitchFamily="34" charset="0"/>
                          <a:ea typeface="Calibri" pitchFamily="34" charset="-122"/>
                          <a:cs typeface="Calibri" pitchFamily="34" charset="-120"/>
                        </a:rPr>
                        <a:t>a</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1B1F"/>
                          </a:solidFill>
                          <a:latin typeface="Calibri" pitchFamily="34" charset="0"/>
                          <a:ea typeface="Calibri" pitchFamily="34" charset="-122"/>
                          <a:cs typeface="Calibri" pitchFamily="34" charset="-120"/>
                        </a:rPr>
                        <a:t>b</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1B1F"/>
                          </a:solidFill>
                          <a:latin typeface="Calibri" pitchFamily="34" charset="0"/>
                          <a:ea typeface="Calibri" pitchFamily="34" charset="-122"/>
                          <a:cs typeface="Calibri" pitchFamily="34" charset="-120"/>
                        </a:rPr>
                        <a:t>s</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1B1F"/>
                          </a:solidFill>
                          <a:latin typeface="Calibri" pitchFamily="34" charset="0"/>
                          <a:ea typeface="Calibri" pitchFamily="34" charset="-122"/>
                          <a:cs typeface="Calibri" pitchFamily="34" charset="-120"/>
                        </a:rPr>
                        <a:t>c</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1B1F"/>
                          </a:solidFill>
                          <a:latin typeface="Calibri" pitchFamily="34" charset="0"/>
                          <a:ea typeface="Calibri" pitchFamily="34" charset="-122"/>
                          <a:cs typeface="Calibri" pitchFamily="34" charset="-120"/>
                        </a:rPr>
                        <a:t>h</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1B1F"/>
                          </a:solidFill>
                          <a:latin typeface="Calibri" pitchFamily="34" charset="0"/>
                          <a:ea typeface="Calibri" pitchFamily="34" charset="-122"/>
                          <a:cs typeface="Calibri" pitchFamily="34" charset="-120"/>
                        </a:rPr>
                        <a:t>f</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1B1F"/>
                          </a:solidFill>
                          <a:latin typeface="Calibri" pitchFamily="34" charset="0"/>
                          <a:ea typeface="Calibri" pitchFamily="34" charset="-122"/>
                          <a:cs typeface="Calibri" pitchFamily="34" charset="-120"/>
                        </a:rPr>
                        <a:t>t</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1B1F"/>
                          </a:solidFill>
                          <a:latin typeface="Calibri" pitchFamily="34" charset="0"/>
                          <a:ea typeface="Calibri" pitchFamily="34" charset="-122"/>
                          <a:cs typeface="Calibri" pitchFamily="34" charset="-120"/>
                        </a:rPr>
                        <a:t>l</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1B1F"/>
                          </a:solidFill>
                          <a:latin typeface="Calibri" pitchFamily="34" charset="0"/>
                          <a:ea typeface="Calibri" pitchFamily="34" charset="-122"/>
                          <a:cs typeface="Calibri" pitchFamily="34" charset="-120"/>
                        </a:rPr>
                        <a:t>g</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bl>
          </a:graphicData>
        </a:graphic>
      </p:graphicFrame>
      <p:sp>
        <p:nvSpPr>
          <p:cNvPr id="5" name="Shape 2"/>
          <p:cNvSpPr/>
          <p:nvPr/>
        </p:nvSpPr>
        <p:spPr>
          <a:xfrm>
            <a:off x="5223053" y="1325880"/>
            <a:ext cx="2640787" cy="1697736"/>
          </a:xfrm>
          <a:prstGeom prst="roundRect">
            <a:avLst>
              <a:gd name="adj" fmla="val 4309"/>
            </a:avLst>
          </a:prstGeom>
          <a:solidFill>
            <a:srgbClr val="EEF6EE"/>
          </a:solidFill>
          <a:ln w="12700">
            <a:solidFill>
              <a:srgbClr val="2E7D32"/>
            </a:solidFill>
            <a:prstDash val="solid"/>
          </a:ln>
        </p:spPr>
      </p:sp>
      <p:sp>
        <p:nvSpPr>
          <p:cNvPr id="6" name="Text 3"/>
          <p:cNvSpPr txBox="1"/>
          <p:nvPr/>
        </p:nvSpPr>
        <p:spPr>
          <a:xfrm>
            <a:off x="5451653" y="1435608"/>
            <a:ext cx="2183587" cy="274320"/>
          </a:xfrm>
          <a:prstGeom prst="rect">
            <a:avLst/>
          </a:prstGeom>
          <a:noFill/>
          <a:ln/>
        </p:spPr>
        <p:txBody>
          <a:bodyPr wrap="square" lIns="0" tIns="0" rIns="0" bIns="0" rtlCol="0" anchor="ctr"/>
          <a:lstStyle/>
          <a:p>
            <a:pPr indent="0" marL="0">
              <a:buNone/>
            </a:pPr>
            <a:r>
              <a:rPr lang="en-US" sz="1300" b="1" spc="200" kern="0" dirty="0">
                <a:solidFill>
                  <a:srgbClr val="2E7D32"/>
                </a:solidFill>
              </a:rPr>
              <a:t>SCHON 15 VON 22 BUCHSTABEN</a:t>
            </a:r>
            <a:endParaRPr lang="en-US" sz="1300" dirty="0"/>
          </a:p>
        </p:txBody>
      </p:sp>
      <p:sp>
        <p:nvSpPr>
          <p:cNvPr id="7" name="Text 4"/>
          <p:cNvSpPr txBox="1"/>
          <p:nvPr/>
        </p:nvSpPr>
        <p:spPr>
          <a:xfrm>
            <a:off x="5451653" y="1783080"/>
            <a:ext cx="2183587" cy="975360"/>
          </a:xfrm>
          <a:prstGeom prst="rect">
            <a:avLst/>
          </a:prstGeom>
          <a:noFill/>
          <a:ln/>
        </p:spPr>
        <p:txBody>
          <a:bodyPr wrap="square" lIns="0" tIns="0" rIns="0" bIns="0" rtlCol="0" anchor="t"/>
          <a:lstStyle/>
          <a:p>
            <a:pPr algn="l" indent="0" marL="0">
              <a:buNone/>
            </a:pPr>
            <a:r>
              <a:rPr lang="en-US" sz="2000" dirty="0">
                <a:solidFill>
                  <a:srgbClr val="1B1B1F"/>
                </a:solidFill>
              </a:rPr>
              <a:t>Jeder neue Buchstabe macht den Rest leichter</a:t>
            </a:r>
            <a:endParaRPr lang="en-US" sz="2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Geknackt – und der Schlüssel gleich mit</a:t>
            </a:r>
            <a:endParaRPr lang="en-US" sz="3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7315200" cy="914400"/>
        </p:xfrm>
        <a:graphic>
          <a:graphicData uri="http://schemas.openxmlformats.org/drawingml/2006/table">
            <a:tbl>
              <a:tblPr/>
              <a:tblGrid>
                <a:gridCol w="281354"/>
                <a:gridCol w="281354"/>
                <a:gridCol w="281354"/>
                <a:gridCol w="281354"/>
                <a:gridCol w="281354"/>
                <a:gridCol w="281354"/>
                <a:gridCol w="281354"/>
                <a:gridCol w="281354"/>
                <a:gridCol w="281354"/>
                <a:gridCol w="281354"/>
                <a:gridCol w="281354"/>
                <a:gridCol w="281354"/>
                <a:gridCol w="281354"/>
                <a:gridCol w="281354"/>
                <a:gridCol w="281354"/>
                <a:gridCol w="281354"/>
                <a:gridCol w="281354"/>
                <a:gridCol w="281354"/>
                <a:gridCol w="281354"/>
                <a:gridCol w="281354"/>
                <a:gridCol w="281354"/>
                <a:gridCol w="281354"/>
                <a:gridCol w="281354"/>
                <a:gridCol w="281354"/>
                <a:gridCol w="281354"/>
                <a:gridCol w="281354"/>
              </a:tblGrid>
              <a:tr h="0">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A</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B</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C</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D</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E</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F</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G</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H</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I</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J</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K</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L</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M</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N</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O</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P</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Q</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R</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S</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T</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U</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V</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W</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X</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Y</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Z</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r>
              <a:tr h="0">
                <a:tc>
                  <a:txBody>
                    <a:bodyPr/>
                    <a:lstStyle/>
                    <a:p>
                      <a:pPr algn="ctr" indent="0" marL="0">
                        <a:buNone/>
                      </a:pPr>
                      <a:r>
                        <a:rPr lang="en-US" sz="914" dirty="0">
                          <a:solidFill>
                            <a:srgbClr val="4A4A55"/>
                          </a:solidFill>
                          <a:latin typeface="Calibri" pitchFamily="34" charset="0"/>
                          <a:ea typeface="Calibri" pitchFamily="34" charset="-122"/>
                          <a:cs typeface="Calibri" pitchFamily="34" charset="-120"/>
                        </a:rPr>
                        <a:t>1</a:t>
                      </a:r>
                      <a:endParaRPr lang="en-US" sz="914" dirty="0">
                        <a:latin typeface="Calibri" charset="0"/>
                        <a:ea typeface="Calibri" charset="0"/>
                        <a:cs typeface="Calibri"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914" dirty="0">
                          <a:solidFill>
                            <a:srgbClr val="4A4A55"/>
                          </a:solidFill>
                          <a:latin typeface="Calibri" pitchFamily="34" charset="0"/>
                          <a:ea typeface="Calibri" pitchFamily="34" charset="-122"/>
                          <a:cs typeface="Calibri" pitchFamily="34" charset="-120"/>
                        </a:rPr>
                        <a:t>2</a:t>
                      </a:r>
                      <a:endParaRPr lang="en-US" sz="914" dirty="0">
                        <a:latin typeface="Calibri" charset="0"/>
                        <a:ea typeface="Calibri" charset="0"/>
                        <a:cs typeface="Calibri"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914" dirty="0">
                          <a:solidFill>
                            <a:srgbClr val="4A4A55"/>
                          </a:solidFill>
                          <a:latin typeface="Calibri" pitchFamily="34" charset="0"/>
                          <a:ea typeface="Calibri" pitchFamily="34" charset="-122"/>
                          <a:cs typeface="Calibri" pitchFamily="34" charset="-120"/>
                        </a:rPr>
                        <a:t>3</a:t>
                      </a:r>
                      <a:endParaRPr lang="en-US" sz="914" dirty="0">
                        <a:latin typeface="Calibri" charset="0"/>
                        <a:ea typeface="Calibri" charset="0"/>
                        <a:cs typeface="Calibri"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914" dirty="0">
                          <a:solidFill>
                            <a:srgbClr val="4A4A55"/>
                          </a:solidFill>
                          <a:latin typeface="Calibri" pitchFamily="34" charset="0"/>
                          <a:ea typeface="Calibri" pitchFamily="34" charset="-122"/>
                          <a:cs typeface="Calibri" pitchFamily="34" charset="-120"/>
                        </a:rPr>
                        <a:t>4</a:t>
                      </a:r>
                      <a:endParaRPr lang="en-US" sz="914" dirty="0">
                        <a:latin typeface="Calibri" charset="0"/>
                        <a:ea typeface="Calibri" charset="0"/>
                        <a:cs typeface="Calibri"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914" dirty="0">
                          <a:solidFill>
                            <a:srgbClr val="4A4A55"/>
                          </a:solidFill>
                          <a:latin typeface="Calibri" pitchFamily="34" charset="0"/>
                          <a:ea typeface="Calibri" pitchFamily="34" charset="-122"/>
                          <a:cs typeface="Calibri" pitchFamily="34" charset="-120"/>
                        </a:rPr>
                        <a:t>5</a:t>
                      </a:r>
                      <a:endParaRPr lang="en-US" sz="914" dirty="0">
                        <a:latin typeface="Calibri" charset="0"/>
                        <a:ea typeface="Calibri" charset="0"/>
                        <a:cs typeface="Calibri"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914" dirty="0">
                          <a:solidFill>
                            <a:srgbClr val="4A4A55"/>
                          </a:solidFill>
                          <a:latin typeface="Calibri" pitchFamily="34" charset="0"/>
                          <a:ea typeface="Calibri" pitchFamily="34" charset="-122"/>
                          <a:cs typeface="Calibri" pitchFamily="34" charset="-120"/>
                        </a:rPr>
                        <a:t>6</a:t>
                      </a:r>
                      <a:endParaRPr lang="en-US" sz="914" dirty="0">
                        <a:latin typeface="Calibri" charset="0"/>
                        <a:ea typeface="Calibri" charset="0"/>
                        <a:cs typeface="Calibri"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914" dirty="0">
                          <a:solidFill>
                            <a:srgbClr val="4A4A55"/>
                          </a:solidFill>
                          <a:latin typeface="Calibri" pitchFamily="34" charset="0"/>
                          <a:ea typeface="Calibri" pitchFamily="34" charset="-122"/>
                          <a:cs typeface="Calibri" pitchFamily="34" charset="-120"/>
                        </a:rPr>
                        <a:t>7</a:t>
                      </a:r>
                      <a:endParaRPr lang="en-US" sz="914" dirty="0">
                        <a:latin typeface="Calibri" charset="0"/>
                        <a:ea typeface="Calibri" charset="0"/>
                        <a:cs typeface="Calibri"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914" dirty="0">
                          <a:solidFill>
                            <a:srgbClr val="4A4A55"/>
                          </a:solidFill>
                          <a:latin typeface="Calibri" pitchFamily="34" charset="0"/>
                          <a:ea typeface="Calibri" pitchFamily="34" charset="-122"/>
                          <a:cs typeface="Calibri" pitchFamily="34" charset="-120"/>
                        </a:rPr>
                        <a:t>8</a:t>
                      </a:r>
                      <a:endParaRPr lang="en-US" sz="914" dirty="0">
                        <a:latin typeface="Calibri" charset="0"/>
                        <a:ea typeface="Calibri" charset="0"/>
                        <a:cs typeface="Calibri"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914" dirty="0">
                          <a:solidFill>
                            <a:srgbClr val="4A4A55"/>
                          </a:solidFill>
                          <a:latin typeface="Calibri" pitchFamily="34" charset="0"/>
                          <a:ea typeface="Calibri" pitchFamily="34" charset="-122"/>
                          <a:cs typeface="Calibri" pitchFamily="34" charset="-120"/>
                        </a:rPr>
                        <a:t>9</a:t>
                      </a:r>
                      <a:endParaRPr lang="en-US" sz="914" dirty="0">
                        <a:latin typeface="Calibri" charset="0"/>
                        <a:ea typeface="Calibri" charset="0"/>
                        <a:cs typeface="Calibri"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914" dirty="0">
                          <a:solidFill>
                            <a:srgbClr val="4A4A55"/>
                          </a:solidFill>
                          <a:latin typeface="Calibri" pitchFamily="34" charset="0"/>
                          <a:ea typeface="Calibri" pitchFamily="34" charset="-122"/>
                          <a:cs typeface="Calibri" pitchFamily="34" charset="-120"/>
                        </a:rPr>
                        <a:t>10</a:t>
                      </a:r>
                      <a:endParaRPr lang="en-US" sz="914" dirty="0">
                        <a:latin typeface="Calibri" charset="0"/>
                        <a:ea typeface="Calibri" charset="0"/>
                        <a:cs typeface="Calibri"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914" dirty="0">
                          <a:solidFill>
                            <a:srgbClr val="4A4A55"/>
                          </a:solidFill>
                          <a:latin typeface="Calibri" pitchFamily="34" charset="0"/>
                          <a:ea typeface="Calibri" pitchFamily="34" charset="-122"/>
                          <a:cs typeface="Calibri" pitchFamily="34" charset="-120"/>
                        </a:rPr>
                        <a:t>11</a:t>
                      </a:r>
                      <a:endParaRPr lang="en-US" sz="914" dirty="0">
                        <a:latin typeface="Calibri" charset="0"/>
                        <a:ea typeface="Calibri" charset="0"/>
                        <a:cs typeface="Calibri"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914" dirty="0">
                          <a:solidFill>
                            <a:srgbClr val="4A4A55"/>
                          </a:solidFill>
                          <a:latin typeface="Calibri" pitchFamily="34" charset="0"/>
                          <a:ea typeface="Calibri" pitchFamily="34" charset="-122"/>
                          <a:cs typeface="Calibri" pitchFamily="34" charset="-120"/>
                        </a:rPr>
                        <a:t>12</a:t>
                      </a:r>
                      <a:endParaRPr lang="en-US" sz="914" dirty="0">
                        <a:latin typeface="Calibri" charset="0"/>
                        <a:ea typeface="Calibri" charset="0"/>
                        <a:cs typeface="Calibri"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914" dirty="0">
                          <a:solidFill>
                            <a:srgbClr val="4A4A55"/>
                          </a:solidFill>
                          <a:latin typeface="Calibri" pitchFamily="34" charset="0"/>
                          <a:ea typeface="Calibri" pitchFamily="34" charset="-122"/>
                          <a:cs typeface="Calibri" pitchFamily="34" charset="-120"/>
                        </a:rPr>
                        <a:t>13</a:t>
                      </a:r>
                      <a:endParaRPr lang="en-US" sz="914" dirty="0">
                        <a:latin typeface="Calibri" charset="0"/>
                        <a:ea typeface="Calibri" charset="0"/>
                        <a:cs typeface="Calibri"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914" dirty="0">
                          <a:solidFill>
                            <a:srgbClr val="4A4A55"/>
                          </a:solidFill>
                          <a:latin typeface="Calibri" pitchFamily="34" charset="0"/>
                          <a:ea typeface="Calibri" pitchFamily="34" charset="-122"/>
                          <a:cs typeface="Calibri" pitchFamily="34" charset="-120"/>
                        </a:rPr>
                        <a:t>14</a:t>
                      </a:r>
                      <a:endParaRPr lang="en-US" sz="914" dirty="0">
                        <a:latin typeface="Calibri" charset="0"/>
                        <a:ea typeface="Calibri" charset="0"/>
                        <a:cs typeface="Calibri"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914" dirty="0">
                          <a:solidFill>
                            <a:srgbClr val="4A4A55"/>
                          </a:solidFill>
                          <a:latin typeface="Calibri" pitchFamily="34" charset="0"/>
                          <a:ea typeface="Calibri" pitchFamily="34" charset="-122"/>
                          <a:cs typeface="Calibri" pitchFamily="34" charset="-120"/>
                        </a:rPr>
                        <a:t>15</a:t>
                      </a:r>
                      <a:endParaRPr lang="en-US" sz="914" dirty="0">
                        <a:latin typeface="Calibri" charset="0"/>
                        <a:ea typeface="Calibri" charset="0"/>
                        <a:cs typeface="Calibri"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914" dirty="0">
                          <a:solidFill>
                            <a:srgbClr val="4A4A55"/>
                          </a:solidFill>
                          <a:latin typeface="Calibri" pitchFamily="34" charset="0"/>
                          <a:ea typeface="Calibri" pitchFamily="34" charset="-122"/>
                          <a:cs typeface="Calibri" pitchFamily="34" charset="-120"/>
                        </a:rPr>
                        <a:t>16</a:t>
                      </a:r>
                      <a:endParaRPr lang="en-US" sz="914" dirty="0">
                        <a:latin typeface="Calibri" charset="0"/>
                        <a:ea typeface="Calibri" charset="0"/>
                        <a:cs typeface="Calibri"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914" dirty="0">
                          <a:solidFill>
                            <a:srgbClr val="4A4A55"/>
                          </a:solidFill>
                          <a:latin typeface="Calibri" pitchFamily="34" charset="0"/>
                          <a:ea typeface="Calibri" pitchFamily="34" charset="-122"/>
                          <a:cs typeface="Calibri" pitchFamily="34" charset="-120"/>
                        </a:rPr>
                        <a:t>17</a:t>
                      </a:r>
                      <a:endParaRPr lang="en-US" sz="914" dirty="0">
                        <a:latin typeface="Calibri" charset="0"/>
                        <a:ea typeface="Calibri" charset="0"/>
                        <a:cs typeface="Calibri"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914" dirty="0">
                          <a:solidFill>
                            <a:srgbClr val="4A4A55"/>
                          </a:solidFill>
                          <a:latin typeface="Calibri" pitchFamily="34" charset="0"/>
                          <a:ea typeface="Calibri" pitchFamily="34" charset="-122"/>
                          <a:cs typeface="Calibri" pitchFamily="34" charset="-120"/>
                        </a:rPr>
                        <a:t>18</a:t>
                      </a:r>
                      <a:endParaRPr lang="en-US" sz="914" dirty="0">
                        <a:latin typeface="Calibri" charset="0"/>
                        <a:ea typeface="Calibri" charset="0"/>
                        <a:cs typeface="Calibri"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914" dirty="0">
                          <a:solidFill>
                            <a:srgbClr val="4A4A55"/>
                          </a:solidFill>
                          <a:latin typeface="Calibri" pitchFamily="34" charset="0"/>
                          <a:ea typeface="Calibri" pitchFamily="34" charset="-122"/>
                          <a:cs typeface="Calibri" pitchFamily="34" charset="-120"/>
                        </a:rPr>
                        <a:t>19</a:t>
                      </a:r>
                      <a:endParaRPr lang="en-US" sz="914" dirty="0">
                        <a:latin typeface="Calibri" charset="0"/>
                        <a:ea typeface="Calibri" charset="0"/>
                        <a:cs typeface="Calibri"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914" dirty="0">
                          <a:solidFill>
                            <a:srgbClr val="4A4A55"/>
                          </a:solidFill>
                          <a:latin typeface="Calibri" pitchFamily="34" charset="0"/>
                          <a:ea typeface="Calibri" pitchFamily="34" charset="-122"/>
                          <a:cs typeface="Calibri" pitchFamily="34" charset="-120"/>
                        </a:rPr>
                        <a:t>20</a:t>
                      </a:r>
                      <a:endParaRPr lang="en-US" sz="914" dirty="0">
                        <a:latin typeface="Calibri" charset="0"/>
                        <a:ea typeface="Calibri" charset="0"/>
                        <a:cs typeface="Calibri"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914" dirty="0">
                          <a:solidFill>
                            <a:srgbClr val="4A4A55"/>
                          </a:solidFill>
                          <a:latin typeface="Calibri" pitchFamily="34" charset="0"/>
                          <a:ea typeface="Calibri" pitchFamily="34" charset="-122"/>
                          <a:cs typeface="Calibri" pitchFamily="34" charset="-120"/>
                        </a:rPr>
                        <a:t>21</a:t>
                      </a:r>
                      <a:endParaRPr lang="en-US" sz="914" dirty="0">
                        <a:latin typeface="Calibri" charset="0"/>
                        <a:ea typeface="Calibri" charset="0"/>
                        <a:cs typeface="Calibri"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914" dirty="0">
                          <a:solidFill>
                            <a:srgbClr val="4A4A55"/>
                          </a:solidFill>
                          <a:latin typeface="Calibri" pitchFamily="34" charset="0"/>
                          <a:ea typeface="Calibri" pitchFamily="34" charset="-122"/>
                          <a:cs typeface="Calibri" pitchFamily="34" charset="-120"/>
                        </a:rPr>
                        <a:t>22</a:t>
                      </a:r>
                      <a:endParaRPr lang="en-US" sz="914" dirty="0">
                        <a:latin typeface="Calibri" charset="0"/>
                        <a:ea typeface="Calibri" charset="0"/>
                        <a:cs typeface="Calibri"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914" dirty="0">
                          <a:solidFill>
                            <a:srgbClr val="4A4A55"/>
                          </a:solidFill>
                          <a:latin typeface="Calibri" pitchFamily="34" charset="0"/>
                          <a:ea typeface="Calibri" pitchFamily="34" charset="-122"/>
                          <a:cs typeface="Calibri" pitchFamily="34" charset="-120"/>
                        </a:rPr>
                        <a:t>23</a:t>
                      </a:r>
                      <a:endParaRPr lang="en-US" sz="914" dirty="0">
                        <a:latin typeface="Calibri" charset="0"/>
                        <a:ea typeface="Calibri" charset="0"/>
                        <a:cs typeface="Calibri"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914" dirty="0">
                          <a:solidFill>
                            <a:srgbClr val="4A4A55"/>
                          </a:solidFill>
                          <a:latin typeface="Calibri" pitchFamily="34" charset="0"/>
                          <a:ea typeface="Calibri" pitchFamily="34" charset="-122"/>
                          <a:cs typeface="Calibri" pitchFamily="34" charset="-120"/>
                        </a:rPr>
                        <a:t>24</a:t>
                      </a:r>
                      <a:endParaRPr lang="en-US" sz="914" dirty="0">
                        <a:latin typeface="Calibri" charset="0"/>
                        <a:ea typeface="Calibri" charset="0"/>
                        <a:cs typeface="Calibri"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914" dirty="0">
                          <a:solidFill>
                            <a:srgbClr val="4A4A55"/>
                          </a:solidFill>
                          <a:latin typeface="Calibri" pitchFamily="34" charset="0"/>
                          <a:ea typeface="Calibri" pitchFamily="34" charset="-122"/>
                          <a:cs typeface="Calibri" pitchFamily="34" charset="-120"/>
                        </a:rPr>
                        <a:t>25</a:t>
                      </a:r>
                      <a:endParaRPr lang="en-US" sz="914" dirty="0">
                        <a:latin typeface="Calibri" charset="0"/>
                        <a:ea typeface="Calibri" charset="0"/>
                        <a:cs typeface="Calibri"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914" dirty="0">
                          <a:solidFill>
                            <a:srgbClr val="4A4A55"/>
                          </a:solidFill>
                          <a:latin typeface="Calibri" pitchFamily="34" charset="0"/>
                          <a:ea typeface="Calibri" pitchFamily="34" charset="-122"/>
                          <a:cs typeface="Calibri" pitchFamily="34" charset="-120"/>
                        </a:rPr>
                        <a:t>26</a:t>
                      </a:r>
                      <a:endParaRPr lang="en-US" sz="914" dirty="0">
                        <a:latin typeface="Calibri" charset="0"/>
                        <a:ea typeface="Calibri" charset="0"/>
                        <a:cs typeface="Calibri"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r>
              <a:tr h="0">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Z</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I</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F</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E</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R</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A</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B</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C</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D</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H</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J</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K</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L</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M</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N</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P</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Q</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S</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T</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U</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V</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Y</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2243094"/>
            <a:ext cx="7315200" cy="1409192"/>
          </a:xfrm>
          <a:prstGeom prst="rect">
            <a:avLst/>
          </a:prstGeom>
          <a:noFill/>
          <a:ln/>
        </p:spPr>
        <p:txBody>
          <a:bodyPr wrap="square" lIns="0" tIns="0" rIns="0" bIns="0" rtlCol="0" anchor="t"/>
          <a:lstStyle/>
          <a:p>
            <a:pPr algn="l" indent="0" marL="0">
              <a:buNone/>
            </a:pPr>
            <a:r>
              <a:rPr lang="en-US" sz="2200" dirty="0">
                <a:solidFill>
                  <a:srgbClr val="1B1B1F"/>
                </a:solidFill>
              </a:rPr>
              <a:t>Klartext: „Die neue Abschrift der Sternentafeln ist fertig. Ich habe sie in einer Kiste unter den Büchern … Verbrenne diesen Brief, sobald du ihn gelesen hast.“</a:t>
            </a:r>
            <a:endParaRPr lang="en-US" sz="2200" dirty="0"/>
          </a:p>
        </p:txBody>
      </p:sp>
      <p:sp>
        <p:nvSpPr>
          <p:cNvPr id="5" name="Text 2"/>
          <p:cNvSpPr txBox="1"/>
          <p:nvPr/>
        </p:nvSpPr>
        <p:spPr>
          <a:xfrm>
            <a:off x="548640" y="3780302"/>
            <a:ext cx="7315200" cy="727456"/>
          </a:xfrm>
          <a:prstGeom prst="rect">
            <a:avLst/>
          </a:prstGeom>
          <a:noFill/>
          <a:ln/>
        </p:spPr>
        <p:txBody>
          <a:bodyPr wrap="square" lIns="0" tIns="0" rIns="0" bIns="0" rtlCol="0" anchor="t"/>
          <a:lstStyle/>
          <a:p>
            <a:pPr algn="l" indent="0" marL="0">
              <a:buNone/>
            </a:pPr>
            <a:r>
              <a:rPr lang="en-US" sz="2200" dirty="0">
                <a:solidFill>
                  <a:srgbClr val="1B1B1F"/>
                </a:solidFill>
              </a:rPr>
              <a:t>j, q, x, y kommen im Brief nicht vor → Lücken · Z I F E R … → Schlüsselwort </a:t>
            </a:r>
            <a:r>
              <a:rPr lang="en-US" sz="2200" b="1" dirty="0">
                <a:solidFill>
                  <a:srgbClr val="1B1B1F"/>
                </a:solidFill>
              </a:rPr>
              <a:t>ZIFFER</a:t>
            </a:r>
            <a:r>
              <a:rPr lang="en-US" sz="2200" dirty="0">
                <a:solidFill>
                  <a:srgbClr val="1B1B1F"/>
                </a:solidFill>
              </a:rPr>
              <a:t>, Rest </a:t>
            </a:r>
            <a:r>
              <a:rPr lang="en-US" sz="2200" b="1" dirty="0">
                <a:solidFill>
                  <a:srgbClr val="1B1B1F"/>
                </a:solidFill>
              </a:rPr>
              <a:t>G, O, W, X</a:t>
            </a:r>
            <a:endParaRPr lang="en-US" sz="2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Warum das funktioniert – und so erläuterst du es</a:t>
            </a:r>
            <a:endParaRPr lang="en-US" sz="3000" dirty="0"/>
          </a:p>
        </p:txBody>
      </p:sp>
      <p:sp>
        <p:nvSpPr>
          <p:cNvPr id="3" name="Text 1"/>
          <p:cNvSpPr txBox="1"/>
          <p:nvPr/>
        </p:nvSpPr>
        <p:spPr>
          <a:xfrm>
            <a:off x="548640" y="1325880"/>
            <a:ext cx="4308653" cy="2884932"/>
          </a:xfrm>
          <a:prstGeom prst="rect">
            <a:avLst/>
          </a:prstGeom>
          <a:noFill/>
          <a:ln/>
        </p:spPr>
        <p:txBody>
          <a:bodyPr wrap="square" lIns="0" tIns="0" rIns="0" bIns="0" rtlCol="0" anchor="t"/>
          <a:lstStyle/>
          <a:p>
            <a:pPr marL="279400" indent="-279400">
              <a:spcAft>
                <a:spcPts val="600"/>
              </a:spcAft>
              <a:buSzPct val="100000"/>
              <a:buChar char="●"/>
            </a:pPr>
            <a:r>
              <a:rPr lang="en-US" sz="1800" dirty="0">
                <a:solidFill>
                  <a:srgbClr val="1B1B1F"/>
                </a:solidFill>
              </a:rPr>
              <a:t>Monoalphabetisch: Jeder Klartextbuchstabe wird </a:t>
            </a:r>
            <a:r>
              <a:rPr lang="en-US" sz="1800" b="1" dirty="0">
                <a:solidFill>
                  <a:srgbClr val="1B1B1F"/>
                </a:solidFill>
              </a:rPr>
              <a:t>immer gleich</a:t>
            </a:r>
            <a:r>
              <a:rPr lang="en-US" sz="1800" dirty="0">
                <a:solidFill>
                  <a:srgbClr val="1B1B1F"/>
                </a:solidFill>
              </a:rPr>
              <a:t> ersetzt</a:t>
            </a:r>
            <a:endParaRPr lang="en-US" sz="1800" dirty="0"/>
          </a:p>
          <a:p>
            <a:pPr marL="279400" indent="-279400">
              <a:spcAft>
                <a:spcPts val="600"/>
              </a:spcAft>
              <a:buSzPct val="100000"/>
              <a:buChar char="●"/>
            </a:pPr>
            <a:r>
              <a:rPr lang="en-US" sz="1800" dirty="0">
                <a:solidFill>
                  <a:srgbClr val="1B1B1F"/>
                </a:solidFill>
              </a:rPr>
              <a:t>Die </a:t>
            </a:r>
            <a:r>
              <a:rPr lang="en-US" sz="1800" b="1" dirty="0">
                <a:solidFill>
                  <a:srgbClr val="1B1B1F"/>
                </a:solidFill>
              </a:rPr>
              <a:t>Häufigkeitsverteilung</a:t>
            </a:r>
            <a:r>
              <a:rPr lang="en-US" sz="1800" dirty="0">
                <a:solidFill>
                  <a:srgbClr val="1B1B1F"/>
                </a:solidFill>
              </a:rPr>
              <a:t> der Sprache bleibt erhalten – nur die Buchstaben tragen andere Namen</a:t>
            </a:r>
            <a:endParaRPr lang="en-US" sz="1800" dirty="0"/>
          </a:p>
          <a:p>
            <a:pPr marL="279400" indent="-279400">
              <a:spcAft>
                <a:spcPts val="600"/>
              </a:spcAft>
              <a:buSzPct val="100000"/>
              <a:buChar char="●"/>
            </a:pPr>
            <a:r>
              <a:rPr lang="en-US" sz="1800" dirty="0">
                <a:solidFill>
                  <a:srgbClr val="1B1B1F"/>
                </a:solidFill>
              </a:rPr>
              <a:t>Voraussetzungen: </a:t>
            </a:r>
            <a:r>
              <a:rPr lang="en-US" sz="1800" b="1" dirty="0">
                <a:solidFill>
                  <a:srgbClr val="1B1B1F"/>
                </a:solidFill>
              </a:rPr>
              <a:t>genug Text</a:t>
            </a:r>
            <a:r>
              <a:rPr lang="en-US" sz="1800" dirty="0">
                <a:solidFill>
                  <a:srgbClr val="1B1B1F"/>
                </a:solidFill>
              </a:rPr>
              <a:t>, </a:t>
            </a:r>
            <a:r>
              <a:rPr lang="en-US" sz="1800" b="1" dirty="0">
                <a:solidFill>
                  <a:srgbClr val="1B1B1F"/>
                </a:solidFill>
              </a:rPr>
              <a:t>Sprache bekannt</a:t>
            </a:r>
            <a:endParaRPr lang="en-US" sz="1800" dirty="0"/>
          </a:p>
          <a:p>
            <a:pPr marL="279400" indent="-279400">
              <a:spcAft>
                <a:spcPts val="600"/>
              </a:spcAft>
              <a:buSzPct val="100000"/>
              <a:buChar char="●"/>
            </a:pPr>
            <a:r>
              <a:rPr lang="en-US" sz="1800" dirty="0">
                <a:solidFill>
                  <a:srgbClr val="1B1B1F"/>
                </a:solidFill>
              </a:rPr>
              <a:t>Großer Schlüsselraum ist </a:t>
            </a:r>
            <a:r>
              <a:rPr lang="en-US" sz="1800" b="1" dirty="0">
                <a:solidFill>
                  <a:srgbClr val="1B1B1F"/>
                </a:solidFill>
              </a:rPr>
              <a:t>notwendig, aber nicht hinreichend</a:t>
            </a:r>
            <a:endParaRPr lang="en-US" sz="1800" dirty="0"/>
          </a:p>
        </p:txBody>
      </p:sp>
      <p:sp>
        <p:nvSpPr>
          <p:cNvPr id="4" name="Shape 2"/>
          <p:cNvSpPr/>
          <p:nvPr/>
        </p:nvSpPr>
        <p:spPr>
          <a:xfrm>
            <a:off x="5223053" y="1325880"/>
            <a:ext cx="2640787" cy="4586224"/>
          </a:xfrm>
          <a:prstGeom prst="roundRect">
            <a:avLst>
              <a:gd name="adj" fmla="val 2770"/>
            </a:avLst>
          </a:prstGeom>
          <a:solidFill>
            <a:srgbClr val="FBF3E2"/>
          </a:solidFill>
          <a:ln w="12700">
            <a:solidFill>
              <a:srgbClr val="8A5F1A"/>
            </a:solidFill>
            <a:prstDash val="solid"/>
          </a:ln>
        </p:spPr>
      </p:sp>
      <p:sp>
        <p:nvSpPr>
          <p:cNvPr id="5" name="Text 3"/>
          <p:cNvSpPr txBox="1"/>
          <p:nvPr/>
        </p:nvSpPr>
        <p:spPr>
          <a:xfrm>
            <a:off x="5451653" y="1435608"/>
            <a:ext cx="2183587" cy="274320"/>
          </a:xfrm>
          <a:prstGeom prst="rect">
            <a:avLst/>
          </a:prstGeom>
          <a:noFill/>
          <a:ln/>
        </p:spPr>
        <p:txBody>
          <a:bodyPr wrap="square" lIns="0" tIns="0" rIns="0" bIns="0" rtlCol="0" anchor="ctr"/>
          <a:lstStyle/>
          <a:p>
            <a:pPr indent="0" marL="0">
              <a:buNone/>
            </a:pPr>
            <a:r>
              <a:rPr lang="en-US" sz="1300" b="1" spc="200" kern="0" dirty="0">
                <a:solidFill>
                  <a:srgbClr val="8A5F1A"/>
                </a:solidFill>
              </a:rPr>
              <a:t>MUSTERSATZ (ERLÄUTERN)</a:t>
            </a:r>
            <a:endParaRPr lang="en-US" sz="1300" dirty="0"/>
          </a:p>
        </p:txBody>
      </p:sp>
      <p:sp>
        <p:nvSpPr>
          <p:cNvPr id="6" name="Text 4"/>
          <p:cNvSpPr txBox="1"/>
          <p:nvPr/>
        </p:nvSpPr>
        <p:spPr>
          <a:xfrm>
            <a:off x="5451653" y="1783080"/>
            <a:ext cx="2183587" cy="1533144"/>
          </a:xfrm>
          <a:prstGeom prst="rect">
            <a:avLst/>
          </a:prstGeom>
          <a:noFill/>
          <a:ln/>
        </p:spPr>
        <p:txBody>
          <a:bodyPr wrap="square" lIns="0" tIns="0" rIns="0" bIns="0" rtlCol="0" anchor="t"/>
          <a:lstStyle/>
          <a:p>
            <a:pPr algn="l" indent="0" marL="0">
              <a:buNone/>
            </a:pPr>
            <a:r>
              <a:rPr lang="en-US" sz="1600" dirty="0">
                <a:solidFill>
                  <a:srgbClr val="1B1B1F"/>
                </a:solidFill>
              </a:rPr>
              <a:t>Man zählt die Geheimtextbuchstaben und ordnet sie den häufigsten Buchstaben der Sprache zu (z. B. häufigster → e).</a:t>
            </a:r>
            <a:endParaRPr lang="en-US" sz="1600" dirty="0"/>
          </a:p>
        </p:txBody>
      </p:sp>
      <p:sp>
        <p:nvSpPr>
          <p:cNvPr id="7" name="Text 5"/>
          <p:cNvSpPr txBox="1"/>
          <p:nvPr/>
        </p:nvSpPr>
        <p:spPr>
          <a:xfrm>
            <a:off x="5451653" y="3444240"/>
            <a:ext cx="2183587" cy="1285240"/>
          </a:xfrm>
          <a:prstGeom prst="rect">
            <a:avLst/>
          </a:prstGeom>
          <a:noFill/>
          <a:ln/>
        </p:spPr>
        <p:txBody>
          <a:bodyPr wrap="square" lIns="0" tIns="0" rIns="0" bIns="0" rtlCol="0" anchor="t"/>
          <a:lstStyle/>
          <a:p>
            <a:pPr algn="l" indent="0" marL="0">
              <a:buNone/>
            </a:pPr>
            <a:r>
              <a:rPr lang="en-US" sz="1600" dirty="0">
                <a:solidFill>
                  <a:srgbClr val="1B1B1F"/>
                </a:solidFill>
              </a:rPr>
              <a:t>Das gelingt, weil bei einer monoalphabetischen Substitution jeder Buchstabe immer gleich ersetzt wird.</a:t>
            </a:r>
            <a:endParaRPr lang="en-US" sz="1600" dirty="0"/>
          </a:p>
        </p:txBody>
      </p:sp>
      <p:sp>
        <p:nvSpPr>
          <p:cNvPr id="8" name="Text 6"/>
          <p:cNvSpPr txBox="1"/>
          <p:nvPr/>
        </p:nvSpPr>
        <p:spPr>
          <a:xfrm>
            <a:off x="5451653" y="4857496"/>
            <a:ext cx="2183587" cy="789432"/>
          </a:xfrm>
          <a:prstGeom prst="rect">
            <a:avLst/>
          </a:prstGeom>
          <a:noFill/>
          <a:ln/>
        </p:spPr>
        <p:txBody>
          <a:bodyPr wrap="square" lIns="0" tIns="0" rIns="0" bIns="0" rtlCol="0" anchor="t"/>
          <a:lstStyle/>
          <a:p>
            <a:pPr algn="l" indent="0" marL="0">
              <a:buNone/>
            </a:pPr>
            <a:r>
              <a:rPr lang="en-US" sz="1600" dirty="0">
                <a:solidFill>
                  <a:srgbClr val="1B1B1F"/>
                </a:solidFill>
              </a:rPr>
              <a:t>Paare, häufige Wörter und der Kontext bestätigen die Zuordnung.</a:t>
            </a:r>
            <a:endParaRPr lang="en-US" sz="16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Falle P6 · Häufigkeitsanalyse pauschal</a:t>
            </a:r>
            <a:endParaRPr lang="en-US" sz="3000" dirty="0"/>
          </a:p>
        </p:txBody>
      </p:sp>
      <p:sp>
        <p:nvSpPr>
          <p:cNvPr id="3" name="Text 1"/>
          <p:cNvSpPr txBox="1"/>
          <p:nvPr/>
        </p:nvSpPr>
        <p:spPr>
          <a:xfrm>
            <a:off x="548640" y="1325880"/>
            <a:ext cx="7315200" cy="711200"/>
          </a:xfrm>
          <a:prstGeom prst="rect">
            <a:avLst/>
          </a:prstGeom>
          <a:noFill/>
          <a:ln/>
        </p:spPr>
        <p:txBody>
          <a:bodyPr wrap="square" lIns="0" tIns="0" rIns="0" bIns="0" rtlCol="0" anchor="t"/>
          <a:lstStyle/>
          <a:p>
            <a:pPr indent="0" marL="0">
              <a:buNone/>
            </a:pPr>
            <a:r>
              <a:rPr lang="en-US" sz="2000" dirty="0">
                <a:solidFill>
                  <a:srgbClr val="1B1B1F"/>
                </a:solidFill>
              </a:rPr>
              <a:t>Immer sagen, welche Häufigkeiten (Einzelbuchstaben, Teiltexte, Paare) und unter welchen Voraussetzungen.</a:t>
            </a:r>
            <a:endParaRPr lang="en-US" sz="2000" dirty="0"/>
          </a:p>
        </p:txBody>
      </p:sp>
      <p:sp>
        <p:nvSpPr>
          <p:cNvPr id="4" name="Shape 2"/>
          <p:cNvSpPr/>
          <p:nvPr/>
        </p:nvSpPr>
        <p:spPr>
          <a:xfrm>
            <a:off x="548640" y="2219960"/>
            <a:ext cx="3474720" cy="3952240"/>
          </a:xfrm>
          <a:prstGeom prst="roundRect">
            <a:avLst>
              <a:gd name="adj" fmla="val 2105"/>
            </a:avLst>
          </a:prstGeom>
          <a:solidFill>
            <a:srgbClr val="FDF3F2"/>
          </a:solidFill>
          <a:ln w="15875">
            <a:solidFill>
              <a:srgbClr val="B3261E"/>
            </a:solidFill>
            <a:prstDash val="solid"/>
          </a:ln>
        </p:spPr>
      </p:sp>
      <p:sp>
        <p:nvSpPr>
          <p:cNvPr id="5" name="Text 3"/>
          <p:cNvSpPr txBox="1"/>
          <p:nvPr/>
        </p:nvSpPr>
        <p:spPr>
          <a:xfrm>
            <a:off x="822960" y="2402840"/>
            <a:ext cx="2926080" cy="365760"/>
          </a:xfrm>
          <a:prstGeom prst="rect">
            <a:avLst/>
          </a:prstGeom>
          <a:noFill/>
          <a:ln/>
        </p:spPr>
        <p:txBody>
          <a:bodyPr wrap="square" lIns="0" tIns="0" rIns="0" bIns="0" rtlCol="0" anchor="ctr"/>
          <a:lstStyle/>
          <a:p>
            <a:pPr indent="0" marL="0">
              <a:buNone/>
            </a:pPr>
            <a:r>
              <a:rPr lang="en-US" sz="1800" b="1" spc="200" kern="0" dirty="0">
                <a:solidFill>
                  <a:srgbClr val="B3261E"/>
                </a:solidFill>
              </a:rPr>
              <a:t>SO NICHT  ✗</a:t>
            </a:r>
            <a:endParaRPr lang="en-US" sz="1800" dirty="0"/>
          </a:p>
        </p:txBody>
      </p:sp>
      <p:sp>
        <p:nvSpPr>
          <p:cNvPr id="6" name="Text 4"/>
          <p:cNvSpPr txBox="1"/>
          <p:nvPr/>
        </p:nvSpPr>
        <p:spPr>
          <a:xfrm>
            <a:off x="822960" y="2905760"/>
            <a:ext cx="2926080" cy="975360"/>
          </a:xfrm>
          <a:prstGeom prst="rect">
            <a:avLst/>
          </a:prstGeom>
          <a:noFill/>
          <a:ln/>
        </p:spPr>
        <p:txBody>
          <a:bodyPr wrap="square" lIns="0" tIns="0" rIns="0" bIns="0" rtlCol="0" anchor="t"/>
          <a:lstStyle/>
          <a:p>
            <a:pPr algn="l" indent="0" marL="0">
              <a:buNone/>
            </a:pPr>
            <a:r>
              <a:rPr lang="en-US" sz="2000" dirty="0">
                <a:solidFill>
                  <a:srgbClr val="1B1B1F"/>
                </a:solidFill>
              </a:rPr>
              <a:t>„Mit der Häufigkeitsanalyse kann man jedes Verfahren knacken.“</a:t>
            </a:r>
            <a:endParaRPr lang="en-US" sz="2000" dirty="0"/>
          </a:p>
        </p:txBody>
      </p:sp>
      <p:sp>
        <p:nvSpPr>
          <p:cNvPr id="7" name="Text 5"/>
          <p:cNvSpPr txBox="1"/>
          <p:nvPr/>
        </p:nvSpPr>
        <p:spPr>
          <a:xfrm>
            <a:off x="822960" y="4009136"/>
            <a:ext cx="2926080" cy="1285240"/>
          </a:xfrm>
          <a:prstGeom prst="rect">
            <a:avLst/>
          </a:prstGeom>
          <a:noFill/>
          <a:ln/>
        </p:spPr>
        <p:txBody>
          <a:bodyPr wrap="square" lIns="0" tIns="0" rIns="0" bIns="0" rtlCol="0" anchor="t"/>
          <a:lstStyle/>
          <a:p>
            <a:pPr algn="l" indent="0" marL="0">
              <a:buNone/>
            </a:pPr>
            <a:r>
              <a:rPr lang="en-US" sz="2000" dirty="0">
                <a:solidFill>
                  <a:srgbClr val="1B1B1F"/>
                </a:solidFill>
              </a:rPr>
              <a:t>Kurzer Text </a:t>
            </a:r>
            <a:r>
              <a:rPr lang="en-US" sz="2000" dirty="0">
                <a:solidFill>
                  <a:srgbClr val="1B1B1F"/>
                </a:solidFill>
                <a:latin typeface="Consolas" pitchFamily="34" charset="0"/>
                <a:ea typeface="Consolas" pitchFamily="34" charset="-122"/>
                <a:cs typeface="Consolas" pitchFamily="34" charset="-120"/>
              </a:rPr>
              <a:t>ZXKLL VATQZ GSHXA TTKT</a:t>
            </a:r>
            <a:r>
              <a:rPr lang="en-US" sz="2000" dirty="0">
                <a:solidFill>
                  <a:srgbClr val="1B1B1F"/>
                </a:solidFill>
              </a:rPr>
              <a:t>: T am häufigsten → T = e → k = 15 → </a:t>
            </a:r>
            <a:r>
              <a:rPr lang="en-US" sz="2000" dirty="0">
                <a:solidFill>
                  <a:srgbClr val="1B1B1F"/>
                </a:solidFill>
                <a:latin typeface="Consolas" pitchFamily="34" charset="0"/>
                <a:ea typeface="Consolas" pitchFamily="34" charset="-122"/>
                <a:cs typeface="Consolas" pitchFamily="34" charset="-120"/>
              </a:rPr>
              <a:t>kivwwglebk…</a:t>
            </a:r>
            <a:endParaRPr lang="en-US" sz="2000" dirty="0"/>
          </a:p>
        </p:txBody>
      </p:sp>
      <p:sp>
        <p:nvSpPr>
          <p:cNvPr id="8" name="Shape 6"/>
          <p:cNvSpPr/>
          <p:nvPr/>
        </p:nvSpPr>
        <p:spPr>
          <a:xfrm>
            <a:off x="4389120" y="2219960"/>
            <a:ext cx="3474720" cy="3952240"/>
          </a:xfrm>
          <a:prstGeom prst="roundRect">
            <a:avLst>
              <a:gd name="adj" fmla="val 2105"/>
            </a:avLst>
          </a:prstGeom>
          <a:solidFill>
            <a:srgbClr val="EEF6EE"/>
          </a:solidFill>
          <a:ln w="15875">
            <a:solidFill>
              <a:srgbClr val="2E7D32"/>
            </a:solidFill>
            <a:prstDash val="solid"/>
          </a:ln>
        </p:spPr>
      </p:sp>
      <p:sp>
        <p:nvSpPr>
          <p:cNvPr id="9" name="Text 7"/>
          <p:cNvSpPr txBox="1"/>
          <p:nvPr/>
        </p:nvSpPr>
        <p:spPr>
          <a:xfrm>
            <a:off x="4663440" y="2402840"/>
            <a:ext cx="2926080" cy="365760"/>
          </a:xfrm>
          <a:prstGeom prst="rect">
            <a:avLst/>
          </a:prstGeom>
          <a:noFill/>
          <a:ln/>
        </p:spPr>
        <p:txBody>
          <a:bodyPr wrap="square" lIns="0" tIns="0" rIns="0" bIns="0" rtlCol="0" anchor="ctr"/>
          <a:lstStyle/>
          <a:p>
            <a:pPr indent="0" marL="0">
              <a:buNone/>
            </a:pPr>
            <a:r>
              <a:rPr lang="en-US" sz="1800" b="1" spc="200" kern="0" dirty="0">
                <a:solidFill>
                  <a:srgbClr val="2E7D32"/>
                </a:solidFill>
              </a:rPr>
              <a:t>SO RICHTIG  ✓</a:t>
            </a:r>
            <a:endParaRPr lang="en-US" sz="1800" dirty="0"/>
          </a:p>
        </p:txBody>
      </p:sp>
      <p:sp>
        <p:nvSpPr>
          <p:cNvPr id="10" name="Text 8"/>
          <p:cNvSpPr txBox="1"/>
          <p:nvPr/>
        </p:nvSpPr>
        <p:spPr>
          <a:xfrm>
            <a:off x="4663440" y="2905760"/>
            <a:ext cx="2926080" cy="541528"/>
          </a:xfrm>
          <a:prstGeom prst="rect">
            <a:avLst/>
          </a:prstGeom>
          <a:noFill/>
          <a:ln/>
        </p:spPr>
        <p:txBody>
          <a:bodyPr wrap="square" lIns="0" tIns="0" rIns="0" bIns="0" rtlCol="0" anchor="t"/>
          <a:lstStyle/>
          <a:p>
            <a:pPr algn="l" indent="0" marL="0">
              <a:buNone/>
            </a:pPr>
            <a:r>
              <a:rPr lang="en-US" sz="1600" dirty="0">
                <a:solidFill>
                  <a:srgbClr val="1B1B1F"/>
                </a:solidFill>
              </a:rPr>
              <a:t>Kurze Texte: unzuverlässig – hier steht T für </a:t>
            </a:r>
            <a:r>
              <a:rPr lang="en-US" sz="1600" b="1" dirty="0">
                <a:solidFill>
                  <a:srgbClr val="1B1B1F"/>
                </a:solidFill>
              </a:rPr>
              <a:t>n</a:t>
            </a:r>
            <a:r>
              <a:rPr lang="en-US" sz="1600" dirty="0">
                <a:solidFill>
                  <a:srgbClr val="1B1B1F"/>
                </a:solidFill>
              </a:rPr>
              <a:t> (k = 6)</a:t>
            </a:r>
            <a:endParaRPr lang="en-US" sz="1600" dirty="0"/>
          </a:p>
        </p:txBody>
      </p:sp>
      <p:sp>
        <p:nvSpPr>
          <p:cNvPr id="11" name="Text 9"/>
          <p:cNvSpPr txBox="1"/>
          <p:nvPr/>
        </p:nvSpPr>
        <p:spPr>
          <a:xfrm>
            <a:off x="4663440" y="3575304"/>
            <a:ext cx="2926080" cy="789432"/>
          </a:xfrm>
          <a:prstGeom prst="rect">
            <a:avLst/>
          </a:prstGeom>
          <a:noFill/>
          <a:ln/>
        </p:spPr>
        <p:txBody>
          <a:bodyPr wrap="square" lIns="0" tIns="0" rIns="0" bIns="0" rtlCol="0" anchor="t"/>
          <a:lstStyle/>
          <a:p>
            <a:pPr algn="l" indent="0" marL="0">
              <a:buNone/>
            </a:pPr>
            <a:r>
              <a:rPr lang="en-US" sz="1600" dirty="0">
                <a:solidFill>
                  <a:srgbClr val="1B1B1F"/>
                </a:solidFill>
              </a:rPr>
              <a:t>Transposition: Verteilung bleibt </a:t>
            </a:r>
            <a:r>
              <a:rPr lang="en-US" sz="1600" b="1" dirty="0">
                <a:solidFill>
                  <a:srgbClr val="1B1B1F"/>
                </a:solidFill>
              </a:rPr>
              <a:t>gleich</a:t>
            </a:r>
            <a:r>
              <a:rPr lang="en-US" sz="1600" dirty="0">
                <a:solidFill>
                  <a:srgbClr val="1B1B1F"/>
                </a:solidFill>
              </a:rPr>
              <a:t> → Verfahrenstyp erkennbar, Schlüssel nicht</a:t>
            </a:r>
            <a:endParaRPr lang="en-US" sz="1600" dirty="0"/>
          </a:p>
        </p:txBody>
      </p:sp>
      <p:sp>
        <p:nvSpPr>
          <p:cNvPr id="12" name="Text 10"/>
          <p:cNvSpPr txBox="1"/>
          <p:nvPr/>
        </p:nvSpPr>
        <p:spPr>
          <a:xfrm>
            <a:off x="4663440" y="4492752"/>
            <a:ext cx="2926080" cy="789432"/>
          </a:xfrm>
          <a:prstGeom prst="rect">
            <a:avLst/>
          </a:prstGeom>
          <a:noFill/>
          <a:ln/>
        </p:spPr>
        <p:txBody>
          <a:bodyPr wrap="square" lIns="0" tIns="0" rIns="0" bIns="0" rtlCol="0" anchor="t"/>
          <a:lstStyle/>
          <a:p>
            <a:pPr algn="l" indent="0" marL="0">
              <a:buNone/>
            </a:pPr>
            <a:r>
              <a:rPr lang="en-US" sz="1600" dirty="0">
                <a:solidFill>
                  <a:srgbClr val="1B1B1F"/>
                </a:solidFill>
              </a:rPr>
              <a:t>Polyalphabetisch: Verteilung </a:t>
            </a:r>
            <a:r>
              <a:rPr lang="en-US" sz="1600" b="1" dirty="0">
                <a:solidFill>
                  <a:srgbClr val="1B1B1F"/>
                </a:solidFill>
              </a:rPr>
              <a:t>verwischt</a:t>
            </a:r>
            <a:r>
              <a:rPr lang="en-US" sz="1600" dirty="0">
                <a:solidFill>
                  <a:srgbClr val="1B1B1F"/>
                </a:solidFill>
              </a:rPr>
              <a:t> → erst Teiltexte bilden (Video 03)</a:t>
            </a:r>
            <a:endParaRPr lang="en-US" sz="1600" dirty="0"/>
          </a:p>
        </p:txBody>
      </p:sp>
      <p:sp>
        <p:nvSpPr>
          <p:cNvPr id="13" name="Text 11"/>
          <p:cNvSpPr txBox="1"/>
          <p:nvPr/>
        </p:nvSpPr>
        <p:spPr>
          <a:xfrm>
            <a:off x="4663440" y="5410200"/>
            <a:ext cx="2926080" cy="541528"/>
          </a:xfrm>
          <a:prstGeom prst="rect">
            <a:avLst/>
          </a:prstGeom>
          <a:noFill/>
          <a:ln/>
        </p:spPr>
        <p:txBody>
          <a:bodyPr wrap="square" lIns="0" tIns="0" rIns="0" bIns="0" rtlCol="0" anchor="t"/>
          <a:lstStyle/>
          <a:p>
            <a:pPr algn="l" indent="0" marL="0">
              <a:buNone/>
            </a:pPr>
            <a:r>
              <a:rPr lang="en-US" sz="1600" dirty="0">
                <a:solidFill>
                  <a:srgbClr val="1B1B1F"/>
                </a:solidFill>
              </a:rPr>
              <a:t>Bigramm-Ersetzung: </a:t>
            </a:r>
            <a:r>
              <a:rPr lang="en-US" sz="1600" b="1" dirty="0">
                <a:solidFill>
                  <a:srgbClr val="1B1B1F"/>
                </a:solidFill>
              </a:rPr>
              <a:t>Paare</a:t>
            </a:r>
            <a:r>
              <a:rPr lang="en-US" sz="1600" dirty="0">
                <a:solidFill>
                  <a:srgbClr val="1B1B1F"/>
                </a:solidFill>
              </a:rPr>
              <a:t> zählen statt Einzelbuchstaben</a:t>
            </a:r>
            <a:endParaRPr lang="en-US" sz="16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Gegenmittel: Wie verwischt man die Spuren?</a:t>
            </a:r>
            <a:endParaRPr lang="en-US" sz="3000" dirty="0"/>
          </a:p>
        </p:txBody>
      </p:sp>
      <p:sp>
        <p:nvSpPr>
          <p:cNvPr id="3" name="Text 1"/>
          <p:cNvSpPr txBox="1"/>
          <p:nvPr/>
        </p:nvSpPr>
        <p:spPr>
          <a:xfrm>
            <a:off x="548640" y="1325880"/>
            <a:ext cx="4308653" cy="4403344"/>
          </a:xfrm>
          <a:prstGeom prst="rect">
            <a:avLst/>
          </a:prstGeom>
          <a:noFill/>
          <a:ln/>
        </p:spPr>
        <p:txBody>
          <a:bodyPr wrap="square" lIns="0" tIns="0" rIns="0" bIns="0" rtlCol="0" anchor="t"/>
          <a:lstStyle/>
          <a:p>
            <a:pPr marL="279400" indent="-279400">
              <a:spcAft>
                <a:spcPts val="600"/>
              </a:spcAft>
              <a:buSzPct val="100000"/>
              <a:buChar char="●"/>
            </a:pPr>
            <a:r>
              <a:rPr lang="en-US" sz="2000" b="1" dirty="0">
                <a:solidFill>
                  <a:srgbClr val="1B1B1F"/>
                </a:solidFill>
              </a:rPr>
              <a:t>Homophone</a:t>
            </a:r>
            <a:r>
              <a:rPr lang="en-US" sz="2000" dirty="0">
                <a:solidFill>
                  <a:srgbClr val="1B1B1F"/>
                </a:solidFill>
              </a:rPr>
              <a:t> Chiffre: häufige Buchstaben bekommen </a:t>
            </a:r>
            <a:r>
              <a:rPr lang="en-US" sz="2000" b="1" dirty="0">
                <a:solidFill>
                  <a:srgbClr val="1B1B1F"/>
                </a:solidFill>
              </a:rPr>
              <a:t>mehrere</a:t>
            </a:r>
            <a:r>
              <a:rPr lang="en-US" sz="2000" dirty="0">
                <a:solidFill>
                  <a:srgbClr val="1B1B1F"/>
                </a:solidFill>
              </a:rPr>
              <a:t> Geheimzeichen → Verteilung wird flacher</a:t>
            </a:r>
            <a:endParaRPr lang="en-US" sz="2000" dirty="0"/>
          </a:p>
          <a:p>
            <a:pPr marL="279400" indent="-279400">
              <a:spcAft>
                <a:spcPts val="600"/>
              </a:spcAft>
              <a:buSzPct val="100000"/>
              <a:buChar char="●"/>
            </a:pPr>
            <a:r>
              <a:rPr lang="en-US" sz="2000" b="1" dirty="0">
                <a:solidFill>
                  <a:srgbClr val="1B1B1F"/>
                </a:solidFill>
              </a:rPr>
              <a:t>Bigramm-Substitution</a:t>
            </a:r>
            <a:r>
              <a:rPr lang="en-US" sz="2000" dirty="0">
                <a:solidFill>
                  <a:srgbClr val="1B1B1F"/>
                </a:solidFill>
              </a:rPr>
              <a:t> (z. B. Playfair): </a:t>
            </a:r>
            <a:r>
              <a:rPr lang="en-US" sz="2000" b="1" dirty="0">
                <a:solidFill>
                  <a:srgbClr val="1B1B1F"/>
                </a:solidFill>
              </a:rPr>
              <a:t>Paare</a:t>
            </a:r>
            <a:r>
              <a:rPr lang="en-US" sz="2000" dirty="0">
                <a:solidFill>
                  <a:srgbClr val="1B1B1F"/>
                </a:solidFill>
              </a:rPr>
              <a:t> statt Einzelbuchstaben ersetzen</a:t>
            </a:r>
            <a:endParaRPr lang="en-US" sz="2000" dirty="0"/>
          </a:p>
          <a:p>
            <a:pPr marL="279400" indent="-279400">
              <a:spcAft>
                <a:spcPts val="600"/>
              </a:spcAft>
              <a:buSzPct val="100000"/>
              <a:buChar char="●"/>
            </a:pPr>
            <a:r>
              <a:rPr lang="en-US" sz="2000" b="1" dirty="0">
                <a:solidFill>
                  <a:srgbClr val="1B1B1F"/>
                </a:solidFill>
              </a:rPr>
              <a:t>Polyalphabetisch</a:t>
            </a:r>
            <a:r>
              <a:rPr lang="en-US" sz="2000" dirty="0">
                <a:solidFill>
                  <a:srgbClr val="1B1B1F"/>
                </a:solidFill>
              </a:rPr>
              <a:t> (Vigenère): Die Ersetzung </a:t>
            </a:r>
            <a:r>
              <a:rPr lang="en-US" sz="2000" b="1" dirty="0">
                <a:solidFill>
                  <a:srgbClr val="1B1B1F"/>
                </a:solidFill>
              </a:rPr>
              <a:t>wechselt</a:t>
            </a:r>
            <a:r>
              <a:rPr lang="en-US" sz="2000" dirty="0">
                <a:solidFill>
                  <a:srgbClr val="1B1B1F"/>
                </a:solidFill>
              </a:rPr>
              <a:t> mit der Position</a:t>
            </a:r>
            <a:endParaRPr lang="en-US" sz="2000" dirty="0"/>
          </a:p>
          <a:p>
            <a:pPr marL="279400" indent="-279400">
              <a:spcAft>
                <a:spcPts val="600"/>
              </a:spcAft>
              <a:buSzPct val="100000"/>
              <a:buChar char="●"/>
            </a:pPr>
            <a:r>
              <a:rPr lang="en-US" sz="2000" dirty="0">
                <a:solidFill>
                  <a:srgbClr val="1B1B1F"/>
                </a:solidFill>
              </a:rPr>
              <a:t>eA-Abitur: eine </a:t>
            </a:r>
            <a:r>
              <a:rPr lang="en-US" sz="2000" b="1" dirty="0">
                <a:solidFill>
                  <a:srgbClr val="1B1B1F"/>
                </a:solidFill>
              </a:rPr>
              <a:t>Verbesserung</a:t>
            </a:r>
            <a:r>
              <a:rPr lang="en-US" sz="2000" dirty="0">
                <a:solidFill>
                  <a:srgbClr val="1B1B1F"/>
                </a:solidFill>
              </a:rPr>
              <a:t> entwickeln und erläutern – genau mit diesen Ideen</a:t>
            </a:r>
            <a:endParaRPr lang="en-US" sz="2000" dirty="0"/>
          </a:p>
        </p:txBody>
      </p:sp>
      <p:sp>
        <p:nvSpPr>
          <p:cNvPr id="4" name="Shape 2"/>
          <p:cNvSpPr/>
          <p:nvPr/>
        </p:nvSpPr>
        <p:spPr>
          <a:xfrm>
            <a:off x="5223053" y="1325880"/>
            <a:ext cx="2640787" cy="2231136"/>
          </a:xfrm>
          <a:prstGeom prst="roundRect">
            <a:avLst>
              <a:gd name="adj" fmla="val 3279"/>
            </a:avLst>
          </a:prstGeom>
          <a:solidFill>
            <a:srgbClr val="EEF3FA"/>
          </a:solidFill>
          <a:ln w="12700">
            <a:solidFill>
              <a:srgbClr val="1F4E8C"/>
            </a:solidFill>
            <a:prstDash val="solid"/>
          </a:ln>
        </p:spPr>
      </p:sp>
      <p:sp>
        <p:nvSpPr>
          <p:cNvPr id="5" name="Text 3"/>
          <p:cNvSpPr txBox="1"/>
          <p:nvPr/>
        </p:nvSpPr>
        <p:spPr>
          <a:xfrm>
            <a:off x="5451653" y="1435608"/>
            <a:ext cx="2183587" cy="274320"/>
          </a:xfrm>
          <a:prstGeom prst="rect">
            <a:avLst/>
          </a:prstGeom>
          <a:noFill/>
          <a:ln/>
        </p:spPr>
        <p:txBody>
          <a:bodyPr wrap="square" lIns="0" tIns="0" rIns="0" bIns="0" rtlCol="0" anchor="ctr"/>
          <a:lstStyle/>
          <a:p>
            <a:pPr indent="0" marL="0">
              <a:buNone/>
            </a:pPr>
            <a:r>
              <a:rPr lang="en-US" sz="1300" b="1" spc="200" kern="0" dirty="0">
                <a:solidFill>
                  <a:srgbClr val="1F4E8C"/>
                </a:solidFill>
              </a:rPr>
              <a:t>MEHR DAZU</a:t>
            </a:r>
            <a:endParaRPr lang="en-US" sz="1300" dirty="0"/>
          </a:p>
        </p:txBody>
      </p:sp>
      <p:sp>
        <p:nvSpPr>
          <p:cNvPr id="6" name="Text 4"/>
          <p:cNvSpPr txBox="1"/>
          <p:nvPr/>
        </p:nvSpPr>
        <p:spPr>
          <a:xfrm>
            <a:off x="5451653" y="1783080"/>
            <a:ext cx="2183587" cy="603504"/>
          </a:xfrm>
          <a:prstGeom prst="rect">
            <a:avLst/>
          </a:prstGeom>
          <a:noFill/>
          <a:ln/>
        </p:spPr>
        <p:txBody>
          <a:bodyPr wrap="square" lIns="0" tIns="0" rIns="0" bIns="0" rtlCol="0" anchor="t"/>
          <a:lstStyle/>
          <a:p>
            <a:pPr algn="l" indent="0" marL="0">
              <a:buNone/>
            </a:pPr>
            <a:r>
              <a:rPr lang="en-US" sz="1800" dirty="0">
                <a:solidFill>
                  <a:srgbClr val="1B1B1F"/>
                </a:solidFill>
              </a:rPr>
              <a:t>Level 1.2 „Die Gegenmittel“</a:t>
            </a:r>
            <a:endParaRPr lang="en-US" sz="1800" dirty="0"/>
          </a:p>
        </p:txBody>
      </p:sp>
      <p:sp>
        <p:nvSpPr>
          <p:cNvPr id="7" name="Text 5"/>
          <p:cNvSpPr txBox="1"/>
          <p:nvPr/>
        </p:nvSpPr>
        <p:spPr>
          <a:xfrm>
            <a:off x="5451653" y="2514600"/>
            <a:ext cx="2183587" cy="324612"/>
          </a:xfrm>
          <a:prstGeom prst="rect">
            <a:avLst/>
          </a:prstGeom>
          <a:noFill/>
          <a:ln/>
        </p:spPr>
        <p:txBody>
          <a:bodyPr wrap="square" lIns="0" tIns="0" rIns="0" bIns="0" rtlCol="0" anchor="t"/>
          <a:lstStyle/>
          <a:p>
            <a:pPr algn="l" indent="0" marL="0">
              <a:buNone/>
            </a:pPr>
            <a:r>
              <a:rPr lang="en-US" sz="1800" dirty="0">
                <a:solidFill>
                  <a:srgbClr val="1B1B1F"/>
                </a:solidFill>
              </a:rPr>
              <a:t>Level 2.4 Playfair</a:t>
            </a:r>
            <a:endParaRPr lang="en-US" sz="1800" dirty="0"/>
          </a:p>
        </p:txBody>
      </p:sp>
      <p:sp>
        <p:nvSpPr>
          <p:cNvPr id="8" name="Text 6"/>
          <p:cNvSpPr txBox="1"/>
          <p:nvPr/>
        </p:nvSpPr>
        <p:spPr>
          <a:xfrm>
            <a:off x="5451653" y="2967228"/>
            <a:ext cx="2183587" cy="324612"/>
          </a:xfrm>
          <a:prstGeom prst="rect">
            <a:avLst/>
          </a:prstGeom>
          <a:noFill/>
          <a:ln/>
        </p:spPr>
        <p:txBody>
          <a:bodyPr wrap="square" lIns="0" tIns="0" rIns="0" bIns="0" rtlCol="0" anchor="t"/>
          <a:lstStyle/>
          <a:p>
            <a:pPr algn="l" indent="0" marL="0">
              <a:buNone/>
            </a:pPr>
            <a:r>
              <a:rPr lang="en-US" sz="1800" dirty="0">
                <a:solidFill>
                  <a:srgbClr val="1B1B1F"/>
                </a:solidFill>
              </a:rPr>
              <a:t>Video 03: Vigenère</a:t>
            </a:r>
            <a:endParaRPr lang="en-US" sz="18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Typische Fehler – und wie du sie vermeidest</a:t>
            </a:r>
            <a:endParaRPr lang="en-US" sz="3000" dirty="0"/>
          </a:p>
        </p:txBody>
      </p:sp>
      <p:sp>
        <p:nvSpPr>
          <p:cNvPr id="3" name="Text 1"/>
          <p:cNvSpPr txBox="1"/>
          <p:nvPr/>
        </p:nvSpPr>
        <p:spPr>
          <a:xfrm>
            <a:off x="548640" y="1325880"/>
            <a:ext cx="4308653" cy="4403344"/>
          </a:xfrm>
          <a:prstGeom prst="rect">
            <a:avLst/>
          </a:prstGeom>
          <a:noFill/>
          <a:ln/>
        </p:spPr>
        <p:txBody>
          <a:bodyPr wrap="square" lIns="0" tIns="0" rIns="0" bIns="0" rtlCol="0" anchor="t"/>
          <a:lstStyle/>
          <a:p>
            <a:pPr marL="279400" indent="-279400">
              <a:spcAft>
                <a:spcPts val="600"/>
              </a:spcAft>
              <a:buSzPct val="100000"/>
              <a:buChar char="●"/>
            </a:pPr>
            <a:r>
              <a:rPr lang="en-US" sz="2000" b="1" dirty="0">
                <a:solidFill>
                  <a:srgbClr val="1B1B1F"/>
                </a:solidFill>
              </a:rPr>
              <a:t>P5</a:t>
            </a:r>
            <a:r>
              <a:rPr lang="en-US" sz="2000" dirty="0">
                <a:solidFill>
                  <a:srgbClr val="1B1B1F"/>
                </a:solidFill>
              </a:rPr>
              <a:t> Einordnung: Kriterium für monoalphabetisch – wird derselbe Klartextbuchstabe </a:t>
            </a:r>
            <a:r>
              <a:rPr lang="en-US" sz="2000" b="1" dirty="0">
                <a:solidFill>
                  <a:srgbClr val="1B1B1F"/>
                </a:solidFill>
              </a:rPr>
              <a:t>immer gleich</a:t>
            </a:r>
            <a:r>
              <a:rPr lang="en-US" sz="2000" dirty="0">
                <a:solidFill>
                  <a:srgbClr val="1B1B1F"/>
                </a:solidFill>
              </a:rPr>
              <a:t> ersetzt?</a:t>
            </a:r>
            <a:endParaRPr lang="en-US" sz="2000" dirty="0"/>
          </a:p>
          <a:p>
            <a:pPr marL="279400" indent="-279400">
              <a:spcAft>
                <a:spcPts val="600"/>
              </a:spcAft>
              <a:buSzPct val="100000"/>
              <a:buChar char="●"/>
            </a:pPr>
            <a:r>
              <a:rPr lang="en-US" sz="2000" b="1" dirty="0">
                <a:solidFill>
                  <a:srgbClr val="1B1B1F"/>
                </a:solidFill>
              </a:rPr>
              <a:t>P6</a:t>
            </a:r>
            <a:r>
              <a:rPr lang="en-US" sz="2000" dirty="0">
                <a:solidFill>
                  <a:srgbClr val="1B1B1F"/>
                </a:solidFill>
              </a:rPr>
              <a:t> „Häufigkeitsanalyse geht immer“ – Voraussetzungen und Art der Zählung nennen</a:t>
            </a:r>
            <a:endParaRPr lang="en-US" sz="2000" dirty="0"/>
          </a:p>
          <a:p>
            <a:pPr marL="279400" indent="-279400">
              <a:spcAft>
                <a:spcPts val="600"/>
              </a:spcAft>
              <a:buSzPct val="100000"/>
              <a:buChar char="●"/>
            </a:pPr>
            <a:r>
              <a:rPr lang="en-US" sz="2000" b="1" dirty="0">
                <a:solidFill>
                  <a:srgbClr val="1B1B1F"/>
                </a:solidFill>
              </a:rPr>
              <a:t>P7</a:t>
            </a:r>
            <a:r>
              <a:rPr lang="en-US" sz="2000" dirty="0">
                <a:solidFill>
                  <a:srgbClr val="1B1B1F"/>
                </a:solidFill>
              </a:rPr>
              <a:t> Schlüsselraum: Substitution </a:t>
            </a:r>
            <a:r>
              <a:rPr lang="en-US" sz="2000" b="1" dirty="0">
                <a:solidFill>
                  <a:srgbClr val="1B1B1F"/>
                </a:solidFill>
              </a:rPr>
              <a:t>26!</a:t>
            </a:r>
            <a:r>
              <a:rPr lang="en-US" sz="2000" dirty="0">
                <a:solidFill>
                  <a:srgbClr val="1B1B1F"/>
                </a:solidFill>
              </a:rPr>
              <a:t>, Caesar nur </a:t>
            </a:r>
            <a:r>
              <a:rPr lang="en-US" sz="2000" b="1" dirty="0">
                <a:solidFill>
                  <a:srgbClr val="1B1B1F"/>
                </a:solidFill>
              </a:rPr>
              <a:t>25</a:t>
            </a:r>
            <a:r>
              <a:rPr lang="en-US" sz="2000" dirty="0">
                <a:solidFill>
                  <a:srgbClr val="1B1B1F"/>
                </a:solidFill>
              </a:rPr>
              <a:t> sinnvolle – nicht verwechseln</a:t>
            </a:r>
            <a:endParaRPr lang="en-US" sz="2000" dirty="0"/>
          </a:p>
          <a:p>
            <a:pPr marL="279400" indent="-279400">
              <a:spcAft>
                <a:spcPts val="600"/>
              </a:spcAft>
              <a:buSzPct val="100000"/>
              <a:buChar char="●"/>
            </a:pPr>
            <a:r>
              <a:rPr lang="en-US" sz="2000" b="1" dirty="0">
                <a:solidFill>
                  <a:srgbClr val="1B1B1F"/>
                </a:solidFill>
              </a:rPr>
              <a:t>P10</a:t>
            </a:r>
            <a:r>
              <a:rPr lang="en-US" sz="2000" dirty="0">
                <a:solidFill>
                  <a:srgbClr val="1B1B1F"/>
                </a:solidFill>
              </a:rPr>
              <a:t> „Großer Schlüsselraum, also sicher“ – Urteil ohne Häufigkeitsargument</a:t>
            </a:r>
            <a:endParaRPr lang="en-US" sz="2000" dirty="0"/>
          </a:p>
        </p:txBody>
      </p:sp>
      <p:sp>
        <p:nvSpPr>
          <p:cNvPr id="4" name="Shape 2"/>
          <p:cNvSpPr/>
          <p:nvPr/>
        </p:nvSpPr>
        <p:spPr>
          <a:xfrm>
            <a:off x="5223053" y="1325880"/>
            <a:ext cx="2640787" cy="2962656"/>
          </a:xfrm>
          <a:prstGeom prst="roundRect">
            <a:avLst>
              <a:gd name="adj" fmla="val 2770"/>
            </a:avLst>
          </a:prstGeom>
          <a:solidFill>
            <a:srgbClr val="FDF3F2"/>
          </a:solidFill>
          <a:ln w="12700">
            <a:solidFill>
              <a:srgbClr val="B3261E"/>
            </a:solidFill>
            <a:prstDash val="solid"/>
          </a:ln>
        </p:spPr>
      </p:sp>
      <p:sp>
        <p:nvSpPr>
          <p:cNvPr id="5" name="Text 3"/>
          <p:cNvSpPr txBox="1"/>
          <p:nvPr/>
        </p:nvSpPr>
        <p:spPr>
          <a:xfrm>
            <a:off x="5451653" y="1435608"/>
            <a:ext cx="2183587" cy="274320"/>
          </a:xfrm>
          <a:prstGeom prst="rect">
            <a:avLst/>
          </a:prstGeom>
          <a:noFill/>
          <a:ln/>
        </p:spPr>
        <p:txBody>
          <a:bodyPr wrap="square" lIns="0" tIns="0" rIns="0" bIns="0" rtlCol="0" anchor="ctr"/>
          <a:lstStyle/>
          <a:p>
            <a:pPr indent="0" marL="0">
              <a:buNone/>
            </a:pPr>
            <a:r>
              <a:rPr lang="en-US" sz="1300" b="1" spc="200" kern="0" dirty="0">
                <a:solidFill>
                  <a:srgbClr val="B3261E"/>
                </a:solidFill>
              </a:rPr>
              <a:t>ABI-CHECK</a:t>
            </a:r>
            <a:endParaRPr lang="en-US" sz="1300" dirty="0"/>
          </a:p>
        </p:txBody>
      </p:sp>
      <p:sp>
        <p:nvSpPr>
          <p:cNvPr id="6" name="Text 4"/>
          <p:cNvSpPr txBox="1"/>
          <p:nvPr/>
        </p:nvSpPr>
        <p:spPr>
          <a:xfrm>
            <a:off x="5451653" y="1783080"/>
            <a:ext cx="2183587" cy="324612"/>
          </a:xfrm>
          <a:prstGeom prst="rect">
            <a:avLst/>
          </a:prstGeom>
          <a:noFill/>
          <a:ln/>
        </p:spPr>
        <p:txBody>
          <a:bodyPr wrap="square" lIns="0" tIns="0" rIns="0" bIns="0" rtlCol="0" anchor="t"/>
          <a:lstStyle/>
          <a:p>
            <a:pPr algn="l" indent="0" marL="0">
              <a:buNone/>
            </a:pPr>
            <a:r>
              <a:rPr lang="en-US" sz="1800" dirty="0">
                <a:solidFill>
                  <a:srgbClr val="1B1B1F"/>
                </a:solidFill>
              </a:rPr>
              <a:t>mono oder poly?</a:t>
            </a:r>
            <a:endParaRPr lang="en-US" sz="1800" dirty="0"/>
          </a:p>
        </p:txBody>
      </p:sp>
      <p:sp>
        <p:nvSpPr>
          <p:cNvPr id="7" name="Text 5"/>
          <p:cNvSpPr txBox="1"/>
          <p:nvPr/>
        </p:nvSpPr>
        <p:spPr>
          <a:xfrm>
            <a:off x="5451653" y="2235708"/>
            <a:ext cx="2183587" cy="324612"/>
          </a:xfrm>
          <a:prstGeom prst="rect">
            <a:avLst/>
          </a:prstGeom>
          <a:noFill/>
          <a:ln/>
        </p:spPr>
        <p:txBody>
          <a:bodyPr wrap="square" lIns="0" tIns="0" rIns="0" bIns="0" rtlCol="0" anchor="t"/>
          <a:lstStyle/>
          <a:p>
            <a:pPr algn="l" indent="0" marL="0">
              <a:buNone/>
            </a:pPr>
            <a:r>
              <a:rPr lang="en-US" sz="1800" dirty="0">
                <a:solidFill>
                  <a:srgbClr val="1B1B1F"/>
                </a:solidFill>
              </a:rPr>
              <a:t>Text lang genug?</a:t>
            </a:r>
            <a:endParaRPr lang="en-US" sz="1800" dirty="0"/>
          </a:p>
        </p:txBody>
      </p:sp>
      <p:sp>
        <p:nvSpPr>
          <p:cNvPr id="8" name="Text 6"/>
          <p:cNvSpPr txBox="1"/>
          <p:nvPr/>
        </p:nvSpPr>
        <p:spPr>
          <a:xfrm>
            <a:off x="5451653" y="2688336"/>
            <a:ext cx="2183587" cy="603504"/>
          </a:xfrm>
          <a:prstGeom prst="rect">
            <a:avLst/>
          </a:prstGeom>
          <a:noFill/>
          <a:ln/>
        </p:spPr>
        <p:txBody>
          <a:bodyPr wrap="square" lIns="0" tIns="0" rIns="0" bIns="0" rtlCol="0" anchor="t"/>
          <a:lstStyle/>
          <a:p>
            <a:pPr algn="l" indent="0" marL="0">
              <a:buNone/>
            </a:pPr>
            <a:r>
              <a:rPr lang="en-US" sz="1800" dirty="0">
                <a:solidFill>
                  <a:srgbClr val="1B1B1F"/>
                </a:solidFill>
              </a:rPr>
              <a:t>Einzel, Teiltexte oder Paare?</a:t>
            </a:r>
            <a:endParaRPr lang="en-US" sz="1800" dirty="0"/>
          </a:p>
        </p:txBody>
      </p:sp>
      <p:sp>
        <p:nvSpPr>
          <p:cNvPr id="9" name="Text 7"/>
          <p:cNvSpPr txBox="1"/>
          <p:nvPr/>
        </p:nvSpPr>
        <p:spPr>
          <a:xfrm>
            <a:off x="5451653" y="3419856"/>
            <a:ext cx="2183587" cy="603504"/>
          </a:xfrm>
          <a:prstGeom prst="rect">
            <a:avLst/>
          </a:prstGeom>
          <a:noFill/>
          <a:ln/>
        </p:spPr>
        <p:txBody>
          <a:bodyPr wrap="square" lIns="0" tIns="0" rIns="0" bIns="0" rtlCol="0" anchor="t"/>
          <a:lstStyle/>
          <a:p>
            <a:pPr algn="l" indent="0" marL="0">
              <a:buNone/>
            </a:pPr>
            <a:r>
              <a:rPr lang="en-US" sz="1800" dirty="0">
                <a:solidFill>
                  <a:srgbClr val="1B1B1F"/>
                </a:solidFill>
              </a:rPr>
              <a:t>Urteil mit Begründung?</a:t>
            </a:r>
            <a:endParaRPr lang="en-US" sz="18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Das nimmst du mit</a:t>
            </a:r>
            <a:endParaRPr lang="en-US" sz="3000" dirty="0"/>
          </a:p>
        </p:txBody>
      </p:sp>
      <p:sp>
        <p:nvSpPr>
          <p:cNvPr id="3" name="Merke-Kasten"/>
          <p:cNvSpPr/>
          <p:nvPr/>
        </p:nvSpPr>
        <p:spPr>
          <a:xfrm>
            <a:off x="1097280" y="1508760"/>
            <a:ext cx="6217920" cy="4663440"/>
          </a:xfrm>
          <a:prstGeom prst="roundRect">
            <a:avLst>
              <a:gd name="adj" fmla="val 1961"/>
            </a:avLst>
          </a:prstGeom>
          <a:solidFill>
            <a:srgbClr val="FBF3E2"/>
          </a:solidFill>
          <a:ln w="19050">
            <a:solidFill>
              <a:srgbClr val="B07D2B"/>
            </a:solidFill>
            <a:prstDash val="solid"/>
          </a:ln>
        </p:spPr>
      </p:sp>
      <p:sp>
        <p:nvSpPr>
          <p:cNvPr id="4" name="Text 2"/>
          <p:cNvSpPr txBox="1"/>
          <p:nvPr/>
        </p:nvSpPr>
        <p:spPr>
          <a:xfrm>
            <a:off x="1508760" y="1737360"/>
            <a:ext cx="3657600" cy="411480"/>
          </a:xfrm>
          <a:prstGeom prst="rect">
            <a:avLst/>
          </a:prstGeom>
          <a:noFill/>
          <a:ln/>
        </p:spPr>
        <p:txBody>
          <a:bodyPr wrap="square" lIns="0" tIns="0" rIns="0" bIns="0" rtlCol="0" anchor="ctr"/>
          <a:lstStyle/>
          <a:p>
            <a:pPr indent="0" marL="0">
              <a:buNone/>
            </a:pPr>
            <a:r>
              <a:rPr lang="en-US" sz="2000" b="1" spc="400" kern="0" dirty="0">
                <a:solidFill>
                  <a:srgbClr val="8A5F1A"/>
                </a:solidFill>
                <a:latin typeface="Georgia" pitchFamily="34" charset="0"/>
                <a:ea typeface="Georgia" pitchFamily="34" charset="-122"/>
                <a:cs typeface="Georgia" pitchFamily="34" charset="-120"/>
              </a:rPr>
              <a:t>MERKE</a:t>
            </a:r>
            <a:endParaRPr lang="en-US" sz="2000" dirty="0"/>
          </a:p>
        </p:txBody>
      </p:sp>
      <p:sp>
        <p:nvSpPr>
          <p:cNvPr id="5" name="Text 3"/>
          <p:cNvSpPr txBox="1"/>
          <p:nvPr/>
        </p:nvSpPr>
        <p:spPr>
          <a:xfrm>
            <a:off x="1508760" y="2240280"/>
            <a:ext cx="5394960" cy="665480"/>
          </a:xfrm>
          <a:prstGeom prst="rect">
            <a:avLst/>
          </a:prstGeom>
          <a:noFill/>
          <a:ln/>
        </p:spPr>
        <p:txBody>
          <a:bodyPr wrap="square" lIns="0" tIns="0" rIns="0" bIns="0" rtlCol="0" anchor="t"/>
          <a:lstStyle/>
          <a:p>
            <a:pPr algn="l" indent="0" marL="0">
              <a:buNone/>
            </a:pPr>
            <a:r>
              <a:rPr lang="en-US" sz="2000" dirty="0">
                <a:solidFill>
                  <a:srgbClr val="1B1B1F"/>
                </a:solidFill>
              </a:rPr>
              <a:t>Monoalphabetische Substitution: </a:t>
            </a:r>
            <a:r>
              <a:rPr lang="en-US" sz="2000" b="1" dirty="0">
                <a:solidFill>
                  <a:srgbClr val="1B1B1F"/>
                </a:solidFill>
              </a:rPr>
              <a:t>26!</a:t>
            </a:r>
            <a:r>
              <a:rPr lang="en-US" sz="2000" dirty="0">
                <a:solidFill>
                  <a:srgbClr val="1B1B1F"/>
                </a:solidFill>
              </a:rPr>
              <a:t> Schlüssel – Brute Force unmöglich</a:t>
            </a:r>
            <a:endParaRPr lang="en-US" sz="2000" dirty="0"/>
          </a:p>
        </p:txBody>
      </p:sp>
      <p:sp>
        <p:nvSpPr>
          <p:cNvPr id="6" name="Text 4"/>
          <p:cNvSpPr txBox="1"/>
          <p:nvPr/>
        </p:nvSpPr>
        <p:spPr>
          <a:xfrm>
            <a:off x="1508760" y="3033776"/>
            <a:ext cx="5394960" cy="975360"/>
          </a:xfrm>
          <a:prstGeom prst="rect">
            <a:avLst/>
          </a:prstGeom>
          <a:noFill/>
          <a:ln/>
        </p:spPr>
        <p:txBody>
          <a:bodyPr wrap="square" lIns="0" tIns="0" rIns="0" bIns="0" rtlCol="0" anchor="t"/>
          <a:lstStyle/>
          <a:p>
            <a:pPr algn="l" indent="0" marL="0">
              <a:buNone/>
            </a:pPr>
            <a:r>
              <a:rPr lang="en-US" sz="2000" dirty="0">
                <a:solidFill>
                  <a:srgbClr val="1B1B1F"/>
                </a:solidFill>
              </a:rPr>
              <a:t>Aber die </a:t>
            </a:r>
            <a:r>
              <a:rPr lang="en-US" sz="2000" b="1" dirty="0">
                <a:solidFill>
                  <a:srgbClr val="1B1B1F"/>
                </a:solidFill>
              </a:rPr>
              <a:t>Häufigkeitsverteilung</a:t>
            </a:r>
            <a:r>
              <a:rPr lang="en-US" sz="2000" dirty="0">
                <a:solidFill>
                  <a:srgbClr val="1B1B1F"/>
                </a:solidFill>
              </a:rPr>
              <a:t> bleibt erhalten: zählen, mit der Sprache vergleichen (e, n, …)</a:t>
            </a:r>
            <a:endParaRPr lang="en-US" sz="2000" dirty="0"/>
          </a:p>
        </p:txBody>
      </p:sp>
      <p:sp>
        <p:nvSpPr>
          <p:cNvPr id="7" name="Text 5"/>
          <p:cNvSpPr txBox="1"/>
          <p:nvPr/>
        </p:nvSpPr>
        <p:spPr>
          <a:xfrm>
            <a:off x="1508760" y="4137152"/>
            <a:ext cx="5394960" cy="665480"/>
          </a:xfrm>
          <a:prstGeom prst="rect">
            <a:avLst/>
          </a:prstGeom>
          <a:noFill/>
          <a:ln/>
        </p:spPr>
        <p:txBody>
          <a:bodyPr wrap="square" lIns="0" tIns="0" rIns="0" bIns="0" rtlCol="0" anchor="t"/>
          <a:lstStyle/>
          <a:p>
            <a:pPr algn="l" indent="0" marL="0">
              <a:buNone/>
            </a:pPr>
            <a:r>
              <a:rPr lang="en-US" sz="2000" dirty="0">
                <a:solidFill>
                  <a:srgbClr val="1B1B1F"/>
                </a:solidFill>
              </a:rPr>
              <a:t>Paare, häufige Wörter und Kontext bestätigen und ergänzen die Zuordnung</a:t>
            </a:r>
            <a:endParaRPr lang="en-US" sz="2000" dirty="0"/>
          </a:p>
        </p:txBody>
      </p:sp>
      <p:sp>
        <p:nvSpPr>
          <p:cNvPr id="8" name="Text 6"/>
          <p:cNvSpPr txBox="1"/>
          <p:nvPr/>
        </p:nvSpPr>
        <p:spPr>
          <a:xfrm>
            <a:off x="1508760" y="4930648"/>
            <a:ext cx="5394960" cy="665480"/>
          </a:xfrm>
          <a:prstGeom prst="rect">
            <a:avLst/>
          </a:prstGeom>
          <a:noFill/>
          <a:ln/>
        </p:spPr>
        <p:txBody>
          <a:bodyPr wrap="square" lIns="0" tIns="0" rIns="0" bIns="0" rtlCol="0" anchor="t"/>
          <a:lstStyle/>
          <a:p>
            <a:pPr algn="l" indent="0" marL="0">
              <a:buNone/>
            </a:pPr>
            <a:r>
              <a:rPr lang="en-US" sz="2000" dirty="0">
                <a:solidFill>
                  <a:srgbClr val="1B1B1F"/>
                </a:solidFill>
              </a:rPr>
              <a:t>Grenzen: kurze Texte, Transposition, polyalphabetische Verfahren (</a:t>
            </a:r>
            <a:r>
              <a:rPr lang="en-US" sz="2000" b="1" dirty="0">
                <a:solidFill>
                  <a:srgbClr val="1B1B1F"/>
                </a:solidFill>
              </a:rPr>
              <a:t>P6</a:t>
            </a:r>
            <a:r>
              <a:rPr lang="en-US" sz="2000" dirty="0">
                <a:solidFill>
                  <a:srgbClr val="1B1B1F"/>
                </a:solidFill>
              </a:rPr>
              <a:t>)</a:t>
            </a:r>
            <a:endParaRPr lang="en-US" sz="2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Weiter im Lab</a:t>
            </a:r>
            <a:endParaRPr lang="en-US" sz="3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7315200" cy="914400"/>
        </p:xfrm>
        <a:graphic>
          <a:graphicData uri="http://schemas.openxmlformats.org/drawingml/2006/table">
            <a:tbl>
              <a:tblPr/>
              <a:tblGrid>
                <a:gridCol w="1828800"/>
                <a:gridCol w="5486400"/>
              </a:tblGrid>
              <a:tr h="0">
                <a:tc>
                  <a:txBody>
                    <a:bodyPr/>
                    <a:lstStyle/>
                    <a:p>
                      <a:pPr algn="l" indent="0" marL="0">
                        <a:buNone/>
                      </a:pPr>
                      <a:r>
                        <a:rPr lang="en-US" sz="1600" b="1" dirty="0">
                          <a:solidFill>
                            <a:srgbClr val="1B1B1F"/>
                          </a:solidFill>
                          <a:latin typeface="Calibri" pitchFamily="34" charset="0"/>
                          <a:ea typeface="Calibri" pitchFamily="34" charset="-122"/>
                          <a:cs typeface="Calibri" pitchFamily="34" charset="-120"/>
                        </a:rPr>
                        <a:t>Lab</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Level 1.1 „Al-Kindis Handschrift“ (Epoche Bagdad) – danach Level 1.2 „Die Gegenmittel“</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1B1B1F"/>
                          </a:solidFill>
                          <a:latin typeface="Calibri" pitchFamily="34" charset="0"/>
                          <a:ea typeface="Calibri" pitchFamily="34" charset="-122"/>
                          <a:cs typeface="Calibri" pitchFamily="34" charset="-120"/>
                        </a:rPr>
                        <a:t>Akte</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Akte W1·1 „Al-Kindis Handschrift“</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1B1B1F"/>
                          </a:solidFill>
                          <a:latin typeface="Calibri" pitchFamily="34" charset="0"/>
                          <a:ea typeface="Calibri" pitchFamily="34" charset="-122"/>
                          <a:cs typeface="Calibri" pitchFamily="34" charset="-120"/>
                        </a:rPr>
                        <a:t>Kryptolabor</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Häufigkeits-Analysator und Substitutions-Werkbank</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1B1B1F"/>
                          </a:solidFill>
                          <a:latin typeface="Calibri" pitchFamily="34" charset="0"/>
                          <a:ea typeface="Calibri" pitchFamily="34" charset="-122"/>
                          <a:cs typeface="Calibri" pitchFamily="34" charset="-120"/>
                        </a:rPr>
                        <a:t>Funkraum</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Szenario „Wettknacken“ im Unterricht</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1B1B1F"/>
                          </a:solidFill>
                          <a:latin typeface="Calibri" pitchFamily="34" charset="0"/>
                          <a:ea typeface="Calibri" pitchFamily="34" charset="-122"/>
                          <a:cs typeface="Calibri" pitchFamily="34" charset="-120"/>
                        </a:rPr>
                        <a:t>Online</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kryptos.frankjuchim.de</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3398520"/>
            <a:ext cx="7315200" cy="727456"/>
          </a:xfrm>
          <a:prstGeom prst="rect">
            <a:avLst/>
          </a:prstGeom>
          <a:noFill/>
          <a:ln/>
        </p:spPr>
        <p:txBody>
          <a:bodyPr wrap="square" lIns="0" tIns="0" rIns="0" bIns="0" rtlCol="0" anchor="t"/>
          <a:lstStyle/>
          <a:p>
            <a:pPr algn="l" indent="0" marL="0">
              <a:buNone/>
            </a:pPr>
            <a:r>
              <a:rPr lang="en-US" sz="2200" b="1" dirty="0">
                <a:solidFill>
                  <a:srgbClr val="1B1B1F"/>
                </a:solidFill>
              </a:rPr>
              <a:t>Nächstes Video:</a:t>
            </a:r>
            <a:r>
              <a:rPr lang="en-US" sz="2200" dirty="0">
                <a:solidFill>
                  <a:srgbClr val="1B1B1F"/>
                </a:solidFill>
              </a:rPr>
              <a:t> 03 · Vigenère knacken: Kasiski-Test und Friedman-Test</a:t>
            </a:r>
            <a:endParaRPr lang="en-US" sz="2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Kryptos Bagdad">
  <a:themeElements>
    <a:clrScheme name="Kryptos Bagdad">
      <a:dk1>
        <a:srgbClr val="1B1B1F"/>
      </a:dk1>
      <a:lt1>
        <a:srgbClr val="FFFFFF"/>
      </a:lt1>
      <a:dk2>
        <a:srgbClr val="14213D"/>
      </a:dk2>
      <a:lt2>
        <a:srgbClr val="FBF7EE"/>
      </a:lt2>
      <a:accent1>
        <a:srgbClr val="1F4E8C"/>
      </a:accent1>
      <a:accent2>
        <a:srgbClr val="B07D2B"/>
      </a:accent2>
      <a:accent3>
        <a:srgbClr val="1F4E8C"/>
      </a:accent3>
      <a:accent4>
        <a:srgbClr val="2E7D32"/>
      </a:accent4>
      <a:accent5>
        <a:srgbClr val="B3261E"/>
      </a:accent5>
      <a:accent6>
        <a:srgbClr val="4A4A55"/>
      </a:accent6>
      <a:hlink>
        <a:srgbClr val="1F4E8C"/>
      </a:hlink>
      <a:folHlink>
        <a:srgbClr val="8A5F1A"/>
      </a:folHlink>
    </a:clrScheme>
    <a:fontScheme name="Kryptos Bagdad">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Kryptos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Häufigkeitsanalyse: Wie Al-Kindi jede Substitution knackt</dc:title>
  <dc:subject>Kryptos – Die Zeitreise der Geheimschriften</dc:subject>
  <dc:creator>Frank Juchim</dc:creator>
  <cp:lastModifiedBy>Frank Juchim</cp:lastModifiedBy>
  <cp:revision>1</cp:revision>
  <dcterms:created xsi:type="dcterms:W3CDTF">2026-10-14T19:25:01Z</dcterms:created>
  <dcterms:modified xsi:type="dcterms:W3CDTF">2026-10-14T19:25:01Z</dcterms:modified>
</cp:coreProperties>
</file>