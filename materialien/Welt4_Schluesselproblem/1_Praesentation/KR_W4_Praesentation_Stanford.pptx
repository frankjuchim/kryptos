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</p:sldIdLst>
  <p:notesMasterIdLst>
    <p:notesMasterId r:id="rId3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S 12 · Das Schlüsselproblem" id="{0f3df47b-0663-b809-9179-1f73d53e43d5}">
          <p14:sldIdLst>
            <p14:sldId id="256"/>
            <p14:sldId id="257"/>
            <p14:sldId id="258"/>
            <p14:sldId id="259"/>
            <p14:sldId id="260"/>
            <p14:sldId id="261"/>
            <p14:sldId id="262"/>
            <p14:sldId id="263"/>
            <p14:sldId id="264"/>
            <p14:sldId id="265"/>
          </p14:sldIdLst>
        </p14:section>
        <p14:section name="DS 12 · Diffie-Hellman (Ergänzung)" id="{11430400-bf38-991b-4b58-2646e8f43d63}">
          <p14:sldIdLst>
            <p14:sldId id="266"/>
            <p14:sldId id="267"/>
            <p14:sldId id="268"/>
            <p14:sldId id="269"/>
            <p14:sldId id="270"/>
            <p14:sldId id="271"/>
            <p14:sldId id="272"/>
          </p14:sldIdLst>
        </p14:section>
        <p14:section name="DS 13 · RSA und Hybrid" id="{af803531-0e21-b3fa-c7da-cf87d77a8430}">
          <p14:sldIdLst>
            <p14:sldId id="273"/>
            <p14:sldId id="274"/>
            <p14:sldId id="275"/>
            <p14:sldId id="276"/>
            <p14:sldId id="277"/>
            <p14:sldId id="278"/>
            <p14:sldId id="279"/>
            <p14:sldId id="280"/>
            <p14:sldId id="281"/>
            <p14:sldId id="282"/>
            <p14:sldId id="283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notesMaster" Target="notesMasters/notesMaster1.xml"/><Relationship Id="rId31" Type="http://schemas.openxmlformats.org/officeDocument/2006/relationships/presProps" Target="presProps.xml"/><Relationship Id="rId32" Type="http://schemas.openxmlformats.org/officeDocument/2006/relationships/viewProps" Target="viewProps.xml"/><Relationship Id="rId33" Type="http://schemas.openxmlformats.org/officeDocument/2006/relationships/theme" Target="theme/theme1.xml"/><Relationship Id="rId3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 min. Zeitsprung ankündigen: von den Lochstreifen (W3) zu den ersten Terminals – Stanford 1976, phosphorgrüne Bildschirme. Ziel der Welt: Schlüsselverteilung als Grenze symmetrischer Verfahren, asymmetrisches Prinzip, Hybridverfahren. RSA und Diffie-Hellman sind Ergänzung (KC) – sie machen das Prinzip greifbar, werden im Abitur aber nicht gerechnet.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10 min. Archivfund-Text vorlesen: „Das Chronoskop setzt euch in einem Rechnerraum der Stanford University ab. Es ist 1976 … Auf einem Schreibtisch liegt ein Fernschreiben einer Bank an ihre Filiale. Darüber klebt ein Zettel: ‚Notverfahren – nur Verschiebung, weil der neue Schlüssel nicht angekommen ist.‘ … Zwei Forscher an dieser Universität behaupten, man könne einen gemeinsamen Schlüssel vereinbaren, während Eve jedes Wort mithört. Knackt zuerst das Fernschreiben – und findet dann heraus, wie das gehen soll.“
PA mit Chiffrierscheibe. Tipp für Langsame: häufigster Buchstabe N (6×) → e? (N = 14, e = 5 → k = 9). Probe: aus T (20) wird mit −9 k (11).
Erwartet: „kurier kam nie an, schlüssel verloren“ (kurierkamnieanschluesselverloren).
Impuls: „Warum ‚Notverfahren‘? Was wäre gewesen, wenn der Kurier angekommen wäre – und wenn Eve ihn abgefangen hätte?“
Überleitung: Problemfrage an die Tafel – Wie vereinbaren Alice und Bob einen Schlüssel, ohne sich zu treffen?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10 min, davon 3 min Besprechung. Lösungen: WU-W4-02 → 1101 0101; WU-W4-03 → w = 23, ((23 + 7 − 1) mod 26) + 1 = 4 → D; WU-W4-09 → 9 (3 · 9 = 27 = 26 + 1).
Falle P2 betonen: mod = kleinster nicht negativer Rest, Überlauf über Z. Das Inverse brauchen wir heute für Eves Angriffe auf fremde Tauschverfahren.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Überleitung: „Die Bank hat 30 Filialen, und jede soll mit jeder vertraulich kommunizieren können. Wie viele Kuriere bräuchte man dafür?“ Erst schätzen lassen, Schätzungen an die Tafel.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 min. Impuls: „Wie habt ihr in W0–W3 eigentlich Schlüssel ausgetauscht?“ Erwartet: gar nicht thematisiert / persönlich verabredet.
OTP aus W3: Schlüssel so lang wie die Nachricht → die Verteilung wird noch schwieriger.
Schaubild: Schritt 2 ist die Schwachstelle – wer den Kurier abfängt (3), kann alles lesen, was danach kommt (4).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7 min. Wollfaden-Demo: 5 Freiwillige stellen sich im Kreis auf und verbinden sich jede mit jeder – 10 Fäden. Formel an der Demo herleiten, nicht vorgeben: Jede hält 4 Fadenenden (n − 1), zusammen 5 · 4 = 20 Enden, jeder Faden hat zwei Enden → 10.
Asymmetrisch: jede Person ein Schlüsselpaar → 2n = 10 – bei n = 5 zufällig gleich viele!
Danach Akte W4·1 Auftrag 1 (Bank mit 30 Filialen: 435 vs. 60).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 min. Im Abitur 2026 kam genau diese Rechnung (andere Zahlen) im Format „Erläutern Sie die Richtigkeit der Aussage …“. Beide Zählfehler kosten alle Punkte der Teilaufgabe. Erläutern heißt: Rechnung UND Deutung (P10).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 min. Laut vorlesen lassen. Die Formulierung „öffentlicher Schlüssel des Empfängers“ konsequent verwenden – in W5 wird sie wichtig, wenn das Schlüsselpaar für Signaturen „umgekehrt“ benutzt wird (Falle P9).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 min. Echtes Vorhängeschloss zeigen: offen herumgeben, jede/r darf es zudrücken – aufschließen kann nur, wer den Schlüssel hat.
Grenze der Analogie (PK1.4): Ein Schloss kann man aufbrechen; die Mathematik soll genau das verhindern → nächste Folie: Einwegfunktion.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 min. Impuls: „Findet x mit 3^x mod 17 = 12!“ – Erwartet: Tabelle weiterführen (14, 8, 7, 4, 12 …) → x = 13.
Fachwort: diskreter Logarithmus. Unpräzise Formulierung „nicht eindeutig umkehrbar“ vermeiden – gemeint ist „nicht effizient umkehrbar“ (Fehler der früheren Folie P06).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Fachgeschichte (vorsichtig formulieren, keine Zitate): 1976 veröffentlichten Whitfield Diffie und Martin Hellman an der Stanford University den Aufsatz „New Directions in Cryptography“ mit der Idee der Public-Key-Kryptografie und einem Verfahren zur Schlüsselvereinbarung über einen öffentlichen Kanal. Ralph Merkle hatte unabhängig ähnliche Ideen (Merkle-Puzzles) – daher auch Diffie-Hellman-Merkle. Beim britischen GCHQ sollen Ellis, Cocks und Williamson vergleichbare Verfahren schon Anfang der 1970er gefunden haben; das wurde erst 1997 öffentlich.
Hinweis an den Kurs: Die Rechnungen sind Ergänzung, das Prinzip ist Kern.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 min. Werkzeug „Farbmischer“ am Beamer live in vier Schritten (Eve-Leiste zeigt alles, was über den Kanal geht).
Frage: „Was müsste Eve können, um Braun herzustellen?“ Erwartet: Rot oder Blau aus der Mischung herausrechnen – „entmischen“. Eve-Modus zeigen: Mischt Eve die beiden Mischungen, entsteht eine andere Farbe (Gelb doppelt).
Überleitung: „Mischen ist leicht, Entmischen schwer – wie g^x mod p.“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 min. Gemeinsam rechnen, nach jeder Multiplikation mod 17 reduzieren (P2):
A = 3^4 = 81 = 4 · 17 + 13 → 13. B = 3^6 = 729 = 42 · 17 + 15 → 15.
Alice: 15² = 225 = 13 · 17 + 4 → 4; 15^4 = 4² = 16. Bob: 13² = 169 → 16; 13^4 = 16² = 256 → 1; 13^6 = 1 · 16 = 16.
Trick für Schnelle: 15 ≡ −2 (mod 17), also 15^4 ≡ (−2)^4 = 16.
Typischer Fehler: K = A^a statt B^a – die eigene statt die fremde Zahl potenzieren (P3).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 min. Eve sucht A = 13 in der Tabelle → a = 4, dann K = 15^4 mod 17 = 16. Bei p = 17 geht das in Sekunden.
Primitivwurzel nur kurz (Ergänzung): g^1 … g^(p−1) treffen alle Reste 1 … p − 1 – hier alle 16 Werte. So hat Eve keine Abkürzung.
Hinweis zum Altmaterial: Auf der früheren Unterrichtsfolie war g = 7, p = 11 – auch 7 ist Primitivwurzel mod 11, das Beispiel ist korrekt.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25 min. Ablauf und Lösungstabellen: KR_W4_Funkraum_Schluesseltausch.
Runde 1 (12 min): Beamer zeigt p = 23, g = 5; Teams ziehen Geheimzahlkarten, berechnen A bzw. B mit der Rechenkarte (4 min), senden z. B. „A 17“, berechnen K und melden verdeckt (4 min). Eve meldet je Paar einen Tipp. Auflösung (3 min) – erwartet: Eve legt die Tabelle 5^x mod 23 (22 Einträge) an und gewinnt.
Runde 2 (8 min): p = 101, g = 2, Modulo-Uhr nur „Potenz berechnen“. Eve braucht bis zu 100 Rechnungen pro Paar; Stopp nach 5 min.
Geheimzahlkarten austeilen, Eve-Team mit starken Rechnern besetzen. Bei technischen Problemen Papier-Variante (Tafel = öffentlicher Kanal, gefaltete Zettel). Kontrolle: Beispielpaar a = 37, b = 58 → A = 55, B = 47, K = 82.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 min. Auswertung mit Zeitmessung am Beamer. Bei p mit 600 Stellen: Alice/Bob brauchen Millisekunden (schnelles Potenzieren), Eve länger als das Alter des Universums – genau das meint „Einwegfunktion“.
Merksatz: Diffie-Hellman schützt gegen Lauschen, nicht gegen Fälschen. Man-in-the-Middle nur andeuten (falls die Mallory-Zusatzrolle gespielt wurde: verschiedene K beim Paar zeigen).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 min. Merkkasten vorlesen, Abi-Check a) der Akte W4·1 gemeinsam mündlich. Video 05 (Schlüsselproblem, asymmetrisch, hybrid) als Nachbereitung.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DS 13. 1 min. Ein Jahr später, 1977: Ron Rivest, Adi Shamir und Leonard Adleman am MIT stellen RSA vor – die Falltür ist das Multiplizieren zweier Primzahlen. Vorher Warm-up (nächste Folie).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10 min (Folie in der Spezifikation als „Folie 3 analog“ vorgesehen). Lösungen: WU-W4-01 → 15 / 12; WU-W4-06 → A = 2, B = 4, K = 2; WU-W4-12 → symmetrisch 45 (Halbierung vergessen), asymmetrisch 20 (10 Schlüsselpaare).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6 min. Hinweis „Ergänzung“: RSA wird im Abitur nicht gerechnet, macht aber das Prinzip „Falltür“ greifbar – wer p und q kennt, kann φ(N) und damit d berechnen; wer nur N kennt, müsste N zerlegen.
Wie man d findet: Kür K3 (erweiterter Euklid). Probe immer mit e · d mod φ(N) = 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8 min. Rechenvorlage aus Akte W4·2 zeigen: 37² = 1369 = 17 · 77 + 60; 60² = 3600 → 58; 58² = 3364 → 53; 53² = 2809 → 37; 37² → 60.
Produktkette: 37 · 60 = 2220 → 64; 64 · 53 = 3392 → 4; 4 · 60 = 240 → 9.
Schnelle rechnen im RSA-Rechenwerk nach. Danach Akte W4·2 Aufträge 1–2 in PA (p = 3, q = 17: (51, 3)/(51, 11), m = 4 → c = 13 → 4).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 min. Merksatz: „Vertraulich: Empfänger-öffentlich hin, Empfänger-privat zurück.“ Mit dem eigenen privaten Schlüssel „verschlüsselt“ man nicht vertraulich – das wird in W5 zur Signatur.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 min. Impuls: „RSA ist um Größenordnungen langsamer als AES – und trotzdem nutzt jede Website beides. Wie?“ Offen lassen, Vorschläge sammeln. Erwartet: „nur den Schlüssel asymmetrisch verschlüsseln“ (Archivarin: „Man muss nicht alles asymmetrisch verschlüsseln. Nur den Schlüssel.“).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8 min. Schaubild mit nummerierten Pfeilen gemeinsam an der Tafel entwickeln (Format wie im Abitur 2024 NT b: Schlüsselart + Inhaber an jedem Pfeil).
① Alice erzeugt zufällig K und verschlüsselt die Nachricht symmetrisch. ② K asymmetrisch mit Bobs öffentlichem Schlüssel. ③ beides über den unsicheren Kanal. ④ Bob gewinnt K mit seinem privaten Schlüssel. ⑤ Bob entschlüsselt die Nachricht symmetrisch.
Begründung: Geschwindigkeit (lange Nachricht symmetrisch) + Schlüsselverteilung (K reist geschützt, kein Treffen). Neuer K je Verbindung.
Falle P5: Die Nachricht wird NICHT asymmetrisch verschlüsselt.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Lösung: c_K = 5^7 mod 77 = 47 (9 · 25 = 225 → 71; 71 · 5 = 355 → 47). Bob: 47^43 mod 77 = 5 = K (47 · 53 → 27; 27 · 60 → 3; 3 · 53 → 5). Caesar −5: abholungmorgen.
Schwachstellen in d) sammeln: Caesar nur 26 Schlüssel (real AES); N = 77 = 7 · 11 sofort faktorisiert (real 600+ Stellen); auch: K = 5 zu klein/kein Zufall.
Auftrag 3 ist Kern, Auftrag 5 Ergänzung.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10 min mit Zuordnungsspiel (Akte W4·2 Auftrag 6, 8 Szenario-Karten in GA). Jede Zuordnung mit dem Kriterium Datenmenge/Schlüsselverteilung begründen lassen (P10). Typischer Fehler: „asymmetrisch, weil sicherer“ (P5).
Lösung Auftrag 6: 1 sym, 2 hybrid, 3 asym (Signatur, W5), 4 sym, 5 hybrid, 6 asym, 7 sym, 8 asym (Schlüsseltransport bzw. Diffie-Hellman).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Boss W4 vorher freischalten (Standard ab 60 % der Level-Punkte, für DS 13 ggf. manuell). Pool 15 Aufgaben, nur kern/eA; gA zieht keine eA-Aufgaben (B-12, B-15).
Papier-Boss „Das Kurierbüro“ (24 BE, 60 min) als Hausaufgabe/Übungsklausur ankündigen.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 min. Überleitung zu W5: Mallory sitzt zwischen Alice und Bob und tauscht öffentliche Schlüssel aus (Man-in-the-Middle, auch bei Diffie-Hellman). Lösung dort: Signaturen und Zertifikate.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4-1.png"/><Relationship Id="rId2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5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KR Titel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331720"/>
            <a:ext cx="7498080" cy="15544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600" b="1" dirty="0">
                <a:solidFill>
                  <a:srgbClr val="FBF7EE"/>
                </a:solidFill>
                <a:latin typeface="Georgia" pitchFamily="34" charset="0"/>
                <a:ea typeface="Georgia" pitchFamily="34" charset="-122"/>
                <a:cs typeface="Georgia" pitchFamily="34" charset="-120"/>
              </a:defRPr>
            </a:lvl1pPr>
          </a:lstStyle>
          <a:p>
            <a:pPr algn="l" indent="0" marL="0">
              <a:buNone/>
            </a:pPr>
            <a:endParaRPr lang="en-US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931920"/>
            <a:ext cx="731520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2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KR Abschnitt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1645920" y="2651760"/>
            <a:ext cx="960120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BF7EE"/>
                </a:solidFill>
                <a:latin typeface="Georgia" pitchFamily="34" charset="0"/>
                <a:ea typeface="Georgia" pitchFamily="34" charset="-122"/>
                <a:cs typeface="Georgia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pic>
        <p:nvPicPr>
          <p:cNvPr id="3" name="Image 0" descr="/tmp/kr_bildcache/siegel4_389cf3499eedcdb7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788920"/>
            <a:ext cx="868680" cy="86868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Kryptos · Welt 4 · Das Schlüsselproblem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D9A44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KR Inhalt">
    <p:bg>
      <p:bgPr>
        <a:solidFill>
          <a:srgbClr val="FBF7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kr_bildcache/siegel4_389cf3499eedcdb7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384048"/>
            <a:ext cx="566928" cy="566928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1325880" y="347472"/>
            <a:ext cx="10317175" cy="65836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4" name="Text 0"/>
          <p:cNvSpPr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4A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Kryptos · Welt 4 · Das Schlüsselproblem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4A5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KR Dunkel">
    <p:bg>
      <p:bgPr>
        <a:solidFill>
          <a:srgbClr val="0B14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kr_bildcache/siegel4_389cf3499eedcdb7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384048"/>
            <a:ext cx="566928" cy="566928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1325880" y="347472"/>
            <a:ext cx="10317175" cy="65836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rgbClr val="FBF7EE"/>
                </a:solidFill>
                <a:latin typeface="Georgia" pitchFamily="34" charset="0"/>
                <a:ea typeface="Georgia" pitchFamily="34" charset="-122"/>
                <a:cs typeface="Georgia" pitchFamily="34" charset="-120"/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4" name="Text 0"/>
          <p:cNvSpPr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Kryptos · Welt 4 · Das Schlüsselproblem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D9A44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D9A44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slideLayout" Target="../slideLayouts/slideLayout5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Chiffrierscheibe" descr="/tmp/kr_bildcache/scheibe_6cd9063a74b3a87c.png">    </p:cNvPr>
          <p:cNvPicPr>
            <a:picLocks noChangeAspect="1"/>
          </p:cNvPicPr>
          <p:nvPr/>
        </p:nvPicPr>
        <p:blipFill>
          <a:blip r:embed="rId1">
            <a:alphaModFix amt="45000"/>
          </a:blip>
          <a:stretch>
            <a:fillRect/>
          </a:stretch>
        </p:blipFill>
        <p:spPr>
          <a:xfrm>
            <a:off x="7223760" y="-1005840"/>
            <a:ext cx="6766560" cy="6766560"/>
          </a:xfrm>
          <a:prstGeom prst="rect">
            <a:avLst/>
          </a:prstGeom>
        </p:spPr>
      </p:pic>
      <p:pic>
        <p:nvPicPr>
          <p:cNvPr id="3" name="Image 1" descr="/tmp/kr_bildcache/siegel4_389cf3499eedcdb7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85800"/>
            <a:ext cx="1005840" cy="100584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548640" y="1828800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300" kern="0" dirty="0">
                <a:solidFill>
                  <a:srgbClr val="5FD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WELT 4 · STANFORD · 1976</a:t>
            </a:r>
            <a:endParaRPr lang="en-US" sz="1600" dirty="0"/>
          </a:p>
        </p:txBody>
      </p:sp>
      <p:sp>
        <p:nvSpPr>
          <p:cNvPr id="5" name="Text 0"/>
          <p:cNvSpPr/>
          <p:nvPr>
            <p:ph idx="100" type="title" hasCustomPrompt="1"/>
          </p:nvPr>
        </p:nvSpPr>
        <p:spPr>
          <a:xfrm>
            <a:off x="548640" y="2331720"/>
            <a:ext cx="74980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600" b="1" dirty="0">
                <a:solidFill>
                  <a:srgbClr val="FBF7E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Das Schlüsselproblem</a:t>
            </a:r>
            <a:endParaRPr lang="en-US" sz="4600" dirty="0"/>
          </a:p>
        </p:txBody>
      </p:sp>
      <p:sp>
        <p:nvSpPr>
          <p:cNvPr id="6" name="Text 0"/>
          <p:cNvSpPr/>
          <p:nvPr>
            <p:ph idx="101" type="body" hasCustomPrompt="1"/>
          </p:nvPr>
        </p:nvSpPr>
        <p:spPr>
          <a:xfrm>
            <a:off x="548640" y="393192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Wie vereinbart man ein Geheimnis, während alle zuhören?</a:t>
            </a:r>
            <a:endParaRPr lang="en-US" sz="2200" dirty="0"/>
          </a:p>
        </p:txBody>
      </p:sp>
      <p:sp>
        <p:nvSpPr>
          <p:cNvPr id="7" name="Text 3"/>
          <p:cNvSpPr txBox="1"/>
          <p:nvPr/>
        </p:nvSpPr>
        <p:spPr>
          <a:xfrm>
            <a:off x="548640" y="61722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400" kern="0" dirty="0">
                <a:solidFill>
                  <a:srgbClr val="D9A441"/>
                </a:solidFill>
              </a:rPr>
              <a:t>KRYPTOS · DIE ZEITREISE DER GEHEIMSCHRIFTEN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1325880" y="347472"/>
            <a:ext cx="1031717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BF7E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Der Brief mit dem verlorenen Schlüssel</a:t>
            </a:r>
            <a:endParaRPr lang="en-US" sz="3000" dirty="0"/>
          </a:p>
        </p:txBody>
      </p:sp>
      <p:sp>
        <p:nvSpPr>
          <p:cNvPr id="3" name="Dokument"/>
          <p:cNvSpPr/>
          <p:nvPr/>
        </p:nvSpPr>
        <p:spPr>
          <a:xfrm rot="-72000">
            <a:off x="1554480" y="1417320"/>
            <a:ext cx="9052560" cy="1965960"/>
          </a:xfrm>
          <a:prstGeom prst="rect">
            <a:avLst/>
          </a:prstGeom>
          <a:solidFill>
            <a:srgbClr val="FBF7EE"/>
          </a:solidFill>
          <a:ln w="19050">
            <a:solidFill>
              <a:srgbClr val="B07D2B"/>
            </a:solidFill>
            <a:prstDash val="solid"/>
          </a:ln>
          <a:effectLst>
            <a:outerShdw sx="100000" sy="100000" kx="0" ky="0" algn="bl" rotWithShape="0" blurRad="152400" dist="76200" dir="5400000">
              <a:srgbClr val="000000">
                <a:alpha val="45000"/>
              </a:srgbClr>
            </a:outerShdw>
          </a:effectLst>
        </p:spPr>
      </p:sp>
      <p:sp>
        <p:nvSpPr>
          <p:cNvPr id="4" name="Text 2"/>
          <p:cNvSpPr txBox="1"/>
          <p:nvPr/>
        </p:nvSpPr>
        <p:spPr>
          <a:xfrm rot="-72000">
            <a:off x="1874520" y="1581912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1E7B4F"/>
                </a:solidFill>
              </a:rPr>
              <a:t>FERNSCHREIBEN · NOTVERFAHREN – NUR VERSCHIEBUNG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 rot="-72000">
            <a:off x="1874520" y="1965960"/>
            <a:ext cx="84124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3000" b="1" spc="300" kern="0" dirty="0">
                <a:solidFill>
                  <a:srgbClr val="1B1B1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TDARN ATJVW RNJWB LQUDN BBNUE</a:t>
            </a:r>
            <a:endParaRPr lang="en-US" sz="30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3000" b="1" spc="300" kern="0" dirty="0">
                <a:solidFill>
                  <a:srgbClr val="1B1B1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NAUXA NW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3794760"/>
            <a:ext cx="10728655" cy="3865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FBF7EE"/>
                </a:solidFill>
              </a:rPr>
              <a:t>Was steht da – und was lernen wir daraus?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4309364"/>
            <a:ext cx="10728655" cy="3246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FBF7EE"/>
                </a:solidFill>
              </a:rPr>
              <a:t>Nummerierung A = 1 … Z = 26 · Chiffrierscheibe bereitlegen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D9A44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1325880" y="347472"/>
            <a:ext cx="1031717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Warm-up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1463040" cy="384048"/>
          </a:xfrm>
          <a:prstGeom prst="rect">
            <a:avLst/>
          </a:prstGeom>
          <a:solidFill>
            <a:srgbClr val="1E7B4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300" kern="0" dirty="0">
                <a:solidFill>
                  <a:srgbClr val="FFFFFF"/>
                </a:solidFill>
              </a:rPr>
              <a:t>AUFTRAG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2148840" y="1325880"/>
            <a:ext cx="1636776" cy="384048"/>
          </a:xfrm>
          <a:prstGeom prst="rect">
            <a:avLst/>
          </a:prstGeom>
          <a:solidFill>
            <a:srgbClr val="F2EAD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B1B1F"/>
                </a:solidFill>
              </a:rPr>
              <a:t>Einzelarbeit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3922776" y="1325880"/>
            <a:ext cx="978408" cy="384048"/>
          </a:xfrm>
          <a:prstGeom prst="rect">
            <a:avLst/>
          </a:prstGeom>
          <a:solidFill>
            <a:srgbClr val="F2EAD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B1B1F"/>
                </a:solidFill>
              </a:rPr>
              <a:t>10 min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965960"/>
            <a:ext cx="11094415" cy="3865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1B1B1F"/>
                </a:solidFill>
              </a:rPr>
              <a:t>Lab → </a:t>
            </a:r>
            <a:r>
              <a:rPr lang="en-US" sz="2200" b="1" dirty="0">
                <a:solidFill>
                  <a:srgbClr val="1B1B1F"/>
                </a:solidFill>
              </a:rPr>
              <a:t>Warm-up W4</a:t>
            </a:r>
            <a:r>
              <a:rPr lang="en-US" sz="2200" dirty="0">
                <a:solidFill>
                  <a:srgbClr val="1B1B1F"/>
                </a:solidFill>
              </a:rPr>
              <a:t> (3 Karten)</a:t>
            </a:r>
            <a:endParaRPr lang="en-US" sz="22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480564"/>
          <a:ext cx="1097280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59536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WU-W4-02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XOR (W3): </a:t>
                      </a:r>
                      <a:r>
                        <a:rPr lang="en-US" sz="20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1011 0110</a:t>
                      </a:r>
                      <a:r>
                        <a:rPr lang="en-US" sz="20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⊕ </a:t>
                      </a:r>
                      <a:r>
                        <a:rPr lang="en-US" sz="20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0110 0011</a:t>
                      </a:r>
                      <a:r>
                        <a:rPr lang="en-US" sz="20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= ?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WU-W4-03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Caesar (W0): w mit k = 7 verschlüsseln (A = 1 … Z = 26)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WU-W4-09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Inverses (W1): 3 · ? mod 26 = 1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4A5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1645920" y="2651760"/>
            <a:ext cx="9601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BF7E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Jede mit jedem</a:t>
            </a:r>
            <a:endParaRPr lang="en-US" sz="4000" dirty="0"/>
          </a:p>
        </p:txBody>
      </p:sp>
      <p:sp>
        <p:nvSpPr>
          <p:cNvPr id="3" name="Text 1"/>
          <p:cNvSpPr txBox="1"/>
          <p:nvPr/>
        </p:nvSpPr>
        <p:spPr>
          <a:xfrm>
            <a:off x="1645920" y="3749040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D9A441"/>
                </a:solidFill>
              </a:rPr>
              <a:t>Die Bank hat 30 Filialen – wie viele Kuriere braucht sie?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D9A44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1325880" y="347472"/>
            <a:ext cx="1031717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Das Kurierproblem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5364328" cy="727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1B1B1F"/>
                </a:solidFill>
              </a:rPr>
              <a:t>•  Symmetrisch: </a:t>
            </a:r>
            <a:r>
              <a:rPr lang="en-US" sz="2200" b="1" dirty="0">
                <a:solidFill>
                  <a:srgbClr val="1B1B1F"/>
                </a:solidFill>
              </a:rPr>
              <a:t>ein gemeinsamer Schlüssel</a:t>
            </a:r>
            <a:r>
              <a:rPr lang="en-US" sz="2200" dirty="0">
                <a:solidFill>
                  <a:srgbClr val="1B1B1F"/>
                </a:solidFill>
              </a:rPr>
              <a:t> je Paar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181352"/>
            <a:ext cx="5364328" cy="727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1B1B1F"/>
                </a:solidFill>
              </a:rPr>
              <a:t>•  Jeder Schlüssel muss </a:t>
            </a:r>
            <a:r>
              <a:rPr lang="en-US" sz="2200" b="1" dirty="0">
                <a:solidFill>
                  <a:srgbClr val="1B1B1F"/>
                </a:solidFill>
              </a:rPr>
              <a:t>vorher geheim</a:t>
            </a:r>
            <a:r>
              <a:rPr lang="en-US" sz="2200" dirty="0">
                <a:solidFill>
                  <a:srgbClr val="1B1B1F"/>
                </a:solidFill>
              </a:rPr>
              <a:t> übergeben werden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3036824"/>
            <a:ext cx="5364328" cy="727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1B1B1F"/>
                </a:solidFill>
              </a:rPr>
              <a:t>•  Kuriere können abgefangen, bestochen, verloren werden</a:t>
            </a:r>
            <a:endParaRPr lang="en-US" sz="22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3892296"/>
            <a:ext cx="5364328" cy="727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1B1B1F"/>
                </a:solidFill>
              </a:rPr>
              <a:t>•  Je mehr Teilnehmende, desto mehr Kuriere</a:t>
            </a:r>
            <a:endParaRPr lang="en-US" sz="2200" dirty="0"/>
          </a:p>
        </p:txBody>
      </p:sp>
      <p:pic>
        <p:nvPicPr>
          <p:cNvPr id="7" name="Image 0" descr="schaubil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78728" y="1325880"/>
            <a:ext cx="5364328" cy="3045554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4A5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1325880" y="347472"/>
            <a:ext cx="1031717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Wie viele Schlüssel?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6437193" cy="3865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1B1B1F"/>
                </a:solidFill>
              </a:rPr>
              <a:t>1.  Jede Person hat n − 1 Partner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840484"/>
            <a:ext cx="6437193" cy="3865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1B1B1F"/>
                </a:solidFill>
              </a:rPr>
              <a:t>2.  n · (n − 1) Enden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355088"/>
            <a:ext cx="6437193" cy="727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1B1B1F"/>
                </a:solidFill>
              </a:rPr>
              <a:t>3.  jede Verbindung zweimal gezählt → </a:t>
            </a:r>
            <a:r>
              <a:rPr lang="en-US" sz="2200" b="1" dirty="0">
                <a:solidFill>
                  <a:srgbClr val="1B1B1F"/>
                </a:solidFill>
              </a:rPr>
              <a:t>n(n − 1)/2</a:t>
            </a:r>
            <a:endParaRPr lang="en-US" sz="22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3210560"/>
            <a:ext cx="6437193" cy="727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1B1B1F"/>
                </a:solidFill>
              </a:rPr>
              <a:t>4.  asymmetrisch: ein Schlüsselpaar je Person → </a:t>
            </a:r>
            <a:r>
              <a:rPr lang="en-US" sz="2200" b="1" dirty="0">
                <a:solidFill>
                  <a:srgbClr val="1B1B1F"/>
                </a:solidFill>
              </a:rPr>
              <a:t>2n</a:t>
            </a:r>
            <a:endParaRPr lang="en-US" sz="22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4066032"/>
          <a:ext cx="6437193" cy="914400"/>
        </p:xfrm>
        <a:graphic>
          <a:graphicData uri="http://schemas.openxmlformats.org/drawingml/2006/table">
            <a:tbl>
              <a:tblPr/>
              <a:tblGrid>
                <a:gridCol w="2145731"/>
                <a:gridCol w="2145731"/>
                <a:gridCol w="2145731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symmetrisch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asymmetrisch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435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8" name="Image 0" descr="bil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85644" y="1325880"/>
            <a:ext cx="4023360" cy="347472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4A5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1325880" y="347472"/>
            <a:ext cx="1031717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Falle P7 · Schlüsselanzahl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11094415" cy="7731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1B1B1F"/>
                </a:solidFill>
              </a:rPr>
              <a:t>Symmetrisch jede Verbindung </a:t>
            </a:r>
            <a:r>
              <a:rPr lang="en-US" sz="2200" b="1" dirty="0">
                <a:solidFill>
                  <a:srgbClr val="1B1B1F"/>
                </a:solidFill>
              </a:rPr>
              <a:t>einmal</a:t>
            </a:r>
            <a:r>
              <a:rPr lang="en-US" sz="2200" dirty="0">
                <a:solidFill>
                  <a:srgbClr val="1B1B1F"/>
                </a:solidFill>
              </a:rPr>
              <a:t> zählen, asymmetrisch jedes Schlüsselpaar als </a:t>
            </a:r>
            <a:r>
              <a:rPr lang="en-US" sz="2200" b="1" dirty="0">
                <a:solidFill>
                  <a:srgbClr val="1B1B1F"/>
                </a:solidFill>
              </a:rPr>
              <a:t>zwei</a:t>
            </a:r>
            <a:r>
              <a:rPr lang="en-US" sz="2200" dirty="0">
                <a:solidFill>
                  <a:srgbClr val="1B1B1F"/>
                </a:solidFill>
              </a:rPr>
              <a:t> Schlüssel.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548640" y="2281936"/>
            <a:ext cx="5364328" cy="2625344"/>
          </a:xfrm>
          <a:prstGeom prst="roundRect">
            <a:avLst>
              <a:gd name="adj" fmla="val 2786"/>
            </a:avLst>
          </a:prstGeom>
          <a:solidFill>
            <a:srgbClr val="FDF3F2"/>
          </a:solidFill>
          <a:ln w="15875">
            <a:solidFill>
              <a:srgbClr val="B3261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2464816"/>
            <a:ext cx="48156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B3261E"/>
                </a:solidFill>
              </a:rPr>
              <a:t>SO NICHT  ✗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967736"/>
            <a:ext cx="4815688" cy="727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1B1B1F"/>
                </a:solidFill>
              </a:rPr>
              <a:t>10 Personen → 10 · 9 = </a:t>
            </a:r>
            <a:r>
              <a:rPr lang="en-US" sz="2200" b="1" dirty="0">
                <a:solidFill>
                  <a:srgbClr val="1B1B1F"/>
                </a:solidFill>
              </a:rPr>
              <a:t>90</a:t>
            </a:r>
            <a:r>
              <a:rPr lang="en-US" sz="2200" dirty="0">
                <a:solidFill>
                  <a:srgbClr val="1B1B1F"/>
                </a:solidFill>
              </a:rPr>
              <a:t> Schlüssel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3823208"/>
            <a:ext cx="4815688" cy="727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1B1B1F"/>
                </a:solidFill>
              </a:rPr>
              <a:t>asymmetrisch </a:t>
            </a:r>
            <a:r>
              <a:rPr lang="en-US" sz="2200" b="1" dirty="0">
                <a:solidFill>
                  <a:srgbClr val="1B1B1F"/>
                </a:solidFill>
              </a:rPr>
              <a:t>10</a:t>
            </a:r>
            <a:r>
              <a:rPr lang="en-US" sz="2200" dirty="0">
                <a:solidFill>
                  <a:srgbClr val="1B1B1F"/>
                </a:solidFill>
              </a:rPr>
              <a:t> Schlüssel (ein Paar = 1)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6278728" y="2281936"/>
            <a:ext cx="5364328" cy="2284476"/>
          </a:xfrm>
          <a:prstGeom prst="roundRect">
            <a:avLst>
              <a:gd name="adj" fmla="val 3202"/>
            </a:avLst>
          </a:prstGeom>
          <a:solidFill>
            <a:srgbClr val="EEF6EE"/>
          </a:solidFill>
          <a:ln w="15875">
            <a:solidFill>
              <a:srgbClr val="2E7D3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553048" y="2464816"/>
            <a:ext cx="48156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2E7D32"/>
                </a:solidFill>
              </a:rPr>
              <a:t>SO RICHTIG  ✓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6553048" y="2967736"/>
            <a:ext cx="4815688" cy="3865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1B1B1F"/>
                </a:solidFill>
              </a:rPr>
              <a:t>10 · 9/2 = </a:t>
            </a:r>
            <a:r>
              <a:rPr lang="en-US" sz="2200" b="1" dirty="0">
                <a:solidFill>
                  <a:srgbClr val="1B1B1F"/>
                </a:solidFill>
              </a:rPr>
              <a:t>45</a:t>
            </a:r>
            <a:r>
              <a:rPr lang="en-US" sz="2200" dirty="0">
                <a:solidFill>
                  <a:srgbClr val="1B1B1F"/>
                </a:solidFill>
              </a:rPr>
              <a:t> Schlüssel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6553048" y="3482340"/>
            <a:ext cx="4815688" cy="727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1B1B1F"/>
                </a:solidFill>
              </a:rPr>
              <a:t>asymmetrisch </a:t>
            </a:r>
            <a:r>
              <a:rPr lang="en-US" sz="2200" b="1" dirty="0">
                <a:solidFill>
                  <a:srgbClr val="1B1B1F"/>
                </a:solidFill>
              </a:rPr>
              <a:t>20</a:t>
            </a:r>
            <a:r>
              <a:rPr lang="en-US" sz="2200" dirty="0">
                <a:solidFill>
                  <a:srgbClr val="1B1B1F"/>
                </a:solidFill>
              </a:rPr>
              <a:t> Schlüssel (10 Paare)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4A5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1325880" y="347472"/>
            <a:ext cx="1031717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Das asymmetrische Prinzip</a:t>
            </a:r>
            <a:endParaRPr lang="en-US" sz="3000" dirty="0"/>
          </a:p>
        </p:txBody>
      </p:sp>
      <p:sp>
        <p:nvSpPr>
          <p:cNvPr id="3" name="Merke-Kasten"/>
          <p:cNvSpPr/>
          <p:nvPr/>
        </p:nvSpPr>
        <p:spPr>
          <a:xfrm>
            <a:off x="1097280" y="1508760"/>
            <a:ext cx="9997135" cy="3060192"/>
          </a:xfrm>
          <a:prstGeom prst="roundRect">
            <a:avLst>
              <a:gd name="adj" fmla="val 2988"/>
            </a:avLst>
          </a:prstGeom>
          <a:solidFill>
            <a:srgbClr val="FBF3E2"/>
          </a:solidFill>
          <a:ln w="19050">
            <a:solidFill>
              <a:srgbClr val="B07D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1508760" y="1737360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rgbClr val="8A5F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MERKE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1508760" y="2240280"/>
            <a:ext cx="9174175" cy="3865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1B1B1F"/>
                </a:solidFill>
              </a:rPr>
              <a:t>Jede Person hat ein </a:t>
            </a:r>
            <a:r>
              <a:rPr lang="en-US" sz="2200" b="1" dirty="0">
                <a:solidFill>
                  <a:srgbClr val="1B1B1F"/>
                </a:solidFill>
              </a:rPr>
              <a:t>Schlüsselpaar</a:t>
            </a:r>
            <a:r>
              <a:rPr lang="en-US" sz="2200" dirty="0">
                <a:solidFill>
                  <a:srgbClr val="1B1B1F"/>
                </a:solidFill>
              </a:rPr>
              <a:t>.</a:t>
            </a:r>
            <a:endParaRPr lang="en-US" sz="2200" dirty="0"/>
          </a:p>
        </p:txBody>
      </p:sp>
      <p:sp>
        <p:nvSpPr>
          <p:cNvPr id="6" name="Text 4"/>
          <p:cNvSpPr txBox="1"/>
          <p:nvPr/>
        </p:nvSpPr>
        <p:spPr>
          <a:xfrm>
            <a:off x="1508760" y="2754884"/>
            <a:ext cx="9174175" cy="727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1B1B1F"/>
                </a:solidFill>
              </a:rPr>
              <a:t>Mit dem </a:t>
            </a:r>
            <a:r>
              <a:rPr lang="en-US" sz="2200" b="1" dirty="0">
                <a:solidFill>
                  <a:srgbClr val="1B1B1F"/>
                </a:solidFill>
              </a:rPr>
              <a:t>öffentlichen Schlüssel des Empfängers</a:t>
            </a:r>
            <a:r>
              <a:rPr lang="en-US" sz="2200" dirty="0">
                <a:solidFill>
                  <a:srgbClr val="1B1B1F"/>
                </a:solidFill>
              </a:rPr>
              <a:t> wird verschlüsselt, nur sein </a:t>
            </a:r>
            <a:r>
              <a:rPr lang="en-US" sz="2200" b="1" dirty="0">
                <a:solidFill>
                  <a:srgbClr val="1B1B1F"/>
                </a:solidFill>
              </a:rPr>
              <a:t>privater Schlüssel</a:t>
            </a:r>
            <a:r>
              <a:rPr lang="en-US" sz="2200" dirty="0">
                <a:solidFill>
                  <a:srgbClr val="1B1B1F"/>
                </a:solidFill>
              </a:rPr>
              <a:t> entschlüsselt.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1508760" y="3610356"/>
            <a:ext cx="9174175" cy="3865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1B1B1F"/>
                </a:solidFill>
              </a:rPr>
              <a:t>Der private Schlüssel verlässt nie seinen Besitzer.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4A5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1325880" y="347472"/>
            <a:ext cx="1031717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Vorhängeschloss und Fachbegriff</a:t>
            </a:r>
            <a:endParaRPr lang="en-US" sz="30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0972800" cy="914400"/>
        </p:xfrm>
        <a:graphic>
          <a:graphicData uri="http://schemas.openxmlformats.org/drawingml/2006/table">
            <a:tbl>
              <a:tblPr/>
              <a:tblGrid>
                <a:gridCol w="5486400"/>
                <a:gridCol w="548640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Vorhängeschloss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asymmetrisches Verfahren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offenes Schloss, von Bob verteilt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öffentlicher Schlüssel</a:t>
                      </a:r>
                      <a:r>
                        <a:rPr lang="en-US" sz="20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von Bob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Schloss zudrücken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verschlüsseln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Schlüssel zum Schloss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privater Schlüssel</a:t>
                      </a:r>
                      <a:r>
                        <a:rPr lang="en-US" sz="20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von Bob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nur Bob hat ihn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nur Bob kann entschlüsseln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3460496"/>
            <a:ext cx="11094415" cy="3865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1B1B1F"/>
                </a:solidFill>
              </a:rPr>
              <a:t>Grenze des Modells: Ein Schloss kann man </a:t>
            </a:r>
            <a:r>
              <a:rPr lang="en-US" sz="2200" b="1" dirty="0">
                <a:solidFill>
                  <a:srgbClr val="1B1B1F"/>
                </a:solidFill>
              </a:rPr>
              <a:t>aufbrechen</a:t>
            </a:r>
            <a:r>
              <a:rPr lang="en-US" sz="2200" dirty="0">
                <a:solidFill>
                  <a:srgbClr val="1B1B1F"/>
                </a:solidFill>
              </a:rPr>
              <a:t>.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4A5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1325880" y="347472"/>
            <a:ext cx="1031717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Einwegfunktion mit Falltür</a:t>
            </a:r>
            <a:endParaRPr lang="en-US" sz="30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078992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1005840"/>
                <a:gridCol w="1005840"/>
                <a:gridCol w="1005840"/>
                <a:gridCol w="1005840"/>
                <a:gridCol w="1005840"/>
                <a:gridCol w="1005840"/>
                <a:gridCol w="1005840"/>
                <a:gridCol w="100584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x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r>
                        <a:rPr lang="en-US" sz="1800" b="1" baseline="300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x</a:t>
                      </a:r>
                      <a:r>
                        <a:rPr lang="en-US" sz="18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mod 17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2194560"/>
            <a:ext cx="11094415" cy="3865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1B1B1F"/>
                </a:solidFill>
              </a:rPr>
              <a:t>•  vorwärts: </a:t>
            </a:r>
            <a:r>
              <a:rPr lang="en-US" sz="2200" b="1" dirty="0">
                <a:solidFill>
                  <a:srgbClr val="1B1B1F"/>
                </a:solidFill>
              </a:rPr>
              <a:t>leicht</a:t>
            </a:r>
            <a:r>
              <a:rPr lang="en-US" sz="2200" dirty="0">
                <a:solidFill>
                  <a:srgbClr val="1B1B1F"/>
                </a:solidFill>
              </a:rPr>
              <a:t> (multiplizieren, mod 17)</a:t>
            </a:r>
            <a:endParaRPr lang="en-US" sz="22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2709164"/>
            <a:ext cx="11094415" cy="3865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1B1B1F"/>
                </a:solidFill>
              </a:rPr>
              <a:t>•  rückwärts „3</a:t>
            </a:r>
            <a:r>
              <a:rPr lang="en-US" sz="2200" baseline="30000" dirty="0">
                <a:solidFill>
                  <a:srgbClr val="1B1B1F"/>
                </a:solidFill>
              </a:rPr>
              <a:t>x</a:t>
            </a:r>
            <a:r>
              <a:rPr lang="en-US" sz="2200" dirty="0">
                <a:solidFill>
                  <a:srgbClr val="1B1B1F"/>
                </a:solidFill>
              </a:rPr>
              <a:t> mod 17 = 12, x = ?“: nur </a:t>
            </a:r>
            <a:r>
              <a:rPr lang="en-US" sz="2200" b="1" dirty="0">
                <a:solidFill>
                  <a:srgbClr val="1B1B1F"/>
                </a:solidFill>
              </a:rPr>
              <a:t>suchen</a:t>
            </a:r>
            <a:endParaRPr lang="en-US" sz="22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3223768"/>
            <a:ext cx="11094415" cy="3865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1B1B1F"/>
                </a:solidFill>
              </a:rPr>
              <a:t>•  </a:t>
            </a:r>
            <a:r>
              <a:rPr lang="en-US" sz="2200" b="1" dirty="0">
                <a:solidFill>
                  <a:srgbClr val="1B1B1F"/>
                </a:solidFill>
              </a:rPr>
              <a:t>Falltür:</a:t>
            </a:r>
            <a:r>
              <a:rPr lang="en-US" sz="2200" dirty="0">
                <a:solidFill>
                  <a:srgbClr val="1B1B1F"/>
                </a:solidFill>
              </a:rPr>
              <a:t> Zusatzwissen (privater Schlüssel) macht die Umkehrung leicht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4A5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1645920" y="2651760"/>
            <a:ext cx="9601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BF7E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Diffie-Hellman · 1976</a:t>
            </a:r>
            <a:endParaRPr lang="en-US" sz="4000" dirty="0"/>
          </a:p>
        </p:txBody>
      </p:sp>
      <p:sp>
        <p:nvSpPr>
          <p:cNvPr id="3" name="Text 1"/>
          <p:cNvSpPr txBox="1"/>
          <p:nvPr/>
        </p:nvSpPr>
        <p:spPr>
          <a:xfrm>
            <a:off x="1645920" y="3749040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D9A441"/>
                </a:solidFill>
              </a:rPr>
              <a:t>ERGÄNZUNG · ein gemeinsamer Schlüssel über einen öffentlichen Kanal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D9A44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1325880" y="347472"/>
            <a:ext cx="1031717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Schlüssel mischen wie Farben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4506035" cy="3865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1B1B1F"/>
                </a:solidFill>
              </a:rPr>
              <a:t>•  </a:t>
            </a:r>
            <a:r>
              <a:rPr lang="en-US" sz="2200" b="1" dirty="0">
                <a:solidFill>
                  <a:srgbClr val="1B1B1F"/>
                </a:solidFill>
              </a:rPr>
              <a:t>Gelb</a:t>
            </a:r>
            <a:r>
              <a:rPr lang="en-US" sz="2200" dirty="0">
                <a:solidFill>
                  <a:srgbClr val="1B1B1F"/>
                </a:solidFill>
              </a:rPr>
              <a:t> ist öffentlich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840484"/>
            <a:ext cx="4506035" cy="727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1B1B1F"/>
                </a:solidFill>
              </a:rPr>
              <a:t>•  Alice mischt geheim </a:t>
            </a:r>
            <a:r>
              <a:rPr lang="en-US" sz="2200" b="1" dirty="0">
                <a:solidFill>
                  <a:srgbClr val="1B1B1F"/>
                </a:solidFill>
              </a:rPr>
              <a:t>Rot</a:t>
            </a:r>
            <a:r>
              <a:rPr lang="en-US" sz="2200" dirty="0">
                <a:solidFill>
                  <a:srgbClr val="1B1B1F"/>
                </a:solidFill>
              </a:rPr>
              <a:t> dazu, Bob geheim </a:t>
            </a:r>
            <a:r>
              <a:rPr lang="en-US" sz="2200" b="1" dirty="0">
                <a:solidFill>
                  <a:srgbClr val="1B1B1F"/>
                </a:solidFill>
              </a:rPr>
              <a:t>Blau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695956"/>
            <a:ext cx="4506035" cy="10683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1B1B1F"/>
                </a:solidFill>
              </a:rPr>
              <a:t>•  Mischungen austauschen, eigene Geheimfarbe dazu → </a:t>
            </a:r>
            <a:r>
              <a:rPr lang="en-US" sz="2200" b="1" dirty="0">
                <a:solidFill>
                  <a:srgbClr val="1B1B1F"/>
                </a:solidFill>
              </a:rPr>
              <a:t>gleiches Braun</a:t>
            </a:r>
            <a:endParaRPr lang="en-US" sz="22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3892296"/>
            <a:ext cx="4506035" cy="727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1B1B1F"/>
                </a:solidFill>
              </a:rPr>
              <a:t>•  Eve: Mischen leicht, </a:t>
            </a:r>
            <a:r>
              <a:rPr lang="en-US" sz="2200" b="1" dirty="0">
                <a:solidFill>
                  <a:srgbClr val="1B1B1F"/>
                </a:solidFill>
              </a:rPr>
              <a:t>Entmischen schwer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4747768"/>
            <a:ext cx="4506035" cy="3246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E7B4F"/>
                </a:solidFill>
              </a:rPr>
              <a:t>ERGÄNZUNG</a:t>
            </a:r>
            <a:r>
              <a:rPr lang="en-US" sz="1800" dirty="0">
                <a:solidFill>
                  <a:srgbClr val="1B1B1F"/>
                </a:solidFill>
              </a:rPr>
              <a:t> · Prinzip ist Kern</a:t>
            </a:r>
            <a:endParaRPr lang="en-US" sz="1800" dirty="0"/>
          </a:p>
        </p:txBody>
      </p:sp>
      <p:pic>
        <p:nvPicPr>
          <p:cNvPr id="8" name="Image 0" descr="schaubil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35533" y="1325880"/>
            <a:ext cx="5192425" cy="448056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4A5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1325880" y="347472"/>
            <a:ext cx="1031717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Diffie-Hellman mit Zahlen</a:t>
            </a:r>
            <a:endParaRPr lang="en-US" sz="30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4415" cy="914400"/>
        </p:xfrm>
        <a:graphic>
          <a:graphicData uri="http://schemas.openxmlformats.org/drawingml/2006/table">
            <a:tbl>
              <a:tblPr/>
              <a:tblGrid>
                <a:gridCol w="545627"/>
                <a:gridCol w="3637513"/>
                <a:gridCol w="3273762"/>
                <a:gridCol w="3637513"/>
              </a:tblGrid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Alice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öffentlich (Eve sieht alles)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Bob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 = 17, g = 3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geheim a = 4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geheim b = 6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= 3</a:t>
                      </a:r>
                      <a:r>
                        <a:rPr lang="en-US" sz="2000" baseline="300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r>
                        <a:rPr lang="en-US" sz="20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mod 17 = </a:t>
                      </a:r>
                      <a:r>
                        <a:rPr lang="en-US" sz="20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= 13 →   ← B = 15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 = 3</a:t>
                      </a:r>
                      <a:r>
                        <a:rPr lang="en-US" sz="2000" baseline="300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r>
                        <a:rPr lang="en-US" sz="20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mod 17 = </a:t>
                      </a:r>
                      <a:r>
                        <a:rPr lang="en-US" sz="20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 = 15</a:t>
                      </a:r>
                      <a:r>
                        <a:rPr lang="en-US" sz="2000" baseline="300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r>
                        <a:rPr lang="en-US" sz="20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mod 17 = </a:t>
                      </a:r>
                      <a:r>
                        <a:rPr lang="en-US" sz="20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 = 13</a:t>
                      </a:r>
                      <a:r>
                        <a:rPr lang="en-US" sz="2000" baseline="300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r>
                        <a:rPr lang="en-US" sz="20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mod 17 = </a:t>
                      </a:r>
                      <a:r>
                        <a:rPr lang="en-US" sz="20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3770376"/>
            <a:ext cx="11094415" cy="4485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600" dirty="0">
                <a:solidFill>
                  <a:srgbClr val="1B1B1F"/>
                </a:solidFill>
              </a:rPr>
              <a:t>Warum gleich?   (g</a:t>
            </a:r>
            <a:r>
              <a:rPr lang="en-US" sz="2600" baseline="30000" dirty="0">
                <a:solidFill>
                  <a:srgbClr val="1B1B1F"/>
                </a:solidFill>
              </a:rPr>
              <a:t>b</a:t>
            </a:r>
            <a:r>
              <a:rPr lang="en-US" sz="2600" dirty="0">
                <a:solidFill>
                  <a:srgbClr val="1B1B1F"/>
                </a:solidFill>
              </a:rPr>
              <a:t>)</a:t>
            </a:r>
            <a:r>
              <a:rPr lang="en-US" sz="2600" baseline="30000" dirty="0">
                <a:solidFill>
                  <a:srgbClr val="1B1B1F"/>
                </a:solidFill>
              </a:rPr>
              <a:t>a</a:t>
            </a:r>
            <a:r>
              <a:rPr lang="en-US" sz="2600" dirty="0">
                <a:solidFill>
                  <a:srgbClr val="1B1B1F"/>
                </a:solidFill>
              </a:rPr>
              <a:t> = (g</a:t>
            </a:r>
            <a:r>
              <a:rPr lang="en-US" sz="2600" baseline="30000" dirty="0">
                <a:solidFill>
                  <a:srgbClr val="1B1B1F"/>
                </a:solidFill>
              </a:rPr>
              <a:t>a</a:t>
            </a:r>
            <a:r>
              <a:rPr lang="en-US" sz="2600" dirty="0">
                <a:solidFill>
                  <a:srgbClr val="1B1B1F"/>
                </a:solidFill>
              </a:rPr>
              <a:t>)</a:t>
            </a:r>
            <a:r>
              <a:rPr lang="en-US" sz="2600" baseline="30000" dirty="0">
                <a:solidFill>
                  <a:srgbClr val="1B1B1F"/>
                </a:solidFill>
              </a:rPr>
              <a:t>b</a:t>
            </a:r>
            <a:r>
              <a:rPr lang="en-US" sz="2600" dirty="0">
                <a:solidFill>
                  <a:srgbClr val="1B1B1F"/>
                </a:solidFill>
              </a:rPr>
              <a:t> = g</a:t>
            </a:r>
            <a:r>
              <a:rPr lang="en-US" sz="2600" baseline="30000" dirty="0">
                <a:solidFill>
                  <a:srgbClr val="1B1B1F"/>
                </a:solidFill>
              </a:rPr>
              <a:t>ab</a:t>
            </a:r>
            <a:endParaRPr lang="en-US" sz="26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4346956"/>
            <a:ext cx="11094415" cy="3246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E7B4F"/>
                </a:solidFill>
              </a:rPr>
              <a:t>ERGÄNZUNG</a:t>
            </a:r>
            <a:r>
              <a:rPr lang="en-US" sz="1800" dirty="0">
                <a:solidFill>
                  <a:srgbClr val="1B1B1F"/>
                </a:solidFill>
              </a:rPr>
              <a:t> · nach jeder Multiplikation mod 17 reduzieren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4A5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1325880" y="347472"/>
            <a:ext cx="1031717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Warum Eve scheitert</a:t>
            </a:r>
            <a:endParaRPr lang="en-US" sz="30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078992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1005840"/>
                <a:gridCol w="1005840"/>
                <a:gridCol w="1005840"/>
                <a:gridCol w="1005840"/>
                <a:gridCol w="1005840"/>
                <a:gridCol w="1005840"/>
                <a:gridCol w="1005840"/>
                <a:gridCol w="100584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x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r>
                        <a:rPr lang="en-US" sz="1800" b="1" baseline="300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x</a:t>
                      </a:r>
                      <a:r>
                        <a:rPr lang="en-US" sz="18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mod 17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x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r>
                        <a:rPr lang="en-US" sz="1800" b="1" baseline="300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x</a:t>
                      </a:r>
                      <a:r>
                        <a:rPr lang="en-US" sz="18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mod 17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2935224"/>
            <a:ext cx="11094415" cy="3865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1B1B1F"/>
                </a:solidFill>
              </a:rPr>
              <a:t>•  Eve kennt p, g, A, B – sie braucht a oder b (</a:t>
            </a:r>
            <a:r>
              <a:rPr lang="en-US" sz="2200" b="1" dirty="0">
                <a:solidFill>
                  <a:srgbClr val="1B1B1F"/>
                </a:solidFill>
              </a:rPr>
              <a:t>diskreter Logarithmus</a:t>
            </a:r>
            <a:r>
              <a:rPr lang="en-US" sz="2200" dirty="0">
                <a:solidFill>
                  <a:srgbClr val="1B1B1F"/>
                </a:solidFill>
              </a:rPr>
              <a:t>)</a:t>
            </a:r>
            <a:endParaRPr lang="en-US" sz="22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3449828"/>
            <a:ext cx="11094415" cy="3865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1B1B1F"/>
                </a:solidFill>
              </a:rPr>
              <a:t>•  p = 17: Tabelle mit 16 Einträgen → A = 13 bei x = 4</a:t>
            </a:r>
            <a:endParaRPr lang="en-US" sz="22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3964432"/>
            <a:ext cx="11094415" cy="3865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1B1B1F"/>
                </a:solidFill>
              </a:rPr>
              <a:t>•  Praxis: p mit </a:t>
            </a:r>
            <a:r>
              <a:rPr lang="en-US" sz="2200" b="1" dirty="0">
                <a:solidFill>
                  <a:srgbClr val="1B1B1F"/>
                </a:solidFill>
              </a:rPr>
              <a:t>über 600 Dezimalstellen</a:t>
            </a:r>
            <a:r>
              <a:rPr lang="en-US" sz="2200" dirty="0">
                <a:solidFill>
                  <a:srgbClr val="1B1B1F"/>
                </a:solidFill>
              </a:rPr>
              <a:t>; g ist Primitivwurzel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4A5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1325880" y="347472"/>
            <a:ext cx="1031717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BF7E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Schlüsseltausch vor Eves Augen</a:t>
            </a:r>
            <a:endParaRPr lang="en-US" sz="3000" dirty="0"/>
          </a:p>
        </p:txBody>
      </p:sp>
      <p:pic>
        <p:nvPicPr>
          <p:cNvPr id="3" name="Image 0" descr="/tmp/kr_bildcache/qr_72e29757ebfd726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05695" y="4206240"/>
            <a:ext cx="1737360" cy="1737360"/>
          </a:xfrm>
          <a:prstGeom prst="rect">
            <a:avLst/>
          </a:prstGeom>
        </p:spPr>
      </p:pic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1417320"/>
          <a:ext cx="3340486" cy="914400"/>
        </p:xfrm>
        <a:graphic>
          <a:graphicData uri="http://schemas.openxmlformats.org/drawingml/2006/table">
            <a:tbl>
              <a:tblPr/>
              <a:tblGrid>
                <a:gridCol w="1113495"/>
                <a:gridCol w="2226991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Rollen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Alice-Teams ↔ Bob-Teams, Eve-Team(s)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Runde 1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 = 23, g = 5 · Karten 3 … 10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Runde 2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 = 101, g = 2 · Karten 20 … 90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Ziel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Alice/Bob: gleiches K · Eve: K erraten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5" name="Image 1" descr="schaubil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84941" y="1417320"/>
            <a:ext cx="4716379" cy="448056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D9A44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1325880" y="347472"/>
            <a:ext cx="1031717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Was haben wir gesehen?</a:t>
            </a:r>
            <a:endParaRPr lang="en-US" sz="30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097280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4389120"/>
                <a:gridCol w="4389120"/>
              </a:tblGrid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Alice und Bob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Eve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Runde 1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je eine kurze Rechnung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gewinnt mit einer 22er-Tabelle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Runde 2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je eine Rechnung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bis zu 100 Versuche je Paar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Aufwand wächst mit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der </a:t>
                      </a:r>
                      <a:r>
                        <a:rPr lang="en-US" sz="20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Stellenzahl</a:t>
                      </a:r>
                      <a:r>
                        <a:rPr lang="en-US" sz="20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von p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der </a:t>
                      </a:r>
                      <a:r>
                        <a:rPr lang="en-US" sz="20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Größe</a:t>
                      </a:r>
                      <a:r>
                        <a:rPr lang="en-US" sz="20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von p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3369056"/>
            <a:ext cx="11094415" cy="3865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1B1B1F"/>
                </a:solidFill>
              </a:rPr>
              <a:t>Achtung: Eve hört nur zu. Wer </a:t>
            </a:r>
            <a:r>
              <a:rPr lang="en-US" sz="2200" b="1" dirty="0">
                <a:solidFill>
                  <a:srgbClr val="1B1B1F"/>
                </a:solidFill>
              </a:rPr>
              <a:t>aktiv</a:t>
            </a:r>
            <a:r>
              <a:rPr lang="en-US" sz="2200" dirty="0">
                <a:solidFill>
                  <a:srgbClr val="1B1B1F"/>
                </a:solidFill>
              </a:rPr>
              <a:t> Zahlen austauscht, ist </a:t>
            </a:r>
            <a:r>
              <a:rPr lang="en-US" sz="2200" b="1" dirty="0">
                <a:solidFill>
                  <a:srgbClr val="1B1B1F"/>
                </a:solidFill>
              </a:rPr>
              <a:t>Mallory</a:t>
            </a:r>
            <a:r>
              <a:rPr lang="en-US" sz="2200" dirty="0">
                <a:solidFill>
                  <a:srgbClr val="1B1B1F"/>
                </a:solidFill>
              </a:rPr>
              <a:t> (W5).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4A5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1325880" y="347472"/>
            <a:ext cx="1031717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Merke · Level 4.1</a:t>
            </a:r>
            <a:endParaRPr lang="en-US" sz="3000" dirty="0"/>
          </a:p>
        </p:txBody>
      </p:sp>
      <p:sp>
        <p:nvSpPr>
          <p:cNvPr id="3" name="Merke-Kasten"/>
          <p:cNvSpPr/>
          <p:nvPr/>
        </p:nvSpPr>
        <p:spPr>
          <a:xfrm>
            <a:off x="1097280" y="1508760"/>
            <a:ext cx="9997135" cy="3388868"/>
          </a:xfrm>
          <a:prstGeom prst="roundRect">
            <a:avLst>
              <a:gd name="adj" fmla="val 2698"/>
            </a:avLst>
          </a:prstGeom>
          <a:solidFill>
            <a:srgbClr val="FBF3E2"/>
          </a:solidFill>
          <a:ln w="19050">
            <a:solidFill>
              <a:srgbClr val="B07D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1508760" y="1737360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rgbClr val="8A5F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MERKE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1508760" y="2240280"/>
            <a:ext cx="9174175" cy="3865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1B1B1F"/>
                </a:solidFill>
              </a:rPr>
              <a:t>Symmetrisch </a:t>
            </a:r>
            <a:r>
              <a:rPr lang="en-US" sz="2200" b="1" dirty="0">
                <a:solidFill>
                  <a:srgbClr val="1B1B1F"/>
                </a:solidFill>
              </a:rPr>
              <a:t>n(n − 1)/2</a:t>
            </a:r>
            <a:r>
              <a:rPr lang="en-US" sz="2200" dirty="0">
                <a:solidFill>
                  <a:srgbClr val="1B1B1F"/>
                </a:solidFill>
              </a:rPr>
              <a:t>, asymmetrisch </a:t>
            </a:r>
            <a:r>
              <a:rPr lang="en-US" sz="2200" b="1" dirty="0">
                <a:solidFill>
                  <a:srgbClr val="1B1B1F"/>
                </a:solidFill>
              </a:rPr>
              <a:t>2n</a:t>
            </a:r>
            <a:r>
              <a:rPr lang="en-US" sz="2200" dirty="0">
                <a:solidFill>
                  <a:srgbClr val="1B1B1F"/>
                </a:solidFill>
              </a:rPr>
              <a:t> Schlüssel.</a:t>
            </a:r>
            <a:endParaRPr lang="en-US" sz="2200" dirty="0"/>
          </a:p>
        </p:txBody>
      </p:sp>
      <p:sp>
        <p:nvSpPr>
          <p:cNvPr id="6" name="Text 4"/>
          <p:cNvSpPr txBox="1"/>
          <p:nvPr/>
        </p:nvSpPr>
        <p:spPr>
          <a:xfrm>
            <a:off x="1508760" y="2754884"/>
            <a:ext cx="9174175" cy="727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1B1B1F"/>
                </a:solidFill>
              </a:rPr>
              <a:t>Asymmetrisch: </a:t>
            </a:r>
            <a:r>
              <a:rPr lang="en-US" sz="2200" b="1" dirty="0">
                <a:solidFill>
                  <a:srgbClr val="1B1B1F"/>
                </a:solidFill>
              </a:rPr>
              <a:t>öffentlicher</a:t>
            </a:r>
            <a:r>
              <a:rPr lang="en-US" sz="2200" dirty="0">
                <a:solidFill>
                  <a:srgbClr val="1B1B1F"/>
                </a:solidFill>
              </a:rPr>
              <a:t> Schlüssel verschlüsselt, </a:t>
            </a:r>
            <a:r>
              <a:rPr lang="en-US" sz="2200" b="1" dirty="0">
                <a:solidFill>
                  <a:srgbClr val="1B1B1F"/>
                </a:solidFill>
              </a:rPr>
              <a:t>privater</a:t>
            </a:r>
            <a:r>
              <a:rPr lang="en-US" sz="2200" dirty="0">
                <a:solidFill>
                  <a:srgbClr val="1B1B1F"/>
                </a:solidFill>
              </a:rPr>
              <a:t> entschlüsselt. Sicherheit durch </a:t>
            </a:r>
            <a:r>
              <a:rPr lang="en-US" sz="2200" b="1" dirty="0">
                <a:solidFill>
                  <a:srgbClr val="1B1B1F"/>
                </a:solidFill>
              </a:rPr>
              <a:t>Einwegfunktionen</a:t>
            </a:r>
            <a:r>
              <a:rPr lang="en-US" sz="2200" dirty="0">
                <a:solidFill>
                  <a:srgbClr val="1B1B1F"/>
                </a:solidFill>
              </a:rPr>
              <a:t>.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1508760" y="3610356"/>
            <a:ext cx="9174175" cy="3865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1B1B1F"/>
                </a:solidFill>
              </a:rPr>
              <a:t>Diffie-Hellman: K = g</a:t>
            </a:r>
            <a:r>
              <a:rPr lang="en-US" sz="2200" baseline="30000" dirty="0">
                <a:solidFill>
                  <a:srgbClr val="1B1B1F"/>
                </a:solidFill>
              </a:rPr>
              <a:t>ab</a:t>
            </a:r>
            <a:r>
              <a:rPr lang="en-US" sz="2200" dirty="0">
                <a:solidFill>
                  <a:srgbClr val="1B1B1F"/>
                </a:solidFill>
              </a:rPr>
              <a:t> mod p über einen öffentlichen Kanal.</a:t>
            </a:r>
            <a:endParaRPr lang="en-US" sz="2200" dirty="0"/>
          </a:p>
        </p:txBody>
      </p:sp>
      <p:sp>
        <p:nvSpPr>
          <p:cNvPr id="8" name="Text 6"/>
          <p:cNvSpPr txBox="1"/>
          <p:nvPr/>
        </p:nvSpPr>
        <p:spPr>
          <a:xfrm>
            <a:off x="1508760" y="4124960"/>
            <a:ext cx="9174175" cy="3246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1B1B1F"/>
                </a:solidFill>
              </a:rPr>
              <a:t>Hausaufgabe: Lab Level 4.1 (mind. 5 Aufgaben), Akte W4·1 Aufträge 4–5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4A5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Chiffrierscheibe" descr="/tmp/kr_bildcache/scheibe_6cd9063a74b3a87c.png">    </p:cNvPr>
          <p:cNvPicPr>
            <a:picLocks noChangeAspect="1"/>
          </p:cNvPicPr>
          <p:nvPr/>
        </p:nvPicPr>
        <p:blipFill>
          <a:blip r:embed="rId1">
            <a:alphaModFix amt="45000"/>
          </a:blip>
          <a:stretch>
            <a:fillRect/>
          </a:stretch>
        </p:blipFill>
        <p:spPr>
          <a:xfrm>
            <a:off x="7223760" y="-1005840"/>
            <a:ext cx="6766560" cy="6766560"/>
          </a:xfrm>
          <a:prstGeom prst="rect">
            <a:avLst/>
          </a:prstGeom>
        </p:spPr>
      </p:pic>
      <p:pic>
        <p:nvPicPr>
          <p:cNvPr id="3" name="Image 1" descr="/tmp/kr_bildcache/siegel4_389cf3499eedcdb7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85800"/>
            <a:ext cx="1005840" cy="100584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548640" y="1828800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300" kern="0" dirty="0">
                <a:solidFill>
                  <a:srgbClr val="5FD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WELT 4 · MIT · 1977</a:t>
            </a:r>
            <a:endParaRPr lang="en-US" sz="1600" dirty="0"/>
          </a:p>
        </p:txBody>
      </p:sp>
      <p:sp>
        <p:nvSpPr>
          <p:cNvPr id="5" name="Text 0"/>
          <p:cNvSpPr/>
          <p:nvPr>
            <p:ph idx="100" type="title" hasCustomPrompt="1"/>
          </p:nvPr>
        </p:nvSpPr>
        <p:spPr>
          <a:xfrm>
            <a:off x="548640" y="2331720"/>
            <a:ext cx="74980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600" b="1" dirty="0">
                <a:solidFill>
                  <a:srgbClr val="FBF7E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RSA und das hybride Prinzip</a:t>
            </a:r>
            <a:endParaRPr lang="en-US" sz="4600" dirty="0"/>
          </a:p>
        </p:txBody>
      </p:sp>
      <p:sp>
        <p:nvSpPr>
          <p:cNvPr id="6" name="Text 0"/>
          <p:cNvSpPr/>
          <p:nvPr>
            <p:ph idx="101" type="body" hasCustomPrompt="1"/>
          </p:nvPr>
        </p:nvSpPr>
        <p:spPr>
          <a:xfrm>
            <a:off x="548640" y="393192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Multiplizieren ist leicht – Zerlegen ist schwer</a:t>
            </a:r>
            <a:endParaRPr lang="en-US" sz="2200" dirty="0"/>
          </a:p>
        </p:txBody>
      </p:sp>
      <p:sp>
        <p:nvSpPr>
          <p:cNvPr id="7" name="Text 3"/>
          <p:cNvSpPr txBox="1"/>
          <p:nvPr/>
        </p:nvSpPr>
        <p:spPr>
          <a:xfrm>
            <a:off x="548640" y="61722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400" kern="0" dirty="0">
                <a:solidFill>
                  <a:srgbClr val="D9A441"/>
                </a:solidFill>
              </a:rPr>
              <a:t>KRYPTOS · DIE ZEITREISE DER GEHEIMSCHRIFTEN</a:t>
            </a:r>
            <a:endParaRPr lang="en-US" sz="12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1325880" y="347472"/>
            <a:ext cx="1031717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Warm-up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1463040" cy="384048"/>
          </a:xfrm>
          <a:prstGeom prst="rect">
            <a:avLst/>
          </a:prstGeom>
          <a:solidFill>
            <a:srgbClr val="1E7B4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300" kern="0" dirty="0">
                <a:solidFill>
                  <a:srgbClr val="FFFFFF"/>
                </a:solidFill>
              </a:rPr>
              <a:t>AUFTRAG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2148840" y="1325880"/>
            <a:ext cx="1636776" cy="384048"/>
          </a:xfrm>
          <a:prstGeom prst="rect">
            <a:avLst/>
          </a:prstGeom>
          <a:solidFill>
            <a:srgbClr val="F2EAD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B1B1F"/>
                </a:solidFill>
              </a:rPr>
              <a:t>Einzelarbeit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3922776" y="1325880"/>
            <a:ext cx="978408" cy="384048"/>
          </a:xfrm>
          <a:prstGeom prst="rect">
            <a:avLst/>
          </a:prstGeom>
          <a:solidFill>
            <a:srgbClr val="F2EAD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B1B1F"/>
                </a:solidFill>
              </a:rPr>
              <a:t>10 min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965960"/>
            <a:ext cx="11094415" cy="3865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1B1B1F"/>
                </a:solidFill>
              </a:rPr>
              <a:t>Lab → </a:t>
            </a:r>
            <a:r>
              <a:rPr lang="en-US" sz="2200" b="1" dirty="0">
                <a:solidFill>
                  <a:srgbClr val="1B1B1F"/>
                </a:solidFill>
              </a:rPr>
              <a:t>Warm-up W4</a:t>
            </a:r>
            <a:r>
              <a:rPr lang="en-US" sz="2200" dirty="0">
                <a:solidFill>
                  <a:srgbClr val="1B1B1F"/>
                </a:solidFill>
              </a:rPr>
              <a:t> (3 Karten)</a:t>
            </a:r>
            <a:endParaRPr lang="en-US" sz="22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480564"/>
          <a:ext cx="1097280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59536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WU-W4-01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Sechs Personen: Schlüssel symmetrisch? asymmetrisch?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WU-W4-06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DH im Kleinformat: p = 7, g = 3, a = 2, b = 4 → A, B, K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WU-W4-12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Falle P7: „Zehn Teilnehmende: 90 bzw. 10 Schlüssel“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4A5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1325880" y="347472"/>
            <a:ext cx="1031717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RSA: Schlüssel erzeugen</a:t>
            </a:r>
            <a:endParaRPr lang="en-US" sz="30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097280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4389120"/>
                <a:gridCol w="594360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zwei Primzahlen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 = 7, q = 11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 = p · q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 = 77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φ(N) = (p − 1)(q − 1)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φ(N) = 6 · 10 = 60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 teilerfremd zu φ(N)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 = 7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 · d mod φ(N) = 1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 = 43: 7 · 43 = 301 = 5 · 60 + 1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3460496"/>
            <a:ext cx="11094415" cy="3865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1B1B1F"/>
                </a:solidFill>
              </a:rPr>
              <a:t>öffentlich </a:t>
            </a:r>
            <a:r>
              <a:rPr lang="en-US" sz="2200" b="1" dirty="0">
                <a:solidFill>
                  <a:srgbClr val="1B1B1F"/>
                </a:solidFill>
              </a:rPr>
              <a:t>(77, 7)</a:t>
            </a:r>
            <a:r>
              <a:rPr lang="en-US" sz="2200" dirty="0">
                <a:solidFill>
                  <a:srgbClr val="1B1B1F"/>
                </a:solidFill>
              </a:rPr>
              <a:t> · privat </a:t>
            </a:r>
            <a:r>
              <a:rPr lang="en-US" sz="2200" b="1" dirty="0">
                <a:solidFill>
                  <a:srgbClr val="1B1B1F"/>
                </a:solidFill>
              </a:rPr>
              <a:t>(77, 43)</a:t>
            </a:r>
            <a:endParaRPr lang="en-US" sz="22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3975100"/>
            <a:ext cx="11094415" cy="3246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E7B4F"/>
                </a:solidFill>
              </a:rPr>
              <a:t>ERGÄNZUNG</a:t>
            </a:r>
            <a:r>
              <a:rPr lang="en-US" sz="1800" dirty="0">
                <a:solidFill>
                  <a:srgbClr val="1B1B1F"/>
                </a:solidFill>
              </a:rPr>
              <a:t> · wird im Abitur nicht gerechnet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4A5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1325880" y="347472"/>
            <a:ext cx="1031717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RSA: ver- und entschlüsseln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11094415" cy="3865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1B1B1F"/>
                </a:solidFill>
              </a:rPr>
              <a:t>Klarzahl m = 9: c = 9</a:t>
            </a:r>
            <a:r>
              <a:rPr lang="en-US" sz="2200" baseline="30000" dirty="0">
                <a:solidFill>
                  <a:srgbClr val="1B1B1F"/>
                </a:solidFill>
              </a:rPr>
              <a:t>7</a:t>
            </a:r>
            <a:r>
              <a:rPr lang="en-US" sz="2200" dirty="0">
                <a:solidFill>
                  <a:srgbClr val="1B1B1F"/>
                </a:solidFill>
              </a:rPr>
              <a:t> mod 77: 9² → 4, 9</a:t>
            </a:r>
            <a:r>
              <a:rPr lang="en-US" sz="2200" baseline="30000" dirty="0">
                <a:solidFill>
                  <a:srgbClr val="1B1B1F"/>
                </a:solidFill>
              </a:rPr>
              <a:t>4</a:t>
            </a:r>
            <a:r>
              <a:rPr lang="en-US" sz="2200" dirty="0">
                <a:solidFill>
                  <a:srgbClr val="1B1B1F"/>
                </a:solidFill>
              </a:rPr>
              <a:t> → 16, 16 · 4 · 9 = 576 → </a:t>
            </a:r>
            <a:r>
              <a:rPr lang="en-US" sz="2200" b="1" dirty="0">
                <a:solidFill>
                  <a:srgbClr val="1B1B1F"/>
                </a:solidFill>
              </a:rPr>
              <a:t>c = 37</a:t>
            </a:r>
            <a:endParaRPr lang="en-US" sz="220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840484"/>
          <a:ext cx="10972800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1280160"/>
                <a:gridCol w="1280160"/>
                <a:gridCol w="1280160"/>
                <a:gridCol w="1280160"/>
                <a:gridCol w="1280160"/>
                <a:gridCol w="128016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</a:t>
                      </a:r>
                      <a:r>
                        <a:rPr lang="en-US" sz="1800" b="1" baseline="300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</a:t>
                      </a:r>
                      <a:r>
                        <a:rPr lang="en-US" sz="1800" b="1" baseline="300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</a:t>
                      </a:r>
                      <a:r>
                        <a:rPr lang="en-US" sz="1800" b="1" baseline="300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</a:t>
                      </a:r>
                      <a:r>
                        <a:rPr lang="en-US" sz="1800" b="1" baseline="300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</a:t>
                      </a:r>
                      <a:r>
                        <a:rPr lang="en-US" sz="1800" b="1" baseline="300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</a:t>
                      </a:r>
                      <a:r>
                        <a:rPr lang="en-US" sz="1800" b="1" baseline="300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</a:t>
                      </a:r>
                      <a:r>
                        <a:rPr lang="en-US" sz="1800" b="1" baseline="300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 77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43 = 32 + 8 + 2 + 1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48640" y="3079496"/>
            <a:ext cx="11094415" cy="3865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1B1B1F"/>
                </a:solidFill>
              </a:rPr>
              <a:t>37 · 60 → 64 · 53 → 4 · 60 → </a:t>
            </a:r>
            <a:r>
              <a:rPr lang="en-US" sz="2200" b="1" dirty="0">
                <a:solidFill>
                  <a:srgbClr val="1B1B1F"/>
                </a:solidFill>
              </a:rPr>
              <a:t>9</a:t>
            </a:r>
            <a:r>
              <a:rPr lang="en-US" sz="2200" dirty="0">
                <a:solidFill>
                  <a:srgbClr val="1B1B1F"/>
                </a:solidFill>
              </a:rPr>
              <a:t> = m</a:t>
            </a:r>
            <a:endParaRPr lang="en-US" sz="22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3594100"/>
            <a:ext cx="11094415" cy="3246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E7B4F"/>
                </a:solidFill>
              </a:rPr>
              <a:t>ERGÄNZUNG</a:t>
            </a:r>
            <a:r>
              <a:rPr lang="en-US" sz="1800" dirty="0">
                <a:solidFill>
                  <a:srgbClr val="1B1B1F"/>
                </a:solidFill>
              </a:rPr>
              <a:t> · Rechenvorlage „fortgesetztes Quadrieren“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4A5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1325880" y="347472"/>
            <a:ext cx="1031717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Falle P3/P9 · e oder d?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11094415" cy="7731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1B1B1F"/>
                </a:solidFill>
              </a:rPr>
              <a:t>Vertraulich: mit dem </a:t>
            </a:r>
            <a:r>
              <a:rPr lang="en-US" sz="2200" b="1" dirty="0">
                <a:solidFill>
                  <a:srgbClr val="1B1B1F"/>
                </a:solidFill>
              </a:rPr>
              <a:t>öffentlichen Schlüssel des Empfängers</a:t>
            </a:r>
            <a:r>
              <a:rPr lang="en-US" sz="2200" dirty="0">
                <a:solidFill>
                  <a:srgbClr val="1B1B1F"/>
                </a:solidFill>
              </a:rPr>
              <a:t> hin, mit seinem </a:t>
            </a:r>
            <a:r>
              <a:rPr lang="en-US" sz="2200" b="1" dirty="0">
                <a:solidFill>
                  <a:srgbClr val="1B1B1F"/>
                </a:solidFill>
              </a:rPr>
              <a:t>privaten</a:t>
            </a:r>
            <a:r>
              <a:rPr lang="en-US" sz="2200" dirty="0">
                <a:solidFill>
                  <a:srgbClr val="1B1B1F"/>
                </a:solidFill>
              </a:rPr>
              <a:t> zurück.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548640" y="2281936"/>
            <a:ext cx="5364328" cy="2284476"/>
          </a:xfrm>
          <a:prstGeom prst="roundRect">
            <a:avLst>
              <a:gd name="adj" fmla="val 3202"/>
            </a:avLst>
          </a:prstGeom>
          <a:solidFill>
            <a:srgbClr val="FDF3F2"/>
          </a:solidFill>
          <a:ln w="15875">
            <a:solidFill>
              <a:srgbClr val="B3261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2464816"/>
            <a:ext cx="48156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B3261E"/>
                </a:solidFill>
              </a:rPr>
              <a:t>SO NICHT  ✗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967736"/>
            <a:ext cx="4815688" cy="727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1B1B1F"/>
                </a:solidFill>
              </a:rPr>
              <a:t>Bob verschlüsselt die Antwort an Alice mit </a:t>
            </a:r>
            <a:r>
              <a:rPr lang="en-US" sz="2200" b="1" dirty="0">
                <a:solidFill>
                  <a:srgbClr val="1B1B1F"/>
                </a:solidFill>
              </a:rPr>
              <a:t>seinem privaten</a:t>
            </a:r>
            <a:r>
              <a:rPr lang="en-US" sz="2200" dirty="0">
                <a:solidFill>
                  <a:srgbClr val="1B1B1F"/>
                </a:solidFill>
              </a:rPr>
              <a:t> Schlüssel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3823208"/>
            <a:ext cx="4815688" cy="3865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1B1B1F"/>
                </a:solidFill>
              </a:rPr>
              <a:t>m = c</a:t>
            </a:r>
            <a:r>
              <a:rPr lang="en-US" sz="2200" baseline="30000" dirty="0">
                <a:solidFill>
                  <a:srgbClr val="1B1B1F"/>
                </a:solidFill>
              </a:rPr>
              <a:t>e</a:t>
            </a:r>
            <a:r>
              <a:rPr lang="en-US" sz="2200" dirty="0">
                <a:solidFill>
                  <a:srgbClr val="1B1B1F"/>
                </a:solidFill>
              </a:rPr>
              <a:t> mod N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6278728" y="2281936"/>
            <a:ext cx="5364328" cy="2284476"/>
          </a:xfrm>
          <a:prstGeom prst="roundRect">
            <a:avLst>
              <a:gd name="adj" fmla="val 3202"/>
            </a:avLst>
          </a:prstGeom>
          <a:solidFill>
            <a:srgbClr val="EEF6EE"/>
          </a:solidFill>
          <a:ln w="15875">
            <a:solidFill>
              <a:srgbClr val="2E7D3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553048" y="2464816"/>
            <a:ext cx="48156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2E7D32"/>
                </a:solidFill>
              </a:rPr>
              <a:t>SO RICHTIG  ✓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6553048" y="2967736"/>
            <a:ext cx="4815688" cy="727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1B1B1F"/>
                </a:solidFill>
              </a:rPr>
              <a:t>Bob verschlüsselt mit </a:t>
            </a:r>
            <a:r>
              <a:rPr lang="en-US" sz="2200" b="1" dirty="0">
                <a:solidFill>
                  <a:srgbClr val="1B1B1F"/>
                </a:solidFill>
              </a:rPr>
              <a:t>Alices öffentlichem</a:t>
            </a:r>
            <a:r>
              <a:rPr lang="en-US" sz="2200" dirty="0">
                <a:solidFill>
                  <a:srgbClr val="1B1B1F"/>
                </a:solidFill>
              </a:rPr>
              <a:t> Schlüssel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6553048" y="3823208"/>
            <a:ext cx="4815688" cy="3865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1B1B1F"/>
                </a:solidFill>
              </a:rPr>
              <a:t>m = c</a:t>
            </a:r>
            <a:r>
              <a:rPr lang="en-US" sz="2200" baseline="30000" dirty="0">
                <a:solidFill>
                  <a:srgbClr val="1B1B1F"/>
                </a:solidFill>
              </a:rPr>
              <a:t>d</a:t>
            </a:r>
            <a:r>
              <a:rPr lang="en-US" sz="2200" dirty="0">
                <a:solidFill>
                  <a:srgbClr val="1B1B1F"/>
                </a:solidFill>
              </a:rPr>
              <a:t> mod N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4A5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1325880" y="347472"/>
            <a:ext cx="1031717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Das Geschwindigkeitsproblem</a:t>
            </a:r>
            <a:endParaRPr lang="en-US" sz="3000" dirty="0"/>
          </a:p>
        </p:txBody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0972800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4023360"/>
                <a:gridCol w="4023360"/>
              </a:tblGrid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symmetrisch (z. B. AES)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asymmetrisch (z. B. RSA)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Tempo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schnell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um Größenordnungen </a:t>
                      </a:r>
                      <a:r>
                        <a:rPr lang="en-US" sz="20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langsamer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Schlüsselverteilung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geheimer Austausch </a:t>
                      </a:r>
                      <a:r>
                        <a:rPr lang="en-US" sz="20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nötig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kein</a:t>
                      </a:r>
                      <a:r>
                        <a:rPr lang="en-US" sz="20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geheimer Austausch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2657856"/>
            <a:ext cx="11094415" cy="3865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1B1B1F"/>
                </a:solidFill>
              </a:rPr>
              <a:t>Wie bekommt man das </a:t>
            </a:r>
            <a:r>
              <a:rPr lang="en-US" sz="2200" b="1" dirty="0">
                <a:solidFill>
                  <a:srgbClr val="1B1B1F"/>
                </a:solidFill>
              </a:rPr>
              <a:t>Beste aus beiden Welten</a:t>
            </a:r>
            <a:r>
              <a:rPr lang="en-US" sz="2200" dirty="0">
                <a:solidFill>
                  <a:srgbClr val="1B1B1F"/>
                </a:solidFill>
              </a:rPr>
              <a:t>?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4A5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1325880" y="347472"/>
            <a:ext cx="1031717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Das Hybridverfahren</a:t>
            </a:r>
            <a:endParaRPr lang="en-US" sz="3000" dirty="0"/>
          </a:p>
        </p:txBody>
      </p:sp>
      <p:pic>
        <p:nvPicPr>
          <p:cNvPr id="3" name="Image 0" descr="schaubil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76914" y="1325880"/>
            <a:ext cx="6637867" cy="448056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4A5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1325880" y="347472"/>
            <a:ext cx="1031717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Hybrid selbst durchspielen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1463040" cy="384048"/>
          </a:xfrm>
          <a:prstGeom prst="rect">
            <a:avLst/>
          </a:prstGeom>
          <a:solidFill>
            <a:srgbClr val="1E7B4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300" kern="0" dirty="0">
                <a:solidFill>
                  <a:srgbClr val="FFFFFF"/>
                </a:solidFill>
              </a:rPr>
              <a:t>AUFTRAG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2148840" y="1325880"/>
            <a:ext cx="1746504" cy="384048"/>
          </a:xfrm>
          <a:prstGeom prst="rect">
            <a:avLst/>
          </a:prstGeom>
          <a:solidFill>
            <a:srgbClr val="F2EAD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B1B1F"/>
                </a:solidFill>
              </a:rPr>
              <a:t>Partnerarbeit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4032504" y="1325880"/>
            <a:ext cx="978408" cy="384048"/>
          </a:xfrm>
          <a:prstGeom prst="rect">
            <a:avLst/>
          </a:prstGeom>
          <a:solidFill>
            <a:srgbClr val="F2EAD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B1B1F"/>
                </a:solidFill>
              </a:rPr>
              <a:t>12 min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965960"/>
            <a:ext cx="11094415" cy="3865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1B1B1F"/>
                </a:solidFill>
              </a:rPr>
              <a:t>Akte W4·2 </a:t>
            </a:r>
            <a:r>
              <a:rPr lang="en-US" sz="2200" b="1" dirty="0">
                <a:solidFill>
                  <a:srgbClr val="1B1B1F"/>
                </a:solidFill>
              </a:rPr>
              <a:t>Auftrag 3</a:t>
            </a:r>
            <a:r>
              <a:rPr lang="en-US" sz="2200" dirty="0">
                <a:solidFill>
                  <a:srgbClr val="1B1B1F"/>
                </a:solidFill>
              </a:rPr>
              <a:t> (Schaubild ergänzen) und </a:t>
            </a:r>
            <a:r>
              <a:rPr lang="en-US" sz="2200" b="1" dirty="0">
                <a:solidFill>
                  <a:srgbClr val="1B1B1F"/>
                </a:solidFill>
              </a:rPr>
              <a:t>Auftrag 5</a:t>
            </a:r>
            <a:r>
              <a:rPr lang="en-US" sz="2200" dirty="0">
                <a:solidFill>
                  <a:srgbClr val="1B1B1F"/>
                </a:solidFill>
              </a:rPr>
              <a:t> (Toy-Hybrid):</a:t>
            </a:r>
            <a:endParaRPr lang="en-US" sz="2200" dirty="0"/>
          </a:p>
        </p:txBody>
      </p:sp>
      <p:sp>
        <p:nvSpPr>
          <p:cNvPr id="7" name="Geheimtext-Kasten"/>
          <p:cNvSpPr/>
          <p:nvPr/>
        </p:nvSpPr>
        <p:spPr>
          <a:xfrm>
            <a:off x="548640" y="2480564"/>
            <a:ext cx="11094415" cy="1008888"/>
          </a:xfrm>
          <a:prstGeom prst="rect">
            <a:avLst/>
          </a:prstGeom>
          <a:solidFill>
            <a:srgbClr val="F2EADB"/>
          </a:solidFill>
          <a:ln w="9525">
            <a:solidFill>
              <a:srgbClr val="D8CDB8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77240" y="2553716"/>
            <a:ext cx="106372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A4A55"/>
                </a:solidFill>
              </a:rPr>
              <a:t>ALICE → BOB · CAESAR MIT K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777240" y="2882900"/>
            <a:ext cx="10637215" cy="496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400" b="1" spc="200" kern="0" dirty="0">
                <a:solidFill>
                  <a:srgbClr val="1B1B1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FGMTQ ZSLRT WLJS</a:t>
            </a:r>
            <a:endParaRPr lang="en-US" sz="24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3617468"/>
            <a:ext cx="11094415" cy="3865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1B1B1F"/>
                </a:solidFill>
              </a:rPr>
              <a:t>Bobs Schlüssel (77, 7)/(77, 43) · c</a:t>
            </a:r>
            <a:r>
              <a:rPr lang="en-US" sz="2200" baseline="-40000" dirty="0">
                <a:solidFill>
                  <a:srgbClr val="1B1B1F"/>
                </a:solidFill>
              </a:rPr>
              <a:t>K</a:t>
            </a:r>
            <a:r>
              <a:rPr lang="en-US" sz="2200" dirty="0">
                <a:solidFill>
                  <a:srgbClr val="1B1B1F"/>
                </a:solidFill>
              </a:rPr>
              <a:t> = 5</a:t>
            </a:r>
            <a:r>
              <a:rPr lang="en-US" sz="2200" baseline="30000" dirty="0">
                <a:solidFill>
                  <a:srgbClr val="1B1B1F"/>
                </a:solidFill>
              </a:rPr>
              <a:t>7</a:t>
            </a:r>
            <a:r>
              <a:rPr lang="en-US" sz="2200" dirty="0">
                <a:solidFill>
                  <a:srgbClr val="1B1B1F"/>
                </a:solidFill>
              </a:rPr>
              <a:t> mod 77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4132072"/>
            <a:ext cx="11094415" cy="3246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E7B4F"/>
                </a:solidFill>
              </a:rPr>
              <a:t>ERGÄNZUNG</a:t>
            </a:r>
            <a:r>
              <a:rPr lang="en-US" sz="1800" dirty="0">
                <a:solidFill>
                  <a:srgbClr val="1B1B1F"/>
                </a:solidFill>
              </a:rPr>
              <a:t> · Auftrag 5 (RSA-Rechnung) · Auftrag 3 ist Kern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4A5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1325880" y="347472"/>
            <a:ext cx="1031717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Anwendungsbereiche</a:t>
            </a:r>
            <a:endParaRPr lang="en-US" sz="3000" dirty="0"/>
          </a:p>
        </p:txBody>
      </p:sp>
      <p:graphicFrame>
        <p:nvGraphicFramePr>
          <p:cNvPr id="2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4415" cy="914400"/>
        </p:xfrm>
        <a:graphic>
          <a:graphicData uri="http://schemas.openxmlformats.org/drawingml/2006/table">
            <a:tbl>
              <a:tblPr/>
              <a:tblGrid>
                <a:gridCol w="2389566"/>
                <a:gridCol w="4779133"/>
                <a:gridCol w="3925716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Prinzip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Anwendungsbereiche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Grund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symmetrisch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Festplatte, WLAN, Backup, laufende Sitzung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schnell, Schlüssel schon geteilt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asymmetrisch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Sitzungsschlüssel übertragen, Signatur, Zertifikat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kleine Daten, kein gemeinsames Geheimnis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hybrid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HTTPS, E-Mail-Verschlüsselung, Messenger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fremde Partner + große Daten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3988816"/>
            <a:ext cx="11094415" cy="3865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1B1B1F"/>
                </a:solidFill>
              </a:rPr>
              <a:t>Jede Zuordnung </a:t>
            </a:r>
            <a:r>
              <a:rPr lang="en-US" sz="2200" b="1" dirty="0">
                <a:solidFill>
                  <a:srgbClr val="1B1B1F"/>
                </a:solidFill>
              </a:rPr>
              <a:t>begründen</a:t>
            </a:r>
            <a:r>
              <a:rPr lang="en-US" sz="2200" dirty="0">
                <a:solidFill>
                  <a:srgbClr val="1B1B1F"/>
                </a:solidFill>
              </a:rPr>
              <a:t>: Datenmenge · Schlüsselverteilung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4A5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1325880" y="347472"/>
            <a:ext cx="1031717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Boss: Der Schlüsseltausch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1463040" cy="384048"/>
          </a:xfrm>
          <a:prstGeom prst="rect">
            <a:avLst/>
          </a:prstGeom>
          <a:solidFill>
            <a:srgbClr val="1E7B4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300" kern="0" dirty="0">
                <a:solidFill>
                  <a:srgbClr val="FFFFFF"/>
                </a:solidFill>
              </a:rPr>
              <a:t>AUFTRAG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2148840" y="1325880"/>
            <a:ext cx="1636776" cy="384048"/>
          </a:xfrm>
          <a:prstGeom prst="rect">
            <a:avLst/>
          </a:prstGeom>
          <a:solidFill>
            <a:srgbClr val="F2EAD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B1B1F"/>
                </a:solidFill>
              </a:rPr>
              <a:t>Einzelarbeit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3922776" y="1325880"/>
            <a:ext cx="978408" cy="384048"/>
          </a:xfrm>
          <a:prstGeom prst="rect">
            <a:avLst/>
          </a:prstGeom>
          <a:solidFill>
            <a:srgbClr val="F2EAD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B1B1F"/>
                </a:solidFill>
              </a:rPr>
              <a:t>25 min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965960"/>
            <a:ext cx="11094415" cy="3865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1B1B1F"/>
                </a:solidFill>
              </a:rPr>
              <a:t>Lab → </a:t>
            </a:r>
            <a:r>
              <a:rPr lang="en-US" sz="2200" b="1" dirty="0">
                <a:solidFill>
                  <a:srgbClr val="1B1B1F"/>
                </a:solidFill>
              </a:rPr>
              <a:t>Welt 4</a:t>
            </a:r>
            <a:r>
              <a:rPr lang="en-US" sz="2200" dirty="0">
                <a:solidFill>
                  <a:srgbClr val="1B1B1F"/>
                </a:solidFill>
              </a:rPr>
              <a:t> → </a:t>
            </a:r>
            <a:r>
              <a:rPr lang="en-US" sz="2200" b="1" dirty="0">
                <a:solidFill>
                  <a:srgbClr val="1B1B1F"/>
                </a:solidFill>
              </a:rPr>
              <a:t>Boss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2480564"/>
            <a:ext cx="11094415" cy="3865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1B1B1F"/>
                </a:solidFill>
              </a:rPr>
              <a:t>•  ohne Werkzeuge, ohne Taschenrechner – wie im Abitur</a:t>
            </a:r>
            <a:endParaRPr lang="en-US" sz="22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2995168"/>
            <a:ext cx="11094415" cy="3865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1B1B1F"/>
                </a:solidFill>
              </a:rPr>
              <a:t>•  ab </a:t>
            </a:r>
            <a:r>
              <a:rPr lang="en-US" sz="2200" b="1" dirty="0">
                <a:solidFill>
                  <a:srgbClr val="1B1B1F"/>
                </a:solidFill>
              </a:rPr>
              <a:t>50 %</a:t>
            </a:r>
            <a:r>
              <a:rPr lang="en-US" sz="2200" dirty="0">
                <a:solidFill>
                  <a:srgbClr val="1B1B1F"/>
                </a:solidFill>
              </a:rPr>
              <a:t> besiegt → Artefakt </a:t>
            </a:r>
            <a:r>
              <a:rPr lang="en-US" sz="2200" b="1" dirty="0">
                <a:solidFill>
                  <a:srgbClr val="1B1B1F"/>
                </a:solidFill>
              </a:rPr>
              <a:t>„Schlüsselpaar“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3509772"/>
            <a:ext cx="11094415" cy="3865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1B1B1F"/>
                </a:solidFill>
              </a:rPr>
              <a:t>•  fertig? → Kür </a:t>
            </a:r>
            <a:r>
              <a:rPr lang="en-US" sz="2200" b="1" dirty="0">
                <a:solidFill>
                  <a:srgbClr val="1B1B1F"/>
                </a:solidFill>
              </a:rPr>
              <a:t>K3 „Euklids Erbe“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4A5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1645920" y="2651760"/>
            <a:ext cx="9601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BF7E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Wem gehört der Schlüssel?</a:t>
            </a:r>
            <a:endParaRPr lang="en-US" sz="4000" dirty="0"/>
          </a:p>
        </p:txBody>
      </p:sp>
      <p:sp>
        <p:nvSpPr>
          <p:cNvPr id="3" name="Text 1"/>
          <p:cNvSpPr txBox="1"/>
          <p:nvPr/>
        </p:nvSpPr>
        <p:spPr>
          <a:xfrm>
            <a:off x="1645920" y="3749040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D9A441"/>
                </a:solidFill>
              </a:rPr>
              <a:t>Ausblick W5 · „Bob bekommt Alices öffentlichen Schlüssel – aber ist er wirklich von Alice?“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D9A44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Kryptos Stanford 1976">
  <a:themeElements>
    <a:clrScheme name="Kryptos Stanford 1976">
      <a:dk1>
        <a:srgbClr val="1B1B1F"/>
      </a:dk1>
      <a:lt1>
        <a:srgbClr val="FFFFFF"/>
      </a:lt1>
      <a:dk2>
        <a:srgbClr val="14213D"/>
      </a:dk2>
      <a:lt2>
        <a:srgbClr val="FBF7EE"/>
      </a:lt2>
      <a:accent1>
        <a:srgbClr val="1E7B4F"/>
      </a:accent1>
      <a:accent2>
        <a:srgbClr val="B07D2B"/>
      </a:accent2>
      <a:accent3>
        <a:srgbClr val="1F4E8C"/>
      </a:accent3>
      <a:accent4>
        <a:srgbClr val="2E7D32"/>
      </a:accent4>
      <a:accent5>
        <a:srgbClr val="B3261E"/>
      </a:accent5>
      <a:accent6>
        <a:srgbClr val="4A4A55"/>
      </a:accent6>
      <a:hlink>
        <a:srgbClr val="1F4E8C"/>
      </a:hlink>
      <a:folHlink>
        <a:srgbClr val="8A5F1A"/>
      </a:folHlink>
    </a:clrScheme>
    <a:fontScheme name="Kryptos Stanford 1976">
      <a:majorFont>
        <a:latin typeface="Georg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28</Slides>
  <Notes>28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</vt:vector>
  </TitlesOfParts>
  <Company>Kryptos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Das Schlüsselproblem</dc:title>
  <dc:subject>Kryptos – Die Zeitreise der Geheimschriften</dc:subject>
  <dc:creator>Frank Juchim</dc:creator>
  <cp:lastModifiedBy>Frank Juchim</cp:lastModifiedBy>
  <cp:revision>1</cp:revision>
  <dcterms:created xsi:type="dcterms:W3CDTF">2026-10-14T12:59:35Z</dcterms:created>
  <dcterms:modified xsi:type="dcterms:W3CDTF">2026-10-14T12:59:35Z</dcterms:modified>
</cp:coreProperties>
</file>