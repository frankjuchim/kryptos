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12 · Das Schlüsselproblem" id="{822b80e2-2c80-ccfa-62d0-500a4fc3f3b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S 12 · Diffie-Hellman (Ergänzung)" id="{98461337-43be-b455-97ce-b57f930420f5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DS 13 · RSA und Hybrid" id="{bbf23296-93be-e2eb-7a06-4ce5551521e7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Zeitsprung ankündigen: von den Lochstreifen (W3) zu den ersten Terminals – Stanford 1976, phosphorgrüne Bildschirme. Ziel der Welt: Schlüsselverteilung als Grenze symmetrischer Verfahren, asymmetrisches Prinzip, Hybridverfahren. RSA und Diffie-Hellman sind Ergänzung (KC) – sie machen das Prinzip greifbar, werden im Abitur aber nicht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Archivfund-Text vorlesen: „Das Chronoskop setzt euch in einem Rechnerraum der Stanford University ab. Es ist 1976 … Auf einem Schreibtisch liegt ein Fernschreiben einer Bank an ihre Filiale. Darüber klebt ein Zettel: ‚Notverfahren – nur Verschiebung.‘ … Zwei Forscher an dieser Universität behaupten, man könne einen gemeinsamen Schlüssel vereinbaren, während Eve jedes Wort mithört. Knackt zuerst das Fernschreiben – und findet dann heraus, wie das gehen soll.“
PA mit Chiffrierscheibe. Tipp für Langsame: häufigster Buchstabe N (6×) → e? (N = 14, e = 5 → k = 9). Probe: aus T (20) wird mit −9 k (11).
Erwartet: „kurier kam nie an, schlüssel verloren“ (kurierkamnieanschluesselverloren).
Impuls: „Warum ‚Notverfahren‘? Was wäre gewesen, wenn der Kurier angekommen wäre – und wenn Eve ihn abgefangen hätte?“
Überleitung: Problemfrage an die Tafel – Wie vereinbaren Alice und Bob einen Schlüssel, ohne sich zu treffen?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min, davon 3 min Besprechung. Lösungen: WU-W4-02 → 1010 1001; WU-W4-03 → w = 23, ((23 + 7 − 1) mod 26) + 1 = 4 → D; WU-W4-09 → 7 (3 · 7 = 21 = 20 + 1).
Falle P2 betonen: mod = kleinster nicht negativer Rest, Überlauf über Z. Das Inverse brauchen wir heute für Eves Angriffe auf fremde Tauschverfahren.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„Die Bank hat 30 Filialen, und jede soll mit jeder vertraulich kommunizieren können. Wie viele Kuriere bräuchte man dafür?“ Erst schätzen lassen, Schätzungen an die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„Wie habt ihr in W0–W3 eigentlich Schlüssel ausgetauscht?“ Erwartet: gar nicht thematisiert / persönlich verabredet.
OTP aus W3: Schlüssel so lang wie die Nachricht → die Verteilung wird noch schwieriger.
Schaubild: Schritt 2 ist die Schwachstelle – wer den Kurier abfängt (3), kann alles lesen, was danach kommt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min. Wollfaden-Demo: 5 Freiwillige stellen sich im Kreis auf und verbinden sich jede mit jeder – 10 Fäden. Formel an der Demo herleiten, nicht vorgeben: Jede hält 4 Fadenenden (n − 1), zusammen 5 · 4 = 20 Enden, jeder Faden hat zwei Enden → 10.
Asymmetrisch: jede Person ein Schlüsselpaar → 2n = 10 – bei n = 5 zufällig gleich viele!
Danach Akte W4·1 Auftrag 1 (Bank mit 30 Filialen: 435 vs. 60).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 Abitur 2026 kam genau diese Rechnung (andere Zahlen) im Format „Erläutern Sie die Richtigkeit der Aussage …“. Beide Zählfehler kosten alle Punkte der Teilaufgabe. Erläutern heißt: Rechnung UND Deutung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Laut vorlesen lassen. Die Formulierung „öffentlicher Schlüssel des Empfängers“ konsequent verwenden – in W5 wird sie wichtig, wenn das Schlüsselpaar für Signaturen „umgekehrt“ benutzt wird (Falle P9).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Echtes Vorhängeschloss zeigen: offen herumgeben, jede/r darf es zudrücken – aufschließen kann nur, wer den Schlüssel hat.
Grenze der Analogie (PK1.4): Ein Schloss kann man aufbrechen; die Mathematik soll genau das verhindern → nächste Folie: Einwegfunktion.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Impuls: „Findet x mit 3^x mod 17 = 12!“ – Erwartet: Tabelle weiterführen (14, 8, 7, 4, 12 …) → x = 13.
Fachwort: diskreter Logarithmus. Unpräzise Formulierung „nicht eindeutig umkehrbar“ vermeiden – gemeint ist „nicht effizient umkehrbar“ (Fehler der früheren Folie P06).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Fachgeschichte (vorsichtig formulieren, keine Zitate): 1976 veröffentlichten Whitfield Diffie und Martin Hellman an der Stanford University den Aufsatz „New Directions in Cryptography“ mit der Idee der Public-Key-Kryptografie und einem Verfahren zur Schlüsselvereinbarung über einen öffentlichen Kanal. Ralph Merkle hatte unabhängig ähnliche Ideen (Merkle-Puzzles) – daher auch Diffie-Hellman-Merkle. Beim britischen GCHQ sollen Ellis, Cocks und Williamson vergleichbare Verfahren schon Anfang der 1970er gefunden haben; das wurde erst 1997 öffentlich.
Hinweis an den Kurs: Die Rechnungen sind Ergänzung, das Prinzip ist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Werkzeug „Farbmischer“ am Beamer live in vier Schritten (Eve-Leiste zeigt alles, was über den Kanal geht).
Frage: „Was müsste Eve können, um Braun herzustellen?“ Erwartet: Rot oder Blau aus der Mischung herausrechnen – „entmischen“. Eve-Modus zeigen: Mischt Eve die beiden Mischungen, entsteht eine andere Farbe (Gelb doppelt).
Überleitung: „Mischen ist leicht, Entmischen schwer – wie g^x mod p.“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Gemeinsam rechnen, nach jeder Multiplikation mod 17 reduzieren (P2):
A = 3^4 = 81 = 4 · 17 + 13 → 13. B = 3^6 = 729 = 42 · 17 + 15 → 15.
Alice: 15² = 225 = 13 · 17 + 4 → 4; 15^4 = 4² = 16. Bob: 13² = 169 → 16; 13^4 = 16² = 256 → 1; 13^6 = 1 · 16 = 16.
Trick für Schnelle: 15 ≡ −2 (mod 17), also 15^4 ≡ (−2)^4 = 16.
Typischer Fehler: K = A^a statt B^a – die eigene statt die fremde Zahl potenzieren (P3).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Eve sucht A = 13 in der Tabelle → a = 4, dann K = 15^4 mod 17 = 16. Bei p = 17 geht das in Sekunden.
Primitivwurzel nur kurz (Ergänzung): g^1 … g^(p−1) treffen alle Reste 1 … p − 1 – hier alle 16 Werte. So hat Eve keine Abkürzung.
Hinweis zum Altmaterial: Auf der früheren Unterrichtsfolie war g = 7, p = 11 – auch 7 ist Primitivwurzel mod 11, das Beispiel ist korrekt.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min. Ablauf und Lösungstabellen: KR_W4_Funkraum_Schluesseltausch.
Runde 1 (12 min): Beamer zeigt p = 23, g = 5; Teams ziehen Geheimzahlkarten, berechnen A bzw. B mit der Rechenkarte (4 min), senden z. B. „A 17“, berechnen K und melden verdeckt (4 min). Eve meldet je Paar einen Tipp. Auflösung (3 min) – erwartet: Eve legt die Tabelle 5^x mod 23 (22 Einträge) an und gewinnt.
Runde 2 (8 min): p = 101, g = 2, Modulo-Uhr nur „Potenz berechnen“. Eve braucht bis zu 100 Rechnungen pro Paar; Stopp nach 5 min.
Geheimzahlkarten austeilen, Eve-Team mit starken Rechnern besetzen. Bei technischen Problemen Papier-Variante (Tafel = öffentlicher Kanal, gefaltete Zettel). Kontrolle: Beispielpaar a = 37, b = 58 → A = 55, B = 47, K = 82.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Auswertung mit Zeitmessung am Beamer. Bei p mit 600 Stellen: Alice/Bob brauchen Millisekunden (schnelles Potenzieren), Eve länger als das Alter des Universums – genau das meint „Einwegfunktion“.
Merksatz: Diffie-Hellman schützt gegen Lauschen, nicht gegen Fälschen. Man-in-the-Middle nur andeuten (falls die Mallory-Zusatzrolle gespielt wurde: verschiedene K beim Paar zeigen).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Merkkasten vorlesen, Abi-Check a) der Akte W4·1 gemeinsam mündlich. Video 05 (Schlüsselproblem, asymmetrisch, hybrid) als Nachbereitung.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13. 1 min. Ein Jahr später, 1977: Ron Rivest, Adi Shamir und Leonard Adleman am MIT stellen RSA vor – die Falltür ist das Multiplizieren zweier Primzahlen. Vorher Warm-up (nächste Folie).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(Folie in der Spezifikation als „Folie 3 analog“ vorgesehen). Lösungen: WU-W4-01 → 91 / 28; WU-W4-06 → A = 9, B = 27, K = 16; WU-W4-12 → symmetrisch 231 (Halbierung vergessen), asymmetrisch 44 (22 Schlüsselpaare).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Hinweis „Ergänzung“: RSA wird im Abitur nicht gerechnet, macht aber das Prinzip „Falltür“ greifbar – wer p und q kennt, kann φ(N) und damit d berechnen; wer nur N kennt, müsste N zerlegen.
Wie man d findet: Kür K3 (erweiterter Euklid). Probe immer mit e · d mod φ(N)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Rechenvorlage aus Akte W4·2 zeigen: 37² = 1369 = 17 · 77 + 60; 60² = 3600 → 58; 58² = 3364 → 53; 53² = 2809 → 37; 37² → 60.
Produktkette: 37 · 60 = 2220 → 64; 64 · 53 = 3392 → 4; 4 · 60 = 240 → 9.
Schnelle rechnen im RSA-Rechenwerk nach. Danach Akte W4·2 Aufträge 1–2 in PA (p = 3, q = 17: (51, 3)/(51, 11), m = 4 → c = 13 →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Merksatz: „Vertraulich: Empfänger-öffentlich hin, Empfänger-privat zurück.“ Mit dem eigenen privaten Schlüssel „verschlüsselt“ man nicht vertraulich – das wird in W5 zur Signatur.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Impuls: „RSA ist um Größenordnungen langsamer als AES – und trotzdem nutzt jede Website beides. Wie?“ Offen lassen, Vorschläge sammeln. Erwartet: „nur den Schlüssel asymmetrisch verschlüsseln“ (Archivarin: „Man muss nicht alles asymmetrisch verschlüsseln. Nur den Schlüssel.“).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Schaubild mit nummerierten Pfeilen gemeinsam an der Tafel entwickeln (Format wie im Abitur 2024 NT b: Schlüsselart + Inhaber an jedem Pfeil).
① Alice erzeugt zufällig K und verschlüsselt die Nachricht symmetrisch. ② K asymmetrisch mit Bobs öffentlichem Schlüssel. ③ beides über den unsicheren Kanal. ④ Bob gewinnt K mit seinem privaten Schlüssel. ⑤ Bob entschlüsselt die Nachricht symmetrisch.
Begründung: Geschwindigkeit (lange Nachricht symmetrisch) + Schlüsselverteilung (K reist geschützt, kein Treffen). Neuer K je Verbindung.
Falle P5: Die Nachricht wird NICHT asymmetrisch verschlüsselt.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c_K = 5^7 mod 77 = 47 (9 · 25 = 225 → 71; 71 · 5 = 355 → 47). Bob: 47^43 mod 77 = 5 = K (47 · 53 → 27; 27 · 60 → 3; 3 · 53 → 5). Caesar −5: abholungmorgen.
Schwachstellen in d) sammeln: Caesar nur 26 Schlüssel (real AES); N = 77 = 7 · 11 sofort faktorisiert (real 600+ Stellen); auch: K = 5 zu klein/kein Zufall.
Auftrag 3 ist Kern, Auftrag 5 Ergänzung.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mit Zuordnungsspiel (Akte W4·2 Auftrag 6, 8 Szenario-Karten in GA). Jede Zuordnung mit dem Kriterium Datenmenge/Schlüsselverteilung begründen lassen (P10). Typischer Fehler: „asymmetrisch, weil sicherer“ (P5).
Lösung Auftrag 6: 1 sym, 2 hybrid, 3 asym (Signatur, W5), 4 sym, 5 hybrid, 6 asym, 7 sym, 8 asym (Schlüsseltransport bzw. Diffie-Hellman).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 W4 vorher freischalten (Standard ab 60 % der Level-Punkte, für DS 13 ggf. manuell). Pool 15 Aufgaben, nur kern/eA; gA zieht keine eA-Aufgaben (B-12, B-15).
Papier-Boss „Das Kurierbüro“ (24 BE, 60 min) als Hausaufgabe/Übungsklausur ankündigen.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Überleitung zu W5: Mallory sitzt zwischen Alice und Bob und tauscht öffentliche Schlüssel aus (Man-in-the-Middle, auch bei Diffie-Hellman). Lösung dort: Signaturen und Zertifikate.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STANFORD · 1976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Schlüsselproblem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vereinbart man ein Geheimnis, während alle zuhören?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Fernschreiben der Bank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9659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B4F"/>
                </a:solidFill>
              </a:rPr>
              <a:t>FERNSCHREIBEN · NOTVERFAHREN – NUR VERSCHIEBUNG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TDARN ATJVW RNJWB LQUDN BBNUE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NAUXA NW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Was steht da – und was lernen wir daraus?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09364"/>
            <a:ext cx="1072865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Nummerierung A = 1 … Z = 26 · Chiffrierscheibe bereitlegen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(W3):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1110 0010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⊕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0100 1011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(W0): w mit k = 7 verschlüsseln (A = 1 … Z = 26)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Inverses (W1): 3 · ? mod 20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 mit jedem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Die Bank hat 30 Filialen – wie viele Kuriere braucht sie?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Kurierproblem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Symmetrisch: </a:t>
            </a:r>
            <a:r>
              <a:rPr lang="en-US" sz="2200" b="1" dirty="0">
                <a:solidFill>
                  <a:srgbClr val="1B1B1F"/>
                </a:solidFill>
              </a:rPr>
              <a:t>ein gemeinsamer Schlüssel</a:t>
            </a:r>
            <a:r>
              <a:rPr lang="en-US" sz="2200" dirty="0">
                <a:solidFill>
                  <a:srgbClr val="1B1B1F"/>
                </a:solidFill>
              </a:rPr>
              <a:t> je Paar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Jeder Schlüssel muss </a:t>
            </a:r>
            <a:r>
              <a:rPr lang="en-US" sz="2200" b="1" dirty="0">
                <a:solidFill>
                  <a:srgbClr val="1B1B1F"/>
                </a:solidFill>
              </a:rPr>
              <a:t>vorher geheim</a:t>
            </a:r>
            <a:r>
              <a:rPr lang="en-US" sz="2200" dirty="0">
                <a:solidFill>
                  <a:srgbClr val="1B1B1F"/>
                </a:solidFill>
              </a:rPr>
              <a:t> übergeben werden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Kuriere können abgefangen, bestochen, verloren werden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 mehr Teilnehmende, desto mehr Kuriere</a:t>
            </a:r>
            <a:endParaRPr lang="en-US" sz="2200" dirty="0"/>
          </a:p>
        </p:txBody>
      </p:sp>
      <p:pic>
        <p:nvPicPr>
          <p:cNvPr id="7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1325880"/>
            <a:ext cx="5364328" cy="30455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viele Schlüssel?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1.  Jede Person hat n − 1 Partner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2.  n · (n − 1) Enden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3.  jede Verbindung zweimal gezählt →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0560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4.  asymmetrisch: ein Schlüsselpaar je Person →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6032"/>
          <a:ext cx="6437193" cy="914400"/>
        </p:xfrm>
        <a:graphic>
          <a:graphicData uri="http://schemas.openxmlformats.org/drawingml/2006/table">
            <a:tbl>
              <a:tblPr/>
              <a:tblGrid>
                <a:gridCol w="2145731"/>
                <a:gridCol w="2145731"/>
                <a:gridCol w="214573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5644" y="1325880"/>
            <a:ext cx="4023360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Schlüsselanzahl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jede Verbindung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asymmetrisch jedes Schlüsselpaar als </a:t>
            </a:r>
            <a:r>
              <a:rPr lang="en-US" sz="2200" b="1" dirty="0">
                <a:solidFill>
                  <a:srgbClr val="1B1B1F"/>
                </a:solidFill>
              </a:rPr>
              <a:t>zwei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Personen → 10 · 9 = </a:t>
            </a:r>
            <a:r>
              <a:rPr lang="en-US" sz="2200" b="1" dirty="0">
                <a:solidFill>
                  <a:srgbClr val="1B1B1F"/>
                </a:solidFill>
              </a:rPr>
              <a:t>90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10</a:t>
            </a:r>
            <a:r>
              <a:rPr lang="en-US" sz="2200" dirty="0">
                <a:solidFill>
                  <a:srgbClr val="1B1B1F"/>
                </a:solidFill>
              </a:rPr>
              <a:t> Schlüssel (ein Paar = 1)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· 9/2 = </a:t>
            </a:r>
            <a:r>
              <a:rPr lang="en-US" sz="2200" b="1" dirty="0">
                <a:solidFill>
                  <a:srgbClr val="1B1B1F"/>
                </a:solidFill>
              </a:rPr>
              <a:t>45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20</a:t>
            </a:r>
            <a:r>
              <a:rPr lang="en-US" sz="2200" dirty="0">
                <a:solidFill>
                  <a:srgbClr val="1B1B1F"/>
                </a:solidFill>
              </a:rPr>
              <a:t> Schlüssel (10 Paare)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asymmetrische Prinzip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Person hat ein </a:t>
            </a:r>
            <a:r>
              <a:rPr lang="en-US" sz="2200" b="1" dirty="0">
                <a:solidFill>
                  <a:srgbClr val="1B1B1F"/>
                </a:solidFill>
              </a:rPr>
              <a:t>Schlüsselpaar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wird verschlüsselt, nur sein </a:t>
            </a:r>
            <a:r>
              <a:rPr lang="en-US" sz="2200" b="1" dirty="0">
                <a:solidFill>
                  <a:srgbClr val="1B1B1F"/>
                </a:solidFill>
              </a:rPr>
              <a:t>privater Schlüssel</a:t>
            </a:r>
            <a:r>
              <a:rPr lang="en-US" sz="2200" dirty="0">
                <a:solidFill>
                  <a:srgbClr val="1B1B1F"/>
                </a:solidFill>
              </a:rPr>
              <a:t> entschlüsselt.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private Schlüssel verlässt nie seinen Besitzer.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Vorhängeschloss und Fachbegriff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Vorhängeschloss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asymmetrisches Verfahren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offenes Schloss, von Bob verteilt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Schloss zudrücken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 zum 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hat ihn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kann entschlüsseln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Grenze des Modells: Ein Schloss kann man </a:t>
            </a:r>
            <a:r>
              <a:rPr lang="en-US" sz="2200" b="1" dirty="0">
                <a:solidFill>
                  <a:srgbClr val="1B1B1F"/>
                </a:solidFill>
              </a:rPr>
              <a:t>aufbrechen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Einwegfunktion mit Falltür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vorwärts: </a:t>
            </a:r>
            <a:r>
              <a:rPr lang="en-US" sz="2200" b="1" dirty="0">
                <a:solidFill>
                  <a:srgbClr val="1B1B1F"/>
                </a:solidFill>
              </a:rPr>
              <a:t>leicht</a:t>
            </a:r>
            <a:r>
              <a:rPr lang="en-US" sz="2200" dirty="0">
                <a:solidFill>
                  <a:srgbClr val="1B1B1F"/>
                </a:solidFill>
              </a:rPr>
              <a:t> (multiplizieren, mod 17)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091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rückwärts „3</a:t>
            </a:r>
            <a:r>
              <a:rPr lang="en-US" sz="2200" baseline="30000" dirty="0">
                <a:solidFill>
                  <a:srgbClr val="1B1B1F"/>
                </a:solidFill>
              </a:rPr>
              <a:t>x</a:t>
            </a:r>
            <a:r>
              <a:rPr lang="en-US" sz="2200" dirty="0">
                <a:solidFill>
                  <a:srgbClr val="1B1B1F"/>
                </a:solidFill>
              </a:rPr>
              <a:t> mod 17 = 12, x = ?“: nur </a:t>
            </a:r>
            <a:r>
              <a:rPr lang="en-US" sz="2200" b="1" dirty="0">
                <a:solidFill>
                  <a:srgbClr val="1B1B1F"/>
                </a:solidFill>
              </a:rPr>
              <a:t>suchen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237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Falltür:</a:t>
            </a:r>
            <a:r>
              <a:rPr lang="en-US" sz="2200" dirty="0">
                <a:solidFill>
                  <a:srgbClr val="1B1B1F"/>
                </a:solidFill>
              </a:rPr>
              <a:t> Zusatzwissen (privater Schlüssel) macht die Umkehrung leicht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· 1976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ERGÄNZUNG · ein gemeinsamer Schlüssel über einen öffentlichen Kanal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 mischen wie Farben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50603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Gelb</a:t>
            </a:r>
            <a:r>
              <a:rPr lang="en-US" sz="2200" dirty="0">
                <a:solidFill>
                  <a:srgbClr val="1B1B1F"/>
                </a:solidFill>
              </a:rPr>
              <a:t> ist öffentlich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Alice mischt geheim </a:t>
            </a:r>
            <a:r>
              <a:rPr lang="en-US" sz="2200" b="1" dirty="0">
                <a:solidFill>
                  <a:srgbClr val="1B1B1F"/>
                </a:solidFill>
              </a:rPr>
              <a:t>Rot</a:t>
            </a:r>
            <a:r>
              <a:rPr lang="en-US" sz="2200" dirty="0">
                <a:solidFill>
                  <a:srgbClr val="1B1B1F"/>
                </a:solidFill>
              </a:rPr>
              <a:t> dazu, Bob geheim </a:t>
            </a:r>
            <a:r>
              <a:rPr lang="en-US" sz="2200" b="1" dirty="0">
                <a:solidFill>
                  <a:srgbClr val="1B1B1F"/>
                </a:solidFill>
              </a:rPr>
              <a:t>Blau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5956"/>
            <a:ext cx="4506035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Mischungen austauschen, eigene Geheimfarbe dazu → </a:t>
            </a:r>
            <a:r>
              <a:rPr lang="en-US" sz="2200" b="1" dirty="0">
                <a:solidFill>
                  <a:srgbClr val="1B1B1F"/>
                </a:solidFill>
              </a:rPr>
              <a:t>gleiches Braun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Eve: Mischen leicht, </a:t>
            </a:r>
            <a:r>
              <a:rPr lang="en-US" sz="2200" b="1" dirty="0">
                <a:solidFill>
                  <a:srgbClr val="1B1B1F"/>
                </a:solidFill>
              </a:rPr>
              <a:t>Entmischen schwer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7768"/>
            <a:ext cx="450603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Prinzip ist Kern</a:t>
            </a:r>
            <a:endParaRPr lang="en-US" sz="1800" dirty="0"/>
          </a:p>
        </p:txBody>
      </p:sp>
      <p:pic>
        <p:nvPicPr>
          <p:cNvPr id="8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533" y="1325880"/>
            <a:ext cx="519242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mit Zahlen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545627"/>
                <a:gridCol w="3637513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 (Eve sieht alles)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17, g =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a =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b =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13 →   ← B = 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15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70376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Warum gleich?   (g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 = (g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 = g</a:t>
            </a:r>
            <a:r>
              <a:rPr lang="en-US" sz="2600" baseline="30000" dirty="0">
                <a:solidFill>
                  <a:srgbClr val="1B1B1F"/>
                </a:solidFill>
              </a:rPr>
              <a:t>ab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695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nach jeder Multiplikation mod 17 reduzieren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Eve scheitert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9352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 kennt p, g, A, B – sie braucht a oder b (</a:t>
            </a:r>
            <a:r>
              <a:rPr lang="en-US" sz="2200" b="1" dirty="0">
                <a:solidFill>
                  <a:srgbClr val="1B1B1F"/>
                </a:solidFill>
              </a:rPr>
              <a:t>diskreter Logarithmus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4498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 = 17: Tabelle mit 16 Einträgen → A = 13 bei x = 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64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Praxis: p mit </a:t>
            </a:r>
            <a:r>
              <a:rPr lang="en-US" sz="2200" b="1" dirty="0">
                <a:solidFill>
                  <a:srgbClr val="1B1B1F"/>
                </a:solidFill>
              </a:rPr>
              <a:t>über 600 Dezimalstellen</a:t>
            </a:r>
            <a:r>
              <a:rPr lang="en-US" sz="2200" dirty="0">
                <a:solidFill>
                  <a:srgbClr val="1B1B1F"/>
                </a:solidFill>
              </a:rPr>
              <a:t>; g ist Primitivwurzel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Schlüsseltausch vor Eves Augen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3340486" cy="914400"/>
        </p:xfrm>
        <a:graphic>
          <a:graphicData uri="http://schemas.openxmlformats.org/drawingml/2006/table">
            <a:tbl>
              <a:tblPr/>
              <a:tblGrid>
                <a:gridCol w="1113495"/>
                <a:gridCol w="22269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Alice-Teams ↔ Bob-Teams, Eve-Team(s)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23, g = 5 · Karten 3 … 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101, g = 2 · Karten 20 … 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Alice/Bob: gleiches K · Eve: K erraten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1" descr="schaub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941" y="1417320"/>
            <a:ext cx="4716379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haben wir gesehen?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 und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kurze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gewinnt mit einer 22er-Tabelle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zu 100 Versuche je Paar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Aufwand wächst mit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Stellenzahl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3690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Achtung: Eve hört nur zu. Wer </a:t>
            </a:r>
            <a:r>
              <a:rPr lang="en-US" sz="2200" b="1" dirty="0">
                <a:solidFill>
                  <a:srgbClr val="1B1B1F"/>
                </a:solidFill>
              </a:rPr>
              <a:t>aktiv</a:t>
            </a:r>
            <a:r>
              <a:rPr lang="en-US" sz="2200" dirty="0">
                <a:solidFill>
                  <a:srgbClr val="1B1B1F"/>
                </a:solidFill>
              </a:rPr>
              <a:t> Zahlen austauscht, ist </a:t>
            </a:r>
            <a:r>
              <a:rPr lang="en-US" sz="2200" b="1" dirty="0">
                <a:solidFill>
                  <a:srgbClr val="1B1B1F"/>
                </a:solidFill>
              </a:rPr>
              <a:t>Mallory</a:t>
            </a:r>
            <a:r>
              <a:rPr lang="en-US" sz="2200" dirty="0">
                <a:solidFill>
                  <a:srgbClr val="1B1B1F"/>
                </a:solidFill>
              </a:rPr>
              <a:t> (W5).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 · Level 4.1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388868"/>
          </a:xfrm>
          <a:prstGeom prst="roundRect">
            <a:avLst>
              <a:gd name="adj" fmla="val 269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r>
              <a:rPr lang="en-US" sz="2200" dirty="0">
                <a:solidFill>
                  <a:srgbClr val="1B1B1F"/>
                </a:solidFill>
              </a:rPr>
              <a:t>, asymmetrisch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Asymmetrisch: </a:t>
            </a:r>
            <a:r>
              <a:rPr lang="en-US" sz="2200" b="1" dirty="0">
                <a:solidFill>
                  <a:srgbClr val="1B1B1F"/>
                </a:solidFill>
              </a:rPr>
              <a:t>öffentlicher</a:t>
            </a:r>
            <a:r>
              <a:rPr lang="en-US" sz="2200" dirty="0">
                <a:solidFill>
                  <a:srgbClr val="1B1B1F"/>
                </a:solidFill>
              </a:rPr>
              <a:t> Schlüssel verschlüsselt, </a:t>
            </a:r>
            <a:r>
              <a:rPr lang="en-US" sz="2200" b="1" dirty="0">
                <a:solidFill>
                  <a:srgbClr val="1B1B1F"/>
                </a:solidFill>
              </a:rPr>
              <a:t>privater</a:t>
            </a:r>
            <a:r>
              <a:rPr lang="en-US" sz="2200" dirty="0">
                <a:solidFill>
                  <a:srgbClr val="1B1B1F"/>
                </a:solidFill>
              </a:rPr>
              <a:t> entschlüsselt. Sicherheit durch </a:t>
            </a:r>
            <a:r>
              <a:rPr lang="en-US" sz="2200" b="1" dirty="0">
                <a:solidFill>
                  <a:srgbClr val="1B1B1F"/>
                </a:solidFill>
              </a:rPr>
              <a:t>Einwegfunktionen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Diffie-Hellman: K = g</a:t>
            </a:r>
            <a:r>
              <a:rPr lang="en-US" sz="2200" baseline="30000" dirty="0">
                <a:solidFill>
                  <a:srgbClr val="1B1B1F"/>
                </a:solidFill>
              </a:rPr>
              <a:t>ab</a:t>
            </a:r>
            <a:r>
              <a:rPr lang="en-US" sz="2200" dirty="0">
                <a:solidFill>
                  <a:srgbClr val="1B1B1F"/>
                </a:solidFill>
              </a:rPr>
              <a:t> mod p über einen öffentlichen Kanal.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24960"/>
            <a:ext cx="91741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Hausaufgabe: Lab Level 4.1 (mind. 5 Aufgaben), Akte W4·1 Aufträge 4–5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MIT · 1977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 und das hybride Prinzip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ist leicht – Zerlegen ist schwer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Vierzehn Personen: Schlüssel symmetrisch? asymmetrisch?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 im Kleinformat: p = 31, g = 3, a = 2, b = 3 → A, B, 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 P7: „22 Teilnehmende: 462 bzw. 22 Schlüssel“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Schlüssel erzeugen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38912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Primzahlen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7, q =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p · 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(p − 1)(q − 1)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6 · 10 = 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teilerfremd zu φ(N)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· d mod φ(N)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43: 7 · 43 = 301 = 5 · 60 + 1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öffentlich </a:t>
            </a:r>
            <a:r>
              <a:rPr lang="en-US" sz="2200" b="1" dirty="0">
                <a:solidFill>
                  <a:srgbClr val="1B1B1F"/>
                </a:solidFill>
              </a:rPr>
              <a:t>(77, 7)</a:t>
            </a:r>
            <a:r>
              <a:rPr lang="en-US" sz="2200" dirty="0">
                <a:solidFill>
                  <a:srgbClr val="1B1B1F"/>
                </a:solidFill>
              </a:rPr>
              <a:t> · privat </a:t>
            </a:r>
            <a:r>
              <a:rPr lang="en-US" sz="2200" b="1" dirty="0">
                <a:solidFill>
                  <a:srgbClr val="1B1B1F"/>
                </a:solidFill>
              </a:rPr>
              <a:t>(77, 43)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5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wird im Abitur nicht gerechnet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ver- und entschlüsseln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Klarzahl m = 9: c = 9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77: 9² → 4, 9</a:t>
            </a:r>
            <a:r>
              <a:rPr lang="en-US" sz="2200" baseline="30000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→ 16, 16 · 4 · 9 = 576 → </a:t>
            </a:r>
            <a:r>
              <a:rPr lang="en-US" sz="2200" b="1" dirty="0">
                <a:solidFill>
                  <a:srgbClr val="1B1B1F"/>
                </a:solidFill>
              </a:rPr>
              <a:t>c = 37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77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= 32 + 8 + 2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79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37 · 60 → 64 · 53 → 4 · 60 → </a:t>
            </a:r>
            <a:r>
              <a:rPr lang="en-US" sz="2200" b="1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= m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94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Rechenvorlage „fortgesetztes Quadrieren“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P3/P9 · e oder 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Vertraulich: 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hin, mit seinem </a:t>
            </a:r>
            <a:r>
              <a:rPr lang="en-US" sz="2200" b="1" dirty="0">
                <a:solidFill>
                  <a:srgbClr val="1B1B1F"/>
                </a:solidFill>
              </a:rPr>
              <a:t>privaten</a:t>
            </a:r>
            <a:r>
              <a:rPr lang="en-US" sz="2200" dirty="0">
                <a:solidFill>
                  <a:srgbClr val="1B1B1F"/>
                </a:solidFill>
              </a:rPr>
              <a:t> zurück.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die Antwort an Alice mit </a:t>
            </a:r>
            <a:r>
              <a:rPr lang="en-US" sz="2200" b="1" dirty="0">
                <a:solidFill>
                  <a:srgbClr val="1B1B1F"/>
                </a:solidFill>
              </a:rPr>
              <a:t>seinem privaten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mit </a:t>
            </a:r>
            <a:r>
              <a:rPr lang="en-US" sz="2200" b="1" dirty="0">
                <a:solidFill>
                  <a:srgbClr val="1B1B1F"/>
                </a:solidFill>
              </a:rPr>
              <a:t>Alices öffentlichem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d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Geschwindigkeitsproblem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 (z. B. AES)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 (z. B. RSA)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Größenordnungen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langsamer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Schlüsselverteilung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geheimer Austausch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nötig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geheimer Austausch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578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Wie bekommt man das </a:t>
            </a:r>
            <a:r>
              <a:rPr lang="en-US" sz="2200" b="1" dirty="0">
                <a:solidFill>
                  <a:srgbClr val="1B1B1F"/>
                </a:solidFill>
              </a:rPr>
              <a:t>Beste aus beiden Welten</a:t>
            </a:r>
            <a:r>
              <a:rPr lang="en-US" sz="2200" dirty="0">
                <a:solidFill>
                  <a:srgbClr val="1B1B1F"/>
                </a:solidFill>
              </a:rPr>
              <a:t>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Hybridverfahren</a:t>
            </a:r>
            <a:endParaRPr lang="en-US" sz="3000" dirty="0"/>
          </a:p>
        </p:txBody>
      </p:sp>
      <p:pic>
        <p:nvPicPr>
          <p:cNvPr id="3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6914" y="1325880"/>
            <a:ext cx="6637867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selbst durchspielen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W4·2 </a:t>
            </a:r>
            <a:r>
              <a:rPr lang="en-US" sz="2200" b="1" dirty="0">
                <a:solidFill>
                  <a:srgbClr val="1B1B1F"/>
                </a:solidFill>
              </a:rPr>
              <a:t>Auftrag 3</a:t>
            </a:r>
            <a:r>
              <a:rPr lang="en-US" sz="2200" dirty="0">
                <a:solidFill>
                  <a:srgbClr val="1B1B1F"/>
                </a:solidFill>
              </a:rPr>
              <a:t> (Schaubild ergänzen) und </a:t>
            </a:r>
            <a:r>
              <a:rPr lang="en-US" sz="2200" b="1" dirty="0">
                <a:solidFill>
                  <a:srgbClr val="1B1B1F"/>
                </a:solidFill>
              </a:rPr>
              <a:t>Auftrag 5</a:t>
            </a:r>
            <a:r>
              <a:rPr lang="en-US" sz="2200" dirty="0">
                <a:solidFill>
                  <a:srgbClr val="1B1B1F"/>
                </a:solidFill>
              </a:rPr>
              <a:t> (Toy-Hybrid):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ALICE → BOB · CAESAR MIT 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FGMTQ ZSLRT WLJS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Bobs Schlüssel (77, 7)/(77, 43) · c</a:t>
            </a:r>
            <a:r>
              <a:rPr lang="en-US" sz="2200" baseline="-40000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= 5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3207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Auftrag 5 (RSA-Rechnung) · Auftrag 3 ist Kern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Anwendungsbereiche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89566"/>
                <a:gridCol w="4779133"/>
                <a:gridCol w="39257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Prinzip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Anwendungsbereiche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Festplatte, WLAN, Backup, laufende Sitzung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schnell, Schlüssel schon geteilt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Sitzungsschlüssel übertragen, Signatur, Zertifikat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kleine Daten, kein gemeinsames Geheimnis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HTTPS, E-Mail-Verschlüsselung, Messenger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fremde Partner + große Daten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8881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Zuordnung </a:t>
            </a:r>
            <a:r>
              <a:rPr lang="en-US" sz="2200" b="1" dirty="0">
                <a:solidFill>
                  <a:srgbClr val="1B1B1F"/>
                </a:solidFill>
              </a:rPr>
              <a:t>begründen</a:t>
            </a:r>
            <a:r>
              <a:rPr lang="en-US" sz="2200" dirty="0">
                <a:solidFill>
                  <a:srgbClr val="1B1B1F"/>
                </a:solidFill>
              </a:rPr>
              <a:t>: Datenmenge · Schlüsselverteilung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Der Schlüsseltausch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Welt 4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Boss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ohne Werkzeuge, ohne Taschenrechner – wie im Abitur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 </a:t>
            </a:r>
            <a:r>
              <a:rPr lang="en-US" sz="2200" b="1" dirty="0">
                <a:solidFill>
                  <a:srgbClr val="1B1B1F"/>
                </a:solidFill>
              </a:rPr>
              <a:t>50 %</a:t>
            </a:r>
            <a:r>
              <a:rPr lang="en-US" sz="2200" dirty="0">
                <a:solidFill>
                  <a:srgbClr val="1B1B1F"/>
                </a:solidFill>
              </a:rPr>
              <a:t> besiegt → Artefakt </a:t>
            </a:r>
            <a:r>
              <a:rPr lang="en-US" sz="2200" b="1" dirty="0">
                <a:solidFill>
                  <a:srgbClr val="1B1B1F"/>
                </a:solidFill>
              </a:rPr>
              <a:t>„Schlüsselpaar“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0977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fertig? → Kür </a:t>
            </a:r>
            <a:r>
              <a:rPr lang="en-US" sz="2200" b="1" dirty="0">
                <a:solidFill>
                  <a:srgbClr val="1B1B1F"/>
                </a:solidFill>
              </a:rPr>
              <a:t>K3 „Euklids Erbe“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Wem gehört der Schlüssel?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Ausblick W5 · „Bob bekommt Alices öffentlichen Schlüssel – aber ist er wirklich von Alice?“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Stanford 1976">
  <a:themeElements>
    <a:clrScheme name="Kryptos Stanford 1976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E7B4F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Stanford 1976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Schlüsselproblem</dc:title>
  <dc:subject>Kryptos – Die Zeitreise der Geheimschriften</dc:subject>
  <dc:creator>Frank Juchim</dc:creator>
  <cp:lastModifiedBy>Frank Juchim</cp:lastModifiedBy>
  <cp:revision>1</cp:revision>
  <dcterms:created xsi:type="dcterms:W3CDTF">2026-10-14T18:05:49Z</dcterms:created>
  <dcterms:modified xsi:type="dcterms:W3CDTF">2026-10-14T18:05:49Z</dcterms:modified>
</cp:coreProperties>
</file>