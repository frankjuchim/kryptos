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S 9 · Vernam" id="{20759268-8332-d516-697c-701013ae2eac}">
          <p14:sldIdLst>
            <p14:sldId id="256"/>
            <p14:sldId id="257"/>
            <p14:sldId id="258"/>
            <p14:sldId id="259"/>
            <p14:sldId id="260"/>
            <p14:sldId id="261"/>
            <p14:sldId id="262"/>
            <p14:sldId id="263"/>
            <p14:sldId id="264"/>
            <p14:sldId id="265"/>
            <p14:sldId id="266"/>
            <p14:sldId id="267"/>
          </p14:sldIdLst>
        </p14:section>
        <p14:section name="DS 10 · Blockchiffre" id="{a02afb97-dd4e-cb0b-628f-dd5024377073}">
          <p14:sldIdLst>
            <p14:sldId id="268"/>
            <p14:sldId id="269"/>
            <p14:sldId id="270"/>
            <p14:sldId id="271"/>
            <p14:sldId id="272"/>
            <p14:sldId id="273"/>
            <p14:sldId id="274"/>
            <p14:sldId id="275"/>
          </p14:sldIdLst>
        </p14:section>
        <p14:section name="DS 11 · Werkstatt" id="{76882849-d672-b811-7d5f-cef5c7845610}">
          <p14:sldIdLst>
            <p14:sldId id="276"/>
            <p14:sldId id="277"/>
            <p14:sldId id="278"/>
            <p14:sldId id="279"/>
          </p14:sldIdLst>
        </p14:section>
        <p14:section name="DS 11 · ADFGVX" id="{49dd23dd-19b6-64cd-41c0-eefd41d9dc44}">
          <p14:sldIdLst>
            <p14:sldId id="280"/>
            <p14:sldId id="281"/>
            <p14:sldId id="282"/>
            <p14:sldId id="28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Begrüßung, Zeitsprung ins Jahr 1917.
Impuls: „Was ändert sich, wenn nicht mehr Menschen, sondern Maschinen verschlüsseln?“
Erwartete Antworten: schneller; Bits statt Buchstaben; viel mehr Nachrichten; Funk kann jeder abhören – also muss die Verschlüsselung besser werden.
Überleitung: „Das Chronoskop hält in einer Fernschreibstelle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min. Archivfund-Text vorlesen: „Das Chronoskop hält in einer Fernschreibstelle des Jahres 1917. Zwischen Kabelrollen und Stapeln von Formularen findet die Archivarin eine Blechdose mit zwei schmalen Papierstreifen. Beide sind mit Reihen kleiner Löcher gestanzt – acht Spuren nebeneinander, Loch heißt 1, kein Loch heißt 0. Auf dem einen Streifen steht ‚Geheimtext‘, auf dem anderen in roter Schrift: ‚Schlüssel – nach Gebrauch vernichten!‘ Offenbar hat jemand diese Anweisung nicht befolgt. … ‚Eine Maschine hat hier Zeichen für Zeichen zwei Streifen verknüpft. Welche Regel macht aus Geheimtext und Schlüssel wieder die Nachricht?‘ Und dann, leiser: ‚Auf dem Schlüsselstreifen sind zwei Kerben. Wurde er etwa zweimal benutzt?‘“
Paare vergleichen Spalte für Spalte (Akte W3·1, S. 1). Erwartet: „gleich → 0, verschieden → 1“. Mit der ASCII-Tabelle der Anlage: 0100 0110 = 70 = F, 0101 0101 = 85 = U, 0100 1110 = 78 = N, 0100 1011 = 75 = K → FUNK.
Noch nicht verraten, dass die Regel XOR heißt – erst auf Folie 4. Die „zwei Kerben“ als Cliffhanger für den Funkraum stehen lassen.
Hintergrund: Vernam arbeitete 1917 mit dem 5-Bit-Fernschreibcode, nicht mit ASCII (1960er) – wir verwenden bewusst den 8-Bit-ASCII-Code der Anlage.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 Wiederholung Sek I (Dualzahlen).
Tafel: Stellenwerttabelle 128 … 1; gemeinsam O = 79 = 64 + 8 + 4 + 2 + 1 umrechnen.
Erwartete Schwierigkeit: dezimal → dual ohne Taschenrechner. Trick: „Großbuchstaben beginnen mit 010, die restlichen 5 Bits sind die Nummer im Alphabet“ (O = 15 → 010 01111).
Falle P1 ausdrücklich: drei Zählweisen (ASCII 65, Anlage A = 1, Programm A = 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 Rückbezug Archivfund: Die Regel des Kurses heißt XOR („exklusives Oder“ – entweder das eine oder das andere, nicht beide).
Beispiel Spalte für Spalte vorrechnen.
Frage: „Warum braucht Bob keine eigene Entschlüsselungsoperation?“ → a ⊕ k ⊕ k = a, weil k ⊕ k = 0 und a ⊕ 0 = a: XOR ist selbstinvers.
Abgrenzung zu Caesar: dort braucht man die Gegenrichtung (P3).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min. Lösungen: A1 B 0100 0010, O 0100 1111, J 0100 1010, E 0100 0101; W, H. A2 1010 1100 und 0000 0000 (a ⊕ a = 0). A3 Geheimtext 0010 1011 · 1011 1111 · 0111 1001 · 1110 0000.
Schnelle: Auftrag 6 (Sparversion).
Typischer Fehler: A = 1 statt 65 (P1).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 Historie vorsichtig formulieren: Gilbert Vernam (AT&amp;T) entwickelte 1917 die Fernschreib-Chiffre (Patent 1919); die Forderung nach einem zufälligen, nie wiederholten Schlüssel wird Joseph Mauborgne zugeschrieben.
Kerckhoffs-Rückgriff: Das Verfahren XOR ist öffentlich – geheim ist nur der Schlüssel.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Abgrenzung: „perfekt“ heißt nicht „praktisch“ – das Schlüsselproblem folgt (Folie 12).
Auch unbegrenzte Rechenleistung hilft nicht: Brute Force liefert alle Klartexte gleicher Länge, ohne Entscheidung.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min (Akte W3·1, Auftrag 4).
Lösung: K_HALT = C ⊕ HALT = 0101 0110 · 1001 1011 · 0010 1011 · 1100 0101; K_LAUF = 0101 0010 · 1001 1011 · 0011 0010 · 1101 0111.
Pointe: Beide Schlüssel sind gleich wahrscheinlich → Eve kann nicht entscheiden, welche Nachricht gesendet wurde. Das ist perfekte Sicherheit.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 min, Ablauf siehe Funkraum-Dokument KR_W3_Funkraum_Der_doppelte_Schluessel.
Schritte: 1 Rollen (3 min) · 2 Funken (7 min) · 3 Lauschen (10 min) · 4 Auflösung (5 min).
Die Lehrkraft teilt dem „Sparschwein“-Paar die Zusatzanweisung verdeckt zu (Rollenkarte: denselben Abschnitt zweimal verwenden).
Eve-Tipps: nach 5 min „Sucht das Paar mit den meisten Bytes, die mit 000 beginnen“, nach 8 min das Crib „UHR“.
Ohne Plattform: Papier-Alternative mit Buchstaben-OTP (30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min. Tafel: Herleitung C1 ⊕ C2 = M1 ⊕ M2 – der Schlüssel fällt heraus.
Beispiel aus dem vorbereiteten Funkraum-Datensatz: Crib „ UHR “ (mit Leerzeichen) an Position 7 liefert „BAHNH“ → Vermutung BAHNHOF in M2; Crib „MORGEN “ an Position 0 liefert „HEUTE 8“. An allen anderen Positionen entstehen Sonderzeichen.
Historischer Hinweis: Venona – ab den 1940er-Jahren wurden Nachrichten entschlüsselt, deren Einmalschlüssel mehrfach benutzt worden waren.
Überleitung zu Auftrag 5 (Crib „UHR“) als Hausaufgabe.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 Beispiel: EBBE mit 0010 0001 → dccd (0110 0100 · 0110 0011 · 0110 0011 · 0110 0100) – die beiden B werden gleich verschlüsselt.
Angriff: Häufigkeitsanalyse der Bytes oder Brute Force über 256 Schlüssel (P5, P7, P8).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Ausblick: Das Schlüsselproblem öffnet Welt 4.
HA: Akte W3·1 Aufträge 5–6, Lab 3.1 „Vernams Lochstreifen“, Video 04 (Teil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Brücke: „Der OTP-Schlüssel ist so lang wie die Nachricht. Geht es mit einem 16-Bit-Schlüssel für beliebig lange Texte?“ → Idee der Blockchiffre: kurzer Schlüssel, viele Runden aus einfachen Bausteinen.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min. S-Box-Tabelle als Handout (DIN A5, laminiert) austeilen.
Wichtig: KRYPTOS-16 ist ein eigens für Kryptos entworfenes Lernmodell, kein reales Verfahren (und keine Abituraufgabe).
S-Box (Eingang 0000 … 1111): 1100 1111 0011 1001 0111 1010 1000 0110 0001 0010 0100 1110 1011 0101 1101 0000.
Rundenschlüssel: K₁ = K, danach wandert die erste Vierergruppe ans Ende (Rotation um 4 Bit nach links).
Nach der letzten Runde folgt kein weiterer Schritt (bewusste Vereinfachung).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min. Runde 1 gemeinsam an der Tafel, Runde 2 rechnen Paare selbst.
Jede Zelle ist eine 4×4-Matrix (Zeile 1 oben).
Transposition zeigen: neue Zeile 1 = alte Spalte 1 = erstes Bit jeder Zeile (1, 1, 0, 1).
Typischer Fehler: Spalten falsch abgelesen (P4); in Runde 2 noch K₁ benutzt.
Geheimtext: 1110 1111 0011 1101.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min. Lösung: „JA“ = 0100 1010 0100 0001; Runde 1 → 1100 1010 1000 1010; Runde 2 mit K₂ = 1100 1001 1110 0101 → 1110 1000 0000 0100.
Schnelle: Auftrag 3 (Schlüsselplan, schwache Schlüssel: 16 Schlüssel mit vier gleichen Vierergruppen).
Langsame: nur Runde 1 (KRYPTOS-16/1), Kontrolle im Runden-Labor.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min, danach Runden-Labor 15 min (Akte W3·2, Auftrag 5: „JA“ → „J@“, erwartet 3 / 7 / 9 / 7).
Erklärung: Runde 1 betrifft nur eine S-Box (2–4 Bits), die Transposition verteilt diese auf alle vier Zeilen → ab Runde 2 alle S-Boxen betroffen. Nach 2 Runden hängt jedes Geheimtextbit von jedem Klartextbit ab.
Mittelwerte: über alle 65 536 Klartexte und 16 Bitpositionen bei K = 2B7E.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min. Bilder aus dem Runden-Labor (KRYPTOS-16, R = 4, K = 2B7E, IV = 1917; eine 4×4-Pixel-Kachel = ein Block). Alle 39 weißen Kacheln werden in ECB zu 0100 0000 1000 0001 – der Schlüssel-Umriss bleibt erkennbar.
Auffüllen: ungerade Zeichenzahl → Byte 0000 0001, gerade → ganzer Block 0000 0010 0000 0010.
Danach Aufträge 6/7 (ECB gegen CBC „JAJA“, Fehlerfortpflanzung „SEHR GUT“ → in CBC „SEQp(GUT“).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Mini-Beispiel: S(0110) = 1000, aber S(1000) = 0001 ≠ 0110 – die S-Box ist nicht selbstinvers, Entschlüsseln braucht S⁻¹.
Transposition und XOR sind selbstinvers.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 Ergänzung. DES: 1977 US-Standard, Grundlage Lucifer (Horst Feistel u. a., IBM); Entschlüsseln mit derselben Struktur, Rundenschlüssel rückwärts; heute per Brute Force angreifbar.
AES (Rijndael, Daemen und Rijmen): KRYPTOS-16 ist ein „AES im Kleinen“ ohne MixColumns. Betrieb heute in Modi wie CBC oder GCM, nie ECB.
Abi-Check a, b (Akte W3·2) als Ausgang; HA: Lab 3.2, Video 04 (Teil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Kerckhoffs als Leitsatz: „Euer Verfahren wird öffentlich – nur der Schlüssel bleibt geheim.“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 Werkstatt-Hinweise erklären: Caesar mit k = 0, Wort „AAAA“, Spaltenschlüssel alphabetisch (P7 – schwache Schlüssel); CAE + VIG nebeneinander, zweimal UMK (P8 – Stufen verschmelzen); nur Transpositionen (P6 – Häufigkeiten bleiben).
Umkehrbarkeitsprüfung läuft automatisch vor dem Einreichen.
Dann 20 min Entwurfsphase (Akte W3·3, Aufträge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 min, Ablauf siehe Dokument KR_W3_Funkraum_Knack-Arena. Fortschritt am Beamer; Lehrkraft schließt nach 25 min.
Höchstens 1 Versuch je 30 s und Verfahren.
Erfahrungswerte: Nur-Transpositionen fallen schnell (deutsche Häufigkeiten); Caesar/Substitution allein in Minuten; Vigenère + Spaltentransposition mit langen Schlüsseln bleibt oft „unknackbar“ – dann diskutieren: „unknackbar in 25 Minuten ≠ sicher“.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min. Beurteilungsraster WK3 (Akte W3·3, Auftrag 3).
P10: Ohne Urteil keine volle Punktzahl – Satzbaustein ist verpflichtend.
Auflösung: „Unknackbar“ und „Arena-Knacker“ würdigen.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min. Historie: 1918 im deutschen Heer eingeführt, Entwicklung wird dem Funkoffizier Fritz Nebel zugeschrieben. A, D, F, G, V, X sind im Morsecode gut unterscheidbar.
Markiert: A = DF, N = AX.
Fremde Chiffre IV – 5-Schritte-Methode: lesen/nachrechnen, anwenden, umkehren, einordnen, beurteilen.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min. Die Transposition trennt die beiden Hälften jedes Zeichens – das macht ADFGVX stark.
Danach Akte W3·4, Aufträge 1–2 (7 min): „funk2“ mit TOR → AAVGX VFXFX; GADGF DDGVF VGGDF AADXA → brieftaube.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Typischer Fehler in Auftrag 2: Spalte O wird als kurze Spalte angenommen, weil sie zuerst gelesen wird.
Kein Auffüllen mit X – die letzte Zeile darf unvollständig sein.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 HA: Online-IDE KR_W3_ChiffrenWerkstatt (eA, bis DS 12), Akte W3·4 Rest, Boss W3 „Der Fernschreiber“ ist freigeschaltet.
Kür K2 (Mini-Enigma) jederzeit freischaltbar, keine Rangrelevanz.
Ausblick: Das Schlüsselproblem (One-Time-Pad und n(n − 1)/2 Schlüssel) eröffnet Welt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R Titel">
    <p:bg>
      <p:bgPr>
        <a:solidFill>
          <a:srgbClr val="14213D"/>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331720"/>
            <a:ext cx="7498080" cy="1554480"/>
          </a:xfrm>
          <a:prstGeom prst="rect">
            <a:avLst/>
          </a:prstGeom>
          <a:noFill/>
          <a:ln/>
        </p:spPr>
        <p:txBody>
          <a:bodyPr wrap="square" rtlCol="0"/>
          <a:lstStyle>
            <a:lvl1pPr algn="l" indent="0" marL="0">
              <a:buNone/>
              <a:defRPr lang="en-US" sz="4600" b="1" dirty="0">
                <a:solidFill>
                  <a:srgbClr val="FBF7EE"/>
                </a:solidFill>
                <a:latin typeface="Georgia" pitchFamily="34" charset="0"/>
                <a:ea typeface="Georgia" pitchFamily="34" charset="-122"/>
                <a:cs typeface="Georgia" pitchFamily="34" charset="-120"/>
              </a:defRPr>
            </a:lvl1pPr>
          </a:lstStyle>
          <a:p>
            <a:pPr algn="l" indent="0" marL="0">
              <a:buNone/>
            </a:pPr>
            <a:endParaRPr lang="en-US" sz="4600" dirty="0"/>
          </a:p>
        </p:txBody>
      </p:sp>
      <p:sp>
        <p:nvSpPr>
          <p:cNvPr id="3" name="Text 0"/>
          <p:cNvSpPr/>
          <p:nvPr>
            <p:ph idx="101" type="body" hasCustomPrompt="1"/>
          </p:nvPr>
        </p:nvSpPr>
        <p:spPr>
          <a:xfrm>
            <a:off x="548640" y="3931920"/>
            <a:ext cx="7315200" cy="914400"/>
          </a:xfrm>
          <a:prstGeom prst="rect">
            <a:avLst/>
          </a:prstGeom>
          <a:noFill/>
          <a:ln/>
        </p:spPr>
        <p:txBody>
          <a:bodyPr wrap="square" rtlCol="0"/>
          <a:lstStyle>
            <a:lvl1pPr algn="l" indent="0" marL="0">
              <a:buNone/>
              <a:defRPr lang="en-US" sz="2200" dirty="0">
                <a:solidFill>
                  <a:srgbClr val="D9A441"/>
                </a:solidFill>
                <a:latin typeface="Calibri" pitchFamily="34" charset="0"/>
                <a:ea typeface="Calibri" pitchFamily="34" charset="-122"/>
                <a:cs typeface="Calibri" pitchFamily="34" charset="-120"/>
              </a:defRPr>
            </a:lvl1pPr>
          </a:lstStyle>
          <a:p>
            <a:pPr algn="l"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KR Abschnitt">
    <p:bg>
      <p:bgPr>
        <a:solidFill>
          <a:srgbClr val="14213D"/>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1645920" y="2651760"/>
            <a:ext cx="9601200" cy="1097280"/>
          </a:xfrm>
          <a:prstGeom prst="rect">
            <a:avLst/>
          </a:prstGeom>
          <a:noFill/>
          <a:ln/>
        </p:spPr>
        <p:txBody>
          <a:bodyPr wrap="square" rtlCol="0"/>
          <a:lstStyle>
            <a:lvl1pPr algn="l" indent="0" marL="0">
              <a:buNone/>
              <a:defRPr lang="en-US" sz="4000" b="1" dirty="0">
                <a:solidFill>
                  <a:srgbClr val="FBF7EE"/>
                </a:solidFill>
                <a:latin typeface="Georgia" pitchFamily="34" charset="0"/>
                <a:ea typeface="Georgia" pitchFamily="34" charset="-122"/>
                <a:cs typeface="Georgia" pitchFamily="34" charset="-120"/>
              </a:defRPr>
            </a:lvl1pPr>
          </a:lstStyle>
          <a:p>
            <a:pPr algn="l" indent="0" marL="0">
              <a:buNone/>
            </a:pPr>
            <a:endParaRPr lang="en-US" sz="4000" dirty="0"/>
          </a:p>
        </p:txBody>
      </p:sp>
      <p:pic>
        <p:nvPicPr>
          <p:cNvPr id="3" name="Image 0" descr="/tmp/kr_bildcache/siegel3_d1377e2871e621de.png">    </p:cNvPr>
          <p:cNvPicPr>
            <a:picLocks noChangeAspect="1"/>
          </p:cNvPicPr>
          <p:nvPr/>
        </p:nvPicPr>
        <p:blipFill>
          <a:blip r:embed="rId1"/>
          <a:stretch>
            <a:fillRect/>
          </a:stretch>
        </p:blipFill>
        <p:spPr>
          <a:xfrm>
            <a:off x="548640" y="2788920"/>
            <a:ext cx="868680" cy="868680"/>
          </a:xfrm>
          <a:prstGeom prst="rect">
            <a:avLst/>
          </a:prstGeom>
        </p:spPr>
      </p:pic>
      <p:sp>
        <p:nvSpPr>
          <p:cNvPr id="4" name="Text 0"/>
          <p:cNvSpPr/>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D9A441"/>
                </a:solidFill>
                <a:latin typeface="Calibri" pitchFamily="34" charset="0"/>
                <a:ea typeface="Calibri" pitchFamily="34" charset="-122"/>
                <a:cs typeface="Calibri" pitchFamily="34" charset="-120"/>
              </a:rPr>
              <a:t>Kryptos · Welt 3 · Das Maschinenzeitalter</a:t>
            </a:r>
            <a:endParaRPr lang="en-US" sz="10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9A441"/>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KR Inhalt">
    <p:bg>
      <p:bgPr>
        <a:solidFill>
          <a:srgbClr val="FBF7EE"/>
        </a:solidFill>
      </p:bgPr>
    </p:bg>
    <p:spTree>
      <p:nvGrpSpPr>
        <p:cNvPr id="1" name=""/>
        <p:cNvGrpSpPr/>
        <p:nvPr/>
      </p:nvGrpSpPr>
      <p:grpSpPr>
        <a:xfrm>
          <a:off x="0" y="0"/>
          <a:ext cx="0" cy="0"/>
          <a:chOff x="0" y="0"/>
          <a:chExt cx="0" cy="0"/>
        </a:xfrm>
      </p:grpSpPr>
      <p:pic>
        <p:nvPicPr>
          <p:cNvPr id="2" name="Image 0" descr="/tmp/kr_bildcache/siegel3_d1377e2871e621de.png">    </p:cNvPr>
          <p:cNvPicPr>
            <a:picLocks noChangeAspect="1"/>
          </p:cNvPicPr>
          <p:nvPr/>
        </p:nvPicPr>
        <p:blipFill>
          <a:blip r:embed="rId1"/>
          <a:stretch>
            <a:fillRect/>
          </a:stretch>
        </p:blipFill>
        <p:spPr>
          <a:xfrm>
            <a:off x="548640" y="384048"/>
            <a:ext cx="566928" cy="566928"/>
          </a:xfrm>
          <a:prstGeom prst="rect">
            <a:avLst/>
          </a:prstGeom>
        </p:spPr>
      </p:pic>
      <p:sp>
        <p:nvSpPr>
          <p:cNvPr id="3" name="Text 0"/>
          <p:cNvSpPr/>
          <p:nvPr>
            <p:ph idx="101" type="title" hasCustomPrompt="1"/>
          </p:nvPr>
        </p:nvSpPr>
        <p:spPr>
          <a:xfrm>
            <a:off x="1325880" y="347472"/>
            <a:ext cx="10317175" cy="658368"/>
          </a:xfrm>
          <a:prstGeom prst="rect">
            <a:avLst/>
          </a:prstGeom>
          <a:noFill/>
          <a:ln/>
        </p:spPr>
        <p:txBody>
          <a:bodyPr wrap="square" rtlCol="0"/>
          <a:lstStyle>
            <a:lvl1pPr algn="l" indent="0" marL="0">
              <a:buNone/>
              <a:defRPr lang="en-US" sz="3000" b="1" dirty="0">
                <a:solidFill>
                  <a:srgbClr val="14213D"/>
                </a:solidFill>
                <a:latin typeface="Georgia" pitchFamily="34" charset="0"/>
                <a:ea typeface="Georgia" pitchFamily="34" charset="-122"/>
                <a:cs typeface="Georgia" pitchFamily="34" charset="-120"/>
              </a:defRPr>
            </a:lvl1pPr>
          </a:lstStyle>
          <a:p>
            <a:pPr algn="l" indent="0" marL="0">
              <a:buNone/>
            </a:pPr>
            <a:endParaRPr lang="en-US" sz="3000" dirty="0"/>
          </a:p>
        </p:txBody>
      </p:sp>
      <p:sp>
        <p:nvSpPr>
          <p:cNvPr id="4" name="Text 0"/>
          <p:cNvSpPr/>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4A4A55"/>
                </a:solidFill>
                <a:latin typeface="Calibri" pitchFamily="34" charset="0"/>
                <a:ea typeface="Calibri" pitchFamily="34" charset="-122"/>
                <a:cs typeface="Calibri" pitchFamily="34" charset="-120"/>
              </a:rPr>
              <a:t>Kryptos · Welt 3 · Das Maschinenzeitalter</a:t>
            </a:r>
            <a:endParaRPr lang="en-US" sz="10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KR Dunkel">
    <p:bg>
      <p:bgPr>
        <a:solidFill>
          <a:srgbClr val="0B1426"/>
        </a:solidFill>
      </p:bgPr>
    </p:bg>
    <p:spTree>
      <p:nvGrpSpPr>
        <p:cNvPr id="1" name=""/>
        <p:cNvGrpSpPr/>
        <p:nvPr/>
      </p:nvGrpSpPr>
      <p:grpSpPr>
        <a:xfrm>
          <a:off x="0" y="0"/>
          <a:ext cx="0" cy="0"/>
          <a:chOff x="0" y="0"/>
          <a:chExt cx="0" cy="0"/>
        </a:xfrm>
      </p:grpSpPr>
      <p:pic>
        <p:nvPicPr>
          <p:cNvPr id="2" name="Image 0" descr="/tmp/kr_bildcache/siegel3_d1377e2871e621de.png">    </p:cNvPr>
          <p:cNvPicPr>
            <a:picLocks noChangeAspect="1"/>
          </p:cNvPicPr>
          <p:nvPr/>
        </p:nvPicPr>
        <p:blipFill>
          <a:blip r:embed="rId1"/>
          <a:stretch>
            <a:fillRect/>
          </a:stretch>
        </p:blipFill>
        <p:spPr>
          <a:xfrm>
            <a:off x="548640" y="384048"/>
            <a:ext cx="566928" cy="566928"/>
          </a:xfrm>
          <a:prstGeom prst="rect">
            <a:avLst/>
          </a:prstGeom>
        </p:spPr>
      </p:pic>
      <p:sp>
        <p:nvSpPr>
          <p:cNvPr id="3" name="Text 0"/>
          <p:cNvSpPr/>
          <p:nvPr>
            <p:ph idx="101" type="title" hasCustomPrompt="1"/>
          </p:nvPr>
        </p:nvSpPr>
        <p:spPr>
          <a:xfrm>
            <a:off x="1325880" y="347472"/>
            <a:ext cx="10317175" cy="658368"/>
          </a:xfrm>
          <a:prstGeom prst="rect">
            <a:avLst/>
          </a:prstGeom>
          <a:noFill/>
          <a:ln/>
        </p:spPr>
        <p:txBody>
          <a:bodyPr wrap="square" rtlCol="0"/>
          <a:lstStyle>
            <a:lvl1pPr algn="l" indent="0" marL="0">
              <a:buNone/>
              <a:defRPr lang="en-US" sz="3000" b="1" dirty="0">
                <a:solidFill>
                  <a:srgbClr val="FBF7EE"/>
                </a:solidFill>
                <a:latin typeface="Georgia" pitchFamily="34" charset="0"/>
                <a:ea typeface="Georgia" pitchFamily="34" charset="-122"/>
                <a:cs typeface="Georgia" pitchFamily="34" charset="-120"/>
              </a:defRPr>
            </a:lvl1pPr>
          </a:lstStyle>
          <a:p>
            <a:pPr algn="l" indent="0" marL="0">
              <a:buNone/>
            </a:pPr>
            <a:endParaRPr lang="en-US" sz="3000" dirty="0"/>
          </a:p>
        </p:txBody>
      </p:sp>
      <p:sp>
        <p:nvSpPr>
          <p:cNvPr id="4" name="Text 0"/>
          <p:cNvSpPr/>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D9A441"/>
                </a:solidFill>
                <a:latin typeface="Calibri" pitchFamily="34" charset="0"/>
                <a:ea typeface="Calibri" pitchFamily="34" charset="-122"/>
                <a:cs typeface="Calibri" pitchFamily="34" charset="-120"/>
              </a:rPr>
              <a:t>Kryptos · Welt 3 · Das Maschinenzeitalter</a:t>
            </a:r>
            <a:endParaRPr lang="en-US" sz="10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9A441"/>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9A441"/>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5.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4.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4.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5.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Chiffrierscheibe" descr="/tmp/kr_bildcache/scheibe_a6f14ff56f7750b7.png">    </p:cNvPr>
          <p:cNvPicPr>
            <a:picLocks noChangeAspect="1"/>
          </p:cNvPicPr>
          <p:nvPr/>
        </p:nvPicPr>
        <p:blipFill>
          <a:blip r:embed="rId1">
            <a:alphaModFix amt="45000"/>
          </a:blip>
          <a:stretch>
            <a:fillRect/>
          </a:stretch>
        </p:blipFill>
        <p:spPr>
          <a:xfrm>
            <a:off x="7223760" y="-1005840"/>
            <a:ext cx="6766560" cy="6766560"/>
          </a:xfrm>
          <a:prstGeom prst="rect">
            <a:avLst/>
          </a:prstGeom>
        </p:spPr>
      </p:pic>
      <p:pic>
        <p:nvPicPr>
          <p:cNvPr id="3" name="Image 1" descr="/tmp/kr_bildcache/siegel3_d1377e2871e621de.png">    </p:cNvPr>
          <p:cNvPicPr>
            <a:picLocks noChangeAspect="1"/>
          </p:cNvPicPr>
          <p:nvPr/>
        </p:nvPicPr>
        <p:blipFill>
          <a:blip r:embed="rId2"/>
          <a:stretch>
            <a:fillRect/>
          </a:stretch>
        </p:blipFill>
        <p:spPr>
          <a:xfrm>
            <a:off x="548640" y="685800"/>
            <a:ext cx="1005840" cy="1005840"/>
          </a:xfrm>
          <a:prstGeom prst="rect">
            <a:avLst/>
          </a:prstGeom>
        </p:spPr>
      </p:pic>
      <p:sp>
        <p:nvSpPr>
          <p:cNvPr id="4" name="Text 0"/>
          <p:cNvSpPr txBox="1"/>
          <p:nvPr/>
        </p:nvSpPr>
        <p:spPr>
          <a:xfrm>
            <a:off x="548640" y="1828800"/>
            <a:ext cx="7772400" cy="365760"/>
          </a:xfrm>
          <a:prstGeom prst="rect">
            <a:avLst/>
          </a:prstGeom>
          <a:noFill/>
          <a:ln/>
        </p:spPr>
        <p:txBody>
          <a:bodyPr wrap="square" lIns="0" tIns="0" rIns="0" bIns="0" rtlCol="0" anchor="ctr"/>
          <a:lstStyle/>
          <a:p>
            <a:pPr indent="0" marL="0">
              <a:buNone/>
            </a:pPr>
            <a:r>
              <a:rPr lang="en-US" sz="1600" b="1" spc="300" kern="0" dirty="0">
                <a:solidFill>
                  <a:srgbClr val="A9C27A"/>
                </a:solidFill>
                <a:latin typeface="Consolas" pitchFamily="34" charset="0"/>
                <a:ea typeface="Consolas" pitchFamily="34" charset="-122"/>
                <a:cs typeface="Consolas" pitchFamily="34" charset="-120"/>
              </a:rPr>
              <a:t>WELT 3 · 1917 – 1977 · FUNK &amp; FERNSCHREIBER</a:t>
            </a:r>
            <a:endParaRPr lang="en-US" sz="1600" dirty="0"/>
          </a:p>
        </p:txBody>
      </p:sp>
      <p:sp>
        <p:nvSpPr>
          <p:cNvPr id="5" name="Text 0"/>
          <p:cNvSpPr/>
          <p:nvPr>
            <p:ph idx="100" type="title" hasCustomPrompt="1"/>
          </p:nvPr>
        </p:nvSpPr>
        <p:spPr>
          <a:xfrm>
            <a:off x="548640" y="2331720"/>
            <a:ext cx="7498080" cy="1554480"/>
          </a:xfrm>
          <a:prstGeom prst="rect">
            <a:avLst/>
          </a:prstGeom>
          <a:noFill/>
          <a:ln/>
        </p:spPr>
        <p:txBody>
          <a:bodyPr wrap="square" lIns="0" tIns="0" rIns="0" bIns="0" rtlCol="0" anchor="t"/>
          <a:lstStyle/>
          <a:p>
            <a:pPr algn="l" indent="0" marL="0">
              <a:buNone/>
            </a:pPr>
            <a:r>
              <a:rPr lang="en-US" sz="4600" b="1" dirty="0">
                <a:solidFill>
                  <a:srgbClr val="FBF7EE"/>
                </a:solidFill>
                <a:latin typeface="Georgia" pitchFamily="34" charset="0"/>
                <a:ea typeface="Georgia" pitchFamily="34" charset="-122"/>
                <a:cs typeface="Georgia" pitchFamily="34" charset="-120"/>
              </a:rPr>
              <a:t>Das Maschinenzeitalter</a:t>
            </a:r>
            <a:endParaRPr lang="en-US" sz="4600" dirty="0"/>
          </a:p>
        </p:txBody>
      </p:sp>
      <p:sp>
        <p:nvSpPr>
          <p:cNvPr id="6" name="Text 0"/>
          <p:cNvSpPr/>
          <p:nvPr>
            <p:ph idx="101" type="body" hasCustomPrompt="1"/>
          </p:nvPr>
        </p:nvSpPr>
        <p:spPr>
          <a:xfrm>
            <a:off x="548640" y="3931920"/>
            <a:ext cx="7315200" cy="914400"/>
          </a:xfrm>
          <a:prstGeom prst="rect">
            <a:avLst/>
          </a:prstGeom>
          <a:noFill/>
          <a:ln/>
        </p:spPr>
        <p:txBody>
          <a:bodyPr wrap="square" lIns="0" tIns="0" rIns="0" bIns="0" rtlCol="0" anchor="t"/>
          <a:lstStyle/>
          <a:p>
            <a:pPr algn="l" indent="0" marL="0">
              <a:buNone/>
            </a:pPr>
            <a:r>
              <a:rPr lang="en-US" sz="2200" dirty="0">
                <a:solidFill>
                  <a:srgbClr val="D9A441"/>
                </a:solidFill>
                <a:latin typeface="Calibri" pitchFamily="34" charset="0"/>
                <a:ea typeface="Calibri" pitchFamily="34" charset="-122"/>
                <a:cs typeface="Calibri" pitchFamily="34" charset="-120"/>
              </a:rPr>
              <a:t>Welt 3 · Wenn Maschinen verschlüsseln</a:t>
            </a:r>
            <a:endParaRPr lang="en-US" sz="2200" dirty="0"/>
          </a:p>
        </p:txBody>
      </p:sp>
      <p:sp>
        <p:nvSpPr>
          <p:cNvPr id="7" name="Text 3"/>
          <p:cNvSpPr txBox="1"/>
          <p:nvPr/>
        </p:nvSpPr>
        <p:spPr>
          <a:xfrm>
            <a:off x="548640" y="6172200"/>
            <a:ext cx="7315200" cy="320040"/>
          </a:xfrm>
          <a:prstGeom prst="rect">
            <a:avLst/>
          </a:prstGeom>
          <a:noFill/>
          <a:ln/>
        </p:spPr>
        <p:txBody>
          <a:bodyPr wrap="square" lIns="0" tIns="0" rIns="0" bIns="0" rtlCol="0" anchor="ctr"/>
          <a:lstStyle/>
          <a:p>
            <a:pPr indent="0" marL="0">
              <a:buNone/>
            </a:pPr>
            <a:r>
              <a:rPr lang="en-US" sz="1200" spc="400" kern="0" dirty="0">
                <a:solidFill>
                  <a:srgbClr val="D9A441"/>
                </a:solidFill>
              </a:rPr>
              <a:t>KRYPTOS · DIE ZEITREISE DER GEHEIMSCHRIFTEN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FBF7EE"/>
                </a:solidFill>
                <a:latin typeface="Georgia" pitchFamily="34" charset="0"/>
                <a:ea typeface="Georgia" pitchFamily="34" charset="-122"/>
                <a:cs typeface="Georgia" pitchFamily="34" charset="-120"/>
              </a:rPr>
              <a:t>Der Lochstreifen von 1917</a:t>
            </a:r>
            <a:endParaRPr lang="en-US" sz="3000" dirty="0"/>
          </a:p>
        </p:txBody>
      </p:sp>
      <p:sp>
        <p:nvSpPr>
          <p:cNvPr id="3" name="Text 1"/>
          <p:cNvSpPr txBox="1"/>
          <p:nvPr/>
        </p:nvSpPr>
        <p:spPr>
          <a:xfrm>
            <a:off x="731520" y="1417320"/>
            <a:ext cx="5181448" cy="386588"/>
          </a:xfrm>
          <a:prstGeom prst="rect">
            <a:avLst/>
          </a:prstGeom>
          <a:noFill/>
          <a:ln/>
        </p:spPr>
        <p:txBody>
          <a:bodyPr wrap="square" lIns="0" tIns="0" rIns="0" bIns="0" rtlCol="0" anchor="t"/>
          <a:lstStyle/>
          <a:p>
            <a:pPr algn="ctr" indent="0" marL="0">
              <a:buNone/>
            </a:pPr>
            <a:r>
              <a:rPr lang="en-US" sz="2200" b="1" dirty="0">
                <a:solidFill>
                  <a:srgbClr val="FBF7EE"/>
                </a:solidFill>
              </a:rPr>
              <a:t>Geheimtext-Streifen</a:t>
            </a:r>
            <a:endParaRPr lang="en-US" sz="22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771068" y="1931924"/>
          <a:ext cx="5102352" cy="914400"/>
        </p:xfrm>
        <a:graphic>
          <a:graphicData uri="http://schemas.openxmlformats.org/drawingml/2006/table">
            <a:tbl>
              <a:tblPr/>
              <a:tblGrid>
                <a:gridCol w="566928"/>
                <a:gridCol w="566928"/>
                <a:gridCol w="566928"/>
                <a:gridCol w="566928"/>
                <a:gridCol w="566928"/>
                <a:gridCol w="566928"/>
                <a:gridCol w="566928"/>
                <a:gridCol w="566928"/>
                <a:gridCol w="566928"/>
              </a:tblGrid>
              <a:tr h="566928">
                <a:tc>
                  <a:txBody>
                    <a:bodyPr/>
                    <a:lstStyle/>
                    <a:p>
                      <a:pPr algn="ctr" indent="0" marL="0">
                        <a:buNone/>
                      </a:pP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2EADB"/>
                    </a:solidFill>
                  </a:tcPr>
                </a:tc>
                <a:tc>
                  <a:txBody>
                    <a:bodyPr/>
                    <a:lstStyle/>
                    <a:p>
                      <a:pPr algn="ctr" indent="0" marL="0">
                        <a:buNone/>
                      </a:pPr>
                      <a:r>
                        <a:rPr lang="en-US" sz="2232" b="1" dirty="0">
                          <a:solidFill>
                            <a:srgbClr val="1B1B1F"/>
                          </a:solidFill>
                          <a:latin typeface="Consolas" pitchFamily="34" charset="0"/>
                          <a:ea typeface="Consolas" pitchFamily="34" charset="-122"/>
                          <a:cs typeface="Consolas" pitchFamily="34" charset="-120"/>
                        </a:rPr>
                        <a:t>128</a:t>
                      </a: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2EADB"/>
                    </a:solidFill>
                  </a:tcPr>
                </a:tc>
                <a:tc>
                  <a:txBody>
                    <a:bodyPr/>
                    <a:lstStyle/>
                    <a:p>
                      <a:pPr algn="ctr" indent="0" marL="0">
                        <a:buNone/>
                      </a:pPr>
                      <a:r>
                        <a:rPr lang="en-US" sz="2232" b="1" dirty="0">
                          <a:solidFill>
                            <a:srgbClr val="1B1B1F"/>
                          </a:solidFill>
                          <a:latin typeface="Consolas" pitchFamily="34" charset="0"/>
                          <a:ea typeface="Consolas" pitchFamily="34" charset="-122"/>
                          <a:cs typeface="Consolas" pitchFamily="34" charset="-120"/>
                        </a:rPr>
                        <a:t>64</a:t>
                      </a: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2EADB"/>
                    </a:solidFill>
                  </a:tcPr>
                </a:tc>
                <a:tc>
                  <a:txBody>
                    <a:bodyPr/>
                    <a:lstStyle/>
                    <a:p>
                      <a:pPr algn="ctr" indent="0" marL="0">
                        <a:buNone/>
                      </a:pPr>
                      <a:r>
                        <a:rPr lang="en-US" sz="2232" b="1" dirty="0">
                          <a:solidFill>
                            <a:srgbClr val="1B1B1F"/>
                          </a:solidFill>
                          <a:latin typeface="Consolas" pitchFamily="34" charset="0"/>
                          <a:ea typeface="Consolas" pitchFamily="34" charset="-122"/>
                          <a:cs typeface="Consolas" pitchFamily="34" charset="-120"/>
                        </a:rPr>
                        <a:t>32</a:t>
                      </a: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2EADB"/>
                    </a:solidFill>
                  </a:tcPr>
                </a:tc>
                <a:tc>
                  <a:txBody>
                    <a:bodyPr/>
                    <a:lstStyle/>
                    <a:p>
                      <a:pPr algn="ctr" indent="0" marL="0">
                        <a:buNone/>
                      </a:pPr>
                      <a:r>
                        <a:rPr lang="en-US" sz="2232" b="1" dirty="0">
                          <a:solidFill>
                            <a:srgbClr val="1B1B1F"/>
                          </a:solidFill>
                          <a:latin typeface="Consolas" pitchFamily="34" charset="0"/>
                          <a:ea typeface="Consolas" pitchFamily="34" charset="-122"/>
                          <a:cs typeface="Consolas" pitchFamily="34" charset="-120"/>
                        </a:rPr>
                        <a:t>16</a:t>
                      </a: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2EADB"/>
                    </a:solidFill>
                  </a:tcPr>
                </a:tc>
                <a:tc>
                  <a:txBody>
                    <a:bodyPr/>
                    <a:lstStyle/>
                    <a:p>
                      <a:pPr algn="ctr" indent="0" marL="0">
                        <a:buNone/>
                      </a:pPr>
                      <a:r>
                        <a:rPr lang="en-US" sz="2232" b="1" dirty="0">
                          <a:solidFill>
                            <a:srgbClr val="1B1B1F"/>
                          </a:solidFill>
                          <a:latin typeface="Consolas" pitchFamily="34" charset="0"/>
                          <a:ea typeface="Consolas" pitchFamily="34" charset="-122"/>
                          <a:cs typeface="Consolas" pitchFamily="34" charset="-120"/>
                        </a:rPr>
                        <a:t>8</a:t>
                      </a: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2EADB"/>
                    </a:solidFill>
                  </a:tcPr>
                </a:tc>
                <a:tc>
                  <a:txBody>
                    <a:bodyPr/>
                    <a:lstStyle/>
                    <a:p>
                      <a:pPr algn="ctr" indent="0" marL="0">
                        <a:buNone/>
                      </a:pPr>
                      <a:r>
                        <a:rPr lang="en-US" sz="2232" b="1" dirty="0">
                          <a:solidFill>
                            <a:srgbClr val="1B1B1F"/>
                          </a:solidFill>
                          <a:latin typeface="Consolas" pitchFamily="34" charset="0"/>
                          <a:ea typeface="Consolas" pitchFamily="34" charset="-122"/>
                          <a:cs typeface="Consolas" pitchFamily="34" charset="-120"/>
                        </a:rPr>
                        <a:t>4</a:t>
                      </a: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2EADB"/>
                    </a:solidFill>
                  </a:tcPr>
                </a:tc>
                <a:tc>
                  <a:txBody>
                    <a:bodyPr/>
                    <a:lstStyle/>
                    <a:p>
                      <a:pPr algn="ctr" indent="0" marL="0">
                        <a:buNone/>
                      </a:pPr>
                      <a:r>
                        <a:rPr lang="en-US" sz="2232" b="1" dirty="0">
                          <a:solidFill>
                            <a:srgbClr val="1B1B1F"/>
                          </a:solidFill>
                          <a:latin typeface="Consolas" pitchFamily="34" charset="0"/>
                          <a:ea typeface="Consolas" pitchFamily="34" charset="-122"/>
                          <a:cs typeface="Consolas" pitchFamily="34" charset="-120"/>
                        </a:rPr>
                        <a:t>2</a:t>
                      </a: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2EADB"/>
                    </a:solidFill>
                  </a:tcPr>
                </a:tc>
                <a:tc>
                  <a:txBody>
                    <a:bodyPr/>
                    <a:lstStyle/>
                    <a:p>
                      <a:pPr algn="ctr" indent="0" marL="0">
                        <a:buNone/>
                      </a:pPr>
                      <a:r>
                        <a:rPr lang="en-US" sz="2232" b="1" dirty="0">
                          <a:solidFill>
                            <a:srgbClr val="1B1B1F"/>
                          </a:solidFill>
                          <a:latin typeface="Consolas" pitchFamily="34" charset="0"/>
                          <a:ea typeface="Consolas" pitchFamily="34" charset="-122"/>
                          <a:cs typeface="Consolas" pitchFamily="34" charset="-120"/>
                        </a:rPr>
                        <a:t>1</a:t>
                      </a: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2EADB"/>
                    </a:solidFill>
                  </a:tcPr>
                </a:tc>
              </a:tr>
              <a:tr h="566928">
                <a:tc>
                  <a:txBody>
                    <a:bodyPr/>
                    <a:lstStyle/>
                    <a:p>
                      <a:pPr algn="ctr" indent="0" marL="0">
                        <a:buNone/>
                      </a:pPr>
                      <a:r>
                        <a:rPr lang="en-US" sz="2232" b="1" dirty="0">
                          <a:solidFill>
                            <a:srgbClr val="1B1B1F"/>
                          </a:solidFill>
                          <a:latin typeface="Consolas" pitchFamily="34" charset="0"/>
                          <a:ea typeface="Consolas" pitchFamily="34" charset="-122"/>
                          <a:cs typeface="Consolas" pitchFamily="34" charset="-120"/>
                        </a:rPr>
                        <a:t>1</a:t>
                      </a: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2EADB"/>
                    </a:solidFill>
                  </a:tcPr>
                </a:tc>
                <a:tc>
                  <a:txBody>
                    <a:bodyPr/>
                    <a:lstStyle/>
                    <a:p>
                      <a:pPr algn="ctr" indent="0" marL="0">
                        <a:buNone/>
                      </a:pPr>
                      <a:r>
                        <a:rPr lang="en-US" sz="2232" b="1" dirty="0">
                          <a:solidFill>
                            <a:srgbClr val="1B1B1F"/>
                          </a:solidFill>
                          <a:latin typeface="Consolas" pitchFamily="34" charset="0"/>
                          <a:ea typeface="Consolas" pitchFamily="34" charset="-122"/>
                          <a:cs typeface="Consolas" pitchFamily="34" charset="-120"/>
                        </a:rPr>
                        <a:t>●</a:t>
                      </a: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FFFFF"/>
                    </a:solidFill>
                  </a:tcPr>
                </a:tc>
                <a:tc>
                  <a:txBody>
                    <a:bodyPr/>
                    <a:lstStyle/>
                    <a:p>
                      <a:pPr algn="ctr" indent="0" marL="0">
                        <a:buNone/>
                      </a:pPr>
                      <a:r>
                        <a:rPr lang="en-US" sz="2232" b="1" dirty="0">
                          <a:solidFill>
                            <a:srgbClr val="1B1B1F"/>
                          </a:solidFill>
                          <a:latin typeface="Consolas" pitchFamily="34" charset="0"/>
                          <a:ea typeface="Consolas" pitchFamily="34" charset="-122"/>
                          <a:cs typeface="Consolas" pitchFamily="34" charset="-120"/>
                        </a:rPr>
                        <a:t>●</a:t>
                      </a: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FFFFF"/>
                    </a:solidFill>
                  </a:tcPr>
                </a:tc>
                <a:tc>
                  <a:txBody>
                    <a:bodyPr/>
                    <a:lstStyle/>
                    <a:p>
                      <a:pPr algn="ctr" indent="0" marL="0">
                        <a:buNone/>
                      </a:pPr>
                      <a:r>
                        <a:rPr lang="en-US" sz="2232" b="1" dirty="0">
                          <a:solidFill>
                            <a:srgbClr val="1B1B1F"/>
                          </a:solidFill>
                          <a:latin typeface="Consolas" pitchFamily="34" charset="0"/>
                          <a:ea typeface="Consolas" pitchFamily="34" charset="-122"/>
                          <a:cs typeface="Consolas" pitchFamily="34" charset="-120"/>
                        </a:rPr>
                        <a:t>●</a:t>
                      </a: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FFFFF"/>
                    </a:solidFill>
                  </a:tcPr>
                </a:tc>
                <a:tc>
                  <a:txBody>
                    <a:bodyPr/>
                    <a:lstStyle/>
                    <a:p>
                      <a:pPr algn="ctr" indent="0" marL="0">
                        <a:buNone/>
                      </a:pPr>
                      <a:r>
                        <a:rPr lang="en-US" sz="2232" b="1" dirty="0">
                          <a:solidFill>
                            <a:srgbClr val="1B1B1F"/>
                          </a:solidFill>
                          <a:latin typeface="Consolas" pitchFamily="34" charset="0"/>
                          <a:ea typeface="Consolas" pitchFamily="34" charset="-122"/>
                          <a:cs typeface="Consolas" pitchFamily="34" charset="-120"/>
                        </a:rPr>
                        <a:t>●</a:t>
                      </a: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FFFFF"/>
                    </a:solidFill>
                  </a:tcPr>
                </a:tc>
                <a:tc>
                  <a:txBody>
                    <a:bodyPr/>
                    <a:lstStyle/>
                    <a:p>
                      <a:pPr algn="ctr" indent="0" marL="0">
                        <a:buNone/>
                      </a:pPr>
                      <a:r>
                        <a:rPr lang="en-US" sz="2232" b="1" dirty="0">
                          <a:solidFill>
                            <a:srgbClr val="1B1B1F"/>
                          </a:solidFill>
                          <a:latin typeface="Consolas" pitchFamily="34" charset="0"/>
                          <a:ea typeface="Consolas" pitchFamily="34" charset="-122"/>
                          <a:cs typeface="Consolas" pitchFamily="34" charset="-120"/>
                        </a:rPr>
                        <a:t>·</a:t>
                      </a: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FFFFF"/>
                    </a:solidFill>
                  </a:tcPr>
                </a:tc>
                <a:tc>
                  <a:txBody>
                    <a:bodyPr/>
                    <a:lstStyle/>
                    <a:p>
                      <a:pPr algn="ctr" indent="0" marL="0">
                        <a:buNone/>
                      </a:pPr>
                      <a:r>
                        <a:rPr lang="en-US" sz="2232" b="1" dirty="0">
                          <a:solidFill>
                            <a:srgbClr val="1B1B1F"/>
                          </a:solidFill>
                          <a:latin typeface="Consolas" pitchFamily="34" charset="0"/>
                          <a:ea typeface="Consolas" pitchFamily="34" charset="-122"/>
                          <a:cs typeface="Consolas" pitchFamily="34" charset="-120"/>
                        </a:rPr>
                        <a:t>●</a:t>
                      </a: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FFFFF"/>
                    </a:solidFill>
                  </a:tcPr>
                </a:tc>
                <a:tc>
                  <a:txBody>
                    <a:bodyPr/>
                    <a:lstStyle/>
                    <a:p>
                      <a:pPr algn="ctr" indent="0" marL="0">
                        <a:buNone/>
                      </a:pPr>
                      <a:r>
                        <a:rPr lang="en-US" sz="2232" b="1" dirty="0">
                          <a:solidFill>
                            <a:srgbClr val="1B1B1F"/>
                          </a:solidFill>
                          <a:latin typeface="Consolas" pitchFamily="34" charset="0"/>
                          <a:ea typeface="Consolas" pitchFamily="34" charset="-122"/>
                          <a:cs typeface="Consolas" pitchFamily="34" charset="-120"/>
                        </a:rPr>
                        <a:t>·</a:t>
                      </a: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FFFFF"/>
                    </a:solidFill>
                  </a:tcPr>
                </a:tc>
                <a:tc>
                  <a:txBody>
                    <a:bodyPr/>
                    <a:lstStyle/>
                    <a:p>
                      <a:pPr algn="ctr" indent="0" marL="0">
                        <a:buNone/>
                      </a:pPr>
                      <a:r>
                        <a:rPr lang="en-US" sz="2232" b="1" dirty="0">
                          <a:solidFill>
                            <a:srgbClr val="1B1B1F"/>
                          </a:solidFill>
                          <a:latin typeface="Consolas" pitchFamily="34" charset="0"/>
                          <a:ea typeface="Consolas" pitchFamily="34" charset="-122"/>
                          <a:cs typeface="Consolas" pitchFamily="34" charset="-120"/>
                        </a:rPr>
                        <a:t>·</a:t>
                      </a: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FFFFF"/>
                    </a:solidFill>
                  </a:tcPr>
                </a:tc>
              </a:tr>
              <a:tr h="566928">
                <a:tc>
                  <a:txBody>
                    <a:bodyPr/>
                    <a:lstStyle/>
                    <a:p>
                      <a:pPr algn="ctr" indent="0" marL="0">
                        <a:buNone/>
                      </a:pPr>
                      <a:r>
                        <a:rPr lang="en-US" sz="2232" b="1" dirty="0">
                          <a:solidFill>
                            <a:srgbClr val="1B1B1F"/>
                          </a:solidFill>
                          <a:latin typeface="Consolas" pitchFamily="34" charset="0"/>
                          <a:ea typeface="Consolas" pitchFamily="34" charset="-122"/>
                          <a:cs typeface="Consolas" pitchFamily="34" charset="-120"/>
                        </a:rPr>
                        <a:t>2</a:t>
                      </a: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2EADB"/>
                    </a:solidFill>
                  </a:tcPr>
                </a:tc>
                <a:tc>
                  <a:txBody>
                    <a:bodyPr/>
                    <a:lstStyle/>
                    <a:p>
                      <a:pPr algn="ctr" indent="0" marL="0">
                        <a:buNone/>
                      </a:pPr>
                      <a:r>
                        <a:rPr lang="en-US" sz="2232" b="1" dirty="0">
                          <a:solidFill>
                            <a:srgbClr val="1B1B1F"/>
                          </a:solidFill>
                          <a:latin typeface="Consolas" pitchFamily="34" charset="0"/>
                          <a:ea typeface="Consolas" pitchFamily="34" charset="-122"/>
                          <a:cs typeface="Consolas" pitchFamily="34" charset="-120"/>
                        </a:rPr>
                        <a:t>·</a:t>
                      </a: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FFFFF"/>
                    </a:solidFill>
                  </a:tcPr>
                </a:tc>
                <a:tc>
                  <a:txBody>
                    <a:bodyPr/>
                    <a:lstStyle/>
                    <a:p>
                      <a:pPr algn="ctr" indent="0" marL="0">
                        <a:buNone/>
                      </a:pPr>
                      <a:r>
                        <a:rPr lang="en-US" sz="2232" b="1" dirty="0">
                          <a:solidFill>
                            <a:srgbClr val="1B1B1F"/>
                          </a:solidFill>
                          <a:latin typeface="Consolas" pitchFamily="34" charset="0"/>
                          <a:ea typeface="Consolas" pitchFamily="34" charset="-122"/>
                          <a:cs typeface="Consolas" pitchFamily="34" charset="-120"/>
                        </a:rPr>
                        <a:t>●</a:t>
                      </a: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FFFFF"/>
                    </a:solidFill>
                  </a:tcPr>
                </a:tc>
                <a:tc>
                  <a:txBody>
                    <a:bodyPr/>
                    <a:lstStyle/>
                    <a:p>
                      <a:pPr algn="ctr" indent="0" marL="0">
                        <a:buNone/>
                      </a:pPr>
                      <a:r>
                        <a:rPr lang="en-US" sz="2232" b="1" dirty="0">
                          <a:solidFill>
                            <a:srgbClr val="1B1B1F"/>
                          </a:solidFill>
                          <a:latin typeface="Consolas" pitchFamily="34" charset="0"/>
                          <a:ea typeface="Consolas" pitchFamily="34" charset="-122"/>
                          <a:cs typeface="Consolas" pitchFamily="34" charset="-120"/>
                        </a:rPr>
                        <a:t>●</a:t>
                      </a: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FFFFF"/>
                    </a:solidFill>
                  </a:tcPr>
                </a:tc>
                <a:tc>
                  <a:txBody>
                    <a:bodyPr/>
                    <a:lstStyle/>
                    <a:p>
                      <a:pPr algn="ctr" indent="0" marL="0">
                        <a:buNone/>
                      </a:pPr>
                      <a:r>
                        <a:rPr lang="en-US" sz="2232" b="1" dirty="0">
                          <a:solidFill>
                            <a:srgbClr val="1B1B1F"/>
                          </a:solidFill>
                          <a:latin typeface="Consolas" pitchFamily="34" charset="0"/>
                          <a:ea typeface="Consolas" pitchFamily="34" charset="-122"/>
                          <a:cs typeface="Consolas" pitchFamily="34" charset="-120"/>
                        </a:rPr>
                        <a:t>·</a:t>
                      </a: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FFFFF"/>
                    </a:solidFill>
                  </a:tcPr>
                </a:tc>
                <a:tc>
                  <a:txBody>
                    <a:bodyPr/>
                    <a:lstStyle/>
                    <a:p>
                      <a:pPr algn="ctr" indent="0" marL="0">
                        <a:buNone/>
                      </a:pPr>
                      <a:r>
                        <a:rPr lang="en-US" sz="2232" b="1" dirty="0">
                          <a:solidFill>
                            <a:srgbClr val="1B1B1F"/>
                          </a:solidFill>
                          <a:latin typeface="Consolas" pitchFamily="34" charset="0"/>
                          <a:ea typeface="Consolas" pitchFamily="34" charset="-122"/>
                          <a:cs typeface="Consolas" pitchFamily="34" charset="-120"/>
                        </a:rPr>
                        <a:t>●</a:t>
                      </a: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FFFFF"/>
                    </a:solidFill>
                  </a:tcPr>
                </a:tc>
                <a:tc>
                  <a:txBody>
                    <a:bodyPr/>
                    <a:lstStyle/>
                    <a:p>
                      <a:pPr algn="ctr" indent="0" marL="0">
                        <a:buNone/>
                      </a:pPr>
                      <a:r>
                        <a:rPr lang="en-US" sz="2232" b="1" dirty="0">
                          <a:solidFill>
                            <a:srgbClr val="1B1B1F"/>
                          </a:solidFill>
                          <a:latin typeface="Consolas" pitchFamily="34" charset="0"/>
                          <a:ea typeface="Consolas" pitchFamily="34" charset="-122"/>
                          <a:cs typeface="Consolas" pitchFamily="34" charset="-120"/>
                        </a:rPr>
                        <a:t>●</a:t>
                      </a: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FFFFF"/>
                    </a:solidFill>
                  </a:tcPr>
                </a:tc>
                <a:tc>
                  <a:txBody>
                    <a:bodyPr/>
                    <a:lstStyle/>
                    <a:p>
                      <a:pPr algn="ctr" indent="0" marL="0">
                        <a:buNone/>
                      </a:pPr>
                      <a:r>
                        <a:rPr lang="en-US" sz="2232" b="1" dirty="0">
                          <a:solidFill>
                            <a:srgbClr val="1B1B1F"/>
                          </a:solidFill>
                          <a:latin typeface="Consolas" pitchFamily="34" charset="0"/>
                          <a:ea typeface="Consolas" pitchFamily="34" charset="-122"/>
                          <a:cs typeface="Consolas" pitchFamily="34" charset="-120"/>
                        </a:rPr>
                        <a:t>·</a:t>
                      </a: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FFFFF"/>
                    </a:solidFill>
                  </a:tcPr>
                </a:tc>
                <a:tc>
                  <a:txBody>
                    <a:bodyPr/>
                    <a:lstStyle/>
                    <a:p>
                      <a:pPr algn="ctr" indent="0" marL="0">
                        <a:buNone/>
                      </a:pPr>
                      <a:r>
                        <a:rPr lang="en-US" sz="2232" b="1" dirty="0">
                          <a:solidFill>
                            <a:srgbClr val="1B1B1F"/>
                          </a:solidFill>
                          <a:latin typeface="Consolas" pitchFamily="34" charset="0"/>
                          <a:ea typeface="Consolas" pitchFamily="34" charset="-122"/>
                          <a:cs typeface="Consolas" pitchFamily="34" charset="-120"/>
                        </a:rPr>
                        <a:t>·</a:t>
                      </a: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FFFFF"/>
                    </a:solidFill>
                  </a:tcPr>
                </a:tc>
              </a:tr>
              <a:tr h="566928">
                <a:tc>
                  <a:txBody>
                    <a:bodyPr/>
                    <a:lstStyle/>
                    <a:p>
                      <a:pPr algn="ctr" indent="0" marL="0">
                        <a:buNone/>
                      </a:pPr>
                      <a:r>
                        <a:rPr lang="en-US" sz="2232" b="1" dirty="0">
                          <a:solidFill>
                            <a:srgbClr val="1B1B1F"/>
                          </a:solidFill>
                          <a:latin typeface="Consolas" pitchFamily="34" charset="0"/>
                          <a:ea typeface="Consolas" pitchFamily="34" charset="-122"/>
                          <a:cs typeface="Consolas" pitchFamily="34" charset="-120"/>
                        </a:rPr>
                        <a:t>3</a:t>
                      </a: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2EADB"/>
                    </a:solidFill>
                  </a:tcPr>
                </a:tc>
                <a:tc>
                  <a:txBody>
                    <a:bodyPr/>
                    <a:lstStyle/>
                    <a:p>
                      <a:pPr algn="ctr" indent="0" marL="0">
                        <a:buNone/>
                      </a:pPr>
                      <a:r>
                        <a:rPr lang="en-US" sz="2232" b="1" dirty="0">
                          <a:solidFill>
                            <a:srgbClr val="1B1B1F"/>
                          </a:solidFill>
                          <a:latin typeface="Consolas" pitchFamily="34" charset="0"/>
                          <a:ea typeface="Consolas" pitchFamily="34" charset="-122"/>
                          <a:cs typeface="Consolas" pitchFamily="34" charset="-120"/>
                        </a:rPr>
                        <a:t>●</a:t>
                      </a: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FFFFF"/>
                    </a:solidFill>
                  </a:tcPr>
                </a:tc>
                <a:tc>
                  <a:txBody>
                    <a:bodyPr/>
                    <a:lstStyle/>
                    <a:p>
                      <a:pPr algn="ctr" indent="0" marL="0">
                        <a:buNone/>
                      </a:pPr>
                      <a:r>
                        <a:rPr lang="en-US" sz="2232" b="1" dirty="0">
                          <a:solidFill>
                            <a:srgbClr val="1B1B1F"/>
                          </a:solidFill>
                          <a:latin typeface="Consolas" pitchFamily="34" charset="0"/>
                          <a:ea typeface="Consolas" pitchFamily="34" charset="-122"/>
                          <a:cs typeface="Consolas" pitchFamily="34" charset="-120"/>
                        </a:rPr>
                        <a:t>·</a:t>
                      </a: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FFFFF"/>
                    </a:solidFill>
                  </a:tcPr>
                </a:tc>
                <a:tc>
                  <a:txBody>
                    <a:bodyPr/>
                    <a:lstStyle/>
                    <a:p>
                      <a:pPr algn="ctr" indent="0" marL="0">
                        <a:buNone/>
                      </a:pPr>
                      <a:r>
                        <a:rPr lang="en-US" sz="2232" b="1" dirty="0">
                          <a:solidFill>
                            <a:srgbClr val="1B1B1F"/>
                          </a:solidFill>
                          <a:latin typeface="Consolas" pitchFamily="34" charset="0"/>
                          <a:ea typeface="Consolas" pitchFamily="34" charset="-122"/>
                          <a:cs typeface="Consolas" pitchFamily="34" charset="-120"/>
                        </a:rPr>
                        <a:t>·</a:t>
                      </a: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FFFFF"/>
                    </a:solidFill>
                  </a:tcPr>
                </a:tc>
                <a:tc>
                  <a:txBody>
                    <a:bodyPr/>
                    <a:lstStyle/>
                    <a:p>
                      <a:pPr algn="ctr" indent="0" marL="0">
                        <a:buNone/>
                      </a:pPr>
                      <a:r>
                        <a:rPr lang="en-US" sz="2232" b="1" dirty="0">
                          <a:solidFill>
                            <a:srgbClr val="1B1B1F"/>
                          </a:solidFill>
                          <a:latin typeface="Consolas" pitchFamily="34" charset="0"/>
                          <a:ea typeface="Consolas" pitchFamily="34" charset="-122"/>
                          <a:cs typeface="Consolas" pitchFamily="34" charset="-120"/>
                        </a:rPr>
                        <a:t>·</a:t>
                      </a: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FFFFF"/>
                    </a:solidFill>
                  </a:tcPr>
                </a:tc>
                <a:tc>
                  <a:txBody>
                    <a:bodyPr/>
                    <a:lstStyle/>
                    <a:p>
                      <a:pPr algn="ctr" indent="0" marL="0">
                        <a:buNone/>
                      </a:pPr>
                      <a:r>
                        <a:rPr lang="en-US" sz="2232" b="1" dirty="0">
                          <a:solidFill>
                            <a:srgbClr val="1B1B1F"/>
                          </a:solidFill>
                          <a:latin typeface="Consolas" pitchFamily="34" charset="0"/>
                          <a:ea typeface="Consolas" pitchFamily="34" charset="-122"/>
                          <a:cs typeface="Consolas" pitchFamily="34" charset="-120"/>
                        </a:rPr>
                        <a:t>●</a:t>
                      </a: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FFFFF"/>
                    </a:solidFill>
                  </a:tcPr>
                </a:tc>
                <a:tc>
                  <a:txBody>
                    <a:bodyPr/>
                    <a:lstStyle/>
                    <a:p>
                      <a:pPr algn="ctr" indent="0" marL="0">
                        <a:buNone/>
                      </a:pPr>
                      <a:r>
                        <a:rPr lang="en-US" sz="2232" b="1" dirty="0">
                          <a:solidFill>
                            <a:srgbClr val="1B1B1F"/>
                          </a:solidFill>
                          <a:latin typeface="Consolas" pitchFamily="34" charset="0"/>
                          <a:ea typeface="Consolas" pitchFamily="34" charset="-122"/>
                          <a:cs typeface="Consolas" pitchFamily="34" charset="-120"/>
                        </a:rPr>
                        <a:t>·</a:t>
                      </a: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FFFFF"/>
                    </a:solidFill>
                  </a:tcPr>
                </a:tc>
                <a:tc>
                  <a:txBody>
                    <a:bodyPr/>
                    <a:lstStyle/>
                    <a:p>
                      <a:pPr algn="ctr" indent="0" marL="0">
                        <a:buNone/>
                      </a:pPr>
                      <a:r>
                        <a:rPr lang="en-US" sz="2232" b="1" dirty="0">
                          <a:solidFill>
                            <a:srgbClr val="1B1B1F"/>
                          </a:solidFill>
                          <a:latin typeface="Consolas" pitchFamily="34" charset="0"/>
                          <a:ea typeface="Consolas" pitchFamily="34" charset="-122"/>
                          <a:cs typeface="Consolas" pitchFamily="34" charset="-120"/>
                        </a:rPr>
                        <a:t>●</a:t>
                      </a: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FFFFF"/>
                    </a:solidFill>
                  </a:tcPr>
                </a:tc>
                <a:tc>
                  <a:txBody>
                    <a:bodyPr/>
                    <a:lstStyle/>
                    <a:p>
                      <a:pPr algn="ctr" indent="0" marL="0">
                        <a:buNone/>
                      </a:pPr>
                      <a:r>
                        <a:rPr lang="en-US" sz="2232" b="1" dirty="0">
                          <a:solidFill>
                            <a:srgbClr val="1B1B1F"/>
                          </a:solidFill>
                          <a:latin typeface="Consolas" pitchFamily="34" charset="0"/>
                          <a:ea typeface="Consolas" pitchFamily="34" charset="-122"/>
                          <a:cs typeface="Consolas" pitchFamily="34" charset="-120"/>
                        </a:rPr>
                        <a:t>●</a:t>
                      </a: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FFFFF"/>
                    </a:solidFill>
                  </a:tcPr>
                </a:tc>
              </a:tr>
              <a:tr h="566928">
                <a:tc>
                  <a:txBody>
                    <a:bodyPr/>
                    <a:lstStyle/>
                    <a:p>
                      <a:pPr algn="ctr" indent="0" marL="0">
                        <a:buNone/>
                      </a:pPr>
                      <a:r>
                        <a:rPr lang="en-US" sz="2232" b="1" dirty="0">
                          <a:solidFill>
                            <a:srgbClr val="1B1B1F"/>
                          </a:solidFill>
                          <a:latin typeface="Consolas" pitchFamily="34" charset="0"/>
                          <a:ea typeface="Consolas" pitchFamily="34" charset="-122"/>
                          <a:cs typeface="Consolas" pitchFamily="34" charset="-120"/>
                        </a:rPr>
                        <a:t>4</a:t>
                      </a: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2EADB"/>
                    </a:solidFill>
                  </a:tcPr>
                </a:tc>
                <a:tc>
                  <a:txBody>
                    <a:bodyPr/>
                    <a:lstStyle/>
                    <a:p>
                      <a:pPr algn="ctr" indent="0" marL="0">
                        <a:buNone/>
                      </a:pPr>
                      <a:r>
                        <a:rPr lang="en-US" sz="2232" b="1" dirty="0">
                          <a:solidFill>
                            <a:srgbClr val="1B1B1F"/>
                          </a:solidFill>
                          <a:latin typeface="Consolas" pitchFamily="34" charset="0"/>
                          <a:ea typeface="Consolas" pitchFamily="34" charset="-122"/>
                          <a:cs typeface="Consolas" pitchFamily="34" charset="-120"/>
                        </a:rPr>
                        <a:t>·</a:t>
                      </a: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FFFFF"/>
                    </a:solidFill>
                  </a:tcPr>
                </a:tc>
                <a:tc>
                  <a:txBody>
                    <a:bodyPr/>
                    <a:lstStyle/>
                    <a:p>
                      <a:pPr algn="ctr" indent="0" marL="0">
                        <a:buNone/>
                      </a:pPr>
                      <a:r>
                        <a:rPr lang="en-US" sz="2232" b="1" dirty="0">
                          <a:solidFill>
                            <a:srgbClr val="1B1B1F"/>
                          </a:solidFill>
                          <a:latin typeface="Consolas" pitchFamily="34" charset="0"/>
                          <a:ea typeface="Consolas" pitchFamily="34" charset="-122"/>
                          <a:cs typeface="Consolas" pitchFamily="34" charset="-120"/>
                        </a:rPr>
                        <a:t>·</a:t>
                      </a: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FFFFF"/>
                    </a:solidFill>
                  </a:tcPr>
                </a:tc>
                <a:tc>
                  <a:txBody>
                    <a:bodyPr/>
                    <a:lstStyle/>
                    <a:p>
                      <a:pPr algn="ctr" indent="0" marL="0">
                        <a:buNone/>
                      </a:pPr>
                      <a:r>
                        <a:rPr lang="en-US" sz="2232" b="1" dirty="0">
                          <a:solidFill>
                            <a:srgbClr val="1B1B1F"/>
                          </a:solidFill>
                          <a:latin typeface="Consolas" pitchFamily="34" charset="0"/>
                          <a:ea typeface="Consolas" pitchFamily="34" charset="-122"/>
                          <a:cs typeface="Consolas" pitchFamily="34" charset="-120"/>
                        </a:rPr>
                        <a:t>●</a:t>
                      </a: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FFFFF"/>
                    </a:solidFill>
                  </a:tcPr>
                </a:tc>
                <a:tc>
                  <a:txBody>
                    <a:bodyPr/>
                    <a:lstStyle/>
                    <a:p>
                      <a:pPr algn="ctr" indent="0" marL="0">
                        <a:buNone/>
                      </a:pPr>
                      <a:r>
                        <a:rPr lang="en-US" sz="2232" b="1" dirty="0">
                          <a:solidFill>
                            <a:srgbClr val="1B1B1F"/>
                          </a:solidFill>
                          <a:latin typeface="Consolas" pitchFamily="34" charset="0"/>
                          <a:ea typeface="Consolas" pitchFamily="34" charset="-122"/>
                          <a:cs typeface="Consolas" pitchFamily="34" charset="-120"/>
                        </a:rPr>
                        <a:t>·</a:t>
                      </a: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FFFFF"/>
                    </a:solidFill>
                  </a:tcPr>
                </a:tc>
                <a:tc>
                  <a:txBody>
                    <a:bodyPr/>
                    <a:lstStyle/>
                    <a:p>
                      <a:pPr algn="ctr" indent="0" marL="0">
                        <a:buNone/>
                      </a:pPr>
                      <a:r>
                        <a:rPr lang="en-US" sz="2232" b="1" dirty="0">
                          <a:solidFill>
                            <a:srgbClr val="1B1B1F"/>
                          </a:solidFill>
                          <a:latin typeface="Consolas" pitchFamily="34" charset="0"/>
                          <a:ea typeface="Consolas" pitchFamily="34" charset="-122"/>
                          <a:cs typeface="Consolas" pitchFamily="34" charset="-120"/>
                        </a:rPr>
                        <a:t>·</a:t>
                      </a: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FFFFF"/>
                    </a:solidFill>
                  </a:tcPr>
                </a:tc>
                <a:tc>
                  <a:txBody>
                    <a:bodyPr/>
                    <a:lstStyle/>
                    <a:p>
                      <a:pPr algn="ctr" indent="0" marL="0">
                        <a:buNone/>
                      </a:pPr>
                      <a:r>
                        <a:rPr lang="en-US" sz="2232" b="1" dirty="0">
                          <a:solidFill>
                            <a:srgbClr val="1B1B1F"/>
                          </a:solidFill>
                          <a:latin typeface="Consolas" pitchFamily="34" charset="0"/>
                          <a:ea typeface="Consolas" pitchFamily="34" charset="-122"/>
                          <a:cs typeface="Consolas" pitchFamily="34" charset="-120"/>
                        </a:rPr>
                        <a:t>●</a:t>
                      </a: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FFFFF"/>
                    </a:solidFill>
                  </a:tcPr>
                </a:tc>
                <a:tc>
                  <a:txBody>
                    <a:bodyPr/>
                    <a:lstStyle/>
                    <a:p>
                      <a:pPr algn="ctr" indent="0" marL="0">
                        <a:buNone/>
                      </a:pPr>
                      <a:r>
                        <a:rPr lang="en-US" sz="2232" b="1" dirty="0">
                          <a:solidFill>
                            <a:srgbClr val="1B1B1F"/>
                          </a:solidFill>
                          <a:latin typeface="Consolas" pitchFamily="34" charset="0"/>
                          <a:ea typeface="Consolas" pitchFamily="34" charset="-122"/>
                          <a:cs typeface="Consolas" pitchFamily="34" charset="-120"/>
                        </a:rPr>
                        <a:t>·</a:t>
                      </a: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FFFFF"/>
                    </a:solidFill>
                  </a:tcPr>
                </a:tc>
                <a:tc>
                  <a:txBody>
                    <a:bodyPr/>
                    <a:lstStyle/>
                    <a:p>
                      <a:pPr algn="ctr" indent="0" marL="0">
                        <a:buNone/>
                      </a:pPr>
                      <a:r>
                        <a:rPr lang="en-US" sz="2232" b="1" dirty="0">
                          <a:solidFill>
                            <a:srgbClr val="1B1B1F"/>
                          </a:solidFill>
                          <a:latin typeface="Consolas" pitchFamily="34" charset="0"/>
                          <a:ea typeface="Consolas" pitchFamily="34" charset="-122"/>
                          <a:cs typeface="Consolas" pitchFamily="34" charset="-120"/>
                        </a:rPr>
                        <a:t>●</a:t>
                      </a: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6278728" y="1417320"/>
            <a:ext cx="5181448" cy="386588"/>
          </a:xfrm>
          <a:prstGeom prst="rect">
            <a:avLst/>
          </a:prstGeom>
          <a:noFill/>
          <a:ln/>
        </p:spPr>
        <p:txBody>
          <a:bodyPr wrap="square" lIns="0" tIns="0" rIns="0" bIns="0" rtlCol="0" anchor="t"/>
          <a:lstStyle/>
          <a:p>
            <a:pPr algn="ctr" indent="0" marL="0">
              <a:buNone/>
            </a:pPr>
            <a:r>
              <a:rPr lang="en-US" sz="2200" b="1" dirty="0">
                <a:solidFill>
                  <a:srgbClr val="FBF7EE"/>
                </a:solidFill>
              </a:rPr>
              <a:t>Schlüssel – nach Gebrauch vernichten!</a:t>
            </a:r>
            <a:endParaRPr lang="en-US" sz="2200" dirty="0"/>
          </a:p>
        </p:txBody>
      </p:sp>
      <p:graphicFrame>
        <p:nvGraphicFramePr>
          <p:cNvPr id="5" name="Table 1"/>
          <p:cNvGraphicFramePr>
            <a:graphicFrameLocks noGrp="1"/>
          </p:cNvGraphicFramePr>
          <p:nvPr>
            <p:extLst>
              <p:ext uri="{D42A27DB-BD31-4B8C-83A1-F6EECF244321}">
                <p14:modId xmlns:p14="http://schemas.microsoft.com/office/powerpoint/2010/main" val="1579011935"/>
              </p:ext>
            </p:extLst>
          </p:nvPr>
        </p:nvGraphicFramePr>
        <p:xfrm>
          <a:off x="6318275" y="1931924"/>
          <a:ext cx="5102352" cy="914400"/>
        </p:xfrm>
        <a:graphic>
          <a:graphicData uri="http://schemas.openxmlformats.org/drawingml/2006/table">
            <a:tbl>
              <a:tblPr/>
              <a:tblGrid>
                <a:gridCol w="566928"/>
                <a:gridCol w="566928"/>
                <a:gridCol w="566928"/>
                <a:gridCol w="566928"/>
                <a:gridCol w="566928"/>
                <a:gridCol w="566928"/>
                <a:gridCol w="566928"/>
                <a:gridCol w="566928"/>
                <a:gridCol w="566928"/>
              </a:tblGrid>
              <a:tr h="566928">
                <a:tc>
                  <a:txBody>
                    <a:bodyPr/>
                    <a:lstStyle/>
                    <a:p>
                      <a:pPr algn="ctr" indent="0" marL="0">
                        <a:buNone/>
                      </a:pP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2EADB"/>
                    </a:solidFill>
                  </a:tcPr>
                </a:tc>
                <a:tc>
                  <a:txBody>
                    <a:bodyPr/>
                    <a:lstStyle/>
                    <a:p>
                      <a:pPr algn="ctr" indent="0" marL="0">
                        <a:buNone/>
                      </a:pPr>
                      <a:r>
                        <a:rPr lang="en-US" sz="2232" b="1" dirty="0">
                          <a:solidFill>
                            <a:srgbClr val="1B1B1F"/>
                          </a:solidFill>
                          <a:latin typeface="Consolas" pitchFamily="34" charset="0"/>
                          <a:ea typeface="Consolas" pitchFamily="34" charset="-122"/>
                          <a:cs typeface="Consolas" pitchFamily="34" charset="-120"/>
                        </a:rPr>
                        <a:t>128</a:t>
                      </a: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2EADB"/>
                    </a:solidFill>
                  </a:tcPr>
                </a:tc>
                <a:tc>
                  <a:txBody>
                    <a:bodyPr/>
                    <a:lstStyle/>
                    <a:p>
                      <a:pPr algn="ctr" indent="0" marL="0">
                        <a:buNone/>
                      </a:pPr>
                      <a:r>
                        <a:rPr lang="en-US" sz="2232" b="1" dirty="0">
                          <a:solidFill>
                            <a:srgbClr val="1B1B1F"/>
                          </a:solidFill>
                          <a:latin typeface="Consolas" pitchFamily="34" charset="0"/>
                          <a:ea typeface="Consolas" pitchFamily="34" charset="-122"/>
                          <a:cs typeface="Consolas" pitchFamily="34" charset="-120"/>
                        </a:rPr>
                        <a:t>64</a:t>
                      </a: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2EADB"/>
                    </a:solidFill>
                  </a:tcPr>
                </a:tc>
                <a:tc>
                  <a:txBody>
                    <a:bodyPr/>
                    <a:lstStyle/>
                    <a:p>
                      <a:pPr algn="ctr" indent="0" marL="0">
                        <a:buNone/>
                      </a:pPr>
                      <a:r>
                        <a:rPr lang="en-US" sz="2232" b="1" dirty="0">
                          <a:solidFill>
                            <a:srgbClr val="1B1B1F"/>
                          </a:solidFill>
                          <a:latin typeface="Consolas" pitchFamily="34" charset="0"/>
                          <a:ea typeface="Consolas" pitchFamily="34" charset="-122"/>
                          <a:cs typeface="Consolas" pitchFamily="34" charset="-120"/>
                        </a:rPr>
                        <a:t>32</a:t>
                      </a: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2EADB"/>
                    </a:solidFill>
                  </a:tcPr>
                </a:tc>
                <a:tc>
                  <a:txBody>
                    <a:bodyPr/>
                    <a:lstStyle/>
                    <a:p>
                      <a:pPr algn="ctr" indent="0" marL="0">
                        <a:buNone/>
                      </a:pPr>
                      <a:r>
                        <a:rPr lang="en-US" sz="2232" b="1" dirty="0">
                          <a:solidFill>
                            <a:srgbClr val="1B1B1F"/>
                          </a:solidFill>
                          <a:latin typeface="Consolas" pitchFamily="34" charset="0"/>
                          <a:ea typeface="Consolas" pitchFamily="34" charset="-122"/>
                          <a:cs typeface="Consolas" pitchFamily="34" charset="-120"/>
                        </a:rPr>
                        <a:t>16</a:t>
                      </a: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2EADB"/>
                    </a:solidFill>
                  </a:tcPr>
                </a:tc>
                <a:tc>
                  <a:txBody>
                    <a:bodyPr/>
                    <a:lstStyle/>
                    <a:p>
                      <a:pPr algn="ctr" indent="0" marL="0">
                        <a:buNone/>
                      </a:pPr>
                      <a:r>
                        <a:rPr lang="en-US" sz="2232" b="1" dirty="0">
                          <a:solidFill>
                            <a:srgbClr val="1B1B1F"/>
                          </a:solidFill>
                          <a:latin typeface="Consolas" pitchFamily="34" charset="0"/>
                          <a:ea typeface="Consolas" pitchFamily="34" charset="-122"/>
                          <a:cs typeface="Consolas" pitchFamily="34" charset="-120"/>
                        </a:rPr>
                        <a:t>8</a:t>
                      </a: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2EADB"/>
                    </a:solidFill>
                  </a:tcPr>
                </a:tc>
                <a:tc>
                  <a:txBody>
                    <a:bodyPr/>
                    <a:lstStyle/>
                    <a:p>
                      <a:pPr algn="ctr" indent="0" marL="0">
                        <a:buNone/>
                      </a:pPr>
                      <a:r>
                        <a:rPr lang="en-US" sz="2232" b="1" dirty="0">
                          <a:solidFill>
                            <a:srgbClr val="1B1B1F"/>
                          </a:solidFill>
                          <a:latin typeface="Consolas" pitchFamily="34" charset="0"/>
                          <a:ea typeface="Consolas" pitchFamily="34" charset="-122"/>
                          <a:cs typeface="Consolas" pitchFamily="34" charset="-120"/>
                        </a:rPr>
                        <a:t>4</a:t>
                      </a: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2EADB"/>
                    </a:solidFill>
                  </a:tcPr>
                </a:tc>
                <a:tc>
                  <a:txBody>
                    <a:bodyPr/>
                    <a:lstStyle/>
                    <a:p>
                      <a:pPr algn="ctr" indent="0" marL="0">
                        <a:buNone/>
                      </a:pPr>
                      <a:r>
                        <a:rPr lang="en-US" sz="2232" b="1" dirty="0">
                          <a:solidFill>
                            <a:srgbClr val="1B1B1F"/>
                          </a:solidFill>
                          <a:latin typeface="Consolas" pitchFamily="34" charset="0"/>
                          <a:ea typeface="Consolas" pitchFamily="34" charset="-122"/>
                          <a:cs typeface="Consolas" pitchFamily="34" charset="-120"/>
                        </a:rPr>
                        <a:t>2</a:t>
                      </a: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2EADB"/>
                    </a:solidFill>
                  </a:tcPr>
                </a:tc>
                <a:tc>
                  <a:txBody>
                    <a:bodyPr/>
                    <a:lstStyle/>
                    <a:p>
                      <a:pPr algn="ctr" indent="0" marL="0">
                        <a:buNone/>
                      </a:pPr>
                      <a:r>
                        <a:rPr lang="en-US" sz="2232" b="1" dirty="0">
                          <a:solidFill>
                            <a:srgbClr val="1B1B1F"/>
                          </a:solidFill>
                          <a:latin typeface="Consolas" pitchFamily="34" charset="0"/>
                          <a:ea typeface="Consolas" pitchFamily="34" charset="-122"/>
                          <a:cs typeface="Consolas" pitchFamily="34" charset="-120"/>
                        </a:rPr>
                        <a:t>1</a:t>
                      </a: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2EADB"/>
                    </a:solidFill>
                  </a:tcPr>
                </a:tc>
              </a:tr>
              <a:tr h="566928">
                <a:tc>
                  <a:txBody>
                    <a:bodyPr/>
                    <a:lstStyle/>
                    <a:p>
                      <a:pPr algn="ctr" indent="0" marL="0">
                        <a:buNone/>
                      </a:pPr>
                      <a:r>
                        <a:rPr lang="en-US" sz="2232" b="1" dirty="0">
                          <a:solidFill>
                            <a:srgbClr val="1B1B1F"/>
                          </a:solidFill>
                          <a:latin typeface="Consolas" pitchFamily="34" charset="0"/>
                          <a:ea typeface="Consolas" pitchFamily="34" charset="-122"/>
                          <a:cs typeface="Consolas" pitchFamily="34" charset="-120"/>
                        </a:rPr>
                        <a:t>1</a:t>
                      </a: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2EADB"/>
                    </a:solidFill>
                  </a:tcPr>
                </a:tc>
                <a:tc>
                  <a:txBody>
                    <a:bodyPr/>
                    <a:lstStyle/>
                    <a:p>
                      <a:pPr algn="ctr" indent="0" marL="0">
                        <a:buNone/>
                      </a:pPr>
                      <a:r>
                        <a:rPr lang="en-US" sz="2232" b="1" dirty="0">
                          <a:solidFill>
                            <a:srgbClr val="1B1B1F"/>
                          </a:solidFill>
                          <a:latin typeface="Consolas" pitchFamily="34" charset="0"/>
                          <a:ea typeface="Consolas" pitchFamily="34" charset="-122"/>
                          <a:cs typeface="Consolas" pitchFamily="34" charset="-120"/>
                        </a:rPr>
                        <a:t>●</a:t>
                      </a: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FFFFF"/>
                    </a:solidFill>
                  </a:tcPr>
                </a:tc>
                <a:tc>
                  <a:txBody>
                    <a:bodyPr/>
                    <a:lstStyle/>
                    <a:p>
                      <a:pPr algn="ctr" indent="0" marL="0">
                        <a:buNone/>
                      </a:pPr>
                      <a:r>
                        <a:rPr lang="en-US" sz="2232" b="1" dirty="0">
                          <a:solidFill>
                            <a:srgbClr val="1B1B1F"/>
                          </a:solidFill>
                          <a:latin typeface="Consolas" pitchFamily="34" charset="0"/>
                          <a:ea typeface="Consolas" pitchFamily="34" charset="-122"/>
                          <a:cs typeface="Consolas" pitchFamily="34" charset="-120"/>
                        </a:rPr>
                        <a:t>·</a:t>
                      </a: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FFFFF"/>
                    </a:solidFill>
                  </a:tcPr>
                </a:tc>
                <a:tc>
                  <a:txBody>
                    <a:bodyPr/>
                    <a:lstStyle/>
                    <a:p>
                      <a:pPr algn="ctr" indent="0" marL="0">
                        <a:buNone/>
                      </a:pPr>
                      <a:r>
                        <a:rPr lang="en-US" sz="2232" b="1" dirty="0">
                          <a:solidFill>
                            <a:srgbClr val="1B1B1F"/>
                          </a:solidFill>
                          <a:latin typeface="Consolas" pitchFamily="34" charset="0"/>
                          <a:ea typeface="Consolas" pitchFamily="34" charset="-122"/>
                          <a:cs typeface="Consolas" pitchFamily="34" charset="-120"/>
                        </a:rPr>
                        <a:t>●</a:t>
                      </a: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FFFFF"/>
                    </a:solidFill>
                  </a:tcPr>
                </a:tc>
                <a:tc>
                  <a:txBody>
                    <a:bodyPr/>
                    <a:lstStyle/>
                    <a:p>
                      <a:pPr algn="ctr" indent="0" marL="0">
                        <a:buNone/>
                      </a:pPr>
                      <a:r>
                        <a:rPr lang="en-US" sz="2232" b="1" dirty="0">
                          <a:solidFill>
                            <a:srgbClr val="1B1B1F"/>
                          </a:solidFill>
                          <a:latin typeface="Consolas" pitchFamily="34" charset="0"/>
                          <a:ea typeface="Consolas" pitchFamily="34" charset="-122"/>
                          <a:cs typeface="Consolas" pitchFamily="34" charset="-120"/>
                        </a:rPr>
                        <a:t>●</a:t>
                      </a: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FFFFF"/>
                    </a:solidFill>
                  </a:tcPr>
                </a:tc>
                <a:tc>
                  <a:txBody>
                    <a:bodyPr/>
                    <a:lstStyle/>
                    <a:p>
                      <a:pPr algn="ctr" indent="0" marL="0">
                        <a:buNone/>
                      </a:pPr>
                      <a:r>
                        <a:rPr lang="en-US" sz="2232" b="1" dirty="0">
                          <a:solidFill>
                            <a:srgbClr val="1B1B1F"/>
                          </a:solidFill>
                          <a:latin typeface="Consolas" pitchFamily="34" charset="0"/>
                          <a:ea typeface="Consolas" pitchFamily="34" charset="-122"/>
                          <a:cs typeface="Consolas" pitchFamily="34" charset="-120"/>
                        </a:rPr>
                        <a:t>·</a:t>
                      </a: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FFFFF"/>
                    </a:solidFill>
                  </a:tcPr>
                </a:tc>
                <a:tc>
                  <a:txBody>
                    <a:bodyPr/>
                    <a:lstStyle/>
                    <a:p>
                      <a:pPr algn="ctr" indent="0" marL="0">
                        <a:buNone/>
                      </a:pPr>
                      <a:r>
                        <a:rPr lang="en-US" sz="2232" b="1" dirty="0">
                          <a:solidFill>
                            <a:srgbClr val="1B1B1F"/>
                          </a:solidFill>
                          <a:latin typeface="Consolas" pitchFamily="34" charset="0"/>
                          <a:ea typeface="Consolas" pitchFamily="34" charset="-122"/>
                          <a:cs typeface="Consolas" pitchFamily="34" charset="-120"/>
                        </a:rPr>
                        <a:t>·</a:t>
                      </a: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FFFFF"/>
                    </a:solidFill>
                  </a:tcPr>
                </a:tc>
                <a:tc>
                  <a:txBody>
                    <a:bodyPr/>
                    <a:lstStyle/>
                    <a:p>
                      <a:pPr algn="ctr" indent="0" marL="0">
                        <a:buNone/>
                      </a:pPr>
                      <a:r>
                        <a:rPr lang="en-US" sz="2232" b="1" dirty="0">
                          <a:solidFill>
                            <a:srgbClr val="1B1B1F"/>
                          </a:solidFill>
                          <a:latin typeface="Consolas" pitchFamily="34" charset="0"/>
                          <a:ea typeface="Consolas" pitchFamily="34" charset="-122"/>
                          <a:cs typeface="Consolas" pitchFamily="34" charset="-120"/>
                        </a:rPr>
                        <a:t>●</a:t>
                      </a: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FFFFF"/>
                    </a:solidFill>
                  </a:tcPr>
                </a:tc>
                <a:tc>
                  <a:txBody>
                    <a:bodyPr/>
                    <a:lstStyle/>
                    <a:p>
                      <a:pPr algn="ctr" indent="0" marL="0">
                        <a:buNone/>
                      </a:pPr>
                      <a:r>
                        <a:rPr lang="en-US" sz="2232" b="1" dirty="0">
                          <a:solidFill>
                            <a:srgbClr val="1B1B1F"/>
                          </a:solidFill>
                          <a:latin typeface="Consolas" pitchFamily="34" charset="0"/>
                          <a:ea typeface="Consolas" pitchFamily="34" charset="-122"/>
                          <a:cs typeface="Consolas" pitchFamily="34" charset="-120"/>
                        </a:rPr>
                        <a:t>·</a:t>
                      </a: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FFFFF"/>
                    </a:solidFill>
                  </a:tcPr>
                </a:tc>
              </a:tr>
              <a:tr h="566928">
                <a:tc>
                  <a:txBody>
                    <a:bodyPr/>
                    <a:lstStyle/>
                    <a:p>
                      <a:pPr algn="ctr" indent="0" marL="0">
                        <a:buNone/>
                      </a:pPr>
                      <a:r>
                        <a:rPr lang="en-US" sz="2232" b="1" dirty="0">
                          <a:solidFill>
                            <a:srgbClr val="1B1B1F"/>
                          </a:solidFill>
                          <a:latin typeface="Consolas" pitchFamily="34" charset="0"/>
                          <a:ea typeface="Consolas" pitchFamily="34" charset="-122"/>
                          <a:cs typeface="Consolas" pitchFamily="34" charset="-120"/>
                        </a:rPr>
                        <a:t>2</a:t>
                      </a: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2EADB"/>
                    </a:solidFill>
                  </a:tcPr>
                </a:tc>
                <a:tc>
                  <a:txBody>
                    <a:bodyPr/>
                    <a:lstStyle/>
                    <a:p>
                      <a:pPr algn="ctr" indent="0" marL="0">
                        <a:buNone/>
                      </a:pPr>
                      <a:r>
                        <a:rPr lang="en-US" sz="2232" b="1" dirty="0">
                          <a:solidFill>
                            <a:srgbClr val="1B1B1F"/>
                          </a:solidFill>
                          <a:latin typeface="Consolas" pitchFamily="34" charset="0"/>
                          <a:ea typeface="Consolas" pitchFamily="34" charset="-122"/>
                          <a:cs typeface="Consolas" pitchFamily="34" charset="-120"/>
                        </a:rPr>
                        <a:t>·</a:t>
                      </a: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FFFFF"/>
                    </a:solidFill>
                  </a:tcPr>
                </a:tc>
                <a:tc>
                  <a:txBody>
                    <a:bodyPr/>
                    <a:lstStyle/>
                    <a:p>
                      <a:pPr algn="ctr" indent="0" marL="0">
                        <a:buNone/>
                      </a:pPr>
                      <a:r>
                        <a:rPr lang="en-US" sz="2232" b="1" dirty="0">
                          <a:solidFill>
                            <a:srgbClr val="1B1B1F"/>
                          </a:solidFill>
                          <a:latin typeface="Consolas" pitchFamily="34" charset="0"/>
                          <a:ea typeface="Consolas" pitchFamily="34" charset="-122"/>
                          <a:cs typeface="Consolas" pitchFamily="34" charset="-120"/>
                        </a:rPr>
                        <a:t>·</a:t>
                      </a: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FFFFF"/>
                    </a:solidFill>
                  </a:tcPr>
                </a:tc>
                <a:tc>
                  <a:txBody>
                    <a:bodyPr/>
                    <a:lstStyle/>
                    <a:p>
                      <a:pPr algn="ctr" indent="0" marL="0">
                        <a:buNone/>
                      </a:pPr>
                      <a:r>
                        <a:rPr lang="en-US" sz="2232" b="1" dirty="0">
                          <a:solidFill>
                            <a:srgbClr val="1B1B1F"/>
                          </a:solidFill>
                          <a:latin typeface="Consolas" pitchFamily="34" charset="0"/>
                          <a:ea typeface="Consolas" pitchFamily="34" charset="-122"/>
                          <a:cs typeface="Consolas" pitchFamily="34" charset="-120"/>
                        </a:rPr>
                        <a:t>●</a:t>
                      </a: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FFFFF"/>
                    </a:solidFill>
                  </a:tcPr>
                </a:tc>
                <a:tc>
                  <a:txBody>
                    <a:bodyPr/>
                    <a:lstStyle/>
                    <a:p>
                      <a:pPr algn="ctr" indent="0" marL="0">
                        <a:buNone/>
                      </a:pPr>
                      <a:r>
                        <a:rPr lang="en-US" sz="2232" b="1" dirty="0">
                          <a:solidFill>
                            <a:srgbClr val="1B1B1F"/>
                          </a:solidFill>
                          <a:latin typeface="Consolas" pitchFamily="34" charset="0"/>
                          <a:ea typeface="Consolas" pitchFamily="34" charset="-122"/>
                          <a:cs typeface="Consolas" pitchFamily="34" charset="-120"/>
                        </a:rPr>
                        <a:t>●</a:t>
                      </a: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FFFFF"/>
                    </a:solidFill>
                  </a:tcPr>
                </a:tc>
                <a:tc>
                  <a:txBody>
                    <a:bodyPr/>
                    <a:lstStyle/>
                    <a:p>
                      <a:pPr algn="ctr" indent="0" marL="0">
                        <a:buNone/>
                      </a:pPr>
                      <a:r>
                        <a:rPr lang="en-US" sz="2232" b="1" dirty="0">
                          <a:solidFill>
                            <a:srgbClr val="1B1B1F"/>
                          </a:solidFill>
                          <a:latin typeface="Consolas" pitchFamily="34" charset="0"/>
                          <a:ea typeface="Consolas" pitchFamily="34" charset="-122"/>
                          <a:cs typeface="Consolas" pitchFamily="34" charset="-120"/>
                        </a:rPr>
                        <a:t>●</a:t>
                      </a: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FFFFF"/>
                    </a:solidFill>
                  </a:tcPr>
                </a:tc>
                <a:tc>
                  <a:txBody>
                    <a:bodyPr/>
                    <a:lstStyle/>
                    <a:p>
                      <a:pPr algn="ctr" indent="0" marL="0">
                        <a:buNone/>
                      </a:pPr>
                      <a:r>
                        <a:rPr lang="en-US" sz="2232" b="1" dirty="0">
                          <a:solidFill>
                            <a:srgbClr val="1B1B1F"/>
                          </a:solidFill>
                          <a:latin typeface="Consolas" pitchFamily="34" charset="0"/>
                          <a:ea typeface="Consolas" pitchFamily="34" charset="-122"/>
                          <a:cs typeface="Consolas" pitchFamily="34" charset="-120"/>
                        </a:rPr>
                        <a:t>·</a:t>
                      </a: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FFFFF"/>
                    </a:solidFill>
                  </a:tcPr>
                </a:tc>
                <a:tc>
                  <a:txBody>
                    <a:bodyPr/>
                    <a:lstStyle/>
                    <a:p>
                      <a:pPr algn="ctr" indent="0" marL="0">
                        <a:buNone/>
                      </a:pPr>
                      <a:r>
                        <a:rPr lang="en-US" sz="2232" b="1" dirty="0">
                          <a:solidFill>
                            <a:srgbClr val="1B1B1F"/>
                          </a:solidFill>
                          <a:latin typeface="Consolas" pitchFamily="34" charset="0"/>
                          <a:ea typeface="Consolas" pitchFamily="34" charset="-122"/>
                          <a:cs typeface="Consolas" pitchFamily="34" charset="-120"/>
                        </a:rPr>
                        <a:t>·</a:t>
                      </a: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FFFFF"/>
                    </a:solidFill>
                  </a:tcPr>
                </a:tc>
                <a:tc>
                  <a:txBody>
                    <a:bodyPr/>
                    <a:lstStyle/>
                    <a:p>
                      <a:pPr algn="ctr" indent="0" marL="0">
                        <a:buNone/>
                      </a:pPr>
                      <a:r>
                        <a:rPr lang="en-US" sz="2232" b="1" dirty="0">
                          <a:solidFill>
                            <a:srgbClr val="1B1B1F"/>
                          </a:solidFill>
                          <a:latin typeface="Consolas" pitchFamily="34" charset="0"/>
                          <a:ea typeface="Consolas" pitchFamily="34" charset="-122"/>
                          <a:cs typeface="Consolas" pitchFamily="34" charset="-120"/>
                        </a:rPr>
                        <a:t>●</a:t>
                      </a: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FFFFF"/>
                    </a:solidFill>
                  </a:tcPr>
                </a:tc>
              </a:tr>
              <a:tr h="566928">
                <a:tc>
                  <a:txBody>
                    <a:bodyPr/>
                    <a:lstStyle/>
                    <a:p>
                      <a:pPr algn="ctr" indent="0" marL="0">
                        <a:buNone/>
                      </a:pPr>
                      <a:r>
                        <a:rPr lang="en-US" sz="2232" b="1" dirty="0">
                          <a:solidFill>
                            <a:srgbClr val="1B1B1F"/>
                          </a:solidFill>
                          <a:latin typeface="Consolas" pitchFamily="34" charset="0"/>
                          <a:ea typeface="Consolas" pitchFamily="34" charset="-122"/>
                          <a:cs typeface="Consolas" pitchFamily="34" charset="-120"/>
                        </a:rPr>
                        <a:t>3</a:t>
                      </a: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2EADB"/>
                    </a:solidFill>
                  </a:tcPr>
                </a:tc>
                <a:tc>
                  <a:txBody>
                    <a:bodyPr/>
                    <a:lstStyle/>
                    <a:p>
                      <a:pPr algn="ctr" indent="0" marL="0">
                        <a:buNone/>
                      </a:pPr>
                      <a:r>
                        <a:rPr lang="en-US" sz="2232" b="1" dirty="0">
                          <a:solidFill>
                            <a:srgbClr val="1B1B1F"/>
                          </a:solidFill>
                          <a:latin typeface="Consolas" pitchFamily="34" charset="0"/>
                          <a:ea typeface="Consolas" pitchFamily="34" charset="-122"/>
                          <a:cs typeface="Consolas" pitchFamily="34" charset="-120"/>
                        </a:rPr>
                        <a:t>●</a:t>
                      </a: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FFFFF"/>
                    </a:solidFill>
                  </a:tcPr>
                </a:tc>
                <a:tc>
                  <a:txBody>
                    <a:bodyPr/>
                    <a:lstStyle/>
                    <a:p>
                      <a:pPr algn="ctr" indent="0" marL="0">
                        <a:buNone/>
                      </a:pPr>
                      <a:r>
                        <a:rPr lang="en-US" sz="2232" b="1" dirty="0">
                          <a:solidFill>
                            <a:srgbClr val="1B1B1F"/>
                          </a:solidFill>
                          <a:latin typeface="Consolas" pitchFamily="34" charset="0"/>
                          <a:ea typeface="Consolas" pitchFamily="34" charset="-122"/>
                          <a:cs typeface="Consolas" pitchFamily="34" charset="-120"/>
                        </a:rPr>
                        <a:t>●</a:t>
                      </a: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FFFFF"/>
                    </a:solidFill>
                  </a:tcPr>
                </a:tc>
                <a:tc>
                  <a:txBody>
                    <a:bodyPr/>
                    <a:lstStyle/>
                    <a:p>
                      <a:pPr algn="ctr" indent="0" marL="0">
                        <a:buNone/>
                      </a:pPr>
                      <a:r>
                        <a:rPr lang="en-US" sz="2232" b="1" dirty="0">
                          <a:solidFill>
                            <a:srgbClr val="1B1B1F"/>
                          </a:solidFill>
                          <a:latin typeface="Consolas" pitchFamily="34" charset="0"/>
                          <a:ea typeface="Consolas" pitchFamily="34" charset="-122"/>
                          <a:cs typeface="Consolas" pitchFamily="34" charset="-120"/>
                        </a:rPr>
                        <a:t>·</a:t>
                      </a: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FFFFF"/>
                    </a:solidFill>
                  </a:tcPr>
                </a:tc>
                <a:tc>
                  <a:txBody>
                    <a:bodyPr/>
                    <a:lstStyle/>
                    <a:p>
                      <a:pPr algn="ctr" indent="0" marL="0">
                        <a:buNone/>
                      </a:pPr>
                      <a:r>
                        <a:rPr lang="en-US" sz="2232" b="1" dirty="0">
                          <a:solidFill>
                            <a:srgbClr val="1B1B1F"/>
                          </a:solidFill>
                          <a:latin typeface="Consolas" pitchFamily="34" charset="0"/>
                          <a:ea typeface="Consolas" pitchFamily="34" charset="-122"/>
                          <a:cs typeface="Consolas" pitchFamily="34" charset="-120"/>
                        </a:rPr>
                        <a:t>·</a:t>
                      </a: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FFFFF"/>
                    </a:solidFill>
                  </a:tcPr>
                </a:tc>
                <a:tc>
                  <a:txBody>
                    <a:bodyPr/>
                    <a:lstStyle/>
                    <a:p>
                      <a:pPr algn="ctr" indent="0" marL="0">
                        <a:buNone/>
                      </a:pPr>
                      <a:r>
                        <a:rPr lang="en-US" sz="2232" b="1" dirty="0">
                          <a:solidFill>
                            <a:srgbClr val="1B1B1F"/>
                          </a:solidFill>
                          <a:latin typeface="Consolas" pitchFamily="34" charset="0"/>
                          <a:ea typeface="Consolas" pitchFamily="34" charset="-122"/>
                          <a:cs typeface="Consolas" pitchFamily="34" charset="-120"/>
                        </a:rPr>
                        <a:t>·</a:t>
                      </a: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FFFFF"/>
                    </a:solidFill>
                  </a:tcPr>
                </a:tc>
                <a:tc>
                  <a:txBody>
                    <a:bodyPr/>
                    <a:lstStyle/>
                    <a:p>
                      <a:pPr algn="ctr" indent="0" marL="0">
                        <a:buNone/>
                      </a:pPr>
                      <a:r>
                        <a:rPr lang="en-US" sz="2232" b="1" dirty="0">
                          <a:solidFill>
                            <a:srgbClr val="1B1B1F"/>
                          </a:solidFill>
                          <a:latin typeface="Consolas" pitchFamily="34" charset="0"/>
                          <a:ea typeface="Consolas" pitchFamily="34" charset="-122"/>
                          <a:cs typeface="Consolas" pitchFamily="34" charset="-120"/>
                        </a:rPr>
                        <a:t>●</a:t>
                      </a: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FFFFF"/>
                    </a:solidFill>
                  </a:tcPr>
                </a:tc>
                <a:tc>
                  <a:txBody>
                    <a:bodyPr/>
                    <a:lstStyle/>
                    <a:p>
                      <a:pPr algn="ctr" indent="0" marL="0">
                        <a:buNone/>
                      </a:pPr>
                      <a:r>
                        <a:rPr lang="en-US" sz="2232" b="1" dirty="0">
                          <a:solidFill>
                            <a:srgbClr val="1B1B1F"/>
                          </a:solidFill>
                          <a:latin typeface="Consolas" pitchFamily="34" charset="0"/>
                          <a:ea typeface="Consolas" pitchFamily="34" charset="-122"/>
                          <a:cs typeface="Consolas" pitchFamily="34" charset="-120"/>
                        </a:rPr>
                        <a:t>·</a:t>
                      </a: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FFFFF"/>
                    </a:solidFill>
                  </a:tcPr>
                </a:tc>
                <a:tc>
                  <a:txBody>
                    <a:bodyPr/>
                    <a:lstStyle/>
                    <a:p>
                      <a:pPr algn="ctr" indent="0" marL="0">
                        <a:buNone/>
                      </a:pPr>
                      <a:r>
                        <a:rPr lang="en-US" sz="2232" b="1" dirty="0">
                          <a:solidFill>
                            <a:srgbClr val="1B1B1F"/>
                          </a:solidFill>
                          <a:latin typeface="Consolas" pitchFamily="34" charset="0"/>
                          <a:ea typeface="Consolas" pitchFamily="34" charset="-122"/>
                          <a:cs typeface="Consolas" pitchFamily="34" charset="-120"/>
                        </a:rPr>
                        <a:t>●</a:t>
                      </a: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FFFFF"/>
                    </a:solidFill>
                  </a:tcPr>
                </a:tc>
              </a:tr>
              <a:tr h="566928">
                <a:tc>
                  <a:txBody>
                    <a:bodyPr/>
                    <a:lstStyle/>
                    <a:p>
                      <a:pPr algn="ctr" indent="0" marL="0">
                        <a:buNone/>
                      </a:pPr>
                      <a:r>
                        <a:rPr lang="en-US" sz="2232" b="1" dirty="0">
                          <a:solidFill>
                            <a:srgbClr val="1B1B1F"/>
                          </a:solidFill>
                          <a:latin typeface="Consolas" pitchFamily="34" charset="0"/>
                          <a:ea typeface="Consolas" pitchFamily="34" charset="-122"/>
                          <a:cs typeface="Consolas" pitchFamily="34" charset="-120"/>
                        </a:rPr>
                        <a:t>4</a:t>
                      </a: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2EADB"/>
                    </a:solidFill>
                  </a:tcPr>
                </a:tc>
                <a:tc>
                  <a:txBody>
                    <a:bodyPr/>
                    <a:lstStyle/>
                    <a:p>
                      <a:pPr algn="ctr" indent="0" marL="0">
                        <a:buNone/>
                      </a:pPr>
                      <a:r>
                        <a:rPr lang="en-US" sz="2232" b="1" dirty="0">
                          <a:solidFill>
                            <a:srgbClr val="1B1B1F"/>
                          </a:solidFill>
                          <a:latin typeface="Consolas" pitchFamily="34" charset="0"/>
                          <a:ea typeface="Consolas" pitchFamily="34" charset="-122"/>
                          <a:cs typeface="Consolas" pitchFamily="34" charset="-120"/>
                        </a:rPr>
                        <a:t>·</a:t>
                      </a: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FFFFF"/>
                    </a:solidFill>
                  </a:tcPr>
                </a:tc>
                <a:tc>
                  <a:txBody>
                    <a:bodyPr/>
                    <a:lstStyle/>
                    <a:p>
                      <a:pPr algn="ctr" indent="0" marL="0">
                        <a:buNone/>
                      </a:pPr>
                      <a:r>
                        <a:rPr lang="en-US" sz="2232" b="1" dirty="0">
                          <a:solidFill>
                            <a:srgbClr val="1B1B1F"/>
                          </a:solidFill>
                          <a:latin typeface="Consolas" pitchFamily="34" charset="0"/>
                          <a:ea typeface="Consolas" pitchFamily="34" charset="-122"/>
                          <a:cs typeface="Consolas" pitchFamily="34" charset="-120"/>
                        </a:rPr>
                        <a:t>●</a:t>
                      </a: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FFFFF"/>
                    </a:solidFill>
                  </a:tcPr>
                </a:tc>
                <a:tc>
                  <a:txBody>
                    <a:bodyPr/>
                    <a:lstStyle/>
                    <a:p>
                      <a:pPr algn="ctr" indent="0" marL="0">
                        <a:buNone/>
                      </a:pPr>
                      <a:r>
                        <a:rPr lang="en-US" sz="2232" b="1" dirty="0">
                          <a:solidFill>
                            <a:srgbClr val="1B1B1F"/>
                          </a:solidFill>
                          <a:latin typeface="Consolas" pitchFamily="34" charset="0"/>
                          <a:ea typeface="Consolas" pitchFamily="34" charset="-122"/>
                          <a:cs typeface="Consolas" pitchFamily="34" charset="-120"/>
                        </a:rPr>
                        <a:t>●</a:t>
                      </a: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FFFFF"/>
                    </a:solidFill>
                  </a:tcPr>
                </a:tc>
                <a:tc>
                  <a:txBody>
                    <a:bodyPr/>
                    <a:lstStyle/>
                    <a:p>
                      <a:pPr algn="ctr" indent="0" marL="0">
                        <a:buNone/>
                      </a:pPr>
                      <a:r>
                        <a:rPr lang="en-US" sz="2232" b="1" dirty="0">
                          <a:solidFill>
                            <a:srgbClr val="1B1B1F"/>
                          </a:solidFill>
                          <a:latin typeface="Consolas" pitchFamily="34" charset="0"/>
                          <a:ea typeface="Consolas" pitchFamily="34" charset="-122"/>
                          <a:cs typeface="Consolas" pitchFamily="34" charset="-120"/>
                        </a:rPr>
                        <a:t>·</a:t>
                      </a: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FFFFF"/>
                    </a:solidFill>
                  </a:tcPr>
                </a:tc>
                <a:tc>
                  <a:txBody>
                    <a:bodyPr/>
                    <a:lstStyle/>
                    <a:p>
                      <a:pPr algn="ctr" indent="0" marL="0">
                        <a:buNone/>
                      </a:pPr>
                      <a:r>
                        <a:rPr lang="en-US" sz="2232" b="1" dirty="0">
                          <a:solidFill>
                            <a:srgbClr val="1B1B1F"/>
                          </a:solidFill>
                          <a:latin typeface="Consolas" pitchFamily="34" charset="0"/>
                          <a:ea typeface="Consolas" pitchFamily="34" charset="-122"/>
                          <a:cs typeface="Consolas" pitchFamily="34" charset="-120"/>
                        </a:rPr>
                        <a:t>●</a:t>
                      </a: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FFFFF"/>
                    </a:solidFill>
                  </a:tcPr>
                </a:tc>
                <a:tc>
                  <a:txBody>
                    <a:bodyPr/>
                    <a:lstStyle/>
                    <a:p>
                      <a:pPr algn="ctr" indent="0" marL="0">
                        <a:buNone/>
                      </a:pPr>
                      <a:r>
                        <a:rPr lang="en-US" sz="2232" b="1" dirty="0">
                          <a:solidFill>
                            <a:srgbClr val="1B1B1F"/>
                          </a:solidFill>
                          <a:latin typeface="Consolas" pitchFamily="34" charset="0"/>
                          <a:ea typeface="Consolas" pitchFamily="34" charset="-122"/>
                          <a:cs typeface="Consolas" pitchFamily="34" charset="-120"/>
                        </a:rPr>
                        <a:t>●</a:t>
                      </a: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FFFFF"/>
                    </a:solidFill>
                  </a:tcPr>
                </a:tc>
                <a:tc>
                  <a:txBody>
                    <a:bodyPr/>
                    <a:lstStyle/>
                    <a:p>
                      <a:pPr algn="ctr" indent="0" marL="0">
                        <a:buNone/>
                      </a:pPr>
                      <a:r>
                        <a:rPr lang="en-US" sz="2232" b="1" dirty="0">
                          <a:solidFill>
                            <a:srgbClr val="1B1B1F"/>
                          </a:solidFill>
                          <a:latin typeface="Consolas" pitchFamily="34" charset="0"/>
                          <a:ea typeface="Consolas" pitchFamily="34" charset="-122"/>
                          <a:cs typeface="Consolas" pitchFamily="34" charset="-120"/>
                        </a:rPr>
                        <a:t>●</a:t>
                      </a: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FFFFF"/>
                    </a:solidFill>
                  </a:tcPr>
                </a:tc>
                <a:tc>
                  <a:txBody>
                    <a:bodyPr/>
                    <a:lstStyle/>
                    <a:p>
                      <a:pPr algn="ctr" indent="0" marL="0">
                        <a:buNone/>
                      </a:pPr>
                      <a:r>
                        <a:rPr lang="en-US" sz="2232" b="1" dirty="0">
                          <a:solidFill>
                            <a:srgbClr val="1B1B1F"/>
                          </a:solidFill>
                          <a:latin typeface="Consolas" pitchFamily="34" charset="0"/>
                          <a:ea typeface="Consolas" pitchFamily="34" charset="-122"/>
                          <a:cs typeface="Consolas" pitchFamily="34" charset="-120"/>
                        </a:rPr>
                        <a:t>·</a:t>
                      </a: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FFFFF"/>
                    </a:solidFill>
                  </a:tcPr>
                </a:tc>
              </a:tr>
            </a:tbl>
          </a:graphicData>
        </a:graphic>
      </p:graphicFrame>
      <p:sp>
        <p:nvSpPr>
          <p:cNvPr id="7" name="Text 3"/>
          <p:cNvSpPr txBox="1"/>
          <p:nvPr/>
        </p:nvSpPr>
        <p:spPr>
          <a:xfrm>
            <a:off x="731520" y="5022596"/>
            <a:ext cx="10728655" cy="727456"/>
          </a:xfrm>
          <a:prstGeom prst="rect">
            <a:avLst/>
          </a:prstGeom>
          <a:noFill/>
          <a:ln/>
        </p:spPr>
        <p:txBody>
          <a:bodyPr wrap="square" lIns="0" tIns="0" rIns="0" bIns="0" rtlCol="0" anchor="t"/>
          <a:lstStyle/>
          <a:p>
            <a:pPr algn="l" indent="0" marL="0">
              <a:buNone/>
            </a:pPr>
            <a:r>
              <a:rPr lang="en-US" sz="2200" dirty="0">
                <a:solidFill>
                  <a:srgbClr val="FBF7EE"/>
                </a:solidFill>
              </a:rPr>
              <a:t>Loch = 1. Welche Regel macht aus Geheimtext und Schlüssel wieder die Nachricht?</a:t>
            </a:r>
            <a:endParaRPr lang="en-US" sz="22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9A441"/>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Zeichen als Bits</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0241280" cy="914400"/>
        </p:xfrm>
        <a:graphic>
          <a:graphicData uri="http://schemas.openxmlformats.org/drawingml/2006/table">
            <a:tbl>
              <a:tblPr/>
              <a:tblGrid>
                <a:gridCol w="2194560"/>
                <a:gridCol w="1005840"/>
                <a:gridCol w="1005840"/>
                <a:gridCol w="1005840"/>
                <a:gridCol w="1005840"/>
                <a:gridCol w="1005840"/>
                <a:gridCol w="1005840"/>
                <a:gridCol w="1005840"/>
                <a:gridCol w="1005840"/>
              </a:tblGrid>
              <a:tr h="0">
                <a:tc>
                  <a:txBody>
                    <a:bodyPr/>
                    <a:lstStyle/>
                    <a:p>
                      <a:pPr algn="ctr" indent="0" marL="0">
                        <a:buNone/>
                      </a:pPr>
                      <a:r>
                        <a:rPr lang="en-US" sz="1800" b="1" dirty="0">
                          <a:solidFill>
                            <a:srgbClr val="1B1B1F"/>
                          </a:solidFill>
                          <a:latin typeface="Consolas" pitchFamily="34" charset="0"/>
                          <a:ea typeface="Consolas" pitchFamily="34" charset="-122"/>
                          <a:cs typeface="Consolas" pitchFamily="34" charset="-120"/>
                        </a:rPr>
                        <a:t>Stellenwert</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1800" b="1" dirty="0">
                          <a:solidFill>
                            <a:srgbClr val="1B1B1F"/>
                          </a:solidFill>
                          <a:latin typeface="Consolas" pitchFamily="34" charset="0"/>
                          <a:ea typeface="Consolas" pitchFamily="34" charset="-122"/>
                          <a:cs typeface="Consolas" pitchFamily="34" charset="-120"/>
                        </a:rPr>
                        <a:t>128</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1800" b="1" dirty="0">
                          <a:solidFill>
                            <a:srgbClr val="1B1B1F"/>
                          </a:solidFill>
                          <a:latin typeface="Consolas" pitchFamily="34" charset="0"/>
                          <a:ea typeface="Consolas" pitchFamily="34" charset="-122"/>
                          <a:cs typeface="Consolas" pitchFamily="34" charset="-120"/>
                        </a:rPr>
                        <a:t>64</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1800" b="1" dirty="0">
                          <a:solidFill>
                            <a:srgbClr val="1B1B1F"/>
                          </a:solidFill>
                          <a:latin typeface="Consolas" pitchFamily="34" charset="0"/>
                          <a:ea typeface="Consolas" pitchFamily="34" charset="-122"/>
                          <a:cs typeface="Consolas" pitchFamily="34" charset="-120"/>
                        </a:rPr>
                        <a:t>32</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1800" b="1" dirty="0">
                          <a:solidFill>
                            <a:srgbClr val="1B1B1F"/>
                          </a:solidFill>
                          <a:latin typeface="Consolas" pitchFamily="34" charset="0"/>
                          <a:ea typeface="Consolas" pitchFamily="34" charset="-122"/>
                          <a:cs typeface="Consolas" pitchFamily="34" charset="-120"/>
                        </a:rPr>
                        <a:t>16</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1800" b="1" dirty="0">
                          <a:solidFill>
                            <a:srgbClr val="1B1B1F"/>
                          </a:solidFill>
                          <a:latin typeface="Consolas" pitchFamily="34" charset="0"/>
                          <a:ea typeface="Consolas" pitchFamily="34" charset="-122"/>
                          <a:cs typeface="Consolas" pitchFamily="34" charset="-120"/>
                        </a:rPr>
                        <a:t>8</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1800" b="1" dirty="0">
                          <a:solidFill>
                            <a:srgbClr val="1B1B1F"/>
                          </a:solidFill>
                          <a:latin typeface="Consolas" pitchFamily="34" charset="0"/>
                          <a:ea typeface="Consolas" pitchFamily="34" charset="-122"/>
                          <a:cs typeface="Consolas" pitchFamily="34" charset="-120"/>
                        </a:rPr>
                        <a:t>4</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1800" b="1" dirty="0">
                          <a:solidFill>
                            <a:srgbClr val="1B1B1F"/>
                          </a:solidFill>
                          <a:latin typeface="Consolas" pitchFamily="34" charset="0"/>
                          <a:ea typeface="Consolas" pitchFamily="34" charset="-122"/>
                          <a:cs typeface="Consolas" pitchFamily="34" charset="-120"/>
                        </a:rPr>
                        <a:t>2</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1800" b="1" dirty="0">
                          <a:solidFill>
                            <a:srgbClr val="1B1B1F"/>
                          </a:solidFill>
                          <a:latin typeface="Consolas" pitchFamily="34" charset="0"/>
                          <a:ea typeface="Consolas" pitchFamily="34" charset="-122"/>
                          <a:cs typeface="Consolas" pitchFamily="34" charset="-120"/>
                        </a:rPr>
                        <a:t>1</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r>
              <a:tr h="0">
                <a:tc>
                  <a:txBody>
                    <a:bodyPr/>
                    <a:lstStyle/>
                    <a:p>
                      <a:pPr algn="ctr" indent="0" marL="0">
                        <a:buNone/>
                      </a:pPr>
                      <a:r>
                        <a:rPr lang="en-US" sz="1800" b="1" dirty="0">
                          <a:solidFill>
                            <a:srgbClr val="1B1B1F"/>
                          </a:solidFill>
                          <a:latin typeface="Consolas" pitchFamily="34" charset="0"/>
                          <a:ea typeface="Consolas" pitchFamily="34" charset="-122"/>
                          <a:cs typeface="Consolas" pitchFamily="34" charset="-120"/>
                        </a:rPr>
                        <a:t>B = 66</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1800" dirty="0">
                          <a:solidFill>
                            <a:srgbClr val="1B1B1F"/>
                          </a:solidFill>
                          <a:latin typeface="Consolas" pitchFamily="34" charset="0"/>
                          <a:ea typeface="Consolas" pitchFamily="34" charset="-122"/>
                          <a:cs typeface="Consolas" pitchFamily="34" charset="-120"/>
                        </a:rPr>
                        <a:t>0</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B1B1F"/>
                          </a:solidFill>
                          <a:latin typeface="Consolas" pitchFamily="34" charset="0"/>
                          <a:ea typeface="Consolas" pitchFamily="34" charset="-122"/>
                          <a:cs typeface="Consolas" pitchFamily="34" charset="-120"/>
                        </a:rPr>
                        <a:t>1</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B1B1F"/>
                          </a:solidFill>
                          <a:latin typeface="Consolas" pitchFamily="34" charset="0"/>
                          <a:ea typeface="Consolas" pitchFamily="34" charset="-122"/>
                          <a:cs typeface="Consolas" pitchFamily="34" charset="-120"/>
                        </a:rPr>
                        <a:t>0</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B1B1F"/>
                          </a:solidFill>
                          <a:latin typeface="Consolas" pitchFamily="34" charset="0"/>
                          <a:ea typeface="Consolas" pitchFamily="34" charset="-122"/>
                          <a:cs typeface="Consolas" pitchFamily="34" charset="-120"/>
                        </a:rPr>
                        <a:t>0</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B1B1F"/>
                          </a:solidFill>
                          <a:latin typeface="Consolas" pitchFamily="34" charset="0"/>
                          <a:ea typeface="Consolas" pitchFamily="34" charset="-122"/>
                          <a:cs typeface="Consolas" pitchFamily="34" charset="-120"/>
                        </a:rPr>
                        <a:t>0</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B1B1F"/>
                          </a:solidFill>
                          <a:latin typeface="Consolas" pitchFamily="34" charset="0"/>
                          <a:ea typeface="Consolas" pitchFamily="34" charset="-122"/>
                          <a:cs typeface="Consolas" pitchFamily="34" charset="-120"/>
                        </a:rPr>
                        <a:t>0</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B1B1F"/>
                          </a:solidFill>
                          <a:latin typeface="Consolas" pitchFamily="34" charset="0"/>
                          <a:ea typeface="Consolas" pitchFamily="34" charset="-122"/>
                          <a:cs typeface="Consolas" pitchFamily="34" charset="-120"/>
                        </a:rPr>
                        <a:t>1</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B1B1F"/>
                          </a:solidFill>
                          <a:latin typeface="Consolas" pitchFamily="34" charset="0"/>
                          <a:ea typeface="Consolas" pitchFamily="34" charset="-122"/>
                          <a:cs typeface="Consolas" pitchFamily="34" charset="-120"/>
                        </a:rPr>
                        <a:t>0</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ctr" indent="0" marL="0">
                        <a:buNone/>
                      </a:pPr>
                      <a:r>
                        <a:rPr lang="en-US" sz="1800" b="1" dirty="0">
                          <a:solidFill>
                            <a:srgbClr val="1B1B1F"/>
                          </a:solidFill>
                          <a:latin typeface="Consolas" pitchFamily="34" charset="0"/>
                          <a:ea typeface="Consolas" pitchFamily="34" charset="-122"/>
                          <a:cs typeface="Consolas" pitchFamily="34" charset="-120"/>
                        </a:rPr>
                        <a:t>O = 79</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1800" dirty="0">
                          <a:solidFill>
                            <a:srgbClr val="1B1B1F"/>
                          </a:solidFill>
                          <a:latin typeface="Consolas" pitchFamily="34" charset="0"/>
                          <a:ea typeface="Consolas" pitchFamily="34" charset="-122"/>
                          <a:cs typeface="Consolas" pitchFamily="34" charset="-120"/>
                        </a:rPr>
                        <a:t>0</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B1B1F"/>
                          </a:solidFill>
                          <a:latin typeface="Consolas" pitchFamily="34" charset="0"/>
                          <a:ea typeface="Consolas" pitchFamily="34" charset="-122"/>
                          <a:cs typeface="Consolas" pitchFamily="34" charset="-120"/>
                        </a:rPr>
                        <a:t>1</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B1B1F"/>
                          </a:solidFill>
                          <a:latin typeface="Consolas" pitchFamily="34" charset="0"/>
                          <a:ea typeface="Consolas" pitchFamily="34" charset="-122"/>
                          <a:cs typeface="Consolas" pitchFamily="34" charset="-120"/>
                        </a:rPr>
                        <a:t>0</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B1B1F"/>
                          </a:solidFill>
                          <a:latin typeface="Consolas" pitchFamily="34" charset="0"/>
                          <a:ea typeface="Consolas" pitchFamily="34" charset="-122"/>
                          <a:cs typeface="Consolas" pitchFamily="34" charset="-120"/>
                        </a:rPr>
                        <a:t>0</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B1B1F"/>
                          </a:solidFill>
                          <a:latin typeface="Consolas" pitchFamily="34" charset="0"/>
                          <a:ea typeface="Consolas" pitchFamily="34" charset="-122"/>
                          <a:cs typeface="Consolas" pitchFamily="34" charset="-120"/>
                        </a:rPr>
                        <a:t>1</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B1B1F"/>
                          </a:solidFill>
                          <a:latin typeface="Consolas" pitchFamily="34" charset="0"/>
                          <a:ea typeface="Consolas" pitchFamily="34" charset="-122"/>
                          <a:cs typeface="Consolas" pitchFamily="34" charset="-120"/>
                        </a:rPr>
                        <a:t>1</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B1B1F"/>
                          </a:solidFill>
                          <a:latin typeface="Consolas" pitchFamily="34" charset="0"/>
                          <a:ea typeface="Consolas" pitchFamily="34" charset="-122"/>
                          <a:cs typeface="Consolas" pitchFamily="34" charset="-120"/>
                        </a:rPr>
                        <a:t>1</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B1B1F"/>
                          </a:solidFill>
                          <a:latin typeface="Consolas" pitchFamily="34" charset="0"/>
                          <a:ea typeface="Consolas" pitchFamily="34" charset="-122"/>
                          <a:cs typeface="Consolas" pitchFamily="34" charset="-120"/>
                        </a:rPr>
                        <a:t>1</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48640" y="2564892"/>
            <a:ext cx="11094415" cy="386588"/>
          </a:xfrm>
          <a:prstGeom prst="rect">
            <a:avLst/>
          </a:prstGeom>
          <a:noFill/>
          <a:ln/>
        </p:spPr>
        <p:txBody>
          <a:bodyPr wrap="square" lIns="0" tIns="0" rIns="0" bIns="0" rtlCol="0" anchor="t"/>
          <a:lstStyle/>
          <a:p>
            <a:pPr algn="l" indent="0" marL="0">
              <a:buNone/>
            </a:pPr>
            <a:r>
              <a:rPr lang="en-US" sz="2200" dirty="0">
                <a:solidFill>
                  <a:srgbClr val="1B1B1F"/>
                </a:solidFill>
              </a:rPr>
              <a:t>•  8 Bit = 1 Byte, Werte 0 … 255; Vierergruppen, höchstwertiges Bit links</a:t>
            </a:r>
            <a:endParaRPr lang="en-US" sz="2200" dirty="0"/>
          </a:p>
        </p:txBody>
      </p:sp>
      <p:sp>
        <p:nvSpPr>
          <p:cNvPr id="5" name="Text 2"/>
          <p:cNvSpPr txBox="1"/>
          <p:nvPr/>
        </p:nvSpPr>
        <p:spPr>
          <a:xfrm>
            <a:off x="548640" y="3079496"/>
            <a:ext cx="11094415" cy="386588"/>
          </a:xfrm>
          <a:prstGeom prst="rect">
            <a:avLst/>
          </a:prstGeom>
          <a:noFill/>
          <a:ln/>
        </p:spPr>
        <p:txBody>
          <a:bodyPr wrap="square" lIns="0" tIns="0" rIns="0" bIns="0" rtlCol="0" anchor="t"/>
          <a:lstStyle/>
          <a:p>
            <a:pPr algn="l" indent="0" marL="0">
              <a:buNone/>
            </a:pPr>
            <a:r>
              <a:rPr lang="en-US" sz="2200" dirty="0">
                <a:solidFill>
                  <a:srgbClr val="1B1B1F"/>
                </a:solidFill>
              </a:rPr>
              <a:t>•  ASCII (Anlage): A = 65 … Z = 90, Leerzeichen = 32</a:t>
            </a:r>
            <a:endParaRPr lang="en-US" sz="2200" dirty="0"/>
          </a:p>
        </p:txBody>
      </p:sp>
      <p:sp>
        <p:nvSpPr>
          <p:cNvPr id="6" name="Text 3"/>
          <p:cNvSpPr txBox="1"/>
          <p:nvPr/>
        </p:nvSpPr>
        <p:spPr>
          <a:xfrm>
            <a:off x="548640" y="3594100"/>
            <a:ext cx="11094415" cy="386588"/>
          </a:xfrm>
          <a:prstGeom prst="rect">
            <a:avLst/>
          </a:prstGeom>
          <a:noFill/>
          <a:ln/>
        </p:spPr>
        <p:txBody>
          <a:bodyPr wrap="square" lIns="0" tIns="0" rIns="0" bIns="0" rtlCol="0" anchor="t"/>
          <a:lstStyle/>
          <a:p>
            <a:pPr algn="l" indent="0" marL="0">
              <a:buNone/>
            </a:pPr>
            <a:r>
              <a:rPr lang="en-US" sz="2200" dirty="0">
                <a:solidFill>
                  <a:srgbClr val="1B1B1F"/>
                </a:solidFill>
              </a:rPr>
              <a:t>•  B = 66 = 64 + 2 = </a:t>
            </a:r>
            <a:r>
              <a:rPr lang="en-US" sz="2200" dirty="0">
                <a:solidFill>
                  <a:srgbClr val="1B1B1F"/>
                </a:solidFill>
                <a:latin typeface="Consolas" pitchFamily="34" charset="0"/>
                <a:ea typeface="Consolas" pitchFamily="34" charset="-122"/>
                <a:cs typeface="Consolas" pitchFamily="34" charset="-120"/>
              </a:rPr>
              <a:t>0100 0010</a:t>
            </a:r>
            <a:endParaRPr lang="en-US" sz="2200" dirty="0"/>
          </a:p>
        </p:txBody>
      </p:sp>
      <p:sp>
        <p:nvSpPr>
          <p:cNvPr id="7" name="Text 4"/>
          <p:cNvSpPr txBox="1"/>
          <p:nvPr/>
        </p:nvSpPr>
        <p:spPr>
          <a:xfrm>
            <a:off x="548640" y="4108704"/>
            <a:ext cx="11094415" cy="386588"/>
          </a:xfrm>
          <a:prstGeom prst="rect">
            <a:avLst/>
          </a:prstGeom>
          <a:noFill/>
          <a:ln/>
        </p:spPr>
        <p:txBody>
          <a:bodyPr wrap="square" lIns="0" tIns="0" rIns="0" bIns="0" rtlCol="0" anchor="t"/>
          <a:lstStyle/>
          <a:p>
            <a:pPr algn="l" indent="0" marL="0">
              <a:buNone/>
            </a:pPr>
            <a:r>
              <a:rPr lang="en-US" sz="2200" dirty="0">
                <a:solidFill>
                  <a:srgbClr val="1B1B1F"/>
                </a:solidFill>
              </a:rPr>
              <a:t>•  </a:t>
            </a:r>
            <a:r>
              <a:rPr lang="en-US" sz="2200" b="1" dirty="0">
                <a:solidFill>
                  <a:srgbClr val="1B1B1F"/>
                </a:solidFill>
              </a:rPr>
              <a:t>Falle P1:</a:t>
            </a:r>
            <a:r>
              <a:rPr lang="en-US" sz="2200" dirty="0">
                <a:solidFill>
                  <a:srgbClr val="1B1B1F"/>
                </a:solidFill>
              </a:rPr>
              <a:t> ASCII A = 65 ≠ Alphabet A = 1 ≠ Programm A = 0</a:t>
            </a:r>
            <a:endParaRPr lang="en-US" sz="22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XOR – exklusives Oder</a:t>
            </a:r>
            <a:endParaRPr lang="en-US" sz="3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4076889" cy="914400"/>
        </p:xfrm>
        <a:graphic>
          <a:graphicData uri="http://schemas.openxmlformats.org/drawingml/2006/table">
            <a:tbl>
              <a:tblPr/>
              <a:tblGrid>
                <a:gridCol w="1358963"/>
                <a:gridCol w="1358963"/>
                <a:gridCol w="1358963"/>
              </a:tblGrid>
              <a:tr h="0">
                <a:tc>
                  <a:txBody>
                    <a:bodyPr/>
                    <a:lstStyle/>
                    <a:p>
                      <a:pPr algn="ctr" indent="0" marL="0">
                        <a:buNone/>
                      </a:pPr>
                      <a:r>
                        <a:rPr lang="en-US" sz="2200" b="1" dirty="0">
                          <a:solidFill>
                            <a:srgbClr val="1B1B1F"/>
                          </a:solidFill>
                          <a:latin typeface="Consolas" pitchFamily="34" charset="0"/>
                          <a:ea typeface="Consolas" pitchFamily="34" charset="-122"/>
                          <a:cs typeface="Consolas" pitchFamily="34" charset="-120"/>
                        </a:rPr>
                        <a:t>a</a:t>
                      </a:r>
                      <a:endParaRPr lang="en-US" sz="22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2200" b="1" dirty="0">
                          <a:solidFill>
                            <a:srgbClr val="1B1B1F"/>
                          </a:solidFill>
                          <a:latin typeface="Consolas" pitchFamily="34" charset="0"/>
                          <a:ea typeface="Consolas" pitchFamily="34" charset="-122"/>
                          <a:cs typeface="Consolas" pitchFamily="34" charset="-120"/>
                        </a:rPr>
                        <a:t>b</a:t>
                      </a:r>
                      <a:endParaRPr lang="en-US" sz="22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2200" b="1" dirty="0">
                          <a:solidFill>
                            <a:srgbClr val="1B1B1F"/>
                          </a:solidFill>
                          <a:latin typeface="Consolas" pitchFamily="34" charset="0"/>
                          <a:ea typeface="Consolas" pitchFamily="34" charset="-122"/>
                          <a:cs typeface="Consolas" pitchFamily="34" charset="-120"/>
                        </a:rPr>
                        <a:t>a ⊕ b</a:t>
                      </a:r>
                      <a:endParaRPr lang="en-US" sz="22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r>
              <a:tr h="0">
                <a:tc>
                  <a:txBody>
                    <a:bodyPr/>
                    <a:lstStyle/>
                    <a:p>
                      <a:pPr algn="ctr" indent="0" marL="0">
                        <a:buNone/>
                      </a:pPr>
                      <a:r>
                        <a:rPr lang="en-US" sz="2200" dirty="0">
                          <a:solidFill>
                            <a:srgbClr val="1B1B1F"/>
                          </a:solidFill>
                          <a:latin typeface="Consolas" pitchFamily="34" charset="0"/>
                          <a:ea typeface="Consolas" pitchFamily="34" charset="-122"/>
                          <a:cs typeface="Consolas" pitchFamily="34" charset="-120"/>
                        </a:rPr>
                        <a:t>0</a:t>
                      </a:r>
                      <a:endParaRPr lang="en-US" sz="22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B1B1F"/>
                          </a:solidFill>
                          <a:latin typeface="Consolas" pitchFamily="34" charset="0"/>
                          <a:ea typeface="Consolas" pitchFamily="34" charset="-122"/>
                          <a:cs typeface="Consolas" pitchFamily="34" charset="-120"/>
                        </a:rPr>
                        <a:t>0</a:t>
                      </a:r>
                      <a:endParaRPr lang="en-US" sz="22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B1B1F"/>
                          </a:solidFill>
                          <a:latin typeface="Consolas" pitchFamily="34" charset="0"/>
                          <a:ea typeface="Consolas" pitchFamily="34" charset="-122"/>
                          <a:cs typeface="Consolas" pitchFamily="34" charset="-120"/>
                        </a:rPr>
                        <a:t>0</a:t>
                      </a:r>
                      <a:endParaRPr lang="en-US" sz="22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B1B1F"/>
                          </a:solidFill>
                          <a:latin typeface="Consolas" pitchFamily="34" charset="0"/>
                          <a:ea typeface="Consolas" pitchFamily="34" charset="-122"/>
                          <a:cs typeface="Consolas" pitchFamily="34" charset="-120"/>
                        </a:rPr>
                        <a:t>0</a:t>
                      </a:r>
                      <a:endParaRPr lang="en-US" sz="22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B1B1F"/>
                          </a:solidFill>
                          <a:latin typeface="Consolas" pitchFamily="34" charset="0"/>
                          <a:ea typeface="Consolas" pitchFamily="34" charset="-122"/>
                          <a:cs typeface="Consolas" pitchFamily="34" charset="-120"/>
                        </a:rPr>
                        <a:t>1</a:t>
                      </a:r>
                      <a:endParaRPr lang="en-US" sz="22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B1B1F"/>
                          </a:solidFill>
                          <a:latin typeface="Consolas" pitchFamily="34" charset="0"/>
                          <a:ea typeface="Consolas" pitchFamily="34" charset="-122"/>
                          <a:cs typeface="Consolas" pitchFamily="34" charset="-120"/>
                        </a:rPr>
                        <a:t>1</a:t>
                      </a:r>
                      <a:endParaRPr lang="en-US" sz="22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B1B1F"/>
                          </a:solidFill>
                          <a:latin typeface="Consolas" pitchFamily="34" charset="0"/>
                          <a:ea typeface="Consolas" pitchFamily="34" charset="-122"/>
                          <a:cs typeface="Consolas" pitchFamily="34" charset="-120"/>
                        </a:rPr>
                        <a:t>1</a:t>
                      </a:r>
                      <a:endParaRPr lang="en-US" sz="22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B1B1F"/>
                          </a:solidFill>
                          <a:latin typeface="Consolas" pitchFamily="34" charset="0"/>
                          <a:ea typeface="Consolas" pitchFamily="34" charset="-122"/>
                          <a:cs typeface="Consolas" pitchFamily="34" charset="-120"/>
                        </a:rPr>
                        <a:t>0</a:t>
                      </a:r>
                      <a:endParaRPr lang="en-US" sz="22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B1B1F"/>
                          </a:solidFill>
                          <a:latin typeface="Consolas" pitchFamily="34" charset="0"/>
                          <a:ea typeface="Consolas" pitchFamily="34" charset="-122"/>
                          <a:cs typeface="Consolas" pitchFamily="34" charset="-120"/>
                        </a:rPr>
                        <a:t>1</a:t>
                      </a:r>
                      <a:endParaRPr lang="en-US" sz="22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B1B1F"/>
                          </a:solidFill>
                          <a:latin typeface="Consolas" pitchFamily="34" charset="0"/>
                          <a:ea typeface="Consolas" pitchFamily="34" charset="-122"/>
                          <a:cs typeface="Consolas" pitchFamily="34" charset="-120"/>
                        </a:rPr>
                        <a:t>1</a:t>
                      </a:r>
                      <a:endParaRPr lang="en-US" sz="22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B1B1F"/>
                          </a:solidFill>
                          <a:latin typeface="Consolas" pitchFamily="34" charset="0"/>
                          <a:ea typeface="Consolas" pitchFamily="34" charset="-122"/>
                          <a:cs typeface="Consolas" pitchFamily="34" charset="-120"/>
                        </a:rPr>
                        <a:t>1</a:t>
                      </a:r>
                      <a:endParaRPr lang="en-US" sz="22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B1B1F"/>
                          </a:solidFill>
                          <a:latin typeface="Consolas" pitchFamily="34" charset="0"/>
                          <a:ea typeface="Consolas" pitchFamily="34" charset="-122"/>
                          <a:cs typeface="Consolas" pitchFamily="34" charset="-120"/>
                        </a:rPr>
                        <a:t>0</a:t>
                      </a:r>
                      <a:endParaRPr lang="en-US" sz="22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48640" y="3615436"/>
            <a:ext cx="4076889" cy="386588"/>
          </a:xfrm>
          <a:prstGeom prst="rect">
            <a:avLst/>
          </a:prstGeom>
          <a:noFill/>
          <a:ln/>
        </p:spPr>
        <p:txBody>
          <a:bodyPr wrap="square" lIns="0" tIns="0" rIns="0" bIns="0" rtlCol="0" anchor="t"/>
          <a:lstStyle/>
          <a:p>
            <a:pPr algn="ctr" indent="0" marL="0">
              <a:buNone/>
            </a:pPr>
            <a:r>
              <a:rPr lang="en-US" sz="2200" b="1" dirty="0">
                <a:solidFill>
                  <a:srgbClr val="1B1B1F"/>
                </a:solidFill>
              </a:rPr>
              <a:t>gleich → 0, verschieden → 1</a:t>
            </a:r>
            <a:endParaRPr lang="en-US" sz="2200" dirty="0"/>
          </a:p>
        </p:txBody>
      </p:sp>
      <p:graphicFrame>
        <p:nvGraphicFramePr>
          <p:cNvPr id="9" name="Table 1"/>
          <p:cNvGraphicFramePr>
            <a:graphicFrameLocks noGrp="1"/>
          </p:cNvGraphicFramePr>
          <p:nvPr>
            <p:extLst>
              <p:ext uri="{D42A27DB-BD31-4B8C-83A1-F6EECF244321}">
                <p14:modId xmlns:p14="http://schemas.microsoft.com/office/powerpoint/2010/main" val="1579011935"/>
              </p:ext>
            </p:extLst>
          </p:nvPr>
        </p:nvGraphicFramePr>
        <p:xfrm>
          <a:off x="4991289" y="1325880"/>
          <a:ext cx="6651766" cy="914400"/>
        </p:xfrm>
        <a:graphic>
          <a:graphicData uri="http://schemas.openxmlformats.org/drawingml/2006/table">
            <a:tbl>
              <a:tblPr/>
              <a:tblGrid>
                <a:gridCol w="1645920"/>
                <a:gridCol w="5005846"/>
              </a:tblGrid>
              <a:tr h="0">
                <a:tc>
                  <a:txBody>
                    <a:bodyPr/>
                    <a:lstStyle/>
                    <a:p>
                      <a:pPr algn="r" indent="0" marL="0">
                        <a:buNone/>
                      </a:pPr>
                      <a:endParaRPr lang="en-US" sz="2200" dirty="0">
                        <a:latin typeface="Calibri" charset="0"/>
                        <a:ea typeface="Calibri" charset="0"/>
                        <a:cs typeface="Calibri" charset="0"/>
                      </a:endParaRPr>
                    </a:p>
                  </a:txBody>
                  <a:tcPr marL="91440" marR="91440" marT="18288" marB="18288">
                    <a:lnL w="0" cap="flat" cmpd="sng" algn="ctr">
                      <a:noFill/>
                    </a:lnL>
                    <a:lnR w="0" cap="flat" cmpd="sng" algn="ctr">
                      <a:noFill/>
                    </a:lnR>
                    <a:lnT w="0" cap="flat" cmpd="sng" algn="ctr">
                      <a:noFill/>
                    </a:lnT>
                    <a:lnB w="0" cap="flat" cmpd="sng" algn="ctr">
                      <a:noFill/>
                    </a:lnB>
                  </a:tcPr>
                </a:tc>
                <a:tc>
                  <a:txBody>
                    <a:bodyPr/>
                    <a:lstStyle/>
                    <a:p>
                      <a:pPr indent="0" marL="0">
                        <a:buNone/>
                      </a:pPr>
                      <a:r>
                        <a:rPr lang="en-US" sz="2200" b="1" spc="300" kern="0" dirty="0">
                          <a:solidFill>
                            <a:srgbClr val="1B1B1F"/>
                          </a:solidFill>
                          <a:latin typeface="Consolas" pitchFamily="34" charset="0"/>
                          <a:ea typeface="Consolas" pitchFamily="34" charset="-122"/>
                          <a:cs typeface="Consolas" pitchFamily="34" charset="-120"/>
                        </a:rPr>
                        <a:t>0100 1111</a:t>
                      </a:r>
                      <a:endParaRPr lang="en-US" sz="2200" dirty="0">
                        <a:latin typeface="Consolas" charset="0"/>
                        <a:ea typeface="Consolas" charset="0"/>
                        <a:cs typeface="Consolas" charset="0"/>
                      </a:endParaRPr>
                    </a:p>
                  </a:txBody>
                  <a:tcPr marL="91440" marR="91440" marT="18288" marB="18288">
                    <a:lnL w="0" cap="flat" cmpd="sng" algn="ctr">
                      <a:noFill/>
                    </a:lnL>
                    <a:lnR w="0" cap="flat" cmpd="sng" algn="ctr">
                      <a:noFill/>
                    </a:lnR>
                    <a:lnT w="0" cap="flat" cmpd="sng" algn="ctr">
                      <a:noFill/>
                    </a:lnT>
                    <a:lnB w="0" cap="flat" cmpd="sng" algn="ctr">
                      <a:noFill/>
                    </a:lnB>
                  </a:tcPr>
                </a:tc>
              </a:tr>
              <a:tr h="0">
                <a:tc>
                  <a:txBody>
                    <a:bodyPr/>
                    <a:lstStyle/>
                    <a:p>
                      <a:pPr algn="r" indent="0" marL="0">
                        <a:buNone/>
                      </a:pPr>
                      <a:r>
                        <a:rPr lang="en-US" sz="2200" b="1" dirty="0">
                          <a:solidFill>
                            <a:srgbClr val="4A4A55"/>
                          </a:solidFill>
                          <a:latin typeface="Calibri" pitchFamily="34" charset="0"/>
                          <a:ea typeface="Calibri" pitchFamily="34" charset="-122"/>
                          <a:cs typeface="Calibri" pitchFamily="34" charset="-120"/>
                        </a:rPr>
                        <a:t>⊕</a:t>
                      </a:r>
                      <a:endParaRPr lang="en-US" sz="2200" dirty="0">
                        <a:latin typeface="Calibri" charset="0"/>
                        <a:ea typeface="Calibri" charset="0"/>
                        <a:cs typeface="Calibri" charset="0"/>
                      </a:endParaRPr>
                    </a:p>
                  </a:txBody>
                  <a:tcPr marL="91440" marR="91440" marT="18288" marB="18288">
                    <a:lnL w="0" cap="flat" cmpd="sng" algn="ctr">
                      <a:noFill/>
                    </a:lnL>
                    <a:lnR w="0" cap="flat" cmpd="sng" algn="ctr">
                      <a:noFill/>
                    </a:lnR>
                    <a:lnT w="0" cap="flat" cmpd="sng" algn="ctr">
                      <a:noFill/>
                    </a:lnT>
                    <a:lnB w="0" cap="flat" cmpd="sng" algn="ctr">
                      <a:noFill/>
                    </a:lnB>
                  </a:tcPr>
                </a:tc>
                <a:tc>
                  <a:txBody>
                    <a:bodyPr/>
                    <a:lstStyle/>
                    <a:p>
                      <a:pPr indent="0" marL="0">
                        <a:buNone/>
                      </a:pPr>
                      <a:r>
                        <a:rPr lang="en-US" sz="2200" b="1" spc="300" kern="0" dirty="0">
                          <a:solidFill>
                            <a:srgbClr val="1B1B1F"/>
                          </a:solidFill>
                          <a:latin typeface="Consolas" pitchFamily="34" charset="0"/>
                          <a:ea typeface="Consolas" pitchFamily="34" charset="-122"/>
                          <a:cs typeface="Consolas" pitchFamily="34" charset="-120"/>
                        </a:rPr>
                        <a:t>1010 0110</a:t>
                      </a:r>
                      <a:endParaRPr lang="en-US" sz="2200" dirty="0">
                        <a:latin typeface="Consolas" charset="0"/>
                        <a:ea typeface="Consolas" charset="0"/>
                        <a:cs typeface="Consolas" charset="0"/>
                      </a:endParaRPr>
                    </a:p>
                  </a:txBody>
                  <a:tcPr marL="91440" marR="91440" marT="18288" marB="18288">
                    <a:lnL w="0" cap="flat" cmpd="sng" algn="ctr">
                      <a:noFill/>
                    </a:lnL>
                    <a:lnR w="0" cap="flat" cmpd="sng" algn="ctr">
                      <a:noFill/>
                    </a:lnR>
                    <a:lnT w="0" cap="flat" cmpd="sng" algn="ctr">
                      <a:noFill/>
                    </a:lnT>
                    <a:lnB w="0" cap="flat" cmpd="sng" algn="ctr">
                      <a:noFill/>
                    </a:lnB>
                  </a:tcPr>
                </a:tc>
              </a:tr>
              <a:tr h="0">
                <a:tc>
                  <a:txBody>
                    <a:bodyPr/>
                    <a:lstStyle/>
                    <a:p>
                      <a:pPr algn="r" indent="0" marL="0">
                        <a:buNone/>
                      </a:pPr>
                      <a:r>
                        <a:rPr lang="en-US" sz="2200" b="1" dirty="0">
                          <a:solidFill>
                            <a:srgbClr val="4A4A55"/>
                          </a:solidFill>
                          <a:latin typeface="Calibri" pitchFamily="34" charset="0"/>
                          <a:ea typeface="Calibri" pitchFamily="34" charset="-122"/>
                          <a:cs typeface="Calibri" pitchFamily="34" charset="-120"/>
                        </a:rPr>
                        <a:t>=</a:t>
                      </a:r>
                      <a:endParaRPr lang="en-US" sz="2200" dirty="0">
                        <a:latin typeface="Calibri" charset="0"/>
                        <a:ea typeface="Calibri" charset="0"/>
                        <a:cs typeface="Calibri" charset="0"/>
                      </a:endParaRPr>
                    </a:p>
                  </a:txBody>
                  <a:tcPr marL="91440" marR="91440" marT="18288" marB="18288">
                    <a:lnL w="0" cap="flat" cmpd="sng" algn="ctr">
                      <a:noFill/>
                    </a:lnL>
                    <a:lnR w="0" cap="flat" cmpd="sng" algn="ctr">
                      <a:noFill/>
                    </a:lnR>
                    <a:lnT w="0" cap="flat" cmpd="sng" algn="ctr">
                      <a:noFill/>
                    </a:lnT>
                    <a:lnB w="0" cap="flat" cmpd="sng" algn="ctr">
                      <a:noFill/>
                    </a:lnB>
                  </a:tcPr>
                </a:tc>
                <a:tc>
                  <a:txBody>
                    <a:bodyPr/>
                    <a:lstStyle/>
                    <a:p>
                      <a:pPr indent="0" marL="0">
                        <a:buNone/>
                      </a:pPr>
                      <a:r>
                        <a:rPr lang="en-US" sz="2200" b="1" spc="300" kern="0" dirty="0">
                          <a:solidFill>
                            <a:srgbClr val="1B1B1F"/>
                          </a:solidFill>
                          <a:latin typeface="Consolas" pitchFamily="34" charset="0"/>
                          <a:ea typeface="Consolas" pitchFamily="34" charset="-122"/>
                          <a:cs typeface="Consolas" pitchFamily="34" charset="-120"/>
                        </a:rPr>
                        <a:t>1110 1001</a:t>
                      </a:r>
                      <a:endParaRPr lang="en-US" sz="2200" dirty="0">
                        <a:latin typeface="Consolas" charset="0"/>
                        <a:ea typeface="Consolas" charset="0"/>
                        <a:cs typeface="Consolas" charset="0"/>
                      </a:endParaRPr>
                    </a:p>
                  </a:txBody>
                  <a:tcPr marL="91440" marR="91440" marT="18288" marB="18288">
                    <a:lnL w="0" cap="flat" cmpd="sng" algn="ctr">
                      <a:noFill/>
                    </a:lnL>
                    <a:lnR w="0" cap="flat" cmpd="sng" algn="ctr">
                      <a:noFill/>
                    </a:lnR>
                    <a:lnT w="19050" cap="flat" cmpd="sng" algn="ctr">
                      <a:solidFill>
                        <a:srgbClr val="1B1B1F"/>
                      </a:solidFill>
                      <a:prstDash val="solid"/>
                      <a:round/>
                      <a:headEnd type="none" w="med" len="med"/>
                      <a:tailEnd type="none" w="med" len="med"/>
                    </a:lnT>
                    <a:lnB w="0" cap="flat" cmpd="sng" algn="ctr">
                      <a:noFill/>
                    </a:lnB>
                  </a:tcPr>
                </a:tc>
              </a:tr>
            </a:tbl>
          </a:graphicData>
        </a:graphic>
      </p:graphicFrame>
      <p:sp>
        <p:nvSpPr>
          <p:cNvPr id="6" name="Text 2"/>
          <p:cNvSpPr txBox="1"/>
          <p:nvPr/>
        </p:nvSpPr>
        <p:spPr>
          <a:xfrm>
            <a:off x="4991289" y="2795016"/>
            <a:ext cx="6651766" cy="386588"/>
          </a:xfrm>
          <a:prstGeom prst="rect">
            <a:avLst/>
          </a:prstGeom>
          <a:noFill/>
          <a:ln/>
        </p:spPr>
        <p:txBody>
          <a:bodyPr wrap="square" lIns="0" tIns="0" rIns="0" bIns="0" rtlCol="0" anchor="t"/>
          <a:lstStyle/>
          <a:p>
            <a:pPr algn="l" indent="0" marL="0">
              <a:buNone/>
            </a:pPr>
            <a:r>
              <a:rPr lang="en-US" sz="2200" dirty="0">
                <a:solidFill>
                  <a:srgbClr val="1B1B1F"/>
                </a:solidFill>
              </a:rPr>
              <a:t>a ⊕ 0 = a     a ⊕ a = 0</a:t>
            </a:r>
            <a:endParaRPr lang="en-US" sz="2200" dirty="0"/>
          </a:p>
        </p:txBody>
      </p:sp>
      <p:sp>
        <p:nvSpPr>
          <p:cNvPr id="7" name="Text 3"/>
          <p:cNvSpPr txBox="1"/>
          <p:nvPr/>
        </p:nvSpPr>
        <p:spPr>
          <a:xfrm>
            <a:off x="4991289" y="3309620"/>
            <a:ext cx="6651766" cy="448564"/>
          </a:xfrm>
          <a:prstGeom prst="rect">
            <a:avLst/>
          </a:prstGeom>
          <a:noFill/>
          <a:ln/>
        </p:spPr>
        <p:txBody>
          <a:bodyPr wrap="square" lIns="0" tIns="0" rIns="0" bIns="0" rtlCol="0" anchor="t"/>
          <a:lstStyle/>
          <a:p>
            <a:pPr algn="ctr" indent="0" marL="0">
              <a:buNone/>
            </a:pPr>
            <a:r>
              <a:rPr lang="en-US" sz="2600" b="1" dirty="0">
                <a:solidFill>
                  <a:srgbClr val="1B1B1F"/>
                </a:solidFill>
              </a:rPr>
              <a:t>a ⊕ k ⊕ k = a</a:t>
            </a:r>
            <a:endParaRPr lang="en-US" sz="26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Akte W3·1, Aufträge 1–3</a:t>
            </a:r>
            <a:endParaRPr lang="en-US" sz="3000" dirty="0"/>
          </a:p>
        </p:txBody>
      </p:sp>
      <p:sp>
        <p:nvSpPr>
          <p:cNvPr id="3" name="Text 1"/>
          <p:cNvSpPr txBox="1"/>
          <p:nvPr/>
        </p:nvSpPr>
        <p:spPr>
          <a:xfrm>
            <a:off x="548640" y="1325880"/>
            <a:ext cx="1463040" cy="384048"/>
          </a:xfrm>
          <a:prstGeom prst="rect">
            <a:avLst/>
          </a:prstGeom>
          <a:solidFill>
            <a:srgbClr val="556B2F"/>
          </a:solidFill>
          <a:ln/>
        </p:spPr>
        <p:txBody>
          <a:bodyPr wrap="square" lIns="0" tIns="0" rIns="0" bIns="0" rtlCol="0" anchor="ctr"/>
          <a:lstStyle/>
          <a:p>
            <a:pPr algn="ctr" indent="0" marL="0">
              <a:buNone/>
            </a:pPr>
            <a:r>
              <a:rPr lang="en-US" sz="1400" b="1" spc="300" kern="0" dirty="0">
                <a:solidFill>
                  <a:srgbClr val="FFFFFF"/>
                </a:solidFill>
              </a:rPr>
              <a:t>AUFTRAG</a:t>
            </a:r>
            <a:endParaRPr lang="en-US" sz="1400" dirty="0"/>
          </a:p>
        </p:txBody>
      </p:sp>
      <p:sp>
        <p:nvSpPr>
          <p:cNvPr id="4" name="Text 2"/>
          <p:cNvSpPr txBox="1"/>
          <p:nvPr/>
        </p:nvSpPr>
        <p:spPr>
          <a:xfrm>
            <a:off x="2148840" y="1325880"/>
            <a:ext cx="3392424" cy="384048"/>
          </a:xfrm>
          <a:prstGeom prst="rect">
            <a:avLst/>
          </a:prstGeom>
          <a:solidFill>
            <a:srgbClr val="F2EADB"/>
          </a:solidFill>
          <a:ln/>
        </p:spPr>
        <p:txBody>
          <a:bodyPr wrap="square" lIns="0" tIns="0" rIns="0" bIns="0" rtlCol="0" anchor="ctr"/>
          <a:lstStyle/>
          <a:p>
            <a:pPr algn="ctr" indent="0" marL="0">
              <a:buNone/>
            </a:pPr>
            <a:r>
              <a:rPr lang="en-US" sz="1400" dirty="0">
                <a:solidFill>
                  <a:srgbClr val="1B1B1F"/>
                </a:solidFill>
              </a:rPr>
              <a:t>Einzelarbeit → Partnerarbeit</a:t>
            </a:r>
            <a:endParaRPr lang="en-US" sz="1400" dirty="0"/>
          </a:p>
        </p:txBody>
      </p:sp>
      <p:sp>
        <p:nvSpPr>
          <p:cNvPr id="5" name="Text 3"/>
          <p:cNvSpPr txBox="1"/>
          <p:nvPr/>
        </p:nvSpPr>
        <p:spPr>
          <a:xfrm>
            <a:off x="5678424" y="1325880"/>
            <a:ext cx="978408" cy="384048"/>
          </a:xfrm>
          <a:prstGeom prst="rect">
            <a:avLst/>
          </a:prstGeom>
          <a:solidFill>
            <a:srgbClr val="F2EADB"/>
          </a:solidFill>
          <a:ln/>
        </p:spPr>
        <p:txBody>
          <a:bodyPr wrap="square" lIns="0" tIns="0" rIns="0" bIns="0" rtlCol="0" anchor="ctr"/>
          <a:lstStyle/>
          <a:p>
            <a:pPr algn="ctr" indent="0" marL="0">
              <a:buNone/>
            </a:pPr>
            <a:r>
              <a:rPr lang="en-US" sz="1400" dirty="0">
                <a:solidFill>
                  <a:srgbClr val="1B1B1F"/>
                </a:solidFill>
              </a:rPr>
              <a:t>12 min</a:t>
            </a:r>
            <a:endParaRPr lang="en-US" sz="1400" dirty="0"/>
          </a:p>
        </p:txBody>
      </p:sp>
      <p:sp>
        <p:nvSpPr>
          <p:cNvPr id="6" name="Text 4"/>
          <p:cNvSpPr txBox="1"/>
          <p:nvPr/>
        </p:nvSpPr>
        <p:spPr>
          <a:xfrm>
            <a:off x="548640" y="1965960"/>
            <a:ext cx="11094415" cy="386588"/>
          </a:xfrm>
          <a:prstGeom prst="rect">
            <a:avLst/>
          </a:prstGeom>
          <a:noFill/>
          <a:ln/>
        </p:spPr>
        <p:txBody>
          <a:bodyPr wrap="square" lIns="0" tIns="0" rIns="0" bIns="0" rtlCol="0" anchor="t"/>
          <a:lstStyle/>
          <a:p>
            <a:pPr algn="l" indent="0" marL="0">
              <a:buNone/>
            </a:pPr>
            <a:r>
              <a:rPr lang="en-US" sz="2200" dirty="0">
                <a:solidFill>
                  <a:srgbClr val="1B1B1F"/>
                </a:solidFill>
              </a:rPr>
              <a:t>1.  ASCII-Werte und Bits von B, O, J, E</a:t>
            </a:r>
            <a:endParaRPr lang="en-US" sz="2200" dirty="0"/>
          </a:p>
        </p:txBody>
      </p:sp>
      <p:sp>
        <p:nvSpPr>
          <p:cNvPr id="7" name="Text 5"/>
          <p:cNvSpPr txBox="1"/>
          <p:nvPr/>
        </p:nvSpPr>
        <p:spPr>
          <a:xfrm>
            <a:off x="548640" y="2480564"/>
            <a:ext cx="11094415" cy="386588"/>
          </a:xfrm>
          <a:prstGeom prst="rect">
            <a:avLst/>
          </a:prstGeom>
          <a:noFill/>
          <a:ln/>
        </p:spPr>
        <p:txBody>
          <a:bodyPr wrap="square" lIns="0" tIns="0" rIns="0" bIns="0" rtlCol="0" anchor="t"/>
          <a:lstStyle/>
          <a:p>
            <a:pPr algn="l" indent="0" marL="0">
              <a:buNone/>
            </a:pPr>
            <a:r>
              <a:rPr lang="en-US" sz="2200" dirty="0">
                <a:solidFill>
                  <a:srgbClr val="1B1B1F"/>
                </a:solidFill>
              </a:rPr>
              <a:t>2.  XOR üben: </a:t>
            </a:r>
            <a:r>
              <a:rPr lang="en-US" sz="2200" dirty="0">
                <a:solidFill>
                  <a:srgbClr val="1B1B1F"/>
                </a:solidFill>
                <a:latin typeface="Consolas" pitchFamily="34" charset="0"/>
                <a:ea typeface="Consolas" pitchFamily="34" charset="-122"/>
                <a:cs typeface="Consolas" pitchFamily="34" charset="-120"/>
              </a:rPr>
              <a:t>1100 1010 ⊕ 0110 0110</a:t>
            </a:r>
            <a:endParaRPr lang="en-US" sz="2200" dirty="0"/>
          </a:p>
        </p:txBody>
      </p:sp>
      <p:sp>
        <p:nvSpPr>
          <p:cNvPr id="8" name="Text 6"/>
          <p:cNvSpPr txBox="1"/>
          <p:nvPr/>
        </p:nvSpPr>
        <p:spPr>
          <a:xfrm>
            <a:off x="548640" y="2995168"/>
            <a:ext cx="11094415" cy="386588"/>
          </a:xfrm>
          <a:prstGeom prst="rect">
            <a:avLst/>
          </a:prstGeom>
          <a:noFill/>
          <a:ln/>
        </p:spPr>
        <p:txBody>
          <a:bodyPr wrap="square" lIns="0" tIns="0" rIns="0" bIns="0" rtlCol="0" anchor="t"/>
          <a:lstStyle/>
          <a:p>
            <a:pPr algn="l" indent="0" marL="0">
              <a:buNone/>
            </a:pPr>
            <a:r>
              <a:rPr lang="en-US" sz="2200" dirty="0">
                <a:solidFill>
                  <a:srgbClr val="1B1B1F"/>
                </a:solidFill>
              </a:rPr>
              <a:t>3.  Alice verschlüsselt </a:t>
            </a:r>
            <a:r>
              <a:rPr lang="en-US" sz="2200" b="1" dirty="0">
                <a:solidFill>
                  <a:srgbClr val="1B1B1F"/>
                </a:solidFill>
              </a:rPr>
              <a:t>BOJE</a:t>
            </a:r>
            <a:r>
              <a:rPr lang="en-US" sz="2200" dirty="0">
                <a:solidFill>
                  <a:srgbClr val="1B1B1F"/>
                </a:solidFill>
              </a:rPr>
              <a:t> mit dem Einmalschlüssel</a:t>
            </a:r>
            <a:endParaRPr lang="en-US" sz="2200" dirty="0"/>
          </a:p>
        </p:txBody>
      </p:sp>
      <p:sp>
        <p:nvSpPr>
          <p:cNvPr id="9" name="Text 7"/>
          <p:cNvSpPr txBox="1"/>
          <p:nvPr/>
        </p:nvSpPr>
        <p:spPr>
          <a:xfrm>
            <a:off x="548640" y="3509772"/>
            <a:ext cx="11094415" cy="386588"/>
          </a:xfrm>
          <a:prstGeom prst="rect">
            <a:avLst/>
          </a:prstGeom>
          <a:noFill/>
          <a:ln/>
        </p:spPr>
        <p:txBody>
          <a:bodyPr wrap="square" lIns="0" tIns="0" rIns="0" bIns="0" rtlCol="0" anchor="t"/>
          <a:lstStyle/>
          <a:p>
            <a:pPr algn="l" indent="0" marL="0">
              <a:buNone/>
            </a:pPr>
            <a:r>
              <a:rPr lang="en-US" sz="2200" dirty="0">
                <a:solidFill>
                  <a:srgbClr val="1B1B1F"/>
                </a:solidFill>
              </a:rPr>
              <a:t>Kontrolle mit der </a:t>
            </a:r>
            <a:r>
              <a:rPr lang="en-US" sz="2200" b="1" dirty="0">
                <a:solidFill>
                  <a:srgbClr val="1B1B1F"/>
                </a:solidFill>
              </a:rPr>
              <a:t>Bit-Lupe</a:t>
            </a:r>
            <a:r>
              <a:rPr lang="en-US" sz="2200" dirty="0">
                <a:solidFill>
                  <a:srgbClr val="1B1B1F"/>
                </a:solidFill>
              </a:rPr>
              <a:t> erst danach!</a:t>
            </a:r>
            <a:endParaRPr lang="en-US" sz="22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Vernam 1917 und das One-Time-Pad</a:t>
            </a:r>
            <a:endParaRPr lang="en-US" sz="3000" dirty="0"/>
          </a:p>
        </p:txBody>
      </p:sp>
      <p:sp>
        <p:nvSpPr>
          <p:cNvPr id="3" name="Text 1"/>
          <p:cNvSpPr txBox="1"/>
          <p:nvPr/>
        </p:nvSpPr>
        <p:spPr>
          <a:xfrm>
            <a:off x="548640" y="1325880"/>
            <a:ext cx="4506035" cy="448564"/>
          </a:xfrm>
          <a:prstGeom prst="rect">
            <a:avLst/>
          </a:prstGeom>
          <a:noFill/>
          <a:ln/>
        </p:spPr>
        <p:txBody>
          <a:bodyPr wrap="square" lIns="0" tIns="0" rIns="0" bIns="0" rtlCol="0" anchor="t"/>
          <a:lstStyle/>
          <a:p>
            <a:pPr algn="ctr" indent="0" marL="0">
              <a:buNone/>
            </a:pPr>
            <a:r>
              <a:rPr lang="en-US" sz="2600" b="1" dirty="0">
                <a:solidFill>
                  <a:srgbClr val="1B1B1F"/>
                </a:solidFill>
              </a:rPr>
              <a:t>C = M ⊕ K</a:t>
            </a:r>
            <a:endParaRPr lang="en-US" sz="2600" dirty="0"/>
          </a:p>
        </p:txBody>
      </p:sp>
      <p:sp>
        <p:nvSpPr>
          <p:cNvPr id="4" name="Text 2"/>
          <p:cNvSpPr txBox="1"/>
          <p:nvPr/>
        </p:nvSpPr>
        <p:spPr>
          <a:xfrm>
            <a:off x="548640" y="1902460"/>
            <a:ext cx="4506035" cy="448564"/>
          </a:xfrm>
          <a:prstGeom prst="rect">
            <a:avLst/>
          </a:prstGeom>
          <a:noFill/>
          <a:ln/>
        </p:spPr>
        <p:txBody>
          <a:bodyPr wrap="square" lIns="0" tIns="0" rIns="0" bIns="0" rtlCol="0" anchor="t"/>
          <a:lstStyle/>
          <a:p>
            <a:pPr algn="ctr" indent="0" marL="0">
              <a:buNone/>
            </a:pPr>
            <a:r>
              <a:rPr lang="en-US" sz="2600" b="1" dirty="0">
                <a:solidFill>
                  <a:srgbClr val="1B1B1F"/>
                </a:solidFill>
              </a:rPr>
              <a:t>M = C ⊕ K</a:t>
            </a:r>
            <a:endParaRPr lang="en-US" sz="2600" dirty="0"/>
          </a:p>
        </p:txBody>
      </p:sp>
      <p:sp>
        <p:nvSpPr>
          <p:cNvPr id="5" name="Text 3"/>
          <p:cNvSpPr txBox="1"/>
          <p:nvPr/>
        </p:nvSpPr>
        <p:spPr>
          <a:xfrm>
            <a:off x="548640" y="2479040"/>
            <a:ext cx="4506035" cy="603504"/>
          </a:xfrm>
          <a:prstGeom prst="rect">
            <a:avLst/>
          </a:prstGeom>
          <a:noFill/>
          <a:ln/>
        </p:spPr>
        <p:txBody>
          <a:bodyPr wrap="square" lIns="0" tIns="0" rIns="0" bIns="0" rtlCol="0" anchor="t"/>
          <a:lstStyle/>
          <a:p>
            <a:pPr algn="l" indent="0" marL="0">
              <a:buNone/>
            </a:pPr>
            <a:r>
              <a:rPr lang="en-US" sz="1800" dirty="0">
                <a:solidFill>
                  <a:srgbClr val="1B1B1F"/>
                </a:solidFill>
              </a:rPr>
              <a:t>Vernam nutzte den 5-Bit-Fernschreibcode, wir ASCII.</a:t>
            </a:r>
            <a:endParaRPr lang="en-US" sz="1800" dirty="0"/>
          </a:p>
        </p:txBody>
      </p:sp>
      <p:sp>
        <p:nvSpPr>
          <p:cNvPr id="6" name="Text 4"/>
          <p:cNvSpPr txBox="1"/>
          <p:nvPr/>
        </p:nvSpPr>
        <p:spPr>
          <a:xfrm>
            <a:off x="5420435" y="1325880"/>
            <a:ext cx="6222620" cy="386588"/>
          </a:xfrm>
          <a:prstGeom prst="rect">
            <a:avLst/>
          </a:prstGeom>
          <a:noFill/>
          <a:ln/>
        </p:spPr>
        <p:txBody>
          <a:bodyPr wrap="square" lIns="0" tIns="0" rIns="0" bIns="0" rtlCol="0" anchor="t"/>
          <a:lstStyle/>
          <a:p>
            <a:pPr algn="l" indent="0" marL="0">
              <a:buNone/>
            </a:pPr>
            <a:r>
              <a:rPr lang="en-US" sz="2200" dirty="0">
                <a:solidFill>
                  <a:srgbClr val="1B1B1F"/>
                </a:solidFill>
              </a:rPr>
              <a:t>Der Schlüssel ist</a:t>
            </a:r>
            <a:endParaRPr lang="en-US" sz="2200" dirty="0"/>
          </a:p>
        </p:txBody>
      </p:sp>
      <p:sp>
        <p:nvSpPr>
          <p:cNvPr id="7" name="Text 5"/>
          <p:cNvSpPr txBox="1"/>
          <p:nvPr/>
        </p:nvSpPr>
        <p:spPr>
          <a:xfrm>
            <a:off x="5420435" y="1840484"/>
            <a:ext cx="6222620" cy="386588"/>
          </a:xfrm>
          <a:prstGeom prst="rect">
            <a:avLst/>
          </a:prstGeom>
          <a:noFill/>
          <a:ln/>
        </p:spPr>
        <p:txBody>
          <a:bodyPr wrap="square" lIns="0" tIns="0" rIns="0" bIns="0" rtlCol="0" anchor="t"/>
          <a:lstStyle/>
          <a:p>
            <a:pPr algn="l" indent="0" marL="0">
              <a:buNone/>
            </a:pPr>
            <a:r>
              <a:rPr lang="en-US" sz="2200" dirty="0">
                <a:solidFill>
                  <a:srgbClr val="1B1B1F"/>
                </a:solidFill>
              </a:rPr>
              <a:t>1.  </a:t>
            </a:r>
            <a:r>
              <a:rPr lang="en-US" sz="2200" b="1" dirty="0">
                <a:solidFill>
                  <a:srgbClr val="1B1B1F"/>
                </a:solidFill>
              </a:rPr>
              <a:t>echt zufällig</a:t>
            </a:r>
            <a:endParaRPr lang="en-US" sz="2200" dirty="0"/>
          </a:p>
        </p:txBody>
      </p:sp>
      <p:sp>
        <p:nvSpPr>
          <p:cNvPr id="8" name="Text 6"/>
          <p:cNvSpPr txBox="1"/>
          <p:nvPr/>
        </p:nvSpPr>
        <p:spPr>
          <a:xfrm>
            <a:off x="5420435" y="2355088"/>
            <a:ext cx="6222620" cy="386588"/>
          </a:xfrm>
          <a:prstGeom prst="rect">
            <a:avLst/>
          </a:prstGeom>
          <a:noFill/>
          <a:ln/>
        </p:spPr>
        <p:txBody>
          <a:bodyPr wrap="square" lIns="0" tIns="0" rIns="0" bIns="0" rtlCol="0" anchor="t"/>
          <a:lstStyle/>
          <a:p>
            <a:pPr algn="l" indent="0" marL="0">
              <a:buNone/>
            </a:pPr>
            <a:r>
              <a:rPr lang="en-US" sz="2200" dirty="0">
                <a:solidFill>
                  <a:srgbClr val="1B1B1F"/>
                </a:solidFill>
              </a:rPr>
              <a:t>2.  </a:t>
            </a:r>
            <a:r>
              <a:rPr lang="en-US" sz="2200" b="1" dirty="0">
                <a:solidFill>
                  <a:srgbClr val="1B1B1F"/>
                </a:solidFill>
              </a:rPr>
              <a:t>so lang wie die Nachricht</a:t>
            </a:r>
            <a:endParaRPr lang="en-US" sz="2200" dirty="0"/>
          </a:p>
        </p:txBody>
      </p:sp>
      <p:sp>
        <p:nvSpPr>
          <p:cNvPr id="9" name="Text 7"/>
          <p:cNvSpPr txBox="1"/>
          <p:nvPr/>
        </p:nvSpPr>
        <p:spPr>
          <a:xfrm>
            <a:off x="5420435" y="2869692"/>
            <a:ext cx="6222620" cy="386588"/>
          </a:xfrm>
          <a:prstGeom prst="rect">
            <a:avLst/>
          </a:prstGeom>
          <a:noFill/>
          <a:ln/>
        </p:spPr>
        <p:txBody>
          <a:bodyPr wrap="square" lIns="0" tIns="0" rIns="0" bIns="0" rtlCol="0" anchor="t"/>
          <a:lstStyle/>
          <a:p>
            <a:pPr algn="l" indent="0" marL="0">
              <a:buNone/>
            </a:pPr>
            <a:r>
              <a:rPr lang="en-US" sz="2200" dirty="0">
                <a:solidFill>
                  <a:srgbClr val="1B1B1F"/>
                </a:solidFill>
              </a:rPr>
              <a:t>3.  </a:t>
            </a:r>
            <a:r>
              <a:rPr lang="en-US" sz="2200" b="1" dirty="0">
                <a:solidFill>
                  <a:srgbClr val="1B1B1F"/>
                </a:solidFill>
              </a:rPr>
              <a:t>nur einmal</a:t>
            </a:r>
            <a:r>
              <a:rPr lang="en-US" sz="2200" dirty="0">
                <a:solidFill>
                  <a:srgbClr val="1B1B1F"/>
                </a:solidFill>
              </a:rPr>
              <a:t> benutzt</a:t>
            </a:r>
            <a:endParaRPr lang="en-US" sz="2200" dirty="0"/>
          </a:p>
        </p:txBody>
      </p:sp>
      <p:sp>
        <p:nvSpPr>
          <p:cNvPr id="10" name="Text 8"/>
          <p:cNvSpPr txBox="1"/>
          <p:nvPr/>
        </p:nvSpPr>
        <p:spPr>
          <a:xfrm>
            <a:off x="5420435" y="3384296"/>
            <a:ext cx="6222620" cy="386588"/>
          </a:xfrm>
          <a:prstGeom prst="rect">
            <a:avLst/>
          </a:prstGeom>
          <a:noFill/>
          <a:ln/>
        </p:spPr>
        <p:txBody>
          <a:bodyPr wrap="square" lIns="0" tIns="0" rIns="0" bIns="0" rtlCol="0" anchor="t"/>
          <a:lstStyle/>
          <a:p>
            <a:pPr algn="l" indent="0" marL="0">
              <a:buNone/>
            </a:pPr>
            <a:r>
              <a:rPr lang="en-US" sz="2200" dirty="0">
                <a:solidFill>
                  <a:srgbClr val="1B1B1F"/>
                </a:solidFill>
              </a:rPr>
              <a:t>4.  </a:t>
            </a:r>
            <a:r>
              <a:rPr lang="en-US" sz="2200" b="1" dirty="0">
                <a:solidFill>
                  <a:srgbClr val="1B1B1F"/>
                </a:solidFill>
              </a:rPr>
              <a:t>geheim</a:t>
            </a:r>
            <a:endParaRPr lang="en-US" sz="22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Perfekte Sicherheit</a:t>
            </a:r>
            <a:endParaRPr lang="en-US" sz="3000" dirty="0"/>
          </a:p>
        </p:txBody>
      </p:sp>
      <p:sp>
        <p:nvSpPr>
          <p:cNvPr id="3" name="Merke-Kasten"/>
          <p:cNvSpPr/>
          <p:nvPr/>
        </p:nvSpPr>
        <p:spPr>
          <a:xfrm>
            <a:off x="1097280" y="1508760"/>
            <a:ext cx="9997135" cy="2514600"/>
          </a:xfrm>
          <a:prstGeom prst="roundRect">
            <a:avLst>
              <a:gd name="adj" fmla="val 3636"/>
            </a:avLst>
          </a:prstGeom>
          <a:solidFill>
            <a:srgbClr val="FBF3E2"/>
          </a:solidFill>
          <a:ln w="19050">
            <a:solidFill>
              <a:srgbClr val="B07D2B"/>
            </a:solidFill>
            <a:prstDash val="solid"/>
          </a:ln>
        </p:spPr>
      </p:sp>
      <p:sp>
        <p:nvSpPr>
          <p:cNvPr id="4" name="Text 2"/>
          <p:cNvSpPr txBox="1"/>
          <p:nvPr/>
        </p:nvSpPr>
        <p:spPr>
          <a:xfrm>
            <a:off x="1508760" y="1737360"/>
            <a:ext cx="3657600" cy="411480"/>
          </a:xfrm>
          <a:prstGeom prst="rect">
            <a:avLst/>
          </a:prstGeom>
          <a:noFill/>
          <a:ln/>
        </p:spPr>
        <p:txBody>
          <a:bodyPr wrap="square" lIns="0" tIns="0" rIns="0" bIns="0" rtlCol="0" anchor="ctr"/>
          <a:lstStyle/>
          <a:p>
            <a:pPr indent="0" marL="0">
              <a:buNone/>
            </a:pPr>
            <a:r>
              <a:rPr lang="en-US" sz="2000" b="1" spc="400" kern="0" dirty="0">
                <a:solidFill>
                  <a:srgbClr val="8A5F1A"/>
                </a:solidFill>
                <a:latin typeface="Georgia" pitchFamily="34" charset="0"/>
                <a:ea typeface="Georgia" pitchFamily="34" charset="-122"/>
                <a:cs typeface="Georgia" pitchFamily="34" charset="-120"/>
              </a:rPr>
              <a:t>MERKE</a:t>
            </a:r>
            <a:endParaRPr lang="en-US" sz="2000" dirty="0"/>
          </a:p>
        </p:txBody>
      </p:sp>
      <p:sp>
        <p:nvSpPr>
          <p:cNvPr id="5" name="Text 3"/>
          <p:cNvSpPr txBox="1"/>
          <p:nvPr/>
        </p:nvSpPr>
        <p:spPr>
          <a:xfrm>
            <a:off x="1508760" y="2240280"/>
            <a:ext cx="9174175" cy="727456"/>
          </a:xfrm>
          <a:prstGeom prst="rect">
            <a:avLst/>
          </a:prstGeom>
          <a:noFill/>
          <a:ln/>
        </p:spPr>
        <p:txBody>
          <a:bodyPr wrap="square" lIns="0" tIns="0" rIns="0" bIns="0" rtlCol="0" anchor="t"/>
          <a:lstStyle/>
          <a:p>
            <a:pPr algn="l" indent="0" marL="0">
              <a:buNone/>
            </a:pPr>
            <a:r>
              <a:rPr lang="en-US" sz="2200" dirty="0">
                <a:solidFill>
                  <a:srgbClr val="1B1B1F"/>
                </a:solidFill>
              </a:rPr>
              <a:t>Zu einem OTP-Geheimtext passt </a:t>
            </a:r>
            <a:r>
              <a:rPr lang="en-US" sz="2200" b="1" dirty="0">
                <a:solidFill>
                  <a:srgbClr val="1B1B1F"/>
                </a:solidFill>
              </a:rPr>
              <a:t>jeder</a:t>
            </a:r>
            <a:r>
              <a:rPr lang="en-US" sz="2200" dirty="0">
                <a:solidFill>
                  <a:srgbClr val="1B1B1F"/>
                </a:solidFill>
              </a:rPr>
              <a:t> Klartext gleicher Länge – mit genau einem Schlüssel.</a:t>
            </a:r>
            <a:endParaRPr lang="en-US" sz="2200" dirty="0"/>
          </a:p>
        </p:txBody>
      </p:sp>
      <p:sp>
        <p:nvSpPr>
          <p:cNvPr id="6" name="Text 4"/>
          <p:cNvSpPr txBox="1"/>
          <p:nvPr/>
        </p:nvSpPr>
        <p:spPr>
          <a:xfrm>
            <a:off x="1508760" y="3095752"/>
            <a:ext cx="9174175" cy="386588"/>
          </a:xfrm>
          <a:prstGeom prst="rect">
            <a:avLst/>
          </a:prstGeom>
          <a:noFill/>
          <a:ln/>
        </p:spPr>
        <p:txBody>
          <a:bodyPr wrap="square" lIns="0" tIns="0" rIns="0" bIns="0" rtlCol="0" anchor="t"/>
          <a:lstStyle/>
          <a:p>
            <a:pPr algn="l" indent="0" marL="0">
              <a:buNone/>
            </a:pPr>
            <a:r>
              <a:rPr lang="en-US" sz="2200" dirty="0">
                <a:solidFill>
                  <a:srgbClr val="1B1B1F"/>
                </a:solidFill>
              </a:rPr>
              <a:t>Eve lernt nur die </a:t>
            </a:r>
            <a:r>
              <a:rPr lang="en-US" sz="2200" b="1" dirty="0">
                <a:solidFill>
                  <a:srgbClr val="1B1B1F"/>
                </a:solidFill>
              </a:rPr>
              <a:t>Länge</a:t>
            </a:r>
            <a:r>
              <a:rPr lang="en-US" sz="2200" dirty="0">
                <a:solidFill>
                  <a:srgbClr val="1B1B1F"/>
                </a:solidFill>
              </a:rPr>
              <a:t>. Claude Shannon bewies das 1949.</a:t>
            </a:r>
            <a:endParaRPr lang="en-US" sz="22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HALT oder LAUF?</a:t>
            </a:r>
            <a:endParaRPr lang="en-US" sz="3000" dirty="0"/>
          </a:p>
        </p:txBody>
      </p:sp>
      <p:sp>
        <p:nvSpPr>
          <p:cNvPr id="3" name="Text 1"/>
          <p:cNvSpPr txBox="1"/>
          <p:nvPr/>
        </p:nvSpPr>
        <p:spPr>
          <a:xfrm>
            <a:off x="548640" y="1325880"/>
            <a:ext cx="1463040" cy="384048"/>
          </a:xfrm>
          <a:prstGeom prst="rect">
            <a:avLst/>
          </a:prstGeom>
          <a:solidFill>
            <a:srgbClr val="556B2F"/>
          </a:solidFill>
          <a:ln/>
        </p:spPr>
        <p:txBody>
          <a:bodyPr wrap="square" lIns="0" tIns="0" rIns="0" bIns="0" rtlCol="0" anchor="ctr"/>
          <a:lstStyle/>
          <a:p>
            <a:pPr algn="ctr" indent="0" marL="0">
              <a:buNone/>
            </a:pPr>
            <a:r>
              <a:rPr lang="en-US" sz="1400" b="1" spc="300" kern="0" dirty="0">
                <a:solidFill>
                  <a:srgbClr val="FFFFFF"/>
                </a:solidFill>
              </a:rPr>
              <a:t>AUFTRAG</a:t>
            </a:r>
            <a:endParaRPr lang="en-US" sz="1400" dirty="0"/>
          </a:p>
        </p:txBody>
      </p:sp>
      <p:sp>
        <p:nvSpPr>
          <p:cNvPr id="4" name="Text 2"/>
          <p:cNvSpPr txBox="1"/>
          <p:nvPr/>
        </p:nvSpPr>
        <p:spPr>
          <a:xfrm>
            <a:off x="2148840" y="1325880"/>
            <a:ext cx="1746504" cy="384048"/>
          </a:xfrm>
          <a:prstGeom prst="rect">
            <a:avLst/>
          </a:prstGeom>
          <a:solidFill>
            <a:srgbClr val="F2EADB"/>
          </a:solidFill>
          <a:ln/>
        </p:spPr>
        <p:txBody>
          <a:bodyPr wrap="square" lIns="0" tIns="0" rIns="0" bIns="0" rtlCol="0" anchor="ctr"/>
          <a:lstStyle/>
          <a:p>
            <a:pPr algn="ctr" indent="0" marL="0">
              <a:buNone/>
            </a:pPr>
            <a:r>
              <a:rPr lang="en-US" sz="1400" dirty="0">
                <a:solidFill>
                  <a:srgbClr val="1B1B1F"/>
                </a:solidFill>
              </a:rPr>
              <a:t>Partnerarbeit</a:t>
            </a:r>
            <a:endParaRPr lang="en-US" sz="1400" dirty="0"/>
          </a:p>
        </p:txBody>
      </p:sp>
      <p:sp>
        <p:nvSpPr>
          <p:cNvPr id="5" name="Text 3"/>
          <p:cNvSpPr txBox="1"/>
          <p:nvPr/>
        </p:nvSpPr>
        <p:spPr>
          <a:xfrm>
            <a:off x="4032504" y="1325880"/>
            <a:ext cx="868680" cy="384048"/>
          </a:xfrm>
          <a:prstGeom prst="rect">
            <a:avLst/>
          </a:prstGeom>
          <a:solidFill>
            <a:srgbClr val="F2EADB"/>
          </a:solidFill>
          <a:ln/>
        </p:spPr>
        <p:txBody>
          <a:bodyPr wrap="square" lIns="0" tIns="0" rIns="0" bIns="0" rtlCol="0" anchor="ctr"/>
          <a:lstStyle/>
          <a:p>
            <a:pPr algn="ctr" indent="0" marL="0">
              <a:buNone/>
            </a:pPr>
            <a:r>
              <a:rPr lang="en-US" sz="1400" dirty="0">
                <a:solidFill>
                  <a:srgbClr val="1B1B1F"/>
                </a:solidFill>
              </a:rPr>
              <a:t>6 min</a:t>
            </a:r>
            <a:endParaRPr lang="en-US" sz="14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965960"/>
          <a:ext cx="11094415" cy="914400"/>
        </p:xfrm>
        <a:graphic>
          <a:graphicData uri="http://schemas.openxmlformats.org/drawingml/2006/table">
            <a:tbl>
              <a:tblPr/>
              <a:tblGrid>
                <a:gridCol w="2218883"/>
                <a:gridCol w="2218883"/>
                <a:gridCol w="2218883"/>
                <a:gridCol w="2218883"/>
                <a:gridCol w="2218883"/>
              </a:tblGrid>
              <a:tr h="0">
                <a:tc>
                  <a:txBody>
                    <a:bodyPr/>
                    <a:lstStyle/>
                    <a:p>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2200" b="1" dirty="0">
                          <a:solidFill>
                            <a:srgbClr val="1B1B1F"/>
                          </a:solidFill>
                          <a:latin typeface="Consolas" pitchFamily="34" charset="0"/>
                          <a:ea typeface="Consolas" pitchFamily="34" charset="-122"/>
                          <a:cs typeface="Consolas" pitchFamily="34" charset="-120"/>
                        </a:rPr>
                        <a:t>Zeichen 1</a:t>
                      </a:r>
                      <a:endParaRPr lang="en-US" sz="22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2200" b="1" dirty="0">
                          <a:solidFill>
                            <a:srgbClr val="1B1B1F"/>
                          </a:solidFill>
                          <a:latin typeface="Consolas" pitchFamily="34" charset="0"/>
                          <a:ea typeface="Consolas" pitchFamily="34" charset="-122"/>
                          <a:cs typeface="Consolas" pitchFamily="34" charset="-120"/>
                        </a:rPr>
                        <a:t>Zeichen 2</a:t>
                      </a:r>
                      <a:endParaRPr lang="en-US" sz="22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2200" b="1" dirty="0">
                          <a:solidFill>
                            <a:srgbClr val="1B1B1F"/>
                          </a:solidFill>
                          <a:latin typeface="Consolas" pitchFamily="34" charset="0"/>
                          <a:ea typeface="Consolas" pitchFamily="34" charset="-122"/>
                          <a:cs typeface="Consolas" pitchFamily="34" charset="-120"/>
                        </a:rPr>
                        <a:t>Zeichen 3</a:t>
                      </a:r>
                      <a:endParaRPr lang="en-US" sz="22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2200" b="1" dirty="0">
                          <a:solidFill>
                            <a:srgbClr val="1B1B1F"/>
                          </a:solidFill>
                          <a:latin typeface="Consolas" pitchFamily="34" charset="0"/>
                          <a:ea typeface="Consolas" pitchFamily="34" charset="-122"/>
                          <a:cs typeface="Consolas" pitchFamily="34" charset="-120"/>
                        </a:rPr>
                        <a:t>Zeichen 4</a:t>
                      </a:r>
                      <a:endParaRPr lang="en-US" sz="22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r>
              <a:tr h="0">
                <a:tc>
                  <a:txBody>
                    <a:bodyPr/>
                    <a:lstStyle/>
                    <a:p>
                      <a:pPr algn="ctr" indent="0" marL="0">
                        <a:buNone/>
                      </a:pPr>
                      <a:r>
                        <a:rPr lang="en-US" sz="2200" b="1" dirty="0">
                          <a:solidFill>
                            <a:srgbClr val="1B1B1F"/>
                          </a:solidFill>
                          <a:latin typeface="Consolas" pitchFamily="34" charset="0"/>
                          <a:ea typeface="Consolas" pitchFamily="34" charset="-122"/>
                          <a:cs typeface="Consolas" pitchFamily="34" charset="-120"/>
                        </a:rPr>
                        <a:t>C</a:t>
                      </a:r>
                      <a:endParaRPr lang="en-US" sz="22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2200" dirty="0">
                          <a:solidFill>
                            <a:srgbClr val="1B1B1F"/>
                          </a:solidFill>
                          <a:latin typeface="Consolas" pitchFamily="34" charset="0"/>
                          <a:ea typeface="Consolas" pitchFamily="34" charset="-122"/>
                          <a:cs typeface="Consolas" pitchFamily="34" charset="-120"/>
                        </a:rPr>
                        <a:t>0001 1110</a:t>
                      </a:r>
                      <a:endParaRPr lang="en-US" sz="22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B1B1F"/>
                          </a:solidFill>
                          <a:latin typeface="Consolas" pitchFamily="34" charset="0"/>
                          <a:ea typeface="Consolas" pitchFamily="34" charset="-122"/>
                          <a:cs typeface="Consolas" pitchFamily="34" charset="-120"/>
                        </a:rPr>
                        <a:t>1101 1010</a:t>
                      </a:r>
                      <a:endParaRPr lang="en-US" sz="22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B1B1F"/>
                          </a:solidFill>
                          <a:latin typeface="Consolas" pitchFamily="34" charset="0"/>
                          <a:ea typeface="Consolas" pitchFamily="34" charset="-122"/>
                          <a:cs typeface="Consolas" pitchFamily="34" charset="-120"/>
                        </a:rPr>
                        <a:t>0110 0111</a:t>
                      </a:r>
                      <a:endParaRPr lang="en-US" sz="22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B1B1F"/>
                          </a:solidFill>
                          <a:latin typeface="Consolas" pitchFamily="34" charset="0"/>
                          <a:ea typeface="Consolas" pitchFamily="34" charset="-122"/>
                          <a:cs typeface="Consolas" pitchFamily="34" charset="-120"/>
                        </a:rPr>
                        <a:t>1001 0001</a:t>
                      </a:r>
                      <a:endParaRPr lang="en-US" sz="22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bl>
          </a:graphicData>
        </a:graphic>
      </p:graphicFrame>
      <p:sp>
        <p:nvSpPr>
          <p:cNvPr id="7" name="Text 4"/>
          <p:cNvSpPr txBox="1"/>
          <p:nvPr/>
        </p:nvSpPr>
        <p:spPr>
          <a:xfrm>
            <a:off x="548640" y="2958592"/>
            <a:ext cx="11094415" cy="386588"/>
          </a:xfrm>
          <a:prstGeom prst="rect">
            <a:avLst/>
          </a:prstGeom>
          <a:noFill/>
          <a:ln/>
        </p:spPr>
        <p:txBody>
          <a:bodyPr wrap="square" lIns="0" tIns="0" rIns="0" bIns="0" rtlCol="0" anchor="t"/>
          <a:lstStyle/>
          <a:p>
            <a:pPr algn="l" indent="0" marL="0">
              <a:buNone/>
            </a:pPr>
            <a:r>
              <a:rPr lang="en-US" sz="2200" dirty="0">
                <a:solidFill>
                  <a:srgbClr val="1B1B1F"/>
                </a:solidFill>
              </a:rPr>
              <a:t>Bestimmt einen Schlüssel, für den der Klartext </a:t>
            </a:r>
            <a:r>
              <a:rPr lang="en-US" sz="2200" b="1" dirty="0">
                <a:solidFill>
                  <a:srgbClr val="1B1B1F"/>
                </a:solidFill>
              </a:rPr>
              <a:t>HALT</a:t>
            </a:r>
            <a:r>
              <a:rPr lang="en-US" sz="2200" dirty="0">
                <a:solidFill>
                  <a:srgbClr val="1B1B1F"/>
                </a:solidFill>
              </a:rPr>
              <a:t> lautet, und einen für </a:t>
            </a:r>
            <a:r>
              <a:rPr lang="en-US" sz="2200" b="1" dirty="0">
                <a:solidFill>
                  <a:srgbClr val="1B1B1F"/>
                </a:solidFill>
              </a:rPr>
              <a:t>LAUF</a:t>
            </a:r>
            <a:r>
              <a:rPr lang="en-US" sz="2200" dirty="0">
                <a:solidFill>
                  <a:srgbClr val="1B1B1F"/>
                </a:solidFill>
              </a:rPr>
              <a:t>.</a:t>
            </a:r>
            <a:endParaRPr lang="en-US" sz="2200" dirty="0"/>
          </a:p>
        </p:txBody>
      </p:sp>
      <p:sp>
        <p:nvSpPr>
          <p:cNvPr id="8" name="Text 5"/>
          <p:cNvSpPr txBox="1"/>
          <p:nvPr/>
        </p:nvSpPr>
        <p:spPr>
          <a:xfrm>
            <a:off x="548640" y="3473196"/>
            <a:ext cx="11094415" cy="386588"/>
          </a:xfrm>
          <a:prstGeom prst="rect">
            <a:avLst/>
          </a:prstGeom>
          <a:noFill/>
          <a:ln/>
        </p:spPr>
        <p:txBody>
          <a:bodyPr wrap="square" lIns="0" tIns="0" rIns="0" bIns="0" rtlCol="0" anchor="t"/>
          <a:lstStyle/>
          <a:p>
            <a:pPr algn="l" indent="0" marL="0">
              <a:buNone/>
            </a:pPr>
            <a:r>
              <a:rPr lang="en-US" sz="2200" dirty="0">
                <a:solidFill>
                  <a:srgbClr val="1B1B1F"/>
                </a:solidFill>
              </a:rPr>
              <a:t>Was bedeutet das für Eve?</a:t>
            </a:r>
            <a:endParaRPr lang="en-US" sz="22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FBF7EE"/>
                </a:solidFill>
                <a:latin typeface="Georgia" pitchFamily="34" charset="0"/>
                <a:ea typeface="Georgia" pitchFamily="34" charset="-122"/>
                <a:cs typeface="Georgia" pitchFamily="34" charset="-120"/>
              </a:rPr>
              <a:t>Funkraum: Der doppelte Schlüssel</a:t>
            </a:r>
            <a:endParaRPr lang="en-US" sz="3000" dirty="0"/>
          </a:p>
        </p:txBody>
      </p:sp>
      <p:pic>
        <p:nvPicPr>
          <p:cNvPr id="3" name="Image 0" descr="/tmp/kr_bildcache/qr_72e29757ebfd726a.png">    </p:cNvPr>
          <p:cNvPicPr>
            <a:picLocks noChangeAspect="1"/>
          </p:cNvPicPr>
          <p:nvPr/>
        </p:nvPicPr>
        <p:blipFill>
          <a:blip r:embed="rId1"/>
          <a:stretch>
            <a:fillRect/>
          </a:stretch>
        </p:blipFill>
        <p:spPr>
          <a:xfrm>
            <a:off x="9905695" y="4206240"/>
            <a:ext cx="1737360" cy="1737360"/>
          </a:xfrm>
          <a:prstGeom prst="rect">
            <a:avLst/>
          </a:prstGeom>
        </p:spPr>
      </p:pic>
      <p:sp>
        <p:nvSpPr>
          <p:cNvPr id="4" name="Text 1"/>
          <p:cNvSpPr txBox="1"/>
          <p:nvPr/>
        </p:nvSpPr>
        <p:spPr>
          <a:xfrm>
            <a:off x="731520" y="1417320"/>
            <a:ext cx="8716975" cy="727456"/>
          </a:xfrm>
          <a:prstGeom prst="rect">
            <a:avLst/>
          </a:prstGeom>
          <a:noFill/>
          <a:ln/>
        </p:spPr>
        <p:txBody>
          <a:bodyPr wrap="square" lIns="0" tIns="0" rIns="0" bIns="0" rtlCol="0" anchor="t"/>
          <a:lstStyle/>
          <a:p>
            <a:pPr algn="l" indent="0" marL="0">
              <a:buNone/>
            </a:pPr>
            <a:r>
              <a:rPr lang="en-US" sz="2200" dirty="0">
                <a:solidFill>
                  <a:srgbClr val="FBF7EE"/>
                </a:solidFill>
              </a:rPr>
              <a:t>•  </a:t>
            </a:r>
            <a:r>
              <a:rPr lang="en-US" sz="2200" b="1" dirty="0">
                <a:solidFill>
                  <a:srgbClr val="FBF7EE"/>
                </a:solidFill>
              </a:rPr>
              <a:t>Funkpaare</a:t>
            </a:r>
            <a:r>
              <a:rPr lang="en-US" sz="2200" dirty="0">
                <a:solidFill>
                  <a:srgbClr val="FBF7EE"/>
                </a:solidFill>
              </a:rPr>
              <a:t> (Alice-Team + Bob-Team) mit gemeinsamem Schlüsselblock</a:t>
            </a:r>
            <a:endParaRPr lang="en-US" sz="2200" dirty="0"/>
          </a:p>
        </p:txBody>
      </p:sp>
      <p:sp>
        <p:nvSpPr>
          <p:cNvPr id="5" name="Text 2"/>
          <p:cNvSpPr txBox="1"/>
          <p:nvPr/>
        </p:nvSpPr>
        <p:spPr>
          <a:xfrm>
            <a:off x="731520" y="2272792"/>
            <a:ext cx="8716975" cy="386588"/>
          </a:xfrm>
          <a:prstGeom prst="rect">
            <a:avLst/>
          </a:prstGeom>
          <a:noFill/>
          <a:ln/>
        </p:spPr>
        <p:txBody>
          <a:bodyPr wrap="square" lIns="0" tIns="0" rIns="0" bIns="0" rtlCol="0" anchor="t"/>
          <a:lstStyle/>
          <a:p>
            <a:pPr algn="l" indent="0" marL="0">
              <a:buNone/>
            </a:pPr>
            <a:r>
              <a:rPr lang="en-US" sz="2200" dirty="0">
                <a:solidFill>
                  <a:srgbClr val="FBF7EE"/>
                </a:solidFill>
              </a:rPr>
              <a:t>•  </a:t>
            </a:r>
            <a:r>
              <a:rPr lang="en-US" sz="2200" b="1" dirty="0">
                <a:solidFill>
                  <a:srgbClr val="FBF7EE"/>
                </a:solidFill>
              </a:rPr>
              <a:t>Eve</a:t>
            </a:r>
            <a:r>
              <a:rPr lang="en-US" sz="2200" dirty="0">
                <a:solidFill>
                  <a:srgbClr val="FBF7EE"/>
                </a:solidFill>
              </a:rPr>
              <a:t> sieht alle Funksprüche am Beamer</a:t>
            </a:r>
            <a:endParaRPr lang="en-US" sz="2200" dirty="0"/>
          </a:p>
        </p:txBody>
      </p:sp>
      <p:sp>
        <p:nvSpPr>
          <p:cNvPr id="6" name="Text 3"/>
          <p:cNvSpPr txBox="1"/>
          <p:nvPr/>
        </p:nvSpPr>
        <p:spPr>
          <a:xfrm>
            <a:off x="731520" y="2787396"/>
            <a:ext cx="8716975" cy="727456"/>
          </a:xfrm>
          <a:prstGeom prst="rect">
            <a:avLst/>
          </a:prstGeom>
          <a:noFill/>
          <a:ln/>
        </p:spPr>
        <p:txBody>
          <a:bodyPr wrap="square" lIns="0" tIns="0" rIns="0" bIns="0" rtlCol="0" anchor="t"/>
          <a:lstStyle/>
          <a:p>
            <a:pPr algn="l" indent="0" marL="0">
              <a:buNone/>
            </a:pPr>
            <a:r>
              <a:rPr lang="en-US" sz="2200" dirty="0">
                <a:solidFill>
                  <a:srgbClr val="FBF7EE"/>
                </a:solidFill>
              </a:rPr>
              <a:t>•  Funkspruch-Baukasten: HEUTE · MORGEN · UM · UHR · HAFEN · BAHNHOF …</a:t>
            </a:r>
            <a:endParaRPr lang="en-US" sz="2200" dirty="0"/>
          </a:p>
        </p:txBody>
      </p:sp>
      <p:sp>
        <p:nvSpPr>
          <p:cNvPr id="7" name="Text 4"/>
          <p:cNvSpPr txBox="1"/>
          <p:nvPr/>
        </p:nvSpPr>
        <p:spPr>
          <a:xfrm>
            <a:off x="731520" y="3642868"/>
            <a:ext cx="8716975" cy="386588"/>
          </a:xfrm>
          <a:prstGeom prst="rect">
            <a:avLst/>
          </a:prstGeom>
          <a:noFill/>
          <a:ln/>
        </p:spPr>
        <p:txBody>
          <a:bodyPr wrap="square" lIns="0" tIns="0" rIns="0" bIns="0" rtlCol="0" anchor="t"/>
          <a:lstStyle/>
          <a:p>
            <a:pPr algn="l" indent="0" marL="0">
              <a:buNone/>
            </a:pPr>
            <a:r>
              <a:rPr lang="en-US" sz="2200" dirty="0">
                <a:solidFill>
                  <a:srgbClr val="FBF7EE"/>
                </a:solidFill>
              </a:rPr>
              <a:t>•  </a:t>
            </a:r>
            <a:r>
              <a:rPr lang="en-US" sz="2200" b="1" dirty="0">
                <a:solidFill>
                  <a:srgbClr val="FBF7EE"/>
                </a:solidFill>
              </a:rPr>
              <a:t>Regel: Jeder Schlüsselblock nur einmal!</a:t>
            </a:r>
            <a:endParaRPr lang="en-US" sz="22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9A441"/>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Wie Eve gewann</a:t>
            </a:r>
            <a:endParaRPr lang="en-US" sz="3000" dirty="0"/>
          </a:p>
        </p:txBody>
      </p:sp>
      <p:sp>
        <p:nvSpPr>
          <p:cNvPr id="3" name="Text 1"/>
          <p:cNvSpPr txBox="1"/>
          <p:nvPr/>
        </p:nvSpPr>
        <p:spPr>
          <a:xfrm>
            <a:off x="548640" y="1325880"/>
            <a:ext cx="5578901" cy="727456"/>
          </a:xfrm>
          <a:prstGeom prst="rect">
            <a:avLst/>
          </a:prstGeom>
          <a:noFill/>
          <a:ln/>
        </p:spPr>
        <p:txBody>
          <a:bodyPr wrap="square" lIns="0" tIns="0" rIns="0" bIns="0" rtlCol="0" anchor="t"/>
          <a:lstStyle/>
          <a:p>
            <a:pPr algn="l" indent="0" marL="0">
              <a:buNone/>
            </a:pPr>
            <a:r>
              <a:rPr lang="en-US" sz="2200" dirty="0">
                <a:solidFill>
                  <a:srgbClr val="1B1B1F"/>
                </a:solidFill>
              </a:rPr>
              <a:t>1.  C1 ⊕ C2 = (M1 ⊕ K) ⊕ (M2 ⊕ K) = </a:t>
            </a:r>
            <a:r>
              <a:rPr lang="en-US" sz="2200" b="1" dirty="0">
                <a:solidFill>
                  <a:srgbClr val="1B1B1F"/>
                </a:solidFill>
              </a:rPr>
              <a:t>M1 ⊕ M2</a:t>
            </a:r>
            <a:endParaRPr lang="en-US" sz="2200" dirty="0"/>
          </a:p>
        </p:txBody>
      </p:sp>
      <p:sp>
        <p:nvSpPr>
          <p:cNvPr id="4" name="Text 2"/>
          <p:cNvSpPr txBox="1"/>
          <p:nvPr/>
        </p:nvSpPr>
        <p:spPr>
          <a:xfrm>
            <a:off x="548640" y="2181352"/>
            <a:ext cx="5578901" cy="386588"/>
          </a:xfrm>
          <a:prstGeom prst="rect">
            <a:avLst/>
          </a:prstGeom>
          <a:noFill/>
          <a:ln/>
        </p:spPr>
        <p:txBody>
          <a:bodyPr wrap="square" lIns="0" tIns="0" rIns="0" bIns="0" rtlCol="0" anchor="t"/>
          <a:lstStyle/>
          <a:p>
            <a:pPr algn="l" indent="0" marL="0">
              <a:buNone/>
            </a:pPr>
            <a:r>
              <a:rPr lang="en-US" sz="2200" dirty="0">
                <a:solidFill>
                  <a:srgbClr val="1B1B1F"/>
                </a:solidFill>
              </a:rPr>
              <a:t>2.  Byte </a:t>
            </a:r>
            <a:r>
              <a:rPr lang="en-US" sz="2200" dirty="0">
                <a:solidFill>
                  <a:srgbClr val="1B1B1F"/>
                </a:solidFill>
                <a:latin typeface="Consolas" pitchFamily="34" charset="0"/>
                <a:ea typeface="Consolas" pitchFamily="34" charset="-122"/>
                <a:cs typeface="Consolas" pitchFamily="34" charset="-120"/>
              </a:rPr>
              <a:t>0000 0000</a:t>
            </a:r>
            <a:r>
              <a:rPr lang="en-US" sz="2200" dirty="0">
                <a:solidFill>
                  <a:srgbClr val="1B1B1F"/>
                </a:solidFill>
              </a:rPr>
              <a:t> → gleiche Zeichen</a:t>
            </a:r>
            <a:endParaRPr lang="en-US" sz="2200" dirty="0"/>
          </a:p>
        </p:txBody>
      </p:sp>
      <p:sp>
        <p:nvSpPr>
          <p:cNvPr id="5" name="Text 3"/>
          <p:cNvSpPr txBox="1"/>
          <p:nvPr/>
        </p:nvSpPr>
        <p:spPr>
          <a:xfrm>
            <a:off x="548640" y="2695956"/>
            <a:ext cx="5578901" cy="727456"/>
          </a:xfrm>
          <a:prstGeom prst="rect">
            <a:avLst/>
          </a:prstGeom>
          <a:noFill/>
          <a:ln/>
        </p:spPr>
        <p:txBody>
          <a:bodyPr wrap="square" lIns="0" tIns="0" rIns="0" bIns="0" rtlCol="0" anchor="t"/>
          <a:lstStyle/>
          <a:p>
            <a:pPr algn="l" indent="0" marL="0">
              <a:buNone/>
            </a:pPr>
            <a:r>
              <a:rPr lang="en-US" sz="2200" dirty="0">
                <a:solidFill>
                  <a:srgbClr val="1B1B1F"/>
                </a:solidFill>
              </a:rPr>
              <a:t>3.  Wort raten (</a:t>
            </a:r>
            <a:r>
              <a:rPr lang="en-US" sz="2200" b="1" dirty="0">
                <a:solidFill>
                  <a:srgbClr val="1B1B1F"/>
                </a:solidFill>
              </a:rPr>
              <a:t>Crib</a:t>
            </a:r>
            <a:r>
              <a:rPr lang="en-US" sz="2200" dirty="0">
                <a:solidFill>
                  <a:srgbClr val="1B1B1F"/>
                </a:solidFill>
              </a:rPr>
              <a:t>), an jede Position legen</a:t>
            </a:r>
            <a:endParaRPr lang="en-US" sz="2200" dirty="0"/>
          </a:p>
        </p:txBody>
      </p:sp>
      <p:sp>
        <p:nvSpPr>
          <p:cNvPr id="6" name="Text 4"/>
          <p:cNvSpPr txBox="1"/>
          <p:nvPr/>
        </p:nvSpPr>
        <p:spPr>
          <a:xfrm>
            <a:off x="548640" y="3551428"/>
            <a:ext cx="5578901" cy="727456"/>
          </a:xfrm>
          <a:prstGeom prst="rect">
            <a:avLst/>
          </a:prstGeom>
          <a:noFill/>
          <a:ln/>
        </p:spPr>
        <p:txBody>
          <a:bodyPr wrap="square" lIns="0" tIns="0" rIns="0" bIns="0" rtlCol="0" anchor="t"/>
          <a:lstStyle/>
          <a:p>
            <a:pPr algn="l" indent="0" marL="0">
              <a:buNone/>
            </a:pPr>
            <a:r>
              <a:rPr lang="en-US" sz="2200" dirty="0">
                <a:solidFill>
                  <a:srgbClr val="1B1B1F"/>
                </a:solidFill>
              </a:rPr>
              <a:t>4.  sinnvoller Text → Treffer, weiterraten</a:t>
            </a:r>
            <a:endParaRPr lang="en-US" sz="22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493301" y="1325880"/>
          <a:ext cx="5149754" cy="914400"/>
        </p:xfrm>
        <a:graphic>
          <a:graphicData uri="http://schemas.openxmlformats.org/drawingml/2006/table">
            <a:tbl>
              <a:tblPr/>
              <a:tblGrid>
                <a:gridCol w="1761758"/>
                <a:gridCol w="677599"/>
                <a:gridCol w="677599"/>
                <a:gridCol w="677599"/>
                <a:gridCol w="677599"/>
                <a:gridCol w="677599"/>
              </a:tblGrid>
              <a:tr h="0">
                <a:tc>
                  <a:txBody>
                    <a:bodyPr/>
                    <a:lstStyle/>
                    <a:p>
                      <a:pPr algn="ctr" indent="0" marL="0">
                        <a:buNone/>
                      </a:pPr>
                      <a:r>
                        <a:rPr lang="en-US" sz="2000" b="1" dirty="0">
                          <a:solidFill>
                            <a:srgbClr val="1B1B1F"/>
                          </a:solidFill>
                          <a:latin typeface="Consolas" pitchFamily="34" charset="0"/>
                          <a:ea typeface="Consolas" pitchFamily="34" charset="-122"/>
                          <a:cs typeface="Consolas" pitchFamily="34" charset="-120"/>
                        </a:rPr>
                        <a:t>Position</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2000" b="1" dirty="0">
                          <a:solidFill>
                            <a:srgbClr val="1B1B1F"/>
                          </a:solidFill>
                          <a:latin typeface="Consolas" pitchFamily="34" charset="0"/>
                          <a:ea typeface="Consolas" pitchFamily="34" charset="-122"/>
                          <a:cs typeface="Consolas" pitchFamily="34" charset="-120"/>
                        </a:rPr>
                        <a:t>7</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2000" b="1" dirty="0">
                          <a:solidFill>
                            <a:srgbClr val="1B1B1F"/>
                          </a:solidFill>
                          <a:latin typeface="Consolas" pitchFamily="34" charset="0"/>
                          <a:ea typeface="Consolas" pitchFamily="34" charset="-122"/>
                          <a:cs typeface="Consolas" pitchFamily="34" charset="-120"/>
                        </a:rPr>
                        <a:t>8</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2000" b="1" dirty="0">
                          <a:solidFill>
                            <a:srgbClr val="1B1B1F"/>
                          </a:solidFill>
                          <a:latin typeface="Consolas" pitchFamily="34" charset="0"/>
                          <a:ea typeface="Consolas" pitchFamily="34" charset="-122"/>
                          <a:cs typeface="Consolas" pitchFamily="34" charset="-120"/>
                        </a:rPr>
                        <a:t>9</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2000" b="1" dirty="0">
                          <a:solidFill>
                            <a:srgbClr val="1B1B1F"/>
                          </a:solidFill>
                          <a:latin typeface="Consolas" pitchFamily="34" charset="0"/>
                          <a:ea typeface="Consolas" pitchFamily="34" charset="-122"/>
                          <a:cs typeface="Consolas" pitchFamily="34" charset="-120"/>
                        </a:rPr>
                        <a:t>10</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2000" b="1" dirty="0">
                          <a:solidFill>
                            <a:srgbClr val="1B1B1F"/>
                          </a:solidFill>
                          <a:latin typeface="Consolas" pitchFamily="34" charset="0"/>
                          <a:ea typeface="Consolas" pitchFamily="34" charset="-122"/>
                          <a:cs typeface="Consolas" pitchFamily="34" charset="-120"/>
                        </a:rPr>
                        <a:t>11</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r>
              <a:tr h="0">
                <a:tc>
                  <a:txBody>
                    <a:bodyPr/>
                    <a:lstStyle/>
                    <a:p>
                      <a:pPr algn="ctr" indent="0" marL="0">
                        <a:buNone/>
                      </a:pPr>
                      <a:r>
                        <a:rPr lang="en-US" sz="2000" b="1" dirty="0">
                          <a:solidFill>
                            <a:srgbClr val="1B1B1F"/>
                          </a:solidFill>
                          <a:latin typeface="Consolas" pitchFamily="34" charset="0"/>
                          <a:ea typeface="Consolas" pitchFamily="34" charset="-122"/>
                          <a:cs typeface="Consolas" pitchFamily="34" charset="-120"/>
                        </a:rPr>
                        <a:t>C1 ⊕ C2</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2000" dirty="0">
                          <a:solidFill>
                            <a:srgbClr val="1B1B1F"/>
                          </a:solidFill>
                          <a:latin typeface="Consolas" pitchFamily="34" charset="0"/>
                          <a:ea typeface="Consolas" pitchFamily="34" charset="-122"/>
                          <a:cs typeface="Consolas" pitchFamily="34" charset="-120"/>
                        </a:rPr>
                        <a:t>62</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B1B1F"/>
                          </a:solidFill>
                          <a:latin typeface="Consolas" pitchFamily="34" charset="0"/>
                          <a:ea typeface="Consolas" pitchFamily="34" charset="-122"/>
                          <a:cs typeface="Consolas" pitchFamily="34" charset="-120"/>
                        </a:rPr>
                        <a:t>14</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B1B1F"/>
                          </a:solidFill>
                          <a:latin typeface="Consolas" pitchFamily="34" charset="0"/>
                          <a:ea typeface="Consolas" pitchFamily="34" charset="-122"/>
                          <a:cs typeface="Consolas" pitchFamily="34" charset="-120"/>
                        </a:rPr>
                        <a:t>00</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B1B1F"/>
                          </a:solidFill>
                          <a:latin typeface="Consolas" pitchFamily="34" charset="0"/>
                          <a:ea typeface="Consolas" pitchFamily="34" charset="-122"/>
                          <a:cs typeface="Consolas" pitchFamily="34" charset="-120"/>
                        </a:rPr>
                        <a:t>1C</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B1B1F"/>
                          </a:solidFill>
                          <a:latin typeface="Consolas" pitchFamily="34" charset="0"/>
                          <a:ea typeface="Consolas" pitchFamily="34" charset="-122"/>
                          <a:cs typeface="Consolas" pitchFamily="34" charset="-120"/>
                        </a:rPr>
                        <a:t>68</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ctr" indent="0" marL="0">
                        <a:buNone/>
                      </a:pPr>
                      <a:r>
                        <a:rPr lang="en-US" sz="2000" b="1" dirty="0">
                          <a:solidFill>
                            <a:srgbClr val="1B1B1F"/>
                          </a:solidFill>
                          <a:latin typeface="Consolas" pitchFamily="34" charset="0"/>
                          <a:ea typeface="Consolas" pitchFamily="34" charset="-122"/>
                          <a:cs typeface="Consolas" pitchFamily="34" charset="-120"/>
                        </a:rPr>
                        <a:t>Crib „ UHR “</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2000" dirty="0">
                          <a:solidFill>
                            <a:srgbClr val="1B1B1F"/>
                          </a:solidFill>
                          <a:latin typeface="Consolas" pitchFamily="34" charset="0"/>
                          <a:ea typeface="Consolas" pitchFamily="34" charset="-122"/>
                          <a:cs typeface="Consolas" pitchFamily="34" charset="-120"/>
                        </a:rPr>
                        <a:t>20</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B1B1F"/>
                          </a:solidFill>
                          <a:latin typeface="Consolas" pitchFamily="34" charset="0"/>
                          <a:ea typeface="Consolas" pitchFamily="34" charset="-122"/>
                          <a:cs typeface="Consolas" pitchFamily="34" charset="-120"/>
                        </a:rPr>
                        <a:t>55</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B1B1F"/>
                          </a:solidFill>
                          <a:latin typeface="Consolas" pitchFamily="34" charset="0"/>
                          <a:ea typeface="Consolas" pitchFamily="34" charset="-122"/>
                          <a:cs typeface="Consolas" pitchFamily="34" charset="-120"/>
                        </a:rPr>
                        <a:t>48</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B1B1F"/>
                          </a:solidFill>
                          <a:latin typeface="Consolas" pitchFamily="34" charset="0"/>
                          <a:ea typeface="Consolas" pitchFamily="34" charset="-122"/>
                          <a:cs typeface="Consolas" pitchFamily="34" charset="-120"/>
                        </a:rPr>
                        <a:t>52</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B1B1F"/>
                          </a:solidFill>
                          <a:latin typeface="Consolas" pitchFamily="34" charset="0"/>
                          <a:ea typeface="Consolas" pitchFamily="34" charset="-122"/>
                          <a:cs typeface="Consolas" pitchFamily="34" charset="-120"/>
                        </a:rPr>
                        <a:t>20</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ctr" indent="0" marL="0">
                        <a:buNone/>
                      </a:pPr>
                      <a:r>
                        <a:rPr lang="en-US" sz="2000" b="1" dirty="0">
                          <a:solidFill>
                            <a:srgbClr val="1B1B1F"/>
                          </a:solidFill>
                          <a:latin typeface="Consolas" pitchFamily="34" charset="0"/>
                          <a:ea typeface="Consolas" pitchFamily="34" charset="-122"/>
                          <a:cs typeface="Consolas" pitchFamily="34" charset="-120"/>
                        </a:rPr>
                        <a:t>⊕ ergibt</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2000" b="1" dirty="0">
                          <a:solidFill>
                            <a:srgbClr val="1B1B1F"/>
                          </a:solidFill>
                          <a:latin typeface="Consolas" pitchFamily="34" charset="0"/>
                          <a:ea typeface="Consolas" pitchFamily="34" charset="-122"/>
                          <a:cs typeface="Consolas" pitchFamily="34" charset="-120"/>
                        </a:rPr>
                        <a:t>B</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2000" b="1" dirty="0">
                          <a:solidFill>
                            <a:srgbClr val="1B1B1F"/>
                          </a:solidFill>
                          <a:latin typeface="Consolas" pitchFamily="34" charset="0"/>
                          <a:ea typeface="Consolas" pitchFamily="34" charset="-122"/>
                          <a:cs typeface="Consolas" pitchFamily="34" charset="-120"/>
                        </a:rPr>
                        <a:t>A</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2000" b="1" dirty="0">
                          <a:solidFill>
                            <a:srgbClr val="1B1B1F"/>
                          </a:solidFill>
                          <a:latin typeface="Consolas" pitchFamily="34" charset="0"/>
                          <a:ea typeface="Consolas" pitchFamily="34" charset="-122"/>
                          <a:cs typeface="Consolas" pitchFamily="34" charset="-120"/>
                        </a:rPr>
                        <a:t>H</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2000" b="1" dirty="0">
                          <a:solidFill>
                            <a:srgbClr val="1B1B1F"/>
                          </a:solidFill>
                          <a:latin typeface="Consolas" pitchFamily="34" charset="0"/>
                          <a:ea typeface="Consolas" pitchFamily="34" charset="-122"/>
                          <a:cs typeface="Consolas" pitchFamily="34" charset="-120"/>
                        </a:rPr>
                        <a:t>N</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2000" b="1" dirty="0">
                          <a:solidFill>
                            <a:srgbClr val="1B1B1F"/>
                          </a:solidFill>
                          <a:latin typeface="Consolas" pitchFamily="34" charset="0"/>
                          <a:ea typeface="Consolas" pitchFamily="34" charset="-122"/>
                          <a:cs typeface="Consolas" pitchFamily="34" charset="-120"/>
                        </a:rPr>
                        <a:t>H</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bl>
          </a:graphicData>
        </a:graphic>
      </p:graphicFrame>
      <p:sp>
        <p:nvSpPr>
          <p:cNvPr id="8" name="Text 5"/>
          <p:cNvSpPr txBox="1"/>
          <p:nvPr/>
        </p:nvSpPr>
        <p:spPr>
          <a:xfrm>
            <a:off x="6493301" y="3059176"/>
            <a:ext cx="5149754" cy="603504"/>
          </a:xfrm>
          <a:prstGeom prst="rect">
            <a:avLst/>
          </a:prstGeom>
          <a:noFill/>
          <a:ln/>
        </p:spPr>
        <p:txBody>
          <a:bodyPr wrap="square" lIns="0" tIns="0" rIns="0" bIns="0" rtlCol="0" anchor="t"/>
          <a:lstStyle/>
          <a:p>
            <a:pPr algn="l" indent="0" marL="0">
              <a:buNone/>
            </a:pPr>
            <a:r>
              <a:rPr lang="en-US" sz="1800" dirty="0">
                <a:solidFill>
                  <a:srgbClr val="1B1B1F"/>
                </a:solidFill>
              </a:rPr>
              <a:t>Demonstrationsbeispiel (Hex): M1 = HEUTE 8 UHR AM HAFEN, M2 = MORGEN BAHNHOF NORD</a:t>
            </a:r>
            <a:endParaRPr lang="en-US" sz="18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Falle P5 · P8 · Sparen am Schlüssel</a:t>
            </a:r>
            <a:endParaRPr lang="en-US" sz="3000" dirty="0"/>
          </a:p>
        </p:txBody>
      </p:sp>
      <p:sp>
        <p:nvSpPr>
          <p:cNvPr id="3" name="Text 1"/>
          <p:cNvSpPr txBox="1"/>
          <p:nvPr/>
        </p:nvSpPr>
        <p:spPr>
          <a:xfrm>
            <a:off x="548640" y="1325880"/>
            <a:ext cx="11094415" cy="773176"/>
          </a:xfrm>
          <a:prstGeom prst="rect">
            <a:avLst/>
          </a:prstGeom>
          <a:noFill/>
          <a:ln/>
        </p:spPr>
        <p:txBody>
          <a:bodyPr wrap="square" lIns="0" tIns="0" rIns="0" bIns="0" rtlCol="0" anchor="t"/>
          <a:lstStyle/>
          <a:p>
            <a:pPr indent="0" marL="0">
              <a:buNone/>
            </a:pPr>
            <a:r>
              <a:rPr lang="en-US" sz="2200" dirty="0">
                <a:solidFill>
                  <a:srgbClr val="1B1B1F"/>
                </a:solidFill>
              </a:rPr>
              <a:t>Ein </a:t>
            </a:r>
            <a:r>
              <a:rPr lang="en-US" sz="2200" b="1" dirty="0">
                <a:solidFill>
                  <a:srgbClr val="1B1B1F"/>
                </a:solidFill>
              </a:rPr>
              <a:t>wiederholter</a:t>
            </a:r>
            <a:r>
              <a:rPr lang="en-US" sz="2200" dirty="0">
                <a:solidFill>
                  <a:srgbClr val="1B1B1F"/>
                </a:solidFill>
              </a:rPr>
              <a:t> Schlüssel ist kein One-Time-Pad – und zwei Schlüssel sind nicht doppelt so sicher.</a:t>
            </a:r>
            <a:endParaRPr lang="en-US" sz="2200" dirty="0"/>
          </a:p>
        </p:txBody>
      </p:sp>
      <p:sp>
        <p:nvSpPr>
          <p:cNvPr id="4" name="Shape 2"/>
          <p:cNvSpPr/>
          <p:nvPr/>
        </p:nvSpPr>
        <p:spPr>
          <a:xfrm>
            <a:off x="548640" y="2281936"/>
            <a:ext cx="5364328" cy="2625344"/>
          </a:xfrm>
          <a:prstGeom prst="roundRect">
            <a:avLst>
              <a:gd name="adj" fmla="val 2786"/>
            </a:avLst>
          </a:prstGeom>
          <a:solidFill>
            <a:srgbClr val="FDF3F2"/>
          </a:solidFill>
          <a:ln w="15875">
            <a:solidFill>
              <a:srgbClr val="B3261E"/>
            </a:solidFill>
            <a:prstDash val="solid"/>
          </a:ln>
        </p:spPr>
      </p:sp>
      <p:sp>
        <p:nvSpPr>
          <p:cNvPr id="5" name="Text 3"/>
          <p:cNvSpPr txBox="1"/>
          <p:nvPr/>
        </p:nvSpPr>
        <p:spPr>
          <a:xfrm>
            <a:off x="822960" y="2464816"/>
            <a:ext cx="4815688" cy="365760"/>
          </a:xfrm>
          <a:prstGeom prst="rect">
            <a:avLst/>
          </a:prstGeom>
          <a:noFill/>
          <a:ln/>
        </p:spPr>
        <p:txBody>
          <a:bodyPr wrap="square" lIns="0" tIns="0" rIns="0" bIns="0" rtlCol="0" anchor="ctr"/>
          <a:lstStyle/>
          <a:p>
            <a:pPr indent="0" marL="0">
              <a:buNone/>
            </a:pPr>
            <a:r>
              <a:rPr lang="en-US" sz="1800" b="1" spc="200" kern="0" dirty="0">
                <a:solidFill>
                  <a:srgbClr val="B3261E"/>
                </a:solidFill>
              </a:rPr>
              <a:t>SO NICHT  ✗</a:t>
            </a:r>
            <a:endParaRPr lang="en-US" sz="1800" dirty="0"/>
          </a:p>
        </p:txBody>
      </p:sp>
      <p:sp>
        <p:nvSpPr>
          <p:cNvPr id="6" name="Text 4"/>
          <p:cNvSpPr txBox="1"/>
          <p:nvPr/>
        </p:nvSpPr>
        <p:spPr>
          <a:xfrm>
            <a:off x="822960" y="2967736"/>
            <a:ext cx="4815688" cy="727456"/>
          </a:xfrm>
          <a:prstGeom prst="rect">
            <a:avLst/>
          </a:prstGeom>
          <a:noFill/>
          <a:ln/>
        </p:spPr>
        <p:txBody>
          <a:bodyPr wrap="square" lIns="0" tIns="0" rIns="0" bIns="0" rtlCol="0" anchor="t"/>
          <a:lstStyle/>
          <a:p>
            <a:pPr algn="l" indent="0" marL="0">
              <a:buNone/>
            </a:pPr>
            <a:r>
              <a:rPr lang="en-US" sz="2200" dirty="0">
                <a:solidFill>
                  <a:srgbClr val="1B1B1F"/>
                </a:solidFill>
              </a:rPr>
              <a:t>„Ein 8-Bit-Schlüssel für alle Zeichen ist auch eine Art OTP.“</a:t>
            </a:r>
            <a:endParaRPr lang="en-US" sz="2200" dirty="0"/>
          </a:p>
        </p:txBody>
      </p:sp>
      <p:sp>
        <p:nvSpPr>
          <p:cNvPr id="7" name="Text 5"/>
          <p:cNvSpPr txBox="1"/>
          <p:nvPr/>
        </p:nvSpPr>
        <p:spPr>
          <a:xfrm>
            <a:off x="822960" y="3823208"/>
            <a:ext cx="4815688" cy="727456"/>
          </a:xfrm>
          <a:prstGeom prst="rect">
            <a:avLst/>
          </a:prstGeom>
          <a:noFill/>
          <a:ln/>
        </p:spPr>
        <p:txBody>
          <a:bodyPr wrap="square" lIns="0" tIns="0" rIns="0" bIns="0" rtlCol="0" anchor="t"/>
          <a:lstStyle/>
          <a:p>
            <a:pPr algn="l" indent="0" marL="0">
              <a:buNone/>
            </a:pPr>
            <a:r>
              <a:rPr lang="en-US" sz="2200" dirty="0">
                <a:solidFill>
                  <a:srgbClr val="1B1B1F"/>
                </a:solidFill>
              </a:rPr>
              <a:t>„Zweimal XOR mit k</a:t>
            </a:r>
            <a:r>
              <a:rPr lang="en-US" sz="2200" baseline="-40000" dirty="0">
                <a:solidFill>
                  <a:srgbClr val="1B1B1F"/>
                </a:solidFill>
              </a:rPr>
              <a:t>1</a:t>
            </a:r>
            <a:r>
              <a:rPr lang="en-US" sz="2200" dirty="0">
                <a:solidFill>
                  <a:srgbClr val="1B1B1F"/>
                </a:solidFill>
              </a:rPr>
              <a:t>, k</a:t>
            </a:r>
            <a:r>
              <a:rPr lang="en-US" sz="2200" baseline="-40000" dirty="0">
                <a:solidFill>
                  <a:srgbClr val="1B1B1F"/>
                </a:solidFill>
              </a:rPr>
              <a:t>2</a:t>
            </a:r>
            <a:r>
              <a:rPr lang="en-US" sz="2200" dirty="0">
                <a:solidFill>
                  <a:srgbClr val="1B1B1F"/>
                </a:solidFill>
              </a:rPr>
              <a:t> ist doppelt sicher.“</a:t>
            </a:r>
            <a:endParaRPr lang="en-US" sz="2200" dirty="0"/>
          </a:p>
        </p:txBody>
      </p:sp>
      <p:sp>
        <p:nvSpPr>
          <p:cNvPr id="8" name="Shape 6"/>
          <p:cNvSpPr/>
          <p:nvPr/>
        </p:nvSpPr>
        <p:spPr>
          <a:xfrm>
            <a:off x="6278728" y="2281936"/>
            <a:ext cx="5364328" cy="2966212"/>
          </a:xfrm>
          <a:prstGeom prst="roundRect">
            <a:avLst>
              <a:gd name="adj" fmla="val 2466"/>
            </a:avLst>
          </a:prstGeom>
          <a:solidFill>
            <a:srgbClr val="EEF6EE"/>
          </a:solidFill>
          <a:ln w="15875">
            <a:solidFill>
              <a:srgbClr val="2E7D32"/>
            </a:solidFill>
            <a:prstDash val="solid"/>
          </a:ln>
        </p:spPr>
      </p:sp>
      <p:sp>
        <p:nvSpPr>
          <p:cNvPr id="9" name="Text 7"/>
          <p:cNvSpPr txBox="1"/>
          <p:nvPr/>
        </p:nvSpPr>
        <p:spPr>
          <a:xfrm>
            <a:off x="6553048" y="2464816"/>
            <a:ext cx="4815688" cy="365760"/>
          </a:xfrm>
          <a:prstGeom prst="rect">
            <a:avLst/>
          </a:prstGeom>
          <a:noFill/>
          <a:ln/>
        </p:spPr>
        <p:txBody>
          <a:bodyPr wrap="square" lIns="0" tIns="0" rIns="0" bIns="0" rtlCol="0" anchor="ctr"/>
          <a:lstStyle/>
          <a:p>
            <a:pPr indent="0" marL="0">
              <a:buNone/>
            </a:pPr>
            <a:r>
              <a:rPr lang="en-US" sz="1800" b="1" spc="200" kern="0" dirty="0">
                <a:solidFill>
                  <a:srgbClr val="2E7D32"/>
                </a:solidFill>
              </a:rPr>
              <a:t>SO RICHTIG  ✓</a:t>
            </a:r>
            <a:endParaRPr lang="en-US" sz="1800" dirty="0"/>
          </a:p>
        </p:txBody>
      </p:sp>
      <p:sp>
        <p:nvSpPr>
          <p:cNvPr id="10" name="Text 8"/>
          <p:cNvSpPr txBox="1"/>
          <p:nvPr/>
        </p:nvSpPr>
        <p:spPr>
          <a:xfrm>
            <a:off x="6553048" y="2967736"/>
            <a:ext cx="4815688" cy="1068324"/>
          </a:xfrm>
          <a:prstGeom prst="rect">
            <a:avLst/>
          </a:prstGeom>
          <a:noFill/>
          <a:ln/>
        </p:spPr>
        <p:txBody>
          <a:bodyPr wrap="square" lIns="0" tIns="0" rIns="0" bIns="0" rtlCol="0" anchor="t"/>
          <a:lstStyle/>
          <a:p>
            <a:pPr algn="l" indent="0" marL="0">
              <a:buNone/>
            </a:pPr>
            <a:r>
              <a:rPr lang="en-US" sz="2200" dirty="0">
                <a:solidFill>
                  <a:srgbClr val="1B1B1F"/>
                </a:solidFill>
              </a:rPr>
              <a:t>Gleiche Zeichen → gleiche Bytes: </a:t>
            </a:r>
            <a:r>
              <a:rPr lang="en-US" sz="2200" b="1" dirty="0">
                <a:solidFill>
                  <a:srgbClr val="1B1B1F"/>
                </a:solidFill>
              </a:rPr>
              <a:t>monoalphabetisch</a:t>
            </a:r>
            <a:r>
              <a:rPr lang="en-US" sz="2200" dirty="0">
                <a:solidFill>
                  <a:srgbClr val="1B1B1F"/>
                </a:solidFill>
              </a:rPr>
              <a:t>, nur 256 Schlüssel.</a:t>
            </a:r>
            <a:endParaRPr lang="en-US" sz="2200" dirty="0"/>
          </a:p>
        </p:txBody>
      </p:sp>
      <p:sp>
        <p:nvSpPr>
          <p:cNvPr id="11" name="Text 9"/>
          <p:cNvSpPr txBox="1"/>
          <p:nvPr/>
        </p:nvSpPr>
        <p:spPr>
          <a:xfrm>
            <a:off x="6553048" y="4164076"/>
            <a:ext cx="4815688" cy="727456"/>
          </a:xfrm>
          <a:prstGeom prst="rect">
            <a:avLst/>
          </a:prstGeom>
          <a:noFill/>
          <a:ln/>
        </p:spPr>
        <p:txBody>
          <a:bodyPr wrap="square" lIns="0" tIns="0" rIns="0" bIns="0" rtlCol="0" anchor="t"/>
          <a:lstStyle/>
          <a:p>
            <a:pPr algn="l" indent="0" marL="0">
              <a:buNone/>
            </a:pPr>
            <a:r>
              <a:rPr lang="en-US" sz="2200" dirty="0">
                <a:solidFill>
                  <a:srgbClr val="1B1B1F"/>
                </a:solidFill>
              </a:rPr>
              <a:t>(M ⊕ k</a:t>
            </a:r>
            <a:r>
              <a:rPr lang="en-US" sz="2200" baseline="-40000" dirty="0">
                <a:solidFill>
                  <a:srgbClr val="1B1B1F"/>
                </a:solidFill>
              </a:rPr>
              <a:t>1</a:t>
            </a:r>
            <a:r>
              <a:rPr lang="en-US" sz="2200" dirty="0">
                <a:solidFill>
                  <a:srgbClr val="1B1B1F"/>
                </a:solidFill>
              </a:rPr>
              <a:t>) ⊕ k</a:t>
            </a:r>
            <a:r>
              <a:rPr lang="en-US" sz="2200" baseline="-40000" dirty="0">
                <a:solidFill>
                  <a:srgbClr val="1B1B1F"/>
                </a:solidFill>
              </a:rPr>
              <a:t>2</a:t>
            </a:r>
            <a:r>
              <a:rPr lang="en-US" sz="2200" dirty="0">
                <a:solidFill>
                  <a:srgbClr val="1B1B1F"/>
                </a:solidFill>
              </a:rPr>
              <a:t> = M ⊕ (k</a:t>
            </a:r>
            <a:r>
              <a:rPr lang="en-US" sz="2200" baseline="-40000" dirty="0">
                <a:solidFill>
                  <a:srgbClr val="1B1B1F"/>
                </a:solidFill>
              </a:rPr>
              <a:t>1</a:t>
            </a:r>
            <a:r>
              <a:rPr lang="en-US" sz="2200" dirty="0">
                <a:solidFill>
                  <a:srgbClr val="1B1B1F"/>
                </a:solidFill>
              </a:rPr>
              <a:t> ⊕ k</a:t>
            </a:r>
            <a:r>
              <a:rPr lang="en-US" sz="2200" baseline="-40000" dirty="0">
                <a:solidFill>
                  <a:srgbClr val="1B1B1F"/>
                </a:solidFill>
              </a:rPr>
              <a:t>2</a:t>
            </a:r>
            <a:r>
              <a:rPr lang="en-US" sz="2200" dirty="0">
                <a:solidFill>
                  <a:srgbClr val="1B1B1F"/>
                </a:solidFill>
              </a:rPr>
              <a:t>): </a:t>
            </a:r>
            <a:r>
              <a:rPr lang="en-US" sz="2200" b="1" dirty="0">
                <a:solidFill>
                  <a:srgbClr val="1B1B1F"/>
                </a:solidFill>
              </a:rPr>
              <a:t>ein</a:t>
            </a:r>
            <a:r>
              <a:rPr lang="en-US" sz="2200" dirty="0">
                <a:solidFill>
                  <a:srgbClr val="1B1B1F"/>
                </a:solidFill>
              </a:rPr>
              <a:t> Schlüssel.</a:t>
            </a:r>
            <a:endParaRPr lang="en-US" sz="22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Das Schlüsselproblem</a:t>
            </a:r>
            <a:endParaRPr lang="en-US" sz="3000" dirty="0"/>
          </a:p>
        </p:txBody>
      </p:sp>
      <p:sp>
        <p:nvSpPr>
          <p:cNvPr id="3" name="Merke-Kasten"/>
          <p:cNvSpPr/>
          <p:nvPr/>
        </p:nvSpPr>
        <p:spPr>
          <a:xfrm>
            <a:off x="1097280" y="1508760"/>
            <a:ext cx="9997135" cy="2886456"/>
          </a:xfrm>
          <a:prstGeom prst="roundRect">
            <a:avLst>
              <a:gd name="adj" fmla="val 3168"/>
            </a:avLst>
          </a:prstGeom>
          <a:solidFill>
            <a:srgbClr val="FBF3E2"/>
          </a:solidFill>
          <a:ln w="19050">
            <a:solidFill>
              <a:srgbClr val="B07D2B"/>
            </a:solidFill>
            <a:prstDash val="solid"/>
          </a:ln>
        </p:spPr>
      </p:sp>
      <p:sp>
        <p:nvSpPr>
          <p:cNvPr id="4" name="Text 2"/>
          <p:cNvSpPr txBox="1"/>
          <p:nvPr/>
        </p:nvSpPr>
        <p:spPr>
          <a:xfrm>
            <a:off x="1508760" y="1737360"/>
            <a:ext cx="3657600" cy="411480"/>
          </a:xfrm>
          <a:prstGeom prst="rect">
            <a:avLst/>
          </a:prstGeom>
          <a:noFill/>
          <a:ln/>
        </p:spPr>
        <p:txBody>
          <a:bodyPr wrap="square" lIns="0" tIns="0" rIns="0" bIns="0" rtlCol="0" anchor="ctr"/>
          <a:lstStyle/>
          <a:p>
            <a:pPr indent="0" marL="0">
              <a:buNone/>
            </a:pPr>
            <a:r>
              <a:rPr lang="en-US" sz="2000" b="1" spc="400" kern="0" dirty="0">
                <a:solidFill>
                  <a:srgbClr val="8A5F1A"/>
                </a:solidFill>
                <a:latin typeface="Georgia" pitchFamily="34" charset="0"/>
                <a:ea typeface="Georgia" pitchFamily="34" charset="-122"/>
                <a:cs typeface="Georgia" pitchFamily="34" charset="-120"/>
              </a:rPr>
              <a:t>MERKE</a:t>
            </a:r>
            <a:endParaRPr lang="en-US" sz="2000" dirty="0"/>
          </a:p>
        </p:txBody>
      </p:sp>
      <p:sp>
        <p:nvSpPr>
          <p:cNvPr id="5" name="Text 3"/>
          <p:cNvSpPr txBox="1"/>
          <p:nvPr/>
        </p:nvSpPr>
        <p:spPr>
          <a:xfrm>
            <a:off x="1508760" y="2240280"/>
            <a:ext cx="9174175" cy="1068324"/>
          </a:xfrm>
          <a:prstGeom prst="rect">
            <a:avLst/>
          </a:prstGeom>
          <a:noFill/>
          <a:ln/>
        </p:spPr>
        <p:txBody>
          <a:bodyPr wrap="square" lIns="0" tIns="0" rIns="0" bIns="0" rtlCol="0" anchor="t"/>
          <a:lstStyle/>
          <a:p>
            <a:pPr algn="l" indent="0" marL="0">
              <a:buNone/>
            </a:pPr>
            <a:r>
              <a:rPr lang="en-US" sz="2200" dirty="0">
                <a:solidFill>
                  <a:srgbClr val="1B1B1F"/>
                </a:solidFill>
              </a:rPr>
              <a:t>Das One-Time-Pad ist </a:t>
            </a:r>
            <a:r>
              <a:rPr lang="en-US" sz="2200" b="1" dirty="0">
                <a:solidFill>
                  <a:srgbClr val="1B1B1F"/>
                </a:solidFill>
              </a:rPr>
              <a:t>perfekt sicher</a:t>
            </a:r>
            <a:r>
              <a:rPr lang="en-US" sz="2200" dirty="0">
                <a:solidFill>
                  <a:srgbClr val="1B1B1F"/>
                </a:solidFill>
              </a:rPr>
              <a:t> – aber jeder Schlüssel muss so lang wie die Nachricht, zufällig und einmalig sein und </a:t>
            </a:r>
            <a:r>
              <a:rPr lang="en-US" sz="2200" b="1" dirty="0">
                <a:solidFill>
                  <a:srgbClr val="1B1B1F"/>
                </a:solidFill>
              </a:rPr>
              <a:t>vorher sicher übergeben</a:t>
            </a:r>
            <a:r>
              <a:rPr lang="en-US" sz="2200" dirty="0">
                <a:solidFill>
                  <a:srgbClr val="1B1B1F"/>
                </a:solidFill>
              </a:rPr>
              <a:t> werden.</a:t>
            </a:r>
            <a:endParaRPr lang="en-US" sz="2200" dirty="0"/>
          </a:p>
        </p:txBody>
      </p:sp>
      <p:sp>
        <p:nvSpPr>
          <p:cNvPr id="6" name="Text 4"/>
          <p:cNvSpPr txBox="1"/>
          <p:nvPr/>
        </p:nvSpPr>
        <p:spPr>
          <a:xfrm>
            <a:off x="1508760" y="3436620"/>
            <a:ext cx="9174175" cy="386588"/>
          </a:xfrm>
          <a:prstGeom prst="rect">
            <a:avLst/>
          </a:prstGeom>
          <a:noFill/>
          <a:ln/>
        </p:spPr>
        <p:txBody>
          <a:bodyPr wrap="square" lIns="0" tIns="0" rIns="0" bIns="0" rtlCol="0" anchor="t"/>
          <a:lstStyle/>
          <a:p>
            <a:pPr algn="l" indent="0" marL="0">
              <a:buNone/>
            </a:pPr>
            <a:r>
              <a:rPr lang="en-US" sz="2200" dirty="0">
                <a:solidFill>
                  <a:srgbClr val="1B1B1F"/>
                </a:solidFill>
              </a:rPr>
              <a:t>Moderne Verfahren suchen </a:t>
            </a:r>
            <a:r>
              <a:rPr lang="en-US" sz="2200" b="1" dirty="0">
                <a:solidFill>
                  <a:srgbClr val="1B1B1F"/>
                </a:solidFill>
              </a:rPr>
              <a:t>kurze Schlüssel</a:t>
            </a:r>
            <a:r>
              <a:rPr lang="en-US" sz="2200" dirty="0">
                <a:solidFill>
                  <a:srgbClr val="1B1B1F"/>
                </a:solidFill>
              </a:rPr>
              <a:t>.</a:t>
            </a:r>
            <a:endParaRPr lang="en-US" sz="22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1645920" y="2651760"/>
            <a:ext cx="9601200" cy="1097280"/>
          </a:xfrm>
          <a:prstGeom prst="rect">
            <a:avLst/>
          </a:prstGeom>
          <a:noFill/>
          <a:ln/>
        </p:spPr>
        <p:txBody>
          <a:bodyPr wrap="square" lIns="0" tIns="0" rIns="0" bIns="0" rtlCol="0" anchor="ctr"/>
          <a:lstStyle/>
          <a:p>
            <a:pPr algn="l" indent="0" marL="0">
              <a:buNone/>
            </a:pPr>
            <a:r>
              <a:rPr lang="en-US" sz="4000" b="1" dirty="0">
                <a:solidFill>
                  <a:srgbClr val="FBF7EE"/>
                </a:solidFill>
                <a:latin typeface="Georgia" pitchFamily="34" charset="0"/>
                <a:ea typeface="Georgia" pitchFamily="34" charset="-122"/>
                <a:cs typeface="Georgia" pitchFamily="34" charset="-120"/>
              </a:rPr>
              <a:t>DS 10 · Der Blockchiffre-Baukasten</a:t>
            </a:r>
            <a:endParaRPr lang="en-US" sz="4000" dirty="0"/>
          </a:p>
        </p:txBody>
      </p:sp>
      <p:sp>
        <p:nvSpPr>
          <p:cNvPr id="3" name="Text 1"/>
          <p:cNvSpPr txBox="1"/>
          <p:nvPr/>
        </p:nvSpPr>
        <p:spPr>
          <a:xfrm>
            <a:off x="1645920" y="3749040"/>
            <a:ext cx="9601200" cy="548640"/>
          </a:xfrm>
          <a:prstGeom prst="rect">
            <a:avLst/>
          </a:prstGeom>
          <a:noFill/>
          <a:ln/>
        </p:spPr>
        <p:txBody>
          <a:bodyPr wrap="square" lIns="0" tIns="0" rIns="0" bIns="0" rtlCol="0" anchor="ctr"/>
          <a:lstStyle/>
          <a:p>
            <a:pPr indent="0" marL="0">
              <a:buNone/>
            </a:pPr>
            <a:r>
              <a:rPr lang="en-US" sz="2000" dirty="0">
                <a:solidFill>
                  <a:srgbClr val="D9A441"/>
                </a:solidFill>
              </a:rPr>
              <a:t>Konfusion und Diffusion – Claude Shannon, 1949</a:t>
            </a:r>
            <a:endParaRPr lang="en-US" sz="20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9A441"/>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KRYPTOS-16</a:t>
            </a:r>
            <a:endParaRPr lang="en-US" sz="3000" dirty="0"/>
          </a:p>
        </p:txBody>
      </p:sp>
      <p:sp>
        <p:nvSpPr>
          <p:cNvPr id="3" name="Text 1"/>
          <p:cNvSpPr txBox="1"/>
          <p:nvPr/>
        </p:nvSpPr>
        <p:spPr>
          <a:xfrm>
            <a:off x="548640" y="1325880"/>
            <a:ext cx="5042468" cy="727456"/>
          </a:xfrm>
          <a:prstGeom prst="rect">
            <a:avLst/>
          </a:prstGeom>
          <a:noFill/>
          <a:ln/>
        </p:spPr>
        <p:txBody>
          <a:bodyPr wrap="square" lIns="0" tIns="0" rIns="0" bIns="0" rtlCol="0" anchor="t"/>
          <a:lstStyle/>
          <a:p>
            <a:pPr algn="l" indent="0" marL="0">
              <a:buNone/>
            </a:pPr>
            <a:r>
              <a:rPr lang="en-US" sz="2200" dirty="0">
                <a:solidFill>
                  <a:srgbClr val="1B1B1F"/>
                </a:solidFill>
              </a:rPr>
              <a:t>Block = 2 Zeichen = 16 Bit = </a:t>
            </a:r>
            <a:r>
              <a:rPr lang="en-US" sz="2200" b="1" dirty="0">
                <a:solidFill>
                  <a:srgbClr val="1B1B1F"/>
                </a:solidFill>
              </a:rPr>
              <a:t>4×4-Matrix</a:t>
            </a:r>
            <a:endParaRPr lang="en-US" sz="2200" dirty="0"/>
          </a:p>
        </p:txBody>
      </p:sp>
      <p:sp>
        <p:nvSpPr>
          <p:cNvPr id="4" name="Text 2"/>
          <p:cNvSpPr txBox="1"/>
          <p:nvPr/>
        </p:nvSpPr>
        <p:spPr>
          <a:xfrm>
            <a:off x="548640" y="2181352"/>
            <a:ext cx="5042468" cy="386588"/>
          </a:xfrm>
          <a:prstGeom prst="rect">
            <a:avLst/>
          </a:prstGeom>
          <a:noFill/>
          <a:ln/>
        </p:spPr>
        <p:txBody>
          <a:bodyPr wrap="square" lIns="0" tIns="0" rIns="0" bIns="0" rtlCol="0" anchor="t"/>
          <a:lstStyle/>
          <a:p>
            <a:pPr algn="l" indent="0" marL="0">
              <a:buNone/>
            </a:pPr>
            <a:r>
              <a:rPr lang="en-US" sz="2200" dirty="0">
                <a:solidFill>
                  <a:srgbClr val="1B1B1F"/>
                </a:solidFill>
              </a:rPr>
              <a:t>1.  </a:t>
            </a:r>
            <a:r>
              <a:rPr lang="en-US" sz="2200" b="1" dirty="0">
                <a:solidFill>
                  <a:srgbClr val="1B1B1F"/>
                </a:solidFill>
              </a:rPr>
              <a:t>XOR</a:t>
            </a:r>
            <a:r>
              <a:rPr lang="en-US" sz="2200" dirty="0">
                <a:solidFill>
                  <a:srgbClr val="1B1B1F"/>
                </a:solidFill>
              </a:rPr>
              <a:t> mit K</a:t>
            </a:r>
            <a:r>
              <a:rPr lang="en-US" sz="2200" baseline="-40000" dirty="0">
                <a:solidFill>
                  <a:srgbClr val="1B1B1F"/>
                </a:solidFill>
              </a:rPr>
              <a:t>i</a:t>
            </a:r>
            <a:endParaRPr lang="en-US" sz="2200" dirty="0"/>
          </a:p>
        </p:txBody>
      </p:sp>
      <p:sp>
        <p:nvSpPr>
          <p:cNvPr id="5" name="Text 3"/>
          <p:cNvSpPr txBox="1"/>
          <p:nvPr/>
        </p:nvSpPr>
        <p:spPr>
          <a:xfrm>
            <a:off x="548640" y="2695956"/>
            <a:ext cx="5042468" cy="386588"/>
          </a:xfrm>
          <a:prstGeom prst="rect">
            <a:avLst/>
          </a:prstGeom>
          <a:noFill/>
          <a:ln/>
        </p:spPr>
        <p:txBody>
          <a:bodyPr wrap="square" lIns="0" tIns="0" rIns="0" bIns="0" rtlCol="0" anchor="t"/>
          <a:lstStyle/>
          <a:p>
            <a:pPr algn="l" indent="0" marL="0">
              <a:buNone/>
            </a:pPr>
            <a:r>
              <a:rPr lang="en-US" sz="2200" dirty="0">
                <a:solidFill>
                  <a:srgbClr val="1B1B1F"/>
                </a:solidFill>
              </a:rPr>
              <a:t>2.  </a:t>
            </a:r>
            <a:r>
              <a:rPr lang="en-US" sz="2200" b="1" dirty="0">
                <a:solidFill>
                  <a:srgbClr val="1B1B1F"/>
                </a:solidFill>
              </a:rPr>
              <a:t>S-Box</a:t>
            </a:r>
            <a:r>
              <a:rPr lang="en-US" sz="2200" dirty="0">
                <a:solidFill>
                  <a:srgbClr val="1B1B1F"/>
                </a:solidFill>
              </a:rPr>
              <a:t> je Zeile</a:t>
            </a:r>
            <a:endParaRPr lang="en-US" sz="2200" dirty="0"/>
          </a:p>
        </p:txBody>
      </p:sp>
      <p:sp>
        <p:nvSpPr>
          <p:cNvPr id="6" name="Text 4"/>
          <p:cNvSpPr txBox="1"/>
          <p:nvPr/>
        </p:nvSpPr>
        <p:spPr>
          <a:xfrm>
            <a:off x="548640" y="3210560"/>
            <a:ext cx="5042468" cy="386588"/>
          </a:xfrm>
          <a:prstGeom prst="rect">
            <a:avLst/>
          </a:prstGeom>
          <a:noFill/>
          <a:ln/>
        </p:spPr>
        <p:txBody>
          <a:bodyPr wrap="square" lIns="0" tIns="0" rIns="0" bIns="0" rtlCol="0" anchor="t"/>
          <a:lstStyle/>
          <a:p>
            <a:pPr algn="l" indent="0" marL="0">
              <a:buNone/>
            </a:pPr>
            <a:r>
              <a:rPr lang="en-US" sz="2200" dirty="0">
                <a:solidFill>
                  <a:srgbClr val="1B1B1F"/>
                </a:solidFill>
              </a:rPr>
              <a:t>3.  </a:t>
            </a:r>
            <a:r>
              <a:rPr lang="en-US" sz="2200" b="1" dirty="0">
                <a:solidFill>
                  <a:srgbClr val="1B1B1F"/>
                </a:solidFill>
              </a:rPr>
              <a:t>Transponieren</a:t>
            </a:r>
            <a:endParaRPr lang="en-US" sz="2200" dirty="0"/>
          </a:p>
        </p:txBody>
      </p:sp>
      <p:sp>
        <p:nvSpPr>
          <p:cNvPr id="7" name="Text 5"/>
          <p:cNvSpPr txBox="1"/>
          <p:nvPr/>
        </p:nvSpPr>
        <p:spPr>
          <a:xfrm>
            <a:off x="548640" y="3725164"/>
            <a:ext cx="5042468" cy="727456"/>
          </a:xfrm>
          <a:prstGeom prst="rect">
            <a:avLst/>
          </a:prstGeom>
          <a:noFill/>
          <a:ln/>
        </p:spPr>
        <p:txBody>
          <a:bodyPr wrap="square" lIns="0" tIns="0" rIns="0" bIns="0" rtlCol="0" anchor="t"/>
          <a:lstStyle/>
          <a:p>
            <a:pPr algn="l" indent="0" marL="0">
              <a:buNone/>
            </a:pPr>
            <a:r>
              <a:rPr lang="en-US" sz="2200" dirty="0">
                <a:solidFill>
                  <a:srgbClr val="1B1B1F"/>
                </a:solidFill>
              </a:rPr>
              <a:t>K</a:t>
            </a:r>
            <a:r>
              <a:rPr lang="en-US" sz="2200" baseline="-40000" dirty="0">
                <a:solidFill>
                  <a:srgbClr val="1B1B1F"/>
                </a:solidFill>
              </a:rPr>
              <a:t>i+1</a:t>
            </a:r>
            <a:r>
              <a:rPr lang="en-US" sz="2200" dirty="0">
                <a:solidFill>
                  <a:srgbClr val="1B1B1F"/>
                </a:solidFill>
              </a:rPr>
              <a:t>: erste Vierergruppe ans Ende · 4 Runden (von Hand 2)</a:t>
            </a:r>
            <a:endParaRPr lang="en-US" sz="2200" dirty="0"/>
          </a:p>
        </p:txBody>
      </p:sp>
      <p:pic>
        <p:nvPicPr>
          <p:cNvPr id="8" name="Image 0" descr="struktogramm">    </p:cNvPr>
          <p:cNvPicPr>
            <a:picLocks noChangeAspect="1"/>
          </p:cNvPicPr>
          <p:nvPr/>
        </p:nvPicPr>
        <p:blipFill>
          <a:blip r:embed="rId1"/>
          <a:stretch>
            <a:fillRect/>
          </a:stretch>
        </p:blipFill>
        <p:spPr>
          <a:xfrm>
            <a:off x="5956868" y="1325880"/>
            <a:ext cx="5686187" cy="2612092"/>
          </a:xfrm>
          <a:prstGeom prst="rect">
            <a:avLst/>
          </a:prstGeom>
        </p:spPr>
      </p:pic>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Beispiel „OK“ mit KRYPTOS-16/2</a:t>
            </a:r>
            <a:endParaRPr lang="en-US" sz="3000" dirty="0"/>
          </a:p>
        </p:txBody>
      </p:sp>
      <p:sp>
        <p:nvSpPr>
          <p:cNvPr id="3" name="Text 1"/>
          <p:cNvSpPr txBox="1"/>
          <p:nvPr/>
        </p:nvSpPr>
        <p:spPr>
          <a:xfrm>
            <a:off x="548640" y="1325880"/>
            <a:ext cx="11094415" cy="386588"/>
          </a:xfrm>
          <a:prstGeom prst="rect">
            <a:avLst/>
          </a:prstGeom>
          <a:noFill/>
          <a:ln/>
        </p:spPr>
        <p:txBody>
          <a:bodyPr wrap="square" lIns="0" tIns="0" rIns="0" bIns="0" rtlCol="0" anchor="t"/>
          <a:lstStyle/>
          <a:p>
            <a:pPr algn="l" indent="0" marL="0">
              <a:buNone/>
            </a:pPr>
            <a:r>
              <a:rPr lang="en-US" sz="2200" dirty="0">
                <a:solidFill>
                  <a:srgbClr val="1B1B1F"/>
                </a:solidFill>
              </a:rPr>
              <a:t>K = </a:t>
            </a:r>
            <a:r>
              <a:rPr lang="en-US" sz="2200" dirty="0">
                <a:solidFill>
                  <a:srgbClr val="1B1B1F"/>
                </a:solidFill>
                <a:latin typeface="Consolas" pitchFamily="34" charset="0"/>
                <a:ea typeface="Consolas" pitchFamily="34" charset="-122"/>
                <a:cs typeface="Consolas" pitchFamily="34" charset="-120"/>
              </a:rPr>
              <a:t>1010 0011 0110 1101</a:t>
            </a:r>
            <a:r>
              <a:rPr lang="en-US" sz="2200" dirty="0">
                <a:solidFill>
                  <a:srgbClr val="1B1B1F"/>
                </a:solidFill>
              </a:rPr>
              <a:t> · „OK“ = </a:t>
            </a:r>
            <a:r>
              <a:rPr lang="en-US" sz="2200" dirty="0">
                <a:solidFill>
                  <a:srgbClr val="1B1B1F"/>
                </a:solidFill>
                <a:latin typeface="Consolas" pitchFamily="34" charset="0"/>
                <a:ea typeface="Consolas" pitchFamily="34" charset="-122"/>
                <a:cs typeface="Consolas" pitchFamily="34" charset="-120"/>
              </a:rPr>
              <a:t>0100 1111 0100 1011</a:t>
            </a:r>
            <a:endParaRPr lang="en-US" sz="22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840484"/>
          <a:ext cx="11094415" cy="914400"/>
        </p:xfrm>
        <a:graphic>
          <a:graphicData uri="http://schemas.openxmlformats.org/drawingml/2006/table">
            <a:tbl>
              <a:tblPr/>
              <a:tblGrid>
                <a:gridCol w="1849069"/>
                <a:gridCol w="1849069"/>
                <a:gridCol w="1849069"/>
                <a:gridCol w="1849069"/>
                <a:gridCol w="1849069"/>
                <a:gridCol w="1849069"/>
              </a:tblGrid>
              <a:tr h="0">
                <a:tc>
                  <a:txBody>
                    <a:bodyPr/>
                    <a:lstStyle/>
                    <a:p>
                      <a:pPr algn="ctr" indent="0" marL="0">
                        <a:buNone/>
                      </a:pPr>
                      <a:r>
                        <a:rPr lang="en-US" sz="1700" b="1" dirty="0">
                          <a:solidFill>
                            <a:srgbClr val="1B1B1F"/>
                          </a:solidFill>
                          <a:latin typeface="Consolas" pitchFamily="34" charset="0"/>
                          <a:ea typeface="Consolas" pitchFamily="34" charset="-122"/>
                          <a:cs typeface="Consolas" pitchFamily="34" charset="-120"/>
                        </a:rPr>
                        <a:t>Runde</a:t>
                      </a:r>
                      <a:endParaRPr lang="en-US" sz="17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1700" b="1" dirty="0">
                          <a:solidFill>
                            <a:srgbClr val="1B1B1F"/>
                          </a:solidFill>
                          <a:latin typeface="Consolas" pitchFamily="34" charset="0"/>
                          <a:ea typeface="Consolas" pitchFamily="34" charset="-122"/>
                          <a:cs typeface="Consolas" pitchFamily="34" charset="-120"/>
                        </a:rPr>
                        <a:t>Eingang</a:t>
                      </a:r>
                      <a:endParaRPr lang="en-US" sz="17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1700" b="1" dirty="0">
                          <a:solidFill>
                            <a:srgbClr val="1B1B1F"/>
                          </a:solidFill>
                          <a:latin typeface="Consolas" pitchFamily="34" charset="0"/>
                          <a:ea typeface="Consolas" pitchFamily="34" charset="-122"/>
                          <a:cs typeface="Consolas" pitchFamily="34" charset="-120"/>
                        </a:rPr>
                        <a:t>K</a:t>
                      </a:r>
                      <a:r>
                        <a:rPr lang="en-US" sz="1700" b="1" baseline="-40000" dirty="0">
                          <a:solidFill>
                            <a:srgbClr val="1B1B1F"/>
                          </a:solidFill>
                          <a:latin typeface="Consolas" pitchFamily="34" charset="0"/>
                          <a:ea typeface="Consolas" pitchFamily="34" charset="-122"/>
                          <a:cs typeface="Consolas" pitchFamily="34" charset="-120"/>
                        </a:rPr>
                        <a:t>i</a:t>
                      </a:r>
                      <a:endParaRPr lang="en-US" sz="17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1700" b="1" dirty="0">
                          <a:solidFill>
                            <a:srgbClr val="1B1B1F"/>
                          </a:solidFill>
                          <a:latin typeface="Consolas" pitchFamily="34" charset="0"/>
                          <a:ea typeface="Consolas" pitchFamily="34" charset="-122"/>
                          <a:cs typeface="Consolas" pitchFamily="34" charset="-120"/>
                        </a:rPr>
                        <a:t>nach XOR</a:t>
                      </a:r>
                      <a:endParaRPr lang="en-US" sz="17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1700" b="1" dirty="0">
                          <a:solidFill>
                            <a:srgbClr val="1B1B1F"/>
                          </a:solidFill>
                          <a:latin typeface="Consolas" pitchFamily="34" charset="0"/>
                          <a:ea typeface="Consolas" pitchFamily="34" charset="-122"/>
                          <a:cs typeface="Consolas" pitchFamily="34" charset="-120"/>
                        </a:rPr>
                        <a:t>nach S-Box</a:t>
                      </a:r>
                      <a:endParaRPr lang="en-US" sz="17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1700" b="1" dirty="0">
                          <a:solidFill>
                            <a:srgbClr val="1B1B1F"/>
                          </a:solidFill>
                          <a:latin typeface="Consolas" pitchFamily="34" charset="0"/>
                          <a:ea typeface="Consolas" pitchFamily="34" charset="-122"/>
                          <a:cs typeface="Consolas" pitchFamily="34" charset="-120"/>
                        </a:rPr>
                        <a:t>nach Transp.</a:t>
                      </a:r>
                      <a:endParaRPr lang="en-US" sz="17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r>
              <a:tr h="0">
                <a:tc>
                  <a:txBody>
                    <a:bodyPr/>
                    <a:lstStyle/>
                    <a:p>
                      <a:pPr algn="ctr" indent="0" marL="0">
                        <a:buNone/>
                      </a:pPr>
                      <a:r>
                        <a:rPr lang="en-US" sz="1700" dirty="0">
                          <a:solidFill>
                            <a:srgbClr val="1B1B1F"/>
                          </a:solidFill>
                          <a:latin typeface="Consolas" pitchFamily="34" charset="0"/>
                          <a:ea typeface="Consolas" pitchFamily="34" charset="-122"/>
                          <a:cs typeface="Consolas" pitchFamily="34" charset="-120"/>
                        </a:rPr>
                        <a:t>1</a:t>
                      </a:r>
                      <a:endParaRPr lang="en-US" sz="17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1B1B1F"/>
                          </a:solidFill>
                          <a:latin typeface="Consolas" pitchFamily="34" charset="0"/>
                          <a:ea typeface="Consolas" pitchFamily="34" charset="-122"/>
                          <a:cs typeface="Consolas" pitchFamily="34" charset="-120"/>
                        </a:rPr>
                        <a:t>0100</a:t>
                      </a:r>
                      <a:endParaRPr lang="en-US" sz="1700" dirty="0">
                        <a:latin typeface="Calibri" charset="0"/>
                        <a:ea typeface="Calibri" charset="0"/>
                        <a:cs typeface="Calibri" charset="0"/>
                      </a:endParaRPr>
                    </a:p>
                    <a:p>
                      <a:pPr algn="ctr" indent="0" marL="0">
                        <a:buNone/>
                      </a:pPr>
                      <a:r>
                        <a:rPr lang="en-US" sz="1700" dirty="0">
                          <a:solidFill>
                            <a:srgbClr val="1B1B1F"/>
                          </a:solidFill>
                          <a:latin typeface="Consolas" pitchFamily="34" charset="0"/>
                          <a:ea typeface="Consolas" pitchFamily="34" charset="-122"/>
                          <a:cs typeface="Consolas" pitchFamily="34" charset="-120"/>
                        </a:rPr>
                        <a:t>1111</a:t>
                      </a:r>
                      <a:endParaRPr lang="en-US" sz="1700" dirty="0">
                        <a:latin typeface="Calibri" charset="0"/>
                        <a:ea typeface="Calibri" charset="0"/>
                        <a:cs typeface="Calibri" charset="0"/>
                      </a:endParaRPr>
                    </a:p>
                    <a:p>
                      <a:pPr algn="ctr" indent="0" marL="0">
                        <a:buNone/>
                      </a:pPr>
                      <a:r>
                        <a:rPr lang="en-US" sz="1700" dirty="0">
                          <a:solidFill>
                            <a:srgbClr val="1B1B1F"/>
                          </a:solidFill>
                          <a:latin typeface="Consolas" pitchFamily="34" charset="0"/>
                          <a:ea typeface="Consolas" pitchFamily="34" charset="-122"/>
                          <a:cs typeface="Consolas" pitchFamily="34" charset="-120"/>
                        </a:rPr>
                        <a:t>0100</a:t>
                      </a:r>
                      <a:endParaRPr lang="en-US" sz="1700" dirty="0">
                        <a:latin typeface="Calibri" charset="0"/>
                        <a:ea typeface="Calibri" charset="0"/>
                        <a:cs typeface="Calibri" charset="0"/>
                      </a:endParaRPr>
                    </a:p>
                    <a:p>
                      <a:pPr algn="ctr" indent="0" marL="0">
                        <a:buNone/>
                      </a:pPr>
                      <a:r>
                        <a:rPr lang="en-US" sz="1700" dirty="0">
                          <a:solidFill>
                            <a:srgbClr val="1B1B1F"/>
                          </a:solidFill>
                          <a:latin typeface="Consolas" pitchFamily="34" charset="0"/>
                          <a:ea typeface="Consolas" pitchFamily="34" charset="-122"/>
                          <a:cs typeface="Consolas" pitchFamily="34" charset="-120"/>
                        </a:rPr>
                        <a:t>1011</a:t>
                      </a:r>
                      <a:endParaRPr lang="en-US" sz="17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1B1B1F"/>
                          </a:solidFill>
                          <a:latin typeface="Consolas" pitchFamily="34" charset="0"/>
                          <a:ea typeface="Consolas" pitchFamily="34" charset="-122"/>
                          <a:cs typeface="Consolas" pitchFamily="34" charset="-120"/>
                        </a:rPr>
                        <a:t>1010</a:t>
                      </a:r>
                      <a:endParaRPr lang="en-US" sz="1700" dirty="0">
                        <a:latin typeface="Calibri" charset="0"/>
                        <a:ea typeface="Calibri" charset="0"/>
                        <a:cs typeface="Calibri" charset="0"/>
                      </a:endParaRPr>
                    </a:p>
                    <a:p>
                      <a:pPr algn="ctr" indent="0" marL="0">
                        <a:buNone/>
                      </a:pPr>
                      <a:r>
                        <a:rPr lang="en-US" sz="1700" dirty="0">
                          <a:solidFill>
                            <a:srgbClr val="1B1B1F"/>
                          </a:solidFill>
                          <a:latin typeface="Consolas" pitchFamily="34" charset="0"/>
                          <a:ea typeface="Consolas" pitchFamily="34" charset="-122"/>
                          <a:cs typeface="Consolas" pitchFamily="34" charset="-120"/>
                        </a:rPr>
                        <a:t>0011</a:t>
                      </a:r>
                      <a:endParaRPr lang="en-US" sz="1700" dirty="0">
                        <a:latin typeface="Calibri" charset="0"/>
                        <a:ea typeface="Calibri" charset="0"/>
                        <a:cs typeface="Calibri" charset="0"/>
                      </a:endParaRPr>
                    </a:p>
                    <a:p>
                      <a:pPr algn="ctr" indent="0" marL="0">
                        <a:buNone/>
                      </a:pPr>
                      <a:r>
                        <a:rPr lang="en-US" sz="1700" dirty="0">
                          <a:solidFill>
                            <a:srgbClr val="1B1B1F"/>
                          </a:solidFill>
                          <a:latin typeface="Consolas" pitchFamily="34" charset="0"/>
                          <a:ea typeface="Consolas" pitchFamily="34" charset="-122"/>
                          <a:cs typeface="Consolas" pitchFamily="34" charset="-120"/>
                        </a:rPr>
                        <a:t>0110</a:t>
                      </a:r>
                      <a:endParaRPr lang="en-US" sz="1700" dirty="0">
                        <a:latin typeface="Calibri" charset="0"/>
                        <a:ea typeface="Calibri" charset="0"/>
                        <a:cs typeface="Calibri" charset="0"/>
                      </a:endParaRPr>
                    </a:p>
                    <a:p>
                      <a:pPr algn="ctr" indent="0" marL="0">
                        <a:buNone/>
                      </a:pPr>
                      <a:r>
                        <a:rPr lang="en-US" sz="1700" dirty="0">
                          <a:solidFill>
                            <a:srgbClr val="1B1B1F"/>
                          </a:solidFill>
                          <a:latin typeface="Consolas" pitchFamily="34" charset="0"/>
                          <a:ea typeface="Consolas" pitchFamily="34" charset="-122"/>
                          <a:cs typeface="Consolas" pitchFamily="34" charset="-120"/>
                        </a:rPr>
                        <a:t>1101</a:t>
                      </a:r>
                      <a:endParaRPr lang="en-US" sz="17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1B1B1F"/>
                          </a:solidFill>
                          <a:latin typeface="Consolas" pitchFamily="34" charset="0"/>
                          <a:ea typeface="Consolas" pitchFamily="34" charset="-122"/>
                          <a:cs typeface="Consolas" pitchFamily="34" charset="-120"/>
                        </a:rPr>
                        <a:t>1110</a:t>
                      </a:r>
                      <a:endParaRPr lang="en-US" sz="1700" dirty="0">
                        <a:latin typeface="Calibri" charset="0"/>
                        <a:ea typeface="Calibri" charset="0"/>
                        <a:cs typeface="Calibri" charset="0"/>
                      </a:endParaRPr>
                    </a:p>
                    <a:p>
                      <a:pPr algn="ctr" indent="0" marL="0">
                        <a:buNone/>
                      </a:pPr>
                      <a:r>
                        <a:rPr lang="en-US" sz="1700" dirty="0">
                          <a:solidFill>
                            <a:srgbClr val="1B1B1F"/>
                          </a:solidFill>
                          <a:latin typeface="Consolas" pitchFamily="34" charset="0"/>
                          <a:ea typeface="Consolas" pitchFamily="34" charset="-122"/>
                          <a:cs typeface="Consolas" pitchFamily="34" charset="-120"/>
                        </a:rPr>
                        <a:t>1100</a:t>
                      </a:r>
                      <a:endParaRPr lang="en-US" sz="1700" dirty="0">
                        <a:latin typeface="Calibri" charset="0"/>
                        <a:ea typeface="Calibri" charset="0"/>
                        <a:cs typeface="Calibri" charset="0"/>
                      </a:endParaRPr>
                    </a:p>
                    <a:p>
                      <a:pPr algn="ctr" indent="0" marL="0">
                        <a:buNone/>
                      </a:pPr>
                      <a:r>
                        <a:rPr lang="en-US" sz="1700" dirty="0">
                          <a:solidFill>
                            <a:srgbClr val="1B1B1F"/>
                          </a:solidFill>
                          <a:latin typeface="Consolas" pitchFamily="34" charset="0"/>
                          <a:ea typeface="Consolas" pitchFamily="34" charset="-122"/>
                          <a:cs typeface="Consolas" pitchFamily="34" charset="-120"/>
                        </a:rPr>
                        <a:t>0010</a:t>
                      </a:r>
                      <a:endParaRPr lang="en-US" sz="1700" dirty="0">
                        <a:latin typeface="Calibri" charset="0"/>
                        <a:ea typeface="Calibri" charset="0"/>
                        <a:cs typeface="Calibri" charset="0"/>
                      </a:endParaRPr>
                    </a:p>
                    <a:p>
                      <a:pPr algn="ctr" indent="0" marL="0">
                        <a:buNone/>
                      </a:pPr>
                      <a:r>
                        <a:rPr lang="en-US" sz="1700" dirty="0">
                          <a:solidFill>
                            <a:srgbClr val="1B1B1F"/>
                          </a:solidFill>
                          <a:latin typeface="Consolas" pitchFamily="34" charset="0"/>
                          <a:ea typeface="Consolas" pitchFamily="34" charset="-122"/>
                          <a:cs typeface="Consolas" pitchFamily="34" charset="-120"/>
                        </a:rPr>
                        <a:t>0110</a:t>
                      </a:r>
                      <a:endParaRPr lang="en-US" sz="17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1B1B1F"/>
                          </a:solidFill>
                          <a:latin typeface="Consolas" pitchFamily="34" charset="0"/>
                          <a:ea typeface="Consolas" pitchFamily="34" charset="-122"/>
                          <a:cs typeface="Consolas" pitchFamily="34" charset="-120"/>
                        </a:rPr>
                        <a:t>1101</a:t>
                      </a:r>
                      <a:endParaRPr lang="en-US" sz="1700" dirty="0">
                        <a:latin typeface="Calibri" charset="0"/>
                        <a:ea typeface="Calibri" charset="0"/>
                        <a:cs typeface="Calibri" charset="0"/>
                      </a:endParaRPr>
                    </a:p>
                    <a:p>
                      <a:pPr algn="ctr" indent="0" marL="0">
                        <a:buNone/>
                      </a:pPr>
                      <a:r>
                        <a:rPr lang="en-US" sz="1700" dirty="0">
                          <a:solidFill>
                            <a:srgbClr val="1B1B1F"/>
                          </a:solidFill>
                          <a:latin typeface="Consolas" pitchFamily="34" charset="0"/>
                          <a:ea typeface="Consolas" pitchFamily="34" charset="-122"/>
                          <a:cs typeface="Consolas" pitchFamily="34" charset="-120"/>
                        </a:rPr>
                        <a:t>1011</a:t>
                      </a:r>
                      <a:endParaRPr lang="en-US" sz="1700" dirty="0">
                        <a:latin typeface="Calibri" charset="0"/>
                        <a:ea typeface="Calibri" charset="0"/>
                        <a:cs typeface="Calibri" charset="0"/>
                      </a:endParaRPr>
                    </a:p>
                    <a:p>
                      <a:pPr algn="ctr" indent="0" marL="0">
                        <a:buNone/>
                      </a:pPr>
                      <a:r>
                        <a:rPr lang="en-US" sz="1700" dirty="0">
                          <a:solidFill>
                            <a:srgbClr val="1B1B1F"/>
                          </a:solidFill>
                          <a:latin typeface="Consolas" pitchFamily="34" charset="0"/>
                          <a:ea typeface="Consolas" pitchFamily="34" charset="-122"/>
                          <a:cs typeface="Consolas" pitchFamily="34" charset="-120"/>
                        </a:rPr>
                        <a:t>0011</a:t>
                      </a:r>
                      <a:endParaRPr lang="en-US" sz="1700" dirty="0">
                        <a:latin typeface="Calibri" charset="0"/>
                        <a:ea typeface="Calibri" charset="0"/>
                        <a:cs typeface="Calibri" charset="0"/>
                      </a:endParaRPr>
                    </a:p>
                    <a:p>
                      <a:pPr algn="ctr" indent="0" marL="0">
                        <a:buNone/>
                      </a:pPr>
                      <a:r>
                        <a:rPr lang="en-US" sz="1700" dirty="0">
                          <a:solidFill>
                            <a:srgbClr val="1B1B1F"/>
                          </a:solidFill>
                          <a:latin typeface="Consolas" pitchFamily="34" charset="0"/>
                          <a:ea typeface="Consolas" pitchFamily="34" charset="-122"/>
                          <a:cs typeface="Consolas" pitchFamily="34" charset="-120"/>
                        </a:rPr>
                        <a:t>1000</a:t>
                      </a:r>
                      <a:endParaRPr lang="en-US" sz="17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1B1B1F"/>
                          </a:solidFill>
                          <a:latin typeface="Consolas" pitchFamily="34" charset="0"/>
                          <a:ea typeface="Consolas" pitchFamily="34" charset="-122"/>
                          <a:cs typeface="Consolas" pitchFamily="34" charset="-120"/>
                        </a:rPr>
                        <a:t>1101</a:t>
                      </a:r>
                      <a:endParaRPr lang="en-US" sz="1700" dirty="0">
                        <a:latin typeface="Calibri" charset="0"/>
                        <a:ea typeface="Calibri" charset="0"/>
                        <a:cs typeface="Calibri" charset="0"/>
                      </a:endParaRPr>
                    </a:p>
                    <a:p>
                      <a:pPr algn="ctr" indent="0" marL="0">
                        <a:buNone/>
                      </a:pPr>
                      <a:r>
                        <a:rPr lang="en-US" sz="1700" dirty="0">
                          <a:solidFill>
                            <a:srgbClr val="1B1B1F"/>
                          </a:solidFill>
                          <a:latin typeface="Consolas" pitchFamily="34" charset="0"/>
                          <a:ea typeface="Consolas" pitchFamily="34" charset="-122"/>
                          <a:cs typeface="Consolas" pitchFamily="34" charset="-120"/>
                        </a:rPr>
                        <a:t>1000</a:t>
                      </a:r>
                      <a:endParaRPr lang="en-US" sz="1700" dirty="0">
                        <a:latin typeface="Calibri" charset="0"/>
                        <a:ea typeface="Calibri" charset="0"/>
                        <a:cs typeface="Calibri" charset="0"/>
                      </a:endParaRPr>
                    </a:p>
                    <a:p>
                      <a:pPr algn="ctr" indent="0" marL="0">
                        <a:buNone/>
                      </a:pPr>
                      <a:r>
                        <a:rPr lang="en-US" sz="1700" dirty="0">
                          <a:solidFill>
                            <a:srgbClr val="1B1B1F"/>
                          </a:solidFill>
                          <a:latin typeface="Consolas" pitchFamily="34" charset="0"/>
                          <a:ea typeface="Consolas" pitchFamily="34" charset="-122"/>
                          <a:cs typeface="Consolas" pitchFamily="34" charset="-120"/>
                        </a:rPr>
                        <a:t>0110</a:t>
                      </a:r>
                      <a:endParaRPr lang="en-US" sz="1700" dirty="0">
                        <a:latin typeface="Calibri" charset="0"/>
                        <a:ea typeface="Calibri" charset="0"/>
                        <a:cs typeface="Calibri" charset="0"/>
                      </a:endParaRPr>
                    </a:p>
                    <a:p>
                      <a:pPr algn="ctr" indent="0" marL="0">
                        <a:buNone/>
                      </a:pPr>
                      <a:r>
                        <a:rPr lang="en-US" sz="1700" dirty="0">
                          <a:solidFill>
                            <a:srgbClr val="1B1B1F"/>
                          </a:solidFill>
                          <a:latin typeface="Consolas" pitchFamily="34" charset="0"/>
                          <a:ea typeface="Consolas" pitchFamily="34" charset="-122"/>
                          <a:cs typeface="Consolas" pitchFamily="34" charset="-120"/>
                        </a:rPr>
                        <a:t>1110</a:t>
                      </a:r>
                      <a:endParaRPr lang="en-US" sz="17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ctr" indent="0" marL="0">
                        <a:buNone/>
                      </a:pPr>
                      <a:r>
                        <a:rPr lang="en-US" sz="1700" dirty="0">
                          <a:solidFill>
                            <a:srgbClr val="1B1B1F"/>
                          </a:solidFill>
                          <a:latin typeface="Consolas" pitchFamily="34" charset="0"/>
                          <a:ea typeface="Consolas" pitchFamily="34" charset="-122"/>
                          <a:cs typeface="Consolas" pitchFamily="34" charset="-120"/>
                        </a:rPr>
                        <a:t>2</a:t>
                      </a:r>
                      <a:endParaRPr lang="en-US" sz="17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1B1B1F"/>
                          </a:solidFill>
                          <a:latin typeface="Consolas" pitchFamily="34" charset="0"/>
                          <a:ea typeface="Consolas" pitchFamily="34" charset="-122"/>
                          <a:cs typeface="Consolas" pitchFamily="34" charset="-120"/>
                        </a:rPr>
                        <a:t>1101</a:t>
                      </a:r>
                      <a:endParaRPr lang="en-US" sz="1700" dirty="0">
                        <a:latin typeface="Calibri" charset="0"/>
                        <a:ea typeface="Calibri" charset="0"/>
                        <a:cs typeface="Calibri" charset="0"/>
                      </a:endParaRPr>
                    </a:p>
                    <a:p>
                      <a:pPr algn="ctr" indent="0" marL="0">
                        <a:buNone/>
                      </a:pPr>
                      <a:r>
                        <a:rPr lang="en-US" sz="1700" dirty="0">
                          <a:solidFill>
                            <a:srgbClr val="1B1B1F"/>
                          </a:solidFill>
                          <a:latin typeface="Consolas" pitchFamily="34" charset="0"/>
                          <a:ea typeface="Consolas" pitchFamily="34" charset="-122"/>
                          <a:cs typeface="Consolas" pitchFamily="34" charset="-120"/>
                        </a:rPr>
                        <a:t>1000</a:t>
                      </a:r>
                      <a:endParaRPr lang="en-US" sz="1700" dirty="0">
                        <a:latin typeface="Calibri" charset="0"/>
                        <a:ea typeface="Calibri" charset="0"/>
                        <a:cs typeface="Calibri" charset="0"/>
                      </a:endParaRPr>
                    </a:p>
                    <a:p>
                      <a:pPr algn="ctr" indent="0" marL="0">
                        <a:buNone/>
                      </a:pPr>
                      <a:r>
                        <a:rPr lang="en-US" sz="1700" dirty="0">
                          <a:solidFill>
                            <a:srgbClr val="1B1B1F"/>
                          </a:solidFill>
                          <a:latin typeface="Consolas" pitchFamily="34" charset="0"/>
                          <a:ea typeface="Consolas" pitchFamily="34" charset="-122"/>
                          <a:cs typeface="Consolas" pitchFamily="34" charset="-120"/>
                        </a:rPr>
                        <a:t>0110</a:t>
                      </a:r>
                      <a:endParaRPr lang="en-US" sz="1700" dirty="0">
                        <a:latin typeface="Calibri" charset="0"/>
                        <a:ea typeface="Calibri" charset="0"/>
                        <a:cs typeface="Calibri" charset="0"/>
                      </a:endParaRPr>
                    </a:p>
                    <a:p>
                      <a:pPr algn="ctr" indent="0" marL="0">
                        <a:buNone/>
                      </a:pPr>
                      <a:r>
                        <a:rPr lang="en-US" sz="1700" dirty="0">
                          <a:solidFill>
                            <a:srgbClr val="1B1B1F"/>
                          </a:solidFill>
                          <a:latin typeface="Consolas" pitchFamily="34" charset="0"/>
                          <a:ea typeface="Consolas" pitchFamily="34" charset="-122"/>
                          <a:cs typeface="Consolas" pitchFamily="34" charset="-120"/>
                        </a:rPr>
                        <a:t>1110</a:t>
                      </a:r>
                      <a:endParaRPr lang="en-US" sz="17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1B1B1F"/>
                          </a:solidFill>
                          <a:latin typeface="Consolas" pitchFamily="34" charset="0"/>
                          <a:ea typeface="Consolas" pitchFamily="34" charset="-122"/>
                          <a:cs typeface="Consolas" pitchFamily="34" charset="-120"/>
                        </a:rPr>
                        <a:t>0011</a:t>
                      </a:r>
                      <a:endParaRPr lang="en-US" sz="1700" dirty="0">
                        <a:latin typeface="Calibri" charset="0"/>
                        <a:ea typeface="Calibri" charset="0"/>
                        <a:cs typeface="Calibri" charset="0"/>
                      </a:endParaRPr>
                    </a:p>
                    <a:p>
                      <a:pPr algn="ctr" indent="0" marL="0">
                        <a:buNone/>
                      </a:pPr>
                      <a:r>
                        <a:rPr lang="en-US" sz="1700" dirty="0">
                          <a:solidFill>
                            <a:srgbClr val="1B1B1F"/>
                          </a:solidFill>
                          <a:latin typeface="Consolas" pitchFamily="34" charset="0"/>
                          <a:ea typeface="Consolas" pitchFamily="34" charset="-122"/>
                          <a:cs typeface="Consolas" pitchFamily="34" charset="-120"/>
                        </a:rPr>
                        <a:t>0110</a:t>
                      </a:r>
                      <a:endParaRPr lang="en-US" sz="1700" dirty="0">
                        <a:latin typeface="Calibri" charset="0"/>
                        <a:ea typeface="Calibri" charset="0"/>
                        <a:cs typeface="Calibri" charset="0"/>
                      </a:endParaRPr>
                    </a:p>
                    <a:p>
                      <a:pPr algn="ctr" indent="0" marL="0">
                        <a:buNone/>
                      </a:pPr>
                      <a:r>
                        <a:rPr lang="en-US" sz="1700" dirty="0">
                          <a:solidFill>
                            <a:srgbClr val="1B1B1F"/>
                          </a:solidFill>
                          <a:latin typeface="Consolas" pitchFamily="34" charset="0"/>
                          <a:ea typeface="Consolas" pitchFamily="34" charset="-122"/>
                          <a:cs typeface="Consolas" pitchFamily="34" charset="-120"/>
                        </a:rPr>
                        <a:t>1101</a:t>
                      </a:r>
                      <a:endParaRPr lang="en-US" sz="1700" dirty="0">
                        <a:latin typeface="Calibri" charset="0"/>
                        <a:ea typeface="Calibri" charset="0"/>
                        <a:cs typeface="Calibri" charset="0"/>
                      </a:endParaRPr>
                    </a:p>
                    <a:p>
                      <a:pPr algn="ctr" indent="0" marL="0">
                        <a:buNone/>
                      </a:pPr>
                      <a:r>
                        <a:rPr lang="en-US" sz="1700" dirty="0">
                          <a:solidFill>
                            <a:srgbClr val="1B1B1F"/>
                          </a:solidFill>
                          <a:latin typeface="Consolas" pitchFamily="34" charset="0"/>
                          <a:ea typeface="Consolas" pitchFamily="34" charset="-122"/>
                          <a:cs typeface="Consolas" pitchFamily="34" charset="-120"/>
                        </a:rPr>
                        <a:t>1010</a:t>
                      </a:r>
                      <a:endParaRPr lang="en-US" sz="17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1B1B1F"/>
                          </a:solidFill>
                          <a:latin typeface="Consolas" pitchFamily="34" charset="0"/>
                          <a:ea typeface="Consolas" pitchFamily="34" charset="-122"/>
                          <a:cs typeface="Consolas" pitchFamily="34" charset="-120"/>
                        </a:rPr>
                        <a:t>1110</a:t>
                      </a:r>
                      <a:endParaRPr lang="en-US" sz="1700" dirty="0">
                        <a:latin typeface="Calibri" charset="0"/>
                        <a:ea typeface="Calibri" charset="0"/>
                        <a:cs typeface="Calibri" charset="0"/>
                      </a:endParaRPr>
                    </a:p>
                    <a:p>
                      <a:pPr algn="ctr" indent="0" marL="0">
                        <a:buNone/>
                      </a:pPr>
                      <a:r>
                        <a:rPr lang="en-US" sz="1700" dirty="0">
                          <a:solidFill>
                            <a:srgbClr val="1B1B1F"/>
                          </a:solidFill>
                          <a:latin typeface="Consolas" pitchFamily="34" charset="0"/>
                          <a:ea typeface="Consolas" pitchFamily="34" charset="-122"/>
                          <a:cs typeface="Consolas" pitchFamily="34" charset="-120"/>
                        </a:rPr>
                        <a:t>1110</a:t>
                      </a:r>
                      <a:endParaRPr lang="en-US" sz="1700" dirty="0">
                        <a:latin typeface="Calibri" charset="0"/>
                        <a:ea typeface="Calibri" charset="0"/>
                        <a:cs typeface="Calibri" charset="0"/>
                      </a:endParaRPr>
                    </a:p>
                    <a:p>
                      <a:pPr algn="ctr" indent="0" marL="0">
                        <a:buNone/>
                      </a:pPr>
                      <a:r>
                        <a:rPr lang="en-US" sz="1700" dirty="0">
                          <a:solidFill>
                            <a:srgbClr val="1B1B1F"/>
                          </a:solidFill>
                          <a:latin typeface="Consolas" pitchFamily="34" charset="0"/>
                          <a:ea typeface="Consolas" pitchFamily="34" charset="-122"/>
                          <a:cs typeface="Consolas" pitchFamily="34" charset="-120"/>
                        </a:rPr>
                        <a:t>1011</a:t>
                      </a:r>
                      <a:endParaRPr lang="en-US" sz="1700" dirty="0">
                        <a:latin typeface="Calibri" charset="0"/>
                        <a:ea typeface="Calibri" charset="0"/>
                        <a:cs typeface="Calibri" charset="0"/>
                      </a:endParaRPr>
                    </a:p>
                    <a:p>
                      <a:pPr algn="ctr" indent="0" marL="0">
                        <a:buNone/>
                      </a:pPr>
                      <a:r>
                        <a:rPr lang="en-US" sz="1700" dirty="0">
                          <a:solidFill>
                            <a:srgbClr val="1B1B1F"/>
                          </a:solidFill>
                          <a:latin typeface="Consolas" pitchFamily="34" charset="0"/>
                          <a:ea typeface="Consolas" pitchFamily="34" charset="-122"/>
                          <a:cs typeface="Consolas" pitchFamily="34" charset="-120"/>
                        </a:rPr>
                        <a:t>0100</a:t>
                      </a:r>
                      <a:endParaRPr lang="en-US" sz="17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1B1B1F"/>
                          </a:solidFill>
                          <a:latin typeface="Consolas" pitchFamily="34" charset="0"/>
                          <a:ea typeface="Consolas" pitchFamily="34" charset="-122"/>
                          <a:cs typeface="Consolas" pitchFamily="34" charset="-120"/>
                        </a:rPr>
                        <a:t>1101</a:t>
                      </a:r>
                      <a:endParaRPr lang="en-US" sz="1700" dirty="0">
                        <a:latin typeface="Calibri" charset="0"/>
                        <a:ea typeface="Calibri" charset="0"/>
                        <a:cs typeface="Calibri" charset="0"/>
                      </a:endParaRPr>
                    </a:p>
                    <a:p>
                      <a:pPr algn="ctr" indent="0" marL="0">
                        <a:buNone/>
                      </a:pPr>
                      <a:r>
                        <a:rPr lang="en-US" sz="1700" dirty="0">
                          <a:solidFill>
                            <a:srgbClr val="1B1B1F"/>
                          </a:solidFill>
                          <a:latin typeface="Consolas" pitchFamily="34" charset="0"/>
                          <a:ea typeface="Consolas" pitchFamily="34" charset="-122"/>
                          <a:cs typeface="Consolas" pitchFamily="34" charset="-120"/>
                        </a:rPr>
                        <a:t>1101</a:t>
                      </a:r>
                      <a:endParaRPr lang="en-US" sz="1700" dirty="0">
                        <a:latin typeface="Calibri" charset="0"/>
                        <a:ea typeface="Calibri" charset="0"/>
                        <a:cs typeface="Calibri" charset="0"/>
                      </a:endParaRPr>
                    </a:p>
                    <a:p>
                      <a:pPr algn="ctr" indent="0" marL="0">
                        <a:buNone/>
                      </a:pPr>
                      <a:r>
                        <a:rPr lang="en-US" sz="1700" dirty="0">
                          <a:solidFill>
                            <a:srgbClr val="1B1B1F"/>
                          </a:solidFill>
                          <a:latin typeface="Consolas" pitchFamily="34" charset="0"/>
                          <a:ea typeface="Consolas" pitchFamily="34" charset="-122"/>
                          <a:cs typeface="Consolas" pitchFamily="34" charset="-120"/>
                        </a:rPr>
                        <a:t>1110</a:t>
                      </a:r>
                      <a:endParaRPr lang="en-US" sz="1700" dirty="0">
                        <a:latin typeface="Calibri" charset="0"/>
                        <a:ea typeface="Calibri" charset="0"/>
                        <a:cs typeface="Calibri" charset="0"/>
                      </a:endParaRPr>
                    </a:p>
                    <a:p>
                      <a:pPr algn="ctr" indent="0" marL="0">
                        <a:buNone/>
                      </a:pPr>
                      <a:r>
                        <a:rPr lang="en-US" sz="1700" dirty="0">
                          <a:solidFill>
                            <a:srgbClr val="1B1B1F"/>
                          </a:solidFill>
                          <a:latin typeface="Consolas" pitchFamily="34" charset="0"/>
                          <a:ea typeface="Consolas" pitchFamily="34" charset="-122"/>
                          <a:cs typeface="Consolas" pitchFamily="34" charset="-120"/>
                        </a:rPr>
                        <a:t>0111</a:t>
                      </a:r>
                      <a:endParaRPr lang="en-US" sz="17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1B1B1F"/>
                          </a:solidFill>
                          <a:latin typeface="Consolas" pitchFamily="34" charset="0"/>
                          <a:ea typeface="Consolas" pitchFamily="34" charset="-122"/>
                          <a:cs typeface="Consolas" pitchFamily="34" charset="-120"/>
                        </a:rPr>
                        <a:t>1110</a:t>
                      </a:r>
                      <a:endParaRPr lang="en-US" sz="1700" dirty="0">
                        <a:latin typeface="Calibri" charset="0"/>
                        <a:ea typeface="Calibri" charset="0"/>
                        <a:cs typeface="Calibri" charset="0"/>
                      </a:endParaRPr>
                    </a:p>
                    <a:p>
                      <a:pPr algn="ctr" indent="0" marL="0">
                        <a:buNone/>
                      </a:pPr>
                      <a:r>
                        <a:rPr lang="en-US" sz="1700" dirty="0">
                          <a:solidFill>
                            <a:srgbClr val="1B1B1F"/>
                          </a:solidFill>
                          <a:latin typeface="Consolas" pitchFamily="34" charset="0"/>
                          <a:ea typeface="Consolas" pitchFamily="34" charset="-122"/>
                          <a:cs typeface="Consolas" pitchFamily="34" charset="-120"/>
                        </a:rPr>
                        <a:t>1111</a:t>
                      </a:r>
                      <a:endParaRPr lang="en-US" sz="1700" dirty="0">
                        <a:latin typeface="Calibri" charset="0"/>
                        <a:ea typeface="Calibri" charset="0"/>
                        <a:cs typeface="Calibri" charset="0"/>
                      </a:endParaRPr>
                    </a:p>
                    <a:p>
                      <a:pPr algn="ctr" indent="0" marL="0">
                        <a:buNone/>
                      </a:pPr>
                      <a:r>
                        <a:rPr lang="en-US" sz="1700" dirty="0">
                          <a:solidFill>
                            <a:srgbClr val="1B1B1F"/>
                          </a:solidFill>
                          <a:latin typeface="Consolas" pitchFamily="34" charset="0"/>
                          <a:ea typeface="Consolas" pitchFamily="34" charset="-122"/>
                          <a:cs typeface="Consolas" pitchFamily="34" charset="-120"/>
                        </a:rPr>
                        <a:t>0011</a:t>
                      </a:r>
                      <a:endParaRPr lang="en-US" sz="1700" dirty="0">
                        <a:latin typeface="Calibri" charset="0"/>
                        <a:ea typeface="Calibri" charset="0"/>
                        <a:cs typeface="Calibri" charset="0"/>
                      </a:endParaRPr>
                    </a:p>
                    <a:p>
                      <a:pPr algn="ctr" indent="0" marL="0">
                        <a:buNone/>
                      </a:pPr>
                      <a:r>
                        <a:rPr lang="en-US" sz="1700" dirty="0">
                          <a:solidFill>
                            <a:srgbClr val="1B1B1F"/>
                          </a:solidFill>
                          <a:latin typeface="Consolas" pitchFamily="34" charset="0"/>
                          <a:ea typeface="Consolas" pitchFamily="34" charset="-122"/>
                          <a:cs typeface="Consolas" pitchFamily="34" charset="-120"/>
                        </a:rPr>
                        <a:t>1101</a:t>
                      </a:r>
                      <a:endParaRPr lang="en-US" sz="17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Zwei Runden von Hand</a:t>
            </a:r>
            <a:endParaRPr lang="en-US" sz="3000" dirty="0"/>
          </a:p>
        </p:txBody>
      </p:sp>
      <p:sp>
        <p:nvSpPr>
          <p:cNvPr id="3" name="Text 1"/>
          <p:cNvSpPr txBox="1"/>
          <p:nvPr/>
        </p:nvSpPr>
        <p:spPr>
          <a:xfrm>
            <a:off x="548640" y="1325880"/>
            <a:ext cx="1463040" cy="384048"/>
          </a:xfrm>
          <a:prstGeom prst="rect">
            <a:avLst/>
          </a:prstGeom>
          <a:solidFill>
            <a:srgbClr val="556B2F"/>
          </a:solidFill>
          <a:ln/>
        </p:spPr>
        <p:txBody>
          <a:bodyPr wrap="square" lIns="0" tIns="0" rIns="0" bIns="0" rtlCol="0" anchor="ctr"/>
          <a:lstStyle/>
          <a:p>
            <a:pPr algn="ctr" indent="0" marL="0">
              <a:buNone/>
            </a:pPr>
            <a:r>
              <a:rPr lang="en-US" sz="1400" b="1" spc="300" kern="0" dirty="0">
                <a:solidFill>
                  <a:srgbClr val="FFFFFF"/>
                </a:solidFill>
              </a:rPr>
              <a:t>AUFTRAG</a:t>
            </a:r>
            <a:endParaRPr lang="en-US" sz="1400" dirty="0"/>
          </a:p>
        </p:txBody>
      </p:sp>
      <p:sp>
        <p:nvSpPr>
          <p:cNvPr id="4" name="Text 2"/>
          <p:cNvSpPr txBox="1"/>
          <p:nvPr/>
        </p:nvSpPr>
        <p:spPr>
          <a:xfrm>
            <a:off x="2148840" y="1325880"/>
            <a:ext cx="1746504" cy="384048"/>
          </a:xfrm>
          <a:prstGeom prst="rect">
            <a:avLst/>
          </a:prstGeom>
          <a:solidFill>
            <a:srgbClr val="F2EADB"/>
          </a:solidFill>
          <a:ln/>
        </p:spPr>
        <p:txBody>
          <a:bodyPr wrap="square" lIns="0" tIns="0" rIns="0" bIns="0" rtlCol="0" anchor="ctr"/>
          <a:lstStyle/>
          <a:p>
            <a:pPr algn="ctr" indent="0" marL="0">
              <a:buNone/>
            </a:pPr>
            <a:r>
              <a:rPr lang="en-US" sz="1400" dirty="0">
                <a:solidFill>
                  <a:srgbClr val="1B1B1F"/>
                </a:solidFill>
              </a:rPr>
              <a:t>Partnerarbeit</a:t>
            </a:r>
            <a:endParaRPr lang="en-US" sz="1400" dirty="0"/>
          </a:p>
        </p:txBody>
      </p:sp>
      <p:sp>
        <p:nvSpPr>
          <p:cNvPr id="5" name="Text 3"/>
          <p:cNvSpPr txBox="1"/>
          <p:nvPr/>
        </p:nvSpPr>
        <p:spPr>
          <a:xfrm>
            <a:off x="4032504" y="1325880"/>
            <a:ext cx="978408" cy="384048"/>
          </a:xfrm>
          <a:prstGeom prst="rect">
            <a:avLst/>
          </a:prstGeom>
          <a:solidFill>
            <a:srgbClr val="F2EADB"/>
          </a:solidFill>
          <a:ln/>
        </p:spPr>
        <p:txBody>
          <a:bodyPr wrap="square" lIns="0" tIns="0" rIns="0" bIns="0" rtlCol="0" anchor="ctr"/>
          <a:lstStyle/>
          <a:p>
            <a:pPr algn="ctr" indent="0" marL="0">
              <a:buNone/>
            </a:pPr>
            <a:r>
              <a:rPr lang="en-US" sz="1400" dirty="0">
                <a:solidFill>
                  <a:srgbClr val="1B1B1F"/>
                </a:solidFill>
              </a:rPr>
              <a:t>10 min</a:t>
            </a:r>
            <a:endParaRPr lang="en-US" sz="1400" dirty="0"/>
          </a:p>
        </p:txBody>
      </p:sp>
      <p:sp>
        <p:nvSpPr>
          <p:cNvPr id="6" name="Text 4"/>
          <p:cNvSpPr txBox="1"/>
          <p:nvPr/>
        </p:nvSpPr>
        <p:spPr>
          <a:xfrm>
            <a:off x="548640" y="1965960"/>
            <a:ext cx="11094415" cy="386588"/>
          </a:xfrm>
          <a:prstGeom prst="rect">
            <a:avLst/>
          </a:prstGeom>
          <a:noFill/>
          <a:ln/>
        </p:spPr>
        <p:txBody>
          <a:bodyPr wrap="square" lIns="0" tIns="0" rIns="0" bIns="0" rtlCol="0" anchor="t"/>
          <a:lstStyle/>
          <a:p>
            <a:pPr algn="l" indent="0" marL="0">
              <a:buNone/>
            </a:pPr>
            <a:r>
              <a:rPr lang="en-US" sz="2200" dirty="0">
                <a:solidFill>
                  <a:srgbClr val="1B1B1F"/>
                </a:solidFill>
              </a:rPr>
              <a:t>Akte W3·2, Auftrag 4: KRYPTOS-16/2 für </a:t>
            </a:r>
            <a:r>
              <a:rPr lang="en-US" sz="2200" b="1" dirty="0">
                <a:solidFill>
                  <a:srgbClr val="1B1B1F"/>
                </a:solidFill>
              </a:rPr>
              <a:t>„JA“</a:t>
            </a:r>
            <a:endParaRPr lang="en-US" sz="22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2480564"/>
          <a:ext cx="8229600" cy="914400"/>
        </p:xfrm>
        <a:graphic>
          <a:graphicData uri="http://schemas.openxmlformats.org/drawingml/2006/table">
            <a:tbl>
              <a:tblPr/>
              <a:tblGrid>
                <a:gridCol w="1645920"/>
                <a:gridCol w="6583680"/>
              </a:tblGrid>
              <a:tr h="0">
                <a:tc>
                  <a:txBody>
                    <a:bodyPr/>
                    <a:lstStyle/>
                    <a:p>
                      <a:pPr algn="r" indent="0" marL="0">
                        <a:buNone/>
                      </a:pPr>
                      <a:r>
                        <a:rPr lang="en-US" sz="2200" b="1" dirty="0">
                          <a:solidFill>
                            <a:srgbClr val="4A4A55"/>
                          </a:solidFill>
                          <a:latin typeface="Calibri" pitchFamily="34" charset="0"/>
                          <a:ea typeface="Calibri" pitchFamily="34" charset="-122"/>
                          <a:cs typeface="Calibri" pitchFamily="34" charset="-120"/>
                        </a:rPr>
                        <a:t>K</a:t>
                      </a:r>
                      <a:endParaRPr lang="en-US" sz="2200" dirty="0">
                        <a:latin typeface="Calibri" charset="0"/>
                        <a:ea typeface="Calibri" charset="0"/>
                        <a:cs typeface="Calibri" charset="0"/>
                      </a:endParaRPr>
                    </a:p>
                  </a:txBody>
                  <a:tcPr marL="91440" marR="91440" marT="18288" marB="18288">
                    <a:lnL w="0" cap="flat" cmpd="sng" algn="ctr">
                      <a:noFill/>
                    </a:lnL>
                    <a:lnR w="0" cap="flat" cmpd="sng" algn="ctr">
                      <a:noFill/>
                    </a:lnR>
                    <a:lnT w="0" cap="flat" cmpd="sng" algn="ctr">
                      <a:noFill/>
                    </a:lnT>
                    <a:lnB w="0" cap="flat" cmpd="sng" algn="ctr">
                      <a:noFill/>
                    </a:lnB>
                  </a:tcPr>
                </a:tc>
                <a:tc>
                  <a:txBody>
                    <a:bodyPr/>
                    <a:lstStyle/>
                    <a:p>
                      <a:pPr indent="0" marL="0">
                        <a:buNone/>
                      </a:pPr>
                      <a:r>
                        <a:rPr lang="en-US" sz="2200" b="1" spc="300" kern="0" dirty="0">
                          <a:solidFill>
                            <a:srgbClr val="1B1B1F"/>
                          </a:solidFill>
                          <a:latin typeface="Consolas" pitchFamily="34" charset="0"/>
                          <a:ea typeface="Consolas" pitchFamily="34" charset="-122"/>
                          <a:cs typeface="Consolas" pitchFamily="34" charset="-120"/>
                        </a:rPr>
                        <a:t>0101 1100 1001 1110</a:t>
                      </a:r>
                      <a:endParaRPr lang="en-US" sz="2200" dirty="0">
                        <a:latin typeface="Consolas" charset="0"/>
                        <a:ea typeface="Consolas" charset="0"/>
                        <a:cs typeface="Consolas" charset="0"/>
                      </a:endParaRPr>
                    </a:p>
                  </a:txBody>
                  <a:tcPr marL="91440" marR="91440" marT="18288" marB="18288">
                    <a:lnL w="0" cap="flat" cmpd="sng" algn="ctr">
                      <a:noFill/>
                    </a:lnL>
                    <a:lnR w="0" cap="flat" cmpd="sng" algn="ctr">
                      <a:noFill/>
                    </a:lnR>
                    <a:lnT w="0" cap="flat" cmpd="sng" algn="ctr">
                      <a:noFill/>
                    </a:lnT>
                    <a:lnB w="0" cap="flat" cmpd="sng" algn="ctr">
                      <a:noFill/>
                    </a:lnB>
                  </a:tcPr>
                </a:tc>
              </a:tr>
            </a:tbl>
          </a:graphicData>
        </a:graphic>
      </p:graphicFrame>
      <p:sp>
        <p:nvSpPr>
          <p:cNvPr id="8" name="Text 5"/>
          <p:cNvSpPr txBox="1"/>
          <p:nvPr/>
        </p:nvSpPr>
        <p:spPr>
          <a:xfrm>
            <a:off x="548640" y="3055620"/>
            <a:ext cx="11094415" cy="727456"/>
          </a:xfrm>
          <a:prstGeom prst="rect">
            <a:avLst/>
          </a:prstGeom>
          <a:noFill/>
          <a:ln/>
        </p:spPr>
        <p:txBody>
          <a:bodyPr wrap="square" lIns="0" tIns="0" rIns="0" bIns="0" rtlCol="0" anchor="t"/>
          <a:lstStyle/>
          <a:p>
            <a:pPr algn="l" indent="0" marL="0">
              <a:buNone/>
            </a:pPr>
            <a:r>
              <a:rPr lang="en-US" sz="2200" dirty="0">
                <a:solidFill>
                  <a:srgbClr val="1B1B1F"/>
                </a:solidFill>
              </a:rPr>
              <a:t>Vorlage mit 4×4-Matrizen je Schritt nutzen. Schnelle: Auftrag 3 (Schlüsselplan).</a:t>
            </a:r>
            <a:endParaRPr lang="en-US" sz="22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Die Lawine</a:t>
            </a:r>
            <a:endParaRPr lang="en-US" sz="30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5900760" cy="914400"/>
        </p:xfrm>
        <a:graphic>
          <a:graphicData uri="http://schemas.openxmlformats.org/drawingml/2006/table">
            <a:tbl>
              <a:tblPr/>
              <a:tblGrid>
                <a:gridCol w="1180152"/>
                <a:gridCol w="1180152"/>
                <a:gridCol w="1180152"/>
                <a:gridCol w="1180152"/>
                <a:gridCol w="1180152"/>
              </a:tblGrid>
              <a:tr h="0">
                <a:tc>
                  <a:txBody>
                    <a:bodyPr/>
                    <a:lstStyle/>
                    <a:p>
                      <a:pPr algn="ctr" indent="0" marL="0">
                        <a:buNone/>
                      </a:pPr>
                      <a:r>
                        <a:rPr lang="en-US" sz="2000" b="1" dirty="0">
                          <a:solidFill>
                            <a:srgbClr val="1B1B1F"/>
                          </a:solidFill>
                          <a:latin typeface="Calibri" pitchFamily="34" charset="0"/>
                          <a:ea typeface="Calibri" pitchFamily="34" charset="-122"/>
                          <a:cs typeface="Calibri" pitchFamily="34" charset="-120"/>
                        </a:rPr>
                        <a:t>Runden</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2000" b="1" dirty="0">
                          <a:solidFill>
                            <a:srgbClr val="1B1B1F"/>
                          </a:solidFill>
                          <a:latin typeface="Calibri" pitchFamily="34" charset="0"/>
                          <a:ea typeface="Calibri" pitchFamily="34" charset="-122"/>
                          <a:cs typeface="Calibri" pitchFamily="34" charset="-120"/>
                        </a:rPr>
                        <a:t>1</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2000" b="1" dirty="0">
                          <a:solidFill>
                            <a:srgbClr val="1B1B1F"/>
                          </a:solidFill>
                          <a:latin typeface="Calibri" pitchFamily="34" charset="0"/>
                          <a:ea typeface="Calibri" pitchFamily="34" charset="-122"/>
                          <a:cs typeface="Calibri" pitchFamily="34" charset="-120"/>
                        </a:rPr>
                        <a:t>2</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2000" b="1" dirty="0">
                          <a:solidFill>
                            <a:srgbClr val="1B1B1F"/>
                          </a:solidFill>
                          <a:latin typeface="Calibri" pitchFamily="34" charset="0"/>
                          <a:ea typeface="Calibri" pitchFamily="34" charset="-122"/>
                          <a:cs typeface="Calibri" pitchFamily="34" charset="-120"/>
                        </a:rPr>
                        <a:t>3</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2000" b="1" dirty="0">
                          <a:solidFill>
                            <a:srgbClr val="1B1B1F"/>
                          </a:solidFill>
                          <a:latin typeface="Calibri" pitchFamily="34" charset="0"/>
                          <a:ea typeface="Calibri" pitchFamily="34" charset="-122"/>
                          <a:cs typeface="Calibri" pitchFamily="34" charset="-120"/>
                        </a:rPr>
                        <a:t>4</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r>
              <a:tr h="0">
                <a:tc>
                  <a:txBody>
                    <a:bodyPr/>
                    <a:lstStyle/>
                    <a:p>
                      <a:pPr algn="ctr" indent="0" marL="0">
                        <a:buNone/>
                      </a:pPr>
                      <a:r>
                        <a:rPr lang="en-US" sz="2000" b="1" dirty="0">
                          <a:solidFill>
                            <a:srgbClr val="1B1B1F"/>
                          </a:solidFill>
                          <a:latin typeface="Calibri" pitchFamily="34" charset="0"/>
                          <a:ea typeface="Calibri" pitchFamily="34" charset="-122"/>
                          <a:cs typeface="Calibri" pitchFamily="34" charset="-120"/>
                        </a:rPr>
                        <a:t>„OK“ ↔ „OJ“</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2000" dirty="0">
                          <a:solidFill>
                            <a:srgbClr val="1B1B1F"/>
                          </a:solidFill>
                          <a:latin typeface="Calibri" pitchFamily="34" charset="0"/>
                          <a:ea typeface="Calibri" pitchFamily="34" charset="-122"/>
                          <a:cs typeface="Calibri" pitchFamily="34" charset="-120"/>
                        </a:rPr>
                        <a:t>3</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B1B1F"/>
                          </a:solidFill>
                          <a:latin typeface="Calibri" pitchFamily="34" charset="0"/>
                          <a:ea typeface="Calibri" pitchFamily="34" charset="-122"/>
                          <a:cs typeface="Calibri" pitchFamily="34" charset="-120"/>
                        </a:rPr>
                        <a:t>8</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B1B1F"/>
                          </a:solidFill>
                          <a:latin typeface="Calibri" pitchFamily="34" charset="0"/>
                          <a:ea typeface="Calibri" pitchFamily="34" charset="-122"/>
                          <a:cs typeface="Calibri" pitchFamily="34" charset="-120"/>
                        </a:rPr>
                        <a:t>10</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B1B1F"/>
                          </a:solidFill>
                          <a:latin typeface="Calibri" pitchFamily="34" charset="0"/>
                          <a:ea typeface="Calibri" pitchFamily="34" charset="-122"/>
                          <a:cs typeface="Calibri" pitchFamily="34" charset="-120"/>
                        </a:rPr>
                        <a:t>8</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ctr" indent="0" marL="0">
                        <a:buNone/>
                      </a:pPr>
                      <a:r>
                        <a:rPr lang="en-US" sz="2000" b="1" dirty="0">
                          <a:solidFill>
                            <a:srgbClr val="1B1B1F"/>
                          </a:solidFill>
                          <a:latin typeface="Calibri" pitchFamily="34" charset="0"/>
                          <a:ea typeface="Calibri" pitchFamily="34" charset="-122"/>
                          <a:cs typeface="Calibri" pitchFamily="34" charset="-120"/>
                        </a:rPr>
                        <a:t>Mittel</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2000" dirty="0">
                          <a:solidFill>
                            <a:srgbClr val="1B1B1F"/>
                          </a:solidFill>
                          <a:latin typeface="Calibri" pitchFamily="34" charset="0"/>
                          <a:ea typeface="Calibri" pitchFamily="34" charset="-122"/>
                          <a:cs typeface="Calibri" pitchFamily="34" charset="-120"/>
                        </a:rPr>
                        <a:t>16 %</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B1B1F"/>
                          </a:solidFill>
                          <a:latin typeface="Calibri" pitchFamily="34" charset="0"/>
                          <a:ea typeface="Calibri" pitchFamily="34" charset="-122"/>
                          <a:cs typeface="Calibri" pitchFamily="34" charset="-120"/>
                        </a:rPr>
                        <a:t>43 %</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B1B1F"/>
                          </a:solidFill>
                          <a:latin typeface="Calibri" pitchFamily="34" charset="0"/>
                          <a:ea typeface="Calibri" pitchFamily="34" charset="-122"/>
                          <a:cs typeface="Calibri" pitchFamily="34" charset="-120"/>
                        </a:rPr>
                        <a:t>48 %</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B1B1F"/>
                          </a:solidFill>
                          <a:latin typeface="Calibri" pitchFamily="34" charset="0"/>
                          <a:ea typeface="Calibri" pitchFamily="34" charset="-122"/>
                          <a:cs typeface="Calibri" pitchFamily="34" charset="-120"/>
                        </a:rPr>
                        <a:t>49 %</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48640" y="2967736"/>
            <a:ext cx="5900760" cy="603504"/>
          </a:xfrm>
          <a:prstGeom prst="rect">
            <a:avLst/>
          </a:prstGeom>
          <a:noFill/>
          <a:ln/>
        </p:spPr>
        <p:txBody>
          <a:bodyPr wrap="square" lIns="0" tIns="0" rIns="0" bIns="0" rtlCol="0" anchor="t"/>
          <a:lstStyle/>
          <a:p>
            <a:pPr algn="l" indent="0" marL="0">
              <a:buNone/>
            </a:pPr>
            <a:r>
              <a:rPr lang="en-US" sz="1800" dirty="0">
                <a:solidFill>
                  <a:srgbClr val="1B1B1F"/>
                </a:solidFill>
              </a:rPr>
              <a:t>gekippte Geheimtextbits, wenn </a:t>
            </a:r>
            <a:r>
              <a:rPr lang="en-US" sz="1800" b="1" dirty="0">
                <a:solidFill>
                  <a:srgbClr val="1B1B1F"/>
                </a:solidFill>
              </a:rPr>
              <a:t>1</a:t>
            </a:r>
            <a:r>
              <a:rPr lang="en-US" sz="1800" dirty="0">
                <a:solidFill>
                  <a:srgbClr val="1B1B1F"/>
                </a:solidFill>
              </a:rPr>
              <a:t> Klartextbit kippt · ideal 50 %</a:t>
            </a:r>
            <a:endParaRPr lang="en-US" sz="1800" dirty="0"/>
          </a:p>
        </p:txBody>
      </p:sp>
      <p:sp>
        <p:nvSpPr>
          <p:cNvPr id="5" name="Text 2"/>
          <p:cNvSpPr txBox="1"/>
          <p:nvPr/>
        </p:nvSpPr>
        <p:spPr>
          <a:xfrm>
            <a:off x="6815160" y="1325880"/>
            <a:ext cx="4827895" cy="727456"/>
          </a:xfrm>
          <a:prstGeom prst="rect">
            <a:avLst/>
          </a:prstGeom>
          <a:noFill/>
          <a:ln/>
        </p:spPr>
        <p:txBody>
          <a:bodyPr wrap="square" lIns="0" tIns="0" rIns="0" bIns="0" rtlCol="0" anchor="t"/>
          <a:lstStyle/>
          <a:p>
            <a:pPr algn="l" indent="0" marL="0">
              <a:buNone/>
            </a:pPr>
            <a:r>
              <a:rPr lang="en-US" sz="2200" b="1" dirty="0">
                <a:solidFill>
                  <a:srgbClr val="1B1B1F"/>
                </a:solidFill>
              </a:rPr>
              <a:t>Konfusion:</a:t>
            </a:r>
            <a:r>
              <a:rPr lang="en-US" sz="2200" dirty="0">
                <a:solidFill>
                  <a:srgbClr val="1B1B1F"/>
                </a:solidFill>
              </a:rPr>
              <a:t> S-Box + Schlüssel-XOR verschleiern den Schlüssel</a:t>
            </a:r>
            <a:endParaRPr lang="en-US" sz="2200" dirty="0"/>
          </a:p>
        </p:txBody>
      </p:sp>
      <p:sp>
        <p:nvSpPr>
          <p:cNvPr id="6" name="Text 3"/>
          <p:cNvSpPr txBox="1"/>
          <p:nvPr/>
        </p:nvSpPr>
        <p:spPr>
          <a:xfrm>
            <a:off x="6815160" y="2181352"/>
            <a:ext cx="4827895" cy="1068324"/>
          </a:xfrm>
          <a:prstGeom prst="rect">
            <a:avLst/>
          </a:prstGeom>
          <a:noFill/>
          <a:ln/>
        </p:spPr>
        <p:txBody>
          <a:bodyPr wrap="square" lIns="0" tIns="0" rIns="0" bIns="0" rtlCol="0" anchor="t"/>
          <a:lstStyle/>
          <a:p>
            <a:pPr algn="l" indent="0" marL="0">
              <a:buNone/>
            </a:pPr>
            <a:r>
              <a:rPr lang="en-US" sz="2200" b="1" dirty="0">
                <a:solidFill>
                  <a:srgbClr val="1B1B1F"/>
                </a:solidFill>
              </a:rPr>
              <a:t>Diffusion:</a:t>
            </a:r>
            <a:r>
              <a:rPr lang="en-US" sz="2200" dirty="0">
                <a:solidFill>
                  <a:srgbClr val="1B1B1F"/>
                </a:solidFill>
              </a:rPr>
              <a:t> Transposition verteilt jedes Bit auf alle S-Boxen der nächsten Runde</a:t>
            </a:r>
            <a:endParaRPr lang="en-US" sz="22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ECB oder CBC?</a:t>
            </a:r>
            <a:endParaRPr lang="en-US" sz="3000" dirty="0"/>
          </a:p>
        </p:txBody>
      </p:sp>
      <p:pic>
        <p:nvPicPr>
          <p:cNvPr id="3" name="Image 0" descr="Pixelbild Schlüssel: Original, ECB mit sichtbarem Umriss, CBC als Rauschen">    </p:cNvPr>
          <p:cNvPicPr>
            <a:picLocks noChangeAspect="1"/>
          </p:cNvPicPr>
          <p:nvPr/>
        </p:nvPicPr>
        <p:blipFill>
          <a:blip r:embed="rId1"/>
          <a:stretch>
            <a:fillRect/>
          </a:stretch>
        </p:blipFill>
        <p:spPr>
          <a:xfrm>
            <a:off x="1706728" y="1325880"/>
            <a:ext cx="8778240" cy="2739705"/>
          </a:xfrm>
          <a:prstGeom prst="rect">
            <a:avLst/>
          </a:prstGeom>
        </p:spPr>
      </p:pic>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4193601"/>
          <a:ext cx="11094415" cy="914400"/>
        </p:xfrm>
        <a:graphic>
          <a:graphicData uri="http://schemas.openxmlformats.org/drawingml/2006/table">
            <a:tbl>
              <a:tblPr/>
              <a:tblGrid>
                <a:gridCol w="3698138"/>
                <a:gridCol w="3698138"/>
                <a:gridCol w="3698138"/>
              </a:tblGrid>
              <a:tr h="0">
                <a:tc>
                  <a:txBody>
                    <a:bodyPr/>
                    <a:lstStyle/>
                    <a:p>
                      <a:pPr algn="ctr" indent="0" marL="0">
                        <a:buNone/>
                      </a:pPr>
                      <a:r>
                        <a:rPr lang="en-US" sz="1800" b="1" dirty="0">
                          <a:solidFill>
                            <a:srgbClr val="1B1B1F"/>
                          </a:solidFill>
                          <a:latin typeface="Calibri" pitchFamily="34" charset="0"/>
                          <a:ea typeface="Calibri" pitchFamily="34" charset="-122"/>
                          <a:cs typeface="Calibri" pitchFamily="34" charset="-120"/>
                        </a:rPr>
                        <a:t>Original</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1800" b="1" dirty="0">
                          <a:solidFill>
                            <a:srgbClr val="1B1B1F"/>
                          </a:solidFill>
                          <a:latin typeface="Calibri" pitchFamily="34" charset="0"/>
                          <a:ea typeface="Calibri" pitchFamily="34" charset="-122"/>
                          <a:cs typeface="Calibri" pitchFamily="34" charset="-120"/>
                        </a:rPr>
                        <a:t>ECB: 39 weiße → 39 gleiche Kacheln</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1800" b="1" dirty="0">
                          <a:solidFill>
                            <a:srgbClr val="1B1B1F"/>
                          </a:solidFill>
                          <a:latin typeface="Calibri" pitchFamily="34" charset="0"/>
                          <a:ea typeface="Calibri" pitchFamily="34" charset="-122"/>
                          <a:cs typeface="Calibri" pitchFamily="34" charset="-120"/>
                        </a:rPr>
                        <a:t>CBC: C</a:t>
                      </a:r>
                      <a:r>
                        <a:rPr lang="en-US" sz="1800" b="1" baseline="-40000" dirty="0">
                          <a:solidFill>
                            <a:srgbClr val="1B1B1F"/>
                          </a:solidFill>
                          <a:latin typeface="Calibri" pitchFamily="34" charset="0"/>
                          <a:ea typeface="Calibri" pitchFamily="34" charset="-122"/>
                          <a:cs typeface="Calibri" pitchFamily="34" charset="-120"/>
                        </a:rPr>
                        <a:t>j</a:t>
                      </a:r>
                      <a:r>
                        <a:rPr lang="en-US" sz="1800" b="1" dirty="0">
                          <a:solidFill>
                            <a:srgbClr val="1B1B1F"/>
                          </a:solidFill>
                          <a:latin typeface="Calibri" pitchFamily="34" charset="0"/>
                          <a:ea typeface="Calibri" pitchFamily="34" charset="-122"/>
                          <a:cs typeface="Calibri" pitchFamily="34" charset="-120"/>
                        </a:rPr>
                        <a:t> = E(P</a:t>
                      </a:r>
                      <a:r>
                        <a:rPr lang="en-US" sz="1800" b="1" baseline="-40000" dirty="0">
                          <a:solidFill>
                            <a:srgbClr val="1B1B1F"/>
                          </a:solidFill>
                          <a:latin typeface="Calibri" pitchFamily="34" charset="0"/>
                          <a:ea typeface="Calibri" pitchFamily="34" charset="-122"/>
                          <a:cs typeface="Calibri" pitchFamily="34" charset="-120"/>
                        </a:rPr>
                        <a:t>j</a:t>
                      </a:r>
                      <a:r>
                        <a:rPr lang="en-US" sz="1800" b="1" dirty="0">
                          <a:solidFill>
                            <a:srgbClr val="1B1B1F"/>
                          </a:solidFill>
                          <a:latin typeface="Calibri" pitchFamily="34" charset="0"/>
                          <a:ea typeface="Calibri" pitchFamily="34" charset="-122"/>
                          <a:cs typeface="Calibri" pitchFamily="34" charset="-120"/>
                        </a:rPr>
                        <a:t> ⊕ C</a:t>
                      </a:r>
                      <a:r>
                        <a:rPr lang="en-US" sz="1800" b="1" baseline="-40000" dirty="0">
                          <a:solidFill>
                            <a:srgbClr val="1B1B1F"/>
                          </a:solidFill>
                          <a:latin typeface="Calibri" pitchFamily="34" charset="0"/>
                          <a:ea typeface="Calibri" pitchFamily="34" charset="-122"/>
                          <a:cs typeface="Calibri" pitchFamily="34" charset="-120"/>
                        </a:rPr>
                        <a:t>j−1</a:t>
                      </a:r>
                      <a:r>
                        <a:rPr lang="en-US" sz="1800" b="1" dirty="0">
                          <a:solidFill>
                            <a:srgbClr val="1B1B1F"/>
                          </a:solidFill>
                          <a:latin typeface="Calibri" pitchFamily="34" charset="0"/>
                          <a:ea typeface="Calibri" pitchFamily="34" charset="-122"/>
                          <a:cs typeface="Calibri" pitchFamily="34" charset="-120"/>
                        </a:rPr>
                        <a:t>), C</a:t>
                      </a:r>
                      <a:r>
                        <a:rPr lang="en-US" sz="1800" b="1" baseline="-40000" dirty="0">
                          <a:solidFill>
                            <a:srgbClr val="1B1B1F"/>
                          </a:solidFill>
                          <a:latin typeface="Calibri" pitchFamily="34" charset="0"/>
                          <a:ea typeface="Calibri" pitchFamily="34" charset="-122"/>
                          <a:cs typeface="Calibri" pitchFamily="34" charset="-120"/>
                        </a:rPr>
                        <a:t>0</a:t>
                      </a:r>
                      <a:r>
                        <a:rPr lang="en-US" sz="1800" b="1" dirty="0">
                          <a:solidFill>
                            <a:srgbClr val="1B1B1F"/>
                          </a:solidFill>
                          <a:latin typeface="Calibri" pitchFamily="34" charset="0"/>
                          <a:ea typeface="Calibri" pitchFamily="34" charset="-122"/>
                          <a:cs typeface="Calibri" pitchFamily="34" charset="-120"/>
                        </a:rPr>
                        <a:t> = IV</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r>
              <a:tr h="0">
                <a:tc>
                  <a:txBody>
                    <a:bodyPr/>
                    <a:lstStyle/>
                    <a:p>
                      <a:pPr algn="ctr" indent="0" marL="0">
                        <a:buNone/>
                      </a:pPr>
                      <a:r>
                        <a:rPr lang="en-US" sz="1800" dirty="0">
                          <a:solidFill>
                            <a:srgbClr val="1B1B1F"/>
                          </a:solidFill>
                          <a:latin typeface="Calibri" pitchFamily="34" charset="0"/>
                          <a:ea typeface="Calibri" pitchFamily="34" charset="-122"/>
                          <a:cs typeface="Calibri" pitchFamily="34" charset="-120"/>
                        </a:rPr>
                        <a:t>23 verschiedene Kacheln</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B1B1F"/>
                          </a:solidFill>
                          <a:latin typeface="Calibri" pitchFamily="34" charset="0"/>
                          <a:ea typeface="Calibri" pitchFamily="34" charset="-122"/>
                          <a:cs typeface="Calibri" pitchFamily="34" charset="-120"/>
                        </a:rPr>
                        <a:t>Umriss bleibt sichtbar</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B1B1F"/>
                          </a:solidFill>
                          <a:latin typeface="Calibri" pitchFamily="34" charset="0"/>
                          <a:ea typeface="Calibri" pitchFamily="34" charset="-122"/>
                          <a:cs typeface="Calibri" pitchFamily="34" charset="-120"/>
                        </a:rPr>
                        <a:t>64 verschiedene Kacheln</a:t>
                      </a:r>
                      <a:endParaRPr lang="en-US" sz="18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Falle P3 · Umkehrung</a:t>
            </a:r>
            <a:endParaRPr lang="en-US" sz="3000" dirty="0"/>
          </a:p>
        </p:txBody>
      </p:sp>
      <p:sp>
        <p:nvSpPr>
          <p:cNvPr id="3" name="Text 1"/>
          <p:cNvSpPr txBox="1"/>
          <p:nvPr/>
        </p:nvSpPr>
        <p:spPr>
          <a:xfrm>
            <a:off x="548640" y="1325880"/>
            <a:ext cx="11094415" cy="773176"/>
          </a:xfrm>
          <a:prstGeom prst="rect">
            <a:avLst/>
          </a:prstGeom>
          <a:noFill/>
          <a:ln/>
        </p:spPr>
        <p:txBody>
          <a:bodyPr wrap="square" lIns="0" tIns="0" rIns="0" bIns="0" rtlCol="0" anchor="t"/>
          <a:lstStyle/>
          <a:p>
            <a:pPr indent="0" marL="0">
              <a:buNone/>
            </a:pPr>
            <a:r>
              <a:rPr lang="en-US" sz="2200" dirty="0">
                <a:solidFill>
                  <a:srgbClr val="1B1B1F"/>
                </a:solidFill>
              </a:rPr>
              <a:t>Entschlüsseln heißt: </a:t>
            </a:r>
            <a:r>
              <a:rPr lang="en-US" sz="2200" b="1" dirty="0">
                <a:solidFill>
                  <a:srgbClr val="1B1B1F"/>
                </a:solidFill>
              </a:rPr>
              <a:t>Runden rückwärts</a:t>
            </a:r>
            <a:r>
              <a:rPr lang="en-US" sz="2200" dirty="0">
                <a:solidFill>
                  <a:srgbClr val="1B1B1F"/>
                </a:solidFill>
              </a:rPr>
              <a:t>, je Runde die Schritte rückwärts und invertiert.</a:t>
            </a:r>
            <a:endParaRPr lang="en-US" sz="2200" dirty="0"/>
          </a:p>
        </p:txBody>
      </p:sp>
      <p:sp>
        <p:nvSpPr>
          <p:cNvPr id="4" name="Shape 2"/>
          <p:cNvSpPr/>
          <p:nvPr/>
        </p:nvSpPr>
        <p:spPr>
          <a:xfrm>
            <a:off x="548640" y="2281936"/>
            <a:ext cx="5364328" cy="1769872"/>
          </a:xfrm>
          <a:prstGeom prst="roundRect">
            <a:avLst>
              <a:gd name="adj" fmla="val 4133"/>
            </a:avLst>
          </a:prstGeom>
          <a:solidFill>
            <a:srgbClr val="FDF3F2"/>
          </a:solidFill>
          <a:ln w="15875">
            <a:solidFill>
              <a:srgbClr val="B3261E"/>
            </a:solidFill>
            <a:prstDash val="solid"/>
          </a:ln>
        </p:spPr>
      </p:sp>
      <p:sp>
        <p:nvSpPr>
          <p:cNvPr id="5" name="Text 3"/>
          <p:cNvSpPr txBox="1"/>
          <p:nvPr/>
        </p:nvSpPr>
        <p:spPr>
          <a:xfrm>
            <a:off x="822960" y="2464816"/>
            <a:ext cx="4815688" cy="365760"/>
          </a:xfrm>
          <a:prstGeom prst="rect">
            <a:avLst/>
          </a:prstGeom>
          <a:noFill/>
          <a:ln/>
        </p:spPr>
        <p:txBody>
          <a:bodyPr wrap="square" lIns="0" tIns="0" rIns="0" bIns="0" rtlCol="0" anchor="ctr"/>
          <a:lstStyle/>
          <a:p>
            <a:pPr indent="0" marL="0">
              <a:buNone/>
            </a:pPr>
            <a:r>
              <a:rPr lang="en-US" sz="1800" b="1" spc="200" kern="0" dirty="0">
                <a:solidFill>
                  <a:srgbClr val="B3261E"/>
                </a:solidFill>
              </a:rPr>
              <a:t>SO NICHT  ✗</a:t>
            </a:r>
            <a:endParaRPr lang="en-US" sz="1800" dirty="0"/>
          </a:p>
        </p:txBody>
      </p:sp>
      <p:sp>
        <p:nvSpPr>
          <p:cNvPr id="6" name="Text 4"/>
          <p:cNvSpPr txBox="1"/>
          <p:nvPr/>
        </p:nvSpPr>
        <p:spPr>
          <a:xfrm>
            <a:off x="822960" y="2967736"/>
            <a:ext cx="4815688" cy="727456"/>
          </a:xfrm>
          <a:prstGeom prst="rect">
            <a:avLst/>
          </a:prstGeom>
          <a:noFill/>
          <a:ln/>
        </p:spPr>
        <p:txBody>
          <a:bodyPr wrap="square" lIns="0" tIns="0" rIns="0" bIns="0" rtlCol="0" anchor="t"/>
          <a:lstStyle/>
          <a:p>
            <a:pPr algn="l" indent="0" marL="0">
              <a:buNone/>
            </a:pPr>
            <a:r>
              <a:rPr lang="en-US" sz="2200" dirty="0">
                <a:solidFill>
                  <a:srgbClr val="1B1B1F"/>
                </a:solidFill>
              </a:rPr>
              <a:t>Runde 1 zuerst zurückrechnen, </a:t>
            </a:r>
            <a:r>
              <a:rPr lang="en-US" sz="2200" b="1" dirty="0">
                <a:solidFill>
                  <a:srgbClr val="1B1B1F"/>
                </a:solidFill>
              </a:rPr>
              <a:t>S-Box</a:t>
            </a:r>
            <a:r>
              <a:rPr lang="en-US" sz="2200" dirty="0">
                <a:solidFill>
                  <a:srgbClr val="1B1B1F"/>
                </a:solidFill>
              </a:rPr>
              <a:t> statt S⁻¹</a:t>
            </a:r>
            <a:endParaRPr lang="en-US" sz="2200" dirty="0"/>
          </a:p>
        </p:txBody>
      </p:sp>
      <p:sp>
        <p:nvSpPr>
          <p:cNvPr id="7" name="Shape 5"/>
          <p:cNvSpPr/>
          <p:nvPr/>
        </p:nvSpPr>
        <p:spPr>
          <a:xfrm>
            <a:off x="6278728" y="2281936"/>
            <a:ext cx="5364328" cy="1769872"/>
          </a:xfrm>
          <a:prstGeom prst="roundRect">
            <a:avLst>
              <a:gd name="adj" fmla="val 4133"/>
            </a:avLst>
          </a:prstGeom>
          <a:solidFill>
            <a:srgbClr val="EEF6EE"/>
          </a:solidFill>
          <a:ln w="15875">
            <a:solidFill>
              <a:srgbClr val="2E7D32"/>
            </a:solidFill>
            <a:prstDash val="solid"/>
          </a:ln>
        </p:spPr>
      </p:sp>
      <p:sp>
        <p:nvSpPr>
          <p:cNvPr id="8" name="Text 6"/>
          <p:cNvSpPr txBox="1"/>
          <p:nvPr/>
        </p:nvSpPr>
        <p:spPr>
          <a:xfrm>
            <a:off x="6553048" y="2464816"/>
            <a:ext cx="4815688" cy="365760"/>
          </a:xfrm>
          <a:prstGeom prst="rect">
            <a:avLst/>
          </a:prstGeom>
          <a:noFill/>
          <a:ln/>
        </p:spPr>
        <p:txBody>
          <a:bodyPr wrap="square" lIns="0" tIns="0" rIns="0" bIns="0" rtlCol="0" anchor="ctr"/>
          <a:lstStyle/>
          <a:p>
            <a:pPr indent="0" marL="0">
              <a:buNone/>
            </a:pPr>
            <a:r>
              <a:rPr lang="en-US" sz="1800" b="1" spc="200" kern="0" dirty="0">
                <a:solidFill>
                  <a:srgbClr val="2E7D32"/>
                </a:solidFill>
              </a:rPr>
              <a:t>SO RICHTIG  ✓</a:t>
            </a:r>
            <a:endParaRPr lang="en-US" sz="1800" dirty="0"/>
          </a:p>
        </p:txBody>
      </p:sp>
      <p:sp>
        <p:nvSpPr>
          <p:cNvPr id="9" name="Text 7"/>
          <p:cNvSpPr txBox="1"/>
          <p:nvPr/>
        </p:nvSpPr>
        <p:spPr>
          <a:xfrm>
            <a:off x="6553048" y="2967736"/>
            <a:ext cx="4815688" cy="727456"/>
          </a:xfrm>
          <a:prstGeom prst="rect">
            <a:avLst/>
          </a:prstGeom>
          <a:noFill/>
          <a:ln/>
        </p:spPr>
        <p:txBody>
          <a:bodyPr wrap="square" lIns="0" tIns="0" rIns="0" bIns="0" rtlCol="0" anchor="t"/>
          <a:lstStyle/>
          <a:p>
            <a:pPr algn="l" indent="0" marL="0">
              <a:buNone/>
            </a:pPr>
            <a:r>
              <a:rPr lang="en-US" sz="2200" dirty="0">
                <a:solidFill>
                  <a:srgbClr val="1B1B1F"/>
                </a:solidFill>
              </a:rPr>
              <a:t>Runden R … 1, je Runde: Transposition → </a:t>
            </a:r>
            <a:r>
              <a:rPr lang="en-US" sz="2200" b="1" dirty="0">
                <a:solidFill>
                  <a:srgbClr val="1B1B1F"/>
                </a:solidFill>
              </a:rPr>
              <a:t>S⁻¹</a:t>
            </a:r>
            <a:r>
              <a:rPr lang="en-US" sz="2200" dirty="0">
                <a:solidFill>
                  <a:srgbClr val="1B1B1F"/>
                </a:solidFill>
              </a:rPr>
              <a:t> → XOR K</a:t>
            </a:r>
            <a:r>
              <a:rPr lang="en-US" sz="2200" baseline="-40000" dirty="0">
                <a:solidFill>
                  <a:srgbClr val="1B1B1F"/>
                </a:solidFill>
              </a:rPr>
              <a:t>i</a:t>
            </a:r>
            <a:endParaRPr lang="en-US" sz="22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Echte Blockchiffren</a:t>
            </a:r>
            <a:endParaRPr lang="en-US" sz="30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4415" cy="914400"/>
        </p:xfrm>
        <a:graphic>
          <a:graphicData uri="http://schemas.openxmlformats.org/drawingml/2006/table">
            <a:tbl>
              <a:tblPr/>
              <a:tblGrid>
                <a:gridCol w="2773604"/>
                <a:gridCol w="2773604"/>
                <a:gridCol w="2773604"/>
                <a:gridCol w="2773604"/>
              </a:tblGrid>
              <a:tr h="0">
                <a:tc>
                  <a:txBody>
                    <a:bodyPr/>
                    <a:lstStyle/>
                    <a:p>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l" indent="0" marL="0">
                        <a:buNone/>
                      </a:pPr>
                      <a:r>
                        <a:rPr lang="en-US" sz="1700" b="1" dirty="0">
                          <a:solidFill>
                            <a:srgbClr val="1B1B1F"/>
                          </a:solidFill>
                          <a:latin typeface="Calibri" pitchFamily="34" charset="0"/>
                          <a:ea typeface="Calibri" pitchFamily="34" charset="-122"/>
                          <a:cs typeface="Calibri" pitchFamily="34" charset="-120"/>
                        </a:rPr>
                        <a:t>KRYPTOS-16</a:t>
                      </a:r>
                      <a:endParaRPr lang="en-US" sz="17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l" indent="0" marL="0">
                        <a:buNone/>
                      </a:pPr>
                      <a:r>
                        <a:rPr lang="en-US" sz="1700" b="1" dirty="0">
                          <a:solidFill>
                            <a:srgbClr val="1B1B1F"/>
                          </a:solidFill>
                          <a:latin typeface="Calibri" pitchFamily="34" charset="0"/>
                          <a:ea typeface="Calibri" pitchFamily="34" charset="-122"/>
                          <a:cs typeface="Calibri" pitchFamily="34" charset="-120"/>
                        </a:rPr>
                        <a:t>DES (1977)</a:t>
                      </a:r>
                      <a:endParaRPr lang="en-US" sz="17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l" indent="0" marL="0">
                        <a:buNone/>
                      </a:pPr>
                      <a:r>
                        <a:rPr lang="en-US" sz="1700" b="1" dirty="0">
                          <a:solidFill>
                            <a:srgbClr val="1B1B1F"/>
                          </a:solidFill>
                          <a:latin typeface="Calibri" pitchFamily="34" charset="0"/>
                          <a:ea typeface="Calibri" pitchFamily="34" charset="-122"/>
                          <a:cs typeface="Calibri" pitchFamily="34" charset="-120"/>
                        </a:rPr>
                        <a:t>AES (2001)</a:t>
                      </a:r>
                      <a:endParaRPr lang="en-US" sz="17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r>
              <a:tr h="0">
                <a:tc>
                  <a:txBody>
                    <a:bodyPr/>
                    <a:lstStyle/>
                    <a:p>
                      <a:pPr algn="l" indent="0" marL="0">
                        <a:buNone/>
                      </a:pPr>
                      <a:r>
                        <a:rPr lang="en-US" sz="1700" b="1" dirty="0">
                          <a:solidFill>
                            <a:srgbClr val="1B1B1F"/>
                          </a:solidFill>
                          <a:latin typeface="Calibri" pitchFamily="34" charset="0"/>
                          <a:ea typeface="Calibri" pitchFamily="34" charset="-122"/>
                          <a:cs typeface="Calibri" pitchFamily="34" charset="-120"/>
                        </a:rPr>
                        <a:t>Block</a:t>
                      </a:r>
                      <a:endParaRPr lang="en-US" sz="17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l" indent="0" marL="0">
                        <a:buNone/>
                      </a:pPr>
                      <a:r>
                        <a:rPr lang="en-US" sz="1700" dirty="0">
                          <a:solidFill>
                            <a:srgbClr val="1B1B1F"/>
                          </a:solidFill>
                          <a:latin typeface="Calibri" pitchFamily="34" charset="0"/>
                          <a:ea typeface="Calibri" pitchFamily="34" charset="-122"/>
                          <a:cs typeface="Calibri" pitchFamily="34" charset="-120"/>
                        </a:rPr>
                        <a:t>16 Bit (4×4 Bit)</a:t>
                      </a:r>
                      <a:endParaRPr lang="en-US" sz="17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1B1B1F"/>
                          </a:solidFill>
                          <a:latin typeface="Calibri" pitchFamily="34" charset="0"/>
                          <a:ea typeface="Calibri" pitchFamily="34" charset="-122"/>
                          <a:cs typeface="Calibri" pitchFamily="34" charset="-120"/>
                        </a:rPr>
                        <a:t>64 Bit</a:t>
                      </a:r>
                      <a:endParaRPr lang="en-US" sz="17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1B1B1F"/>
                          </a:solidFill>
                          <a:latin typeface="Calibri" pitchFamily="34" charset="0"/>
                          <a:ea typeface="Calibri" pitchFamily="34" charset="-122"/>
                          <a:cs typeface="Calibri" pitchFamily="34" charset="-120"/>
                        </a:rPr>
                        <a:t>128 Bit (4×4 Byte)</a:t>
                      </a:r>
                      <a:endParaRPr lang="en-US" sz="17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1B1B1F"/>
                          </a:solidFill>
                          <a:latin typeface="Calibri" pitchFamily="34" charset="0"/>
                          <a:ea typeface="Calibri" pitchFamily="34" charset="-122"/>
                          <a:cs typeface="Calibri" pitchFamily="34" charset="-120"/>
                        </a:rPr>
                        <a:t>Schlüssel</a:t>
                      </a:r>
                      <a:endParaRPr lang="en-US" sz="17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l" indent="0" marL="0">
                        <a:buNone/>
                      </a:pPr>
                      <a:r>
                        <a:rPr lang="en-US" sz="1700" dirty="0">
                          <a:solidFill>
                            <a:srgbClr val="1B1B1F"/>
                          </a:solidFill>
                          <a:latin typeface="Calibri" pitchFamily="34" charset="0"/>
                          <a:ea typeface="Calibri" pitchFamily="34" charset="-122"/>
                          <a:cs typeface="Calibri" pitchFamily="34" charset="-120"/>
                        </a:rPr>
                        <a:t>16 Bit</a:t>
                      </a:r>
                      <a:endParaRPr lang="en-US" sz="17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1B1B1F"/>
                          </a:solidFill>
                          <a:latin typeface="Calibri" pitchFamily="34" charset="0"/>
                          <a:ea typeface="Calibri" pitchFamily="34" charset="-122"/>
                          <a:cs typeface="Calibri" pitchFamily="34" charset="-120"/>
                        </a:rPr>
                        <a:t>56 Bit – heute zu kurz</a:t>
                      </a:r>
                      <a:endParaRPr lang="en-US" sz="17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1B1B1F"/>
                          </a:solidFill>
                          <a:latin typeface="Calibri" pitchFamily="34" charset="0"/>
                          <a:ea typeface="Calibri" pitchFamily="34" charset="-122"/>
                          <a:cs typeface="Calibri" pitchFamily="34" charset="-120"/>
                        </a:rPr>
                        <a:t>128 / 192 / 256 Bit</a:t>
                      </a:r>
                      <a:endParaRPr lang="en-US" sz="17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1B1B1F"/>
                          </a:solidFill>
                          <a:latin typeface="Calibri" pitchFamily="34" charset="0"/>
                          <a:ea typeface="Calibri" pitchFamily="34" charset="-122"/>
                          <a:cs typeface="Calibri" pitchFamily="34" charset="-120"/>
                        </a:rPr>
                        <a:t>Runden</a:t>
                      </a:r>
                      <a:endParaRPr lang="en-US" sz="17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l" indent="0" marL="0">
                        <a:buNone/>
                      </a:pPr>
                      <a:r>
                        <a:rPr lang="en-US" sz="1700" dirty="0">
                          <a:solidFill>
                            <a:srgbClr val="1B1B1F"/>
                          </a:solidFill>
                          <a:latin typeface="Calibri" pitchFamily="34" charset="0"/>
                          <a:ea typeface="Calibri" pitchFamily="34" charset="-122"/>
                          <a:cs typeface="Calibri" pitchFamily="34" charset="-120"/>
                        </a:rPr>
                        <a:t>4</a:t>
                      </a:r>
                      <a:endParaRPr lang="en-US" sz="17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1B1B1F"/>
                          </a:solidFill>
                          <a:latin typeface="Calibri" pitchFamily="34" charset="0"/>
                          <a:ea typeface="Calibri" pitchFamily="34" charset="-122"/>
                          <a:cs typeface="Calibri" pitchFamily="34" charset="-120"/>
                        </a:rPr>
                        <a:t>16 (Feistel)</a:t>
                      </a:r>
                      <a:endParaRPr lang="en-US" sz="17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1B1B1F"/>
                          </a:solidFill>
                          <a:latin typeface="Calibri" pitchFamily="34" charset="0"/>
                          <a:ea typeface="Calibri" pitchFamily="34" charset="-122"/>
                          <a:cs typeface="Calibri" pitchFamily="34" charset="-120"/>
                        </a:rPr>
                        <a:t>10 / 12 / 14</a:t>
                      </a:r>
                      <a:endParaRPr lang="en-US" sz="17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1B1B1F"/>
                          </a:solidFill>
                          <a:latin typeface="Calibri" pitchFamily="34" charset="0"/>
                          <a:ea typeface="Calibri" pitchFamily="34" charset="-122"/>
                          <a:cs typeface="Calibri" pitchFamily="34" charset="-120"/>
                        </a:rPr>
                        <a:t>Aufbau</a:t>
                      </a:r>
                      <a:endParaRPr lang="en-US" sz="17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l" indent="0" marL="0">
                        <a:buNone/>
                      </a:pPr>
                      <a:r>
                        <a:rPr lang="en-US" sz="1700" dirty="0">
                          <a:solidFill>
                            <a:srgbClr val="1B1B1F"/>
                          </a:solidFill>
                          <a:latin typeface="Calibri" pitchFamily="34" charset="0"/>
                          <a:ea typeface="Calibri" pitchFamily="34" charset="-122"/>
                          <a:cs typeface="Calibri" pitchFamily="34" charset="-120"/>
                        </a:rPr>
                        <a:t>XOR · S-Box · Transposition</a:t>
                      </a:r>
                      <a:endParaRPr lang="en-US" sz="17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1B1B1F"/>
                          </a:solidFill>
                          <a:latin typeface="Calibri" pitchFamily="34" charset="0"/>
                          <a:ea typeface="Calibri" pitchFamily="34" charset="-122"/>
                          <a:cs typeface="Calibri" pitchFamily="34" charset="-120"/>
                        </a:rPr>
                        <a:t>Feistel: Hälften, Rundenfunktion, Tausch</a:t>
                      </a:r>
                      <a:endParaRPr lang="en-US" sz="17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1B1B1F"/>
                          </a:solidFill>
                          <a:latin typeface="Calibri" pitchFamily="34" charset="0"/>
                          <a:ea typeface="Calibri" pitchFamily="34" charset="-122"/>
                          <a:cs typeface="Calibri" pitchFamily="34" charset="-120"/>
                        </a:rPr>
                        <a:t>S-Box · Zeilenrotation · Spaltenmischung · XOR</a:t>
                      </a:r>
                      <a:endParaRPr lang="en-US" sz="17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48640" y="3491484"/>
            <a:ext cx="11094415" cy="603504"/>
          </a:xfrm>
          <a:prstGeom prst="rect">
            <a:avLst/>
          </a:prstGeom>
          <a:noFill/>
          <a:ln/>
        </p:spPr>
        <p:txBody>
          <a:bodyPr wrap="square" lIns="0" tIns="0" rIns="0" bIns="0" rtlCol="0" anchor="t"/>
          <a:lstStyle/>
          <a:p>
            <a:pPr algn="l" indent="0" marL="0">
              <a:buNone/>
            </a:pPr>
            <a:r>
              <a:rPr lang="en-US" sz="1800" dirty="0">
                <a:solidFill>
                  <a:srgbClr val="1B1B1F"/>
                </a:solidFill>
              </a:rPr>
              <a:t>Feistel: Block in Hälften L/R, nur eine Hälfte durch die Rundenfunktion, dann tauschen. AES ist Ergänzung (nicht prüfungsrelevant).</a:t>
            </a:r>
            <a:endParaRPr lang="en-US" sz="18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1645920" y="2651760"/>
            <a:ext cx="9601200" cy="1097280"/>
          </a:xfrm>
          <a:prstGeom prst="rect">
            <a:avLst/>
          </a:prstGeom>
          <a:noFill/>
          <a:ln/>
        </p:spPr>
        <p:txBody>
          <a:bodyPr wrap="square" lIns="0" tIns="0" rIns="0" bIns="0" rtlCol="0" anchor="ctr"/>
          <a:lstStyle/>
          <a:p>
            <a:pPr algn="l" indent="0" marL="0">
              <a:buNone/>
            </a:pPr>
            <a:r>
              <a:rPr lang="en-US" sz="4000" b="1" dirty="0">
                <a:solidFill>
                  <a:srgbClr val="FBF7EE"/>
                </a:solidFill>
                <a:latin typeface="Georgia" pitchFamily="34" charset="0"/>
                <a:ea typeface="Georgia" pitchFamily="34" charset="-122"/>
                <a:cs typeface="Georgia" pitchFamily="34" charset="-120"/>
              </a:rPr>
              <a:t>DS 11 · Die Chiffren-Werkstatt</a:t>
            </a:r>
            <a:endParaRPr lang="en-US" sz="4000" dirty="0"/>
          </a:p>
        </p:txBody>
      </p:sp>
      <p:sp>
        <p:nvSpPr>
          <p:cNvPr id="3" name="Text 1"/>
          <p:cNvSpPr txBox="1"/>
          <p:nvPr/>
        </p:nvSpPr>
        <p:spPr>
          <a:xfrm>
            <a:off x="1645920" y="3749040"/>
            <a:ext cx="9601200" cy="548640"/>
          </a:xfrm>
          <a:prstGeom prst="rect">
            <a:avLst/>
          </a:prstGeom>
          <a:noFill/>
          <a:ln/>
        </p:spPr>
        <p:txBody>
          <a:bodyPr wrap="square" lIns="0" tIns="0" rIns="0" bIns="0" rtlCol="0" anchor="ctr"/>
          <a:lstStyle/>
          <a:p>
            <a:pPr indent="0" marL="0">
              <a:buNone/>
            </a:pPr>
            <a:r>
              <a:rPr lang="en-US" sz="2000" dirty="0">
                <a:solidFill>
                  <a:srgbClr val="D9A441"/>
                </a:solidFill>
              </a:rPr>
              <a:t>Jetzt baut ihr.</a:t>
            </a:r>
            <a:endParaRPr lang="en-US" sz="20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9A441"/>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Der Baukasten</a:t>
            </a:r>
            <a:endParaRPr lang="en-US" sz="30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4415" cy="914400"/>
        </p:xfrm>
        <a:graphic>
          <a:graphicData uri="http://schemas.openxmlformats.org/drawingml/2006/table">
            <a:tbl>
              <a:tblPr/>
              <a:tblGrid>
                <a:gridCol w="3698138"/>
                <a:gridCol w="3698138"/>
                <a:gridCol w="3698138"/>
              </a:tblGrid>
              <a:tr h="0">
                <a:tc>
                  <a:txBody>
                    <a:bodyPr/>
                    <a:lstStyle/>
                    <a:p>
                      <a:pPr algn="ctr" indent="0" marL="0">
                        <a:buNone/>
                      </a:pPr>
                      <a:r>
                        <a:rPr lang="en-US" sz="2000" b="1" dirty="0">
                          <a:solidFill>
                            <a:srgbClr val="1B1B1F"/>
                          </a:solidFill>
                          <a:latin typeface="Calibri" pitchFamily="34" charset="0"/>
                          <a:ea typeface="Calibri" pitchFamily="34" charset="-122"/>
                          <a:cs typeface="Calibri" pitchFamily="34" charset="-120"/>
                        </a:rPr>
                        <a:t>Substitution</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2000" b="1" dirty="0">
                          <a:solidFill>
                            <a:srgbClr val="1B1B1F"/>
                          </a:solidFill>
                          <a:latin typeface="Calibri" pitchFamily="34" charset="0"/>
                          <a:ea typeface="Calibri" pitchFamily="34" charset="-122"/>
                          <a:cs typeface="Calibri" pitchFamily="34" charset="-120"/>
                        </a:rPr>
                        <a:t>Transposition</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c>
                  <a:txBody>
                    <a:bodyPr/>
                    <a:lstStyle/>
                    <a:p>
                      <a:pPr algn="ctr" indent="0" marL="0">
                        <a:buNone/>
                      </a:pPr>
                      <a:r>
                        <a:rPr lang="en-US" sz="2000" b="1" dirty="0">
                          <a:solidFill>
                            <a:srgbClr val="1B1B1F"/>
                          </a:solidFill>
                          <a:latin typeface="Calibri" pitchFamily="34" charset="0"/>
                          <a:ea typeface="Calibri" pitchFamily="34" charset="-122"/>
                          <a:cs typeface="Calibri" pitchFamily="34" charset="-120"/>
                        </a:rPr>
                        <a:t>Bitebene</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2EADB"/>
                    </a:solidFill>
                  </a:tcPr>
                </a:tc>
              </a:tr>
              <a:tr h="0">
                <a:tc>
                  <a:txBody>
                    <a:bodyPr/>
                    <a:lstStyle/>
                    <a:p>
                      <a:pPr algn="ctr" indent="0" marL="0">
                        <a:buNone/>
                      </a:pPr>
                      <a:r>
                        <a:rPr lang="en-US" sz="2000" dirty="0">
                          <a:solidFill>
                            <a:srgbClr val="1B1B1F"/>
                          </a:solidFill>
                          <a:latin typeface="Calibri" pitchFamily="34" charset="0"/>
                          <a:ea typeface="Calibri" pitchFamily="34" charset="-122"/>
                          <a:cs typeface="Calibri" pitchFamily="34" charset="-120"/>
                        </a:rPr>
                        <a:t>Caesar · Schlüsselwort-Substitution · Vigenère</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B1B1F"/>
                          </a:solidFill>
                          <a:latin typeface="Calibri" pitchFamily="34" charset="0"/>
                          <a:ea typeface="Calibri" pitchFamily="34" charset="-122"/>
                          <a:cs typeface="Calibri" pitchFamily="34" charset="-120"/>
                        </a:rPr>
                        <a:t>Spalten · Gartenzaun · Blockrotation · Umkehrung</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B1B1F"/>
                          </a:solidFill>
                          <a:latin typeface="Calibri" pitchFamily="34" charset="0"/>
                          <a:ea typeface="Calibri" pitchFamily="34" charset="-122"/>
                          <a:cs typeface="Calibri" pitchFamily="34" charset="-120"/>
                        </a:rPr>
                        <a:t>XOR (nur als letzte Stufe)</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48640" y="2566416"/>
            <a:ext cx="11094415" cy="386588"/>
          </a:xfrm>
          <a:prstGeom prst="rect">
            <a:avLst/>
          </a:prstGeom>
          <a:noFill/>
          <a:ln/>
        </p:spPr>
        <p:txBody>
          <a:bodyPr wrap="square" lIns="0" tIns="0" rIns="0" bIns="0" rtlCol="0" anchor="t"/>
          <a:lstStyle/>
          <a:p>
            <a:pPr algn="l" indent="0" marL="0">
              <a:buNone/>
            </a:pPr>
            <a:r>
              <a:rPr lang="en-US" sz="2200" dirty="0">
                <a:solidFill>
                  <a:srgbClr val="1B1B1F"/>
                </a:solidFill>
              </a:rPr>
              <a:t>•  </a:t>
            </a:r>
            <a:r>
              <a:rPr lang="en-US" sz="2200" b="1" dirty="0">
                <a:solidFill>
                  <a:srgbClr val="1B1B1F"/>
                </a:solidFill>
              </a:rPr>
              <a:t>1–4 Stufen</a:t>
            </a:r>
            <a:r>
              <a:rPr lang="en-US" sz="2200" dirty="0">
                <a:solidFill>
                  <a:srgbClr val="1B1B1F"/>
                </a:solidFill>
              </a:rPr>
              <a:t> kombinieren, nie auffüllen</a:t>
            </a:r>
            <a:endParaRPr lang="en-US" sz="2200" dirty="0"/>
          </a:p>
        </p:txBody>
      </p:sp>
      <p:sp>
        <p:nvSpPr>
          <p:cNvPr id="5" name="Text 2"/>
          <p:cNvSpPr txBox="1"/>
          <p:nvPr/>
        </p:nvSpPr>
        <p:spPr>
          <a:xfrm>
            <a:off x="548640" y="3081020"/>
            <a:ext cx="11094415" cy="386588"/>
          </a:xfrm>
          <a:prstGeom prst="rect">
            <a:avLst/>
          </a:prstGeom>
          <a:noFill/>
          <a:ln/>
        </p:spPr>
        <p:txBody>
          <a:bodyPr wrap="square" lIns="0" tIns="0" rIns="0" bIns="0" rtlCol="0" anchor="t"/>
          <a:lstStyle/>
          <a:p>
            <a:pPr algn="l" indent="0" marL="0">
              <a:buNone/>
            </a:pPr>
            <a:r>
              <a:rPr lang="en-US" sz="2200" dirty="0">
                <a:solidFill>
                  <a:srgbClr val="1B1B1F"/>
                </a:solidFill>
              </a:rPr>
              <a:t>•  </a:t>
            </a:r>
            <a:r>
              <a:rPr lang="en-US" sz="2200" b="1" dirty="0">
                <a:solidFill>
                  <a:srgbClr val="1B1B1F"/>
                </a:solidFill>
              </a:rPr>
              <a:t>Kerckhoffs:</a:t>
            </a:r>
            <a:r>
              <a:rPr lang="en-US" sz="2200" dirty="0">
                <a:solidFill>
                  <a:srgbClr val="1B1B1F"/>
                </a:solidFill>
              </a:rPr>
              <a:t> Verfahren öffentlich, Schlüssel geheim</a:t>
            </a:r>
            <a:endParaRPr lang="en-US" sz="2200" dirty="0"/>
          </a:p>
        </p:txBody>
      </p:sp>
      <p:sp>
        <p:nvSpPr>
          <p:cNvPr id="6" name="Text 3"/>
          <p:cNvSpPr txBox="1"/>
          <p:nvPr/>
        </p:nvSpPr>
        <p:spPr>
          <a:xfrm>
            <a:off x="548640" y="3595624"/>
            <a:ext cx="11094415" cy="386588"/>
          </a:xfrm>
          <a:prstGeom prst="rect">
            <a:avLst/>
          </a:prstGeom>
          <a:noFill/>
          <a:ln/>
        </p:spPr>
        <p:txBody>
          <a:bodyPr wrap="square" lIns="0" tIns="0" rIns="0" bIns="0" rtlCol="0" anchor="t"/>
          <a:lstStyle/>
          <a:p>
            <a:pPr algn="l" indent="0" marL="0">
              <a:buNone/>
            </a:pPr>
            <a:r>
              <a:rPr lang="en-US" sz="2200" dirty="0">
                <a:solidFill>
                  <a:srgbClr val="1B1B1F"/>
                </a:solidFill>
              </a:rPr>
              <a:t>•  Text </a:t>
            </a:r>
            <a:r>
              <a:rPr lang="en-US" sz="2200" b="1" dirty="0">
                <a:solidFill>
                  <a:srgbClr val="1B1B1F"/>
                </a:solidFill>
              </a:rPr>
              <a:t>≥ 150 Buchstaben</a:t>
            </a:r>
            <a:r>
              <a:rPr lang="en-US" sz="2200" dirty="0">
                <a:solidFill>
                  <a:srgbClr val="1B1B1F"/>
                </a:solidFill>
              </a:rPr>
              <a:t>, selbst formuliert</a:t>
            </a:r>
            <a:endParaRPr lang="en-US" sz="22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FBF7EE"/>
                </a:solidFill>
                <a:latin typeface="Georgia" pitchFamily="34" charset="0"/>
                <a:ea typeface="Georgia" pitchFamily="34" charset="-122"/>
                <a:cs typeface="Georgia" pitchFamily="34" charset="-120"/>
              </a:rPr>
              <a:t>Knack-Arena</a:t>
            </a:r>
            <a:endParaRPr lang="en-US" sz="3000" dirty="0"/>
          </a:p>
        </p:txBody>
      </p:sp>
      <p:pic>
        <p:nvPicPr>
          <p:cNvPr id="3" name="Image 0" descr="/tmp/kr_bildcache/qr_984271427082c3ad.png">    </p:cNvPr>
          <p:cNvPicPr>
            <a:picLocks noChangeAspect="1"/>
          </p:cNvPicPr>
          <p:nvPr/>
        </p:nvPicPr>
        <p:blipFill>
          <a:blip r:embed="rId1"/>
          <a:stretch>
            <a:fillRect/>
          </a:stretch>
        </p:blipFill>
        <p:spPr>
          <a:xfrm>
            <a:off x="9905695" y="4206240"/>
            <a:ext cx="1737360" cy="1737360"/>
          </a:xfrm>
          <a:prstGeom prst="rect">
            <a:avLst/>
          </a:prstGeom>
        </p:spPr>
      </p:pic>
      <p:sp>
        <p:nvSpPr>
          <p:cNvPr id="4" name="Text 1"/>
          <p:cNvSpPr txBox="1"/>
          <p:nvPr/>
        </p:nvSpPr>
        <p:spPr>
          <a:xfrm>
            <a:off x="731520" y="1417320"/>
            <a:ext cx="8716975" cy="386588"/>
          </a:xfrm>
          <a:prstGeom prst="rect">
            <a:avLst/>
          </a:prstGeom>
          <a:noFill/>
          <a:ln/>
        </p:spPr>
        <p:txBody>
          <a:bodyPr wrap="square" lIns="0" tIns="0" rIns="0" bIns="0" rtlCol="0" anchor="t"/>
          <a:lstStyle/>
          <a:p>
            <a:pPr algn="l" indent="0" marL="0">
              <a:buNone/>
            </a:pPr>
            <a:r>
              <a:rPr lang="en-US" sz="2200" dirty="0">
                <a:solidFill>
                  <a:srgbClr val="FBF7EE"/>
                </a:solidFill>
              </a:rPr>
              <a:t>•  Verfahren + Geheimtext jedes Teams sind </a:t>
            </a:r>
            <a:r>
              <a:rPr lang="en-US" sz="2200" b="1" dirty="0">
                <a:solidFill>
                  <a:srgbClr val="FBF7EE"/>
                </a:solidFill>
              </a:rPr>
              <a:t>öffentlich</a:t>
            </a:r>
            <a:endParaRPr lang="en-US" sz="2200" dirty="0"/>
          </a:p>
        </p:txBody>
      </p:sp>
      <p:sp>
        <p:nvSpPr>
          <p:cNvPr id="5" name="Text 2"/>
          <p:cNvSpPr txBox="1"/>
          <p:nvPr/>
        </p:nvSpPr>
        <p:spPr>
          <a:xfrm>
            <a:off x="731520" y="1931924"/>
            <a:ext cx="8716975" cy="386588"/>
          </a:xfrm>
          <a:prstGeom prst="rect">
            <a:avLst/>
          </a:prstGeom>
          <a:noFill/>
          <a:ln/>
        </p:spPr>
        <p:txBody>
          <a:bodyPr wrap="square" lIns="0" tIns="0" rIns="0" bIns="0" rtlCol="0" anchor="t"/>
          <a:lstStyle/>
          <a:p>
            <a:pPr algn="l" indent="0" marL="0">
              <a:buNone/>
            </a:pPr>
            <a:r>
              <a:rPr lang="en-US" sz="2200" dirty="0">
                <a:solidFill>
                  <a:srgbClr val="FBF7EE"/>
                </a:solidFill>
              </a:rPr>
              <a:t>•  Angreifen mit allen Labor-Werkzeugen</a:t>
            </a:r>
            <a:endParaRPr lang="en-US" sz="2200" dirty="0"/>
          </a:p>
        </p:txBody>
      </p:sp>
      <p:sp>
        <p:nvSpPr>
          <p:cNvPr id="6" name="Text 3"/>
          <p:cNvSpPr txBox="1"/>
          <p:nvPr/>
        </p:nvSpPr>
        <p:spPr>
          <a:xfrm>
            <a:off x="731520" y="2446528"/>
            <a:ext cx="8716975" cy="386588"/>
          </a:xfrm>
          <a:prstGeom prst="rect">
            <a:avLst/>
          </a:prstGeom>
          <a:noFill/>
          <a:ln/>
        </p:spPr>
        <p:txBody>
          <a:bodyPr wrap="square" lIns="0" tIns="0" rIns="0" bIns="0" rtlCol="0" anchor="t"/>
          <a:lstStyle/>
          <a:p>
            <a:pPr algn="l" indent="0" marL="0">
              <a:buNone/>
            </a:pPr>
            <a:r>
              <a:rPr lang="en-US" sz="2200" dirty="0">
                <a:solidFill>
                  <a:srgbClr val="FBF7EE"/>
                </a:solidFill>
              </a:rPr>
              <a:t>•  Lösung zählt bei </a:t>
            </a:r>
            <a:r>
              <a:rPr lang="en-US" sz="2200" b="1" dirty="0">
                <a:solidFill>
                  <a:srgbClr val="FBF7EE"/>
                </a:solidFill>
              </a:rPr>
              <a:t>exakt passendem</a:t>
            </a:r>
            <a:r>
              <a:rPr lang="en-US" sz="2200" dirty="0">
                <a:solidFill>
                  <a:srgbClr val="FBF7EE"/>
                </a:solidFill>
              </a:rPr>
              <a:t> Klartext</a:t>
            </a:r>
            <a:endParaRPr lang="en-US" sz="2200" dirty="0"/>
          </a:p>
        </p:txBody>
      </p:sp>
      <p:sp>
        <p:nvSpPr>
          <p:cNvPr id="7" name="Text 4"/>
          <p:cNvSpPr txBox="1"/>
          <p:nvPr/>
        </p:nvSpPr>
        <p:spPr>
          <a:xfrm>
            <a:off x="731520" y="2961132"/>
            <a:ext cx="8716975" cy="386588"/>
          </a:xfrm>
          <a:prstGeom prst="rect">
            <a:avLst/>
          </a:prstGeom>
          <a:noFill/>
          <a:ln/>
        </p:spPr>
        <p:txBody>
          <a:bodyPr wrap="square" lIns="0" tIns="0" rIns="0" bIns="0" rtlCol="0" anchor="t"/>
          <a:lstStyle/>
          <a:p>
            <a:pPr algn="l" indent="0" marL="0">
              <a:buNone/>
            </a:pPr>
            <a:r>
              <a:rPr lang="en-US" sz="2200" dirty="0">
                <a:solidFill>
                  <a:srgbClr val="FBF7EE"/>
                </a:solidFill>
              </a:rPr>
              <a:t>•  Abzeichen „Arena-Knacker“ und „Unknackbar“</a:t>
            </a:r>
            <a:endParaRPr lang="en-US" sz="22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9A441"/>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Beurteilt euer Verfahren</a:t>
            </a:r>
            <a:endParaRPr lang="en-US" sz="3000" dirty="0"/>
          </a:p>
        </p:txBody>
      </p:sp>
      <p:sp>
        <p:nvSpPr>
          <p:cNvPr id="3" name="Text 1"/>
          <p:cNvSpPr txBox="1"/>
          <p:nvPr/>
        </p:nvSpPr>
        <p:spPr>
          <a:xfrm>
            <a:off x="548640" y="1325880"/>
            <a:ext cx="1463040" cy="384048"/>
          </a:xfrm>
          <a:prstGeom prst="rect">
            <a:avLst/>
          </a:prstGeom>
          <a:solidFill>
            <a:srgbClr val="556B2F"/>
          </a:solidFill>
          <a:ln/>
        </p:spPr>
        <p:txBody>
          <a:bodyPr wrap="square" lIns="0" tIns="0" rIns="0" bIns="0" rtlCol="0" anchor="ctr"/>
          <a:lstStyle/>
          <a:p>
            <a:pPr algn="ctr" indent="0" marL="0">
              <a:buNone/>
            </a:pPr>
            <a:r>
              <a:rPr lang="en-US" sz="1400" b="1" spc="300" kern="0" dirty="0">
                <a:solidFill>
                  <a:srgbClr val="FFFFFF"/>
                </a:solidFill>
              </a:rPr>
              <a:t>AUFTRAG</a:t>
            </a:r>
            <a:endParaRPr lang="en-US" sz="1400" dirty="0"/>
          </a:p>
        </p:txBody>
      </p:sp>
      <p:sp>
        <p:nvSpPr>
          <p:cNvPr id="4" name="Text 2"/>
          <p:cNvSpPr txBox="1"/>
          <p:nvPr/>
        </p:nvSpPr>
        <p:spPr>
          <a:xfrm>
            <a:off x="2148840" y="1325880"/>
            <a:ext cx="758952" cy="384048"/>
          </a:xfrm>
          <a:prstGeom prst="rect">
            <a:avLst/>
          </a:prstGeom>
          <a:solidFill>
            <a:srgbClr val="F2EADB"/>
          </a:solidFill>
          <a:ln/>
        </p:spPr>
        <p:txBody>
          <a:bodyPr wrap="square" lIns="0" tIns="0" rIns="0" bIns="0" rtlCol="0" anchor="ctr"/>
          <a:lstStyle/>
          <a:p>
            <a:pPr algn="ctr" indent="0" marL="0">
              <a:buNone/>
            </a:pPr>
            <a:r>
              <a:rPr lang="en-US" sz="1400" dirty="0">
                <a:solidFill>
                  <a:srgbClr val="1B1B1F"/>
                </a:solidFill>
              </a:rPr>
              <a:t>Team</a:t>
            </a:r>
            <a:endParaRPr lang="en-US" sz="1400" dirty="0"/>
          </a:p>
        </p:txBody>
      </p:sp>
      <p:sp>
        <p:nvSpPr>
          <p:cNvPr id="5" name="Text 3"/>
          <p:cNvSpPr txBox="1"/>
          <p:nvPr/>
        </p:nvSpPr>
        <p:spPr>
          <a:xfrm>
            <a:off x="3044952" y="1325880"/>
            <a:ext cx="978408" cy="384048"/>
          </a:xfrm>
          <a:prstGeom prst="rect">
            <a:avLst/>
          </a:prstGeom>
          <a:solidFill>
            <a:srgbClr val="F2EADB"/>
          </a:solidFill>
          <a:ln/>
        </p:spPr>
        <p:txBody>
          <a:bodyPr wrap="square" lIns="0" tIns="0" rIns="0" bIns="0" rtlCol="0" anchor="ctr"/>
          <a:lstStyle/>
          <a:p>
            <a:pPr algn="ctr" indent="0" marL="0">
              <a:buNone/>
            </a:pPr>
            <a:r>
              <a:rPr lang="en-US" sz="1400" dirty="0">
                <a:solidFill>
                  <a:srgbClr val="1B1B1F"/>
                </a:solidFill>
              </a:rPr>
              <a:t>10 min</a:t>
            </a:r>
            <a:endParaRPr lang="en-US" sz="14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48640" y="1965960"/>
          <a:ext cx="11094415" cy="914400"/>
        </p:xfrm>
        <a:graphic>
          <a:graphicData uri="http://schemas.openxmlformats.org/drawingml/2006/table">
            <a:tbl>
              <a:tblPr/>
              <a:tblGrid>
                <a:gridCol w="2773604"/>
                <a:gridCol w="2773604"/>
                <a:gridCol w="2773604"/>
                <a:gridCol w="2773604"/>
              </a:tblGrid>
              <a:tr h="0">
                <a:tc>
                  <a:txBody>
                    <a:bodyPr/>
                    <a:lstStyle/>
                    <a:p>
                      <a:pPr algn="ctr" indent="0" marL="0">
                        <a:buNone/>
                      </a:pPr>
                      <a:r>
                        <a:rPr lang="en-US" sz="2000" dirty="0">
                          <a:solidFill>
                            <a:srgbClr val="1B1B1F"/>
                          </a:solidFill>
                          <a:latin typeface="Calibri" pitchFamily="34" charset="0"/>
                          <a:ea typeface="Calibri" pitchFamily="34" charset="-122"/>
                          <a:cs typeface="Calibri" pitchFamily="34" charset="-120"/>
                        </a:rPr>
                        <a:t>Schlüsselraum</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B1B1F"/>
                          </a:solidFill>
                          <a:latin typeface="Calibri" pitchFamily="34" charset="0"/>
                          <a:ea typeface="Calibri" pitchFamily="34" charset="-122"/>
                          <a:cs typeface="Calibri" pitchFamily="34" charset="-120"/>
                        </a:rPr>
                        <a:t>Häufigkeitsanalyse</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B1B1F"/>
                          </a:solidFill>
                          <a:latin typeface="Calibri" pitchFamily="34" charset="0"/>
                          <a:ea typeface="Calibri" pitchFamily="34" charset="-122"/>
                          <a:cs typeface="Calibri" pitchFamily="34" charset="-120"/>
                        </a:rPr>
                        <a:t>schwache Schlüssel</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B1B1F"/>
                          </a:solidFill>
                          <a:latin typeface="Calibri" pitchFamily="34" charset="0"/>
                          <a:ea typeface="Calibri" pitchFamily="34" charset="-122"/>
                          <a:cs typeface="Calibri" pitchFamily="34" charset="-120"/>
                        </a:rPr>
                        <a:t>Kombination</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r h="0">
                <a:tc>
                  <a:txBody>
                    <a:bodyPr/>
                    <a:lstStyle/>
                    <a:p>
                      <a:pPr algn="ctr" indent="0" marL="0">
                        <a:buNone/>
                      </a:pPr>
                      <a:r>
                        <a:rPr lang="en-US" sz="2000" dirty="0">
                          <a:solidFill>
                            <a:srgbClr val="1B1B1F"/>
                          </a:solidFill>
                          <a:latin typeface="Calibri" pitchFamily="34" charset="0"/>
                          <a:ea typeface="Calibri" pitchFamily="34" charset="-122"/>
                          <a:cs typeface="Calibri" pitchFamily="34" charset="-120"/>
                        </a:rPr>
                        <a:t>Known-Plaintext</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B1B1F"/>
                          </a:solidFill>
                          <a:latin typeface="Calibri" pitchFamily="34" charset="0"/>
                          <a:ea typeface="Calibri" pitchFamily="34" charset="-122"/>
                          <a:cs typeface="Calibri" pitchFamily="34" charset="-120"/>
                        </a:rPr>
                        <a:t>Fehlerfortpflanzung</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B1B1F"/>
                          </a:solidFill>
                          <a:latin typeface="Calibri" pitchFamily="34" charset="0"/>
                          <a:ea typeface="Calibri" pitchFamily="34" charset="-122"/>
                          <a:cs typeface="Calibri" pitchFamily="34" charset="-120"/>
                        </a:rPr>
                        <a:t>Kerckhoffs / Arena</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c>
                  <a:txBody>
                    <a:bodyPr/>
                    <a:lstStyle/>
                    <a:p>
                      <a:pPr algn="ctr" indent="0" marL="0">
                        <a:buNone/>
                      </a:pPr>
                      <a:r>
                        <a:rPr lang="en-US" sz="2000" b="1" dirty="0">
                          <a:solidFill>
                            <a:srgbClr val="1B1B1F"/>
                          </a:solidFill>
                          <a:latin typeface="Calibri" pitchFamily="34" charset="0"/>
                          <a:ea typeface="Calibri" pitchFamily="34" charset="-122"/>
                          <a:cs typeface="Calibri" pitchFamily="34" charset="-120"/>
                        </a:rPr>
                        <a:t>→ Urteil</a:t>
                      </a:r>
                      <a:endParaRPr lang="en-US" sz="2000" dirty="0">
                        <a:latin typeface="Calibri" charset="0"/>
                        <a:ea typeface="Calibri" charset="0"/>
                        <a:cs typeface="Calibri" charset="0"/>
                      </a:endParaRPr>
                    </a:p>
                  </a:txBody>
                  <a:tcPr marL="64008" marR="64008" marT="36576" marB="36576" anchor="ctr">
                    <a:lnL w="9525" cap="flat" cmpd="sng" algn="ctr">
                      <a:solidFill>
                        <a:srgbClr val="D8CDB8"/>
                      </a:solidFill>
                      <a:prstDash val="solid"/>
                      <a:round/>
                      <a:headEnd type="none" w="med" len="med"/>
                      <a:tailEnd type="none" w="med" len="med"/>
                    </a:lnL>
                    <a:lnR w="9525" cap="flat" cmpd="sng" algn="ctr">
                      <a:solidFill>
                        <a:srgbClr val="D8CDB8"/>
                      </a:solidFill>
                      <a:prstDash val="solid"/>
                      <a:round/>
                      <a:headEnd type="none" w="med" len="med"/>
                      <a:tailEnd type="none" w="med" len="med"/>
                    </a:lnR>
                    <a:lnT w="9525" cap="flat" cmpd="sng" algn="ctr">
                      <a:solidFill>
                        <a:srgbClr val="D8CDB8"/>
                      </a:solidFill>
                      <a:prstDash val="solid"/>
                      <a:round/>
                      <a:headEnd type="none" w="med" len="med"/>
                      <a:tailEnd type="none" w="med" len="med"/>
                    </a:lnT>
                    <a:lnB w="9525" cap="flat" cmpd="sng" algn="ctr">
                      <a:solidFill>
                        <a:srgbClr val="D8CDB8"/>
                      </a:solidFill>
                      <a:prstDash val="solid"/>
                      <a:round/>
                      <a:headEnd type="none" w="med" len="med"/>
                      <a:tailEnd type="none" w="med" len="med"/>
                    </a:lnB>
                    <a:solidFill>
                      <a:srgbClr val="FFFFFF"/>
                    </a:solidFill>
                  </a:tcPr>
                </a:tc>
              </a:tr>
            </a:tbl>
          </a:graphicData>
        </a:graphic>
      </p:graphicFrame>
      <p:sp>
        <p:nvSpPr>
          <p:cNvPr id="7" name="Text 4"/>
          <p:cNvSpPr txBox="1"/>
          <p:nvPr/>
        </p:nvSpPr>
        <p:spPr>
          <a:xfrm>
            <a:off x="548640" y="2896616"/>
            <a:ext cx="11094415" cy="727456"/>
          </a:xfrm>
          <a:prstGeom prst="rect">
            <a:avLst/>
          </a:prstGeom>
          <a:noFill/>
          <a:ln/>
        </p:spPr>
        <p:txBody>
          <a:bodyPr wrap="square" lIns="0" tIns="0" rIns="0" bIns="0" rtlCol="0" anchor="t"/>
          <a:lstStyle/>
          <a:p>
            <a:pPr algn="l" indent="0" marL="0">
              <a:buNone/>
            </a:pPr>
            <a:r>
              <a:rPr lang="en-US" sz="2200" dirty="0">
                <a:solidFill>
                  <a:srgbClr val="1B1B1F"/>
                </a:solidFill>
              </a:rPr>
              <a:t>„Unser Verfahren ist gegen … sicher/unsicher, weil …; am meisten gefährdet durch …; verbessern würden wir …“</a:t>
            </a:r>
            <a:endParaRPr lang="en-US" sz="22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ADFGVX · Stufe 1</a:t>
            </a:r>
            <a:endParaRPr lang="en-US" sz="30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1139269" y="1325880"/>
          <a:ext cx="3968496" cy="914400"/>
        </p:xfrm>
        <a:graphic>
          <a:graphicData uri="http://schemas.openxmlformats.org/drawingml/2006/table">
            <a:tbl>
              <a:tblPr/>
              <a:tblGrid>
                <a:gridCol w="566928"/>
                <a:gridCol w="566928"/>
                <a:gridCol w="566928"/>
                <a:gridCol w="566928"/>
                <a:gridCol w="566928"/>
                <a:gridCol w="566928"/>
                <a:gridCol w="566928"/>
              </a:tblGrid>
              <a:tr h="566928">
                <a:tc>
                  <a:txBody>
                    <a:bodyPr/>
                    <a:lstStyle/>
                    <a:p>
                      <a:pPr algn="ctr" indent="0" marL="0">
                        <a:buNone/>
                      </a:pP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2EADB"/>
                    </a:solidFill>
                  </a:tcPr>
                </a:tc>
                <a:tc>
                  <a:txBody>
                    <a:bodyPr/>
                    <a:lstStyle/>
                    <a:p>
                      <a:pPr algn="ctr" indent="0" marL="0">
                        <a:buNone/>
                      </a:pPr>
                      <a:r>
                        <a:rPr lang="en-US" sz="2232" b="1" dirty="0">
                          <a:solidFill>
                            <a:srgbClr val="1B1B1F"/>
                          </a:solidFill>
                          <a:latin typeface="Consolas" pitchFamily="34" charset="0"/>
                          <a:ea typeface="Consolas" pitchFamily="34" charset="-122"/>
                          <a:cs typeface="Consolas" pitchFamily="34" charset="-120"/>
                        </a:rPr>
                        <a:t>A</a:t>
                      </a: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2EADB"/>
                    </a:solidFill>
                  </a:tcPr>
                </a:tc>
                <a:tc>
                  <a:txBody>
                    <a:bodyPr/>
                    <a:lstStyle/>
                    <a:p>
                      <a:pPr algn="ctr" indent="0" marL="0">
                        <a:buNone/>
                      </a:pPr>
                      <a:r>
                        <a:rPr lang="en-US" sz="2232" b="1" dirty="0">
                          <a:solidFill>
                            <a:srgbClr val="1B1B1F"/>
                          </a:solidFill>
                          <a:latin typeface="Consolas" pitchFamily="34" charset="0"/>
                          <a:ea typeface="Consolas" pitchFamily="34" charset="-122"/>
                          <a:cs typeface="Consolas" pitchFamily="34" charset="-120"/>
                        </a:rPr>
                        <a:t>D</a:t>
                      </a: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2EADB"/>
                    </a:solidFill>
                  </a:tcPr>
                </a:tc>
                <a:tc>
                  <a:txBody>
                    <a:bodyPr/>
                    <a:lstStyle/>
                    <a:p>
                      <a:pPr algn="ctr" indent="0" marL="0">
                        <a:buNone/>
                      </a:pPr>
                      <a:r>
                        <a:rPr lang="en-US" sz="2232" b="1" dirty="0">
                          <a:solidFill>
                            <a:srgbClr val="1B1B1F"/>
                          </a:solidFill>
                          <a:latin typeface="Consolas" pitchFamily="34" charset="0"/>
                          <a:ea typeface="Consolas" pitchFamily="34" charset="-122"/>
                          <a:cs typeface="Consolas" pitchFamily="34" charset="-120"/>
                        </a:rPr>
                        <a:t>F</a:t>
                      </a: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2EADB"/>
                    </a:solidFill>
                  </a:tcPr>
                </a:tc>
                <a:tc>
                  <a:txBody>
                    <a:bodyPr/>
                    <a:lstStyle/>
                    <a:p>
                      <a:pPr algn="ctr" indent="0" marL="0">
                        <a:buNone/>
                      </a:pPr>
                      <a:r>
                        <a:rPr lang="en-US" sz="2232" b="1" dirty="0">
                          <a:solidFill>
                            <a:srgbClr val="1B1B1F"/>
                          </a:solidFill>
                          <a:latin typeface="Consolas" pitchFamily="34" charset="0"/>
                          <a:ea typeface="Consolas" pitchFamily="34" charset="-122"/>
                          <a:cs typeface="Consolas" pitchFamily="34" charset="-120"/>
                        </a:rPr>
                        <a:t>G</a:t>
                      </a: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2EADB"/>
                    </a:solidFill>
                  </a:tcPr>
                </a:tc>
                <a:tc>
                  <a:txBody>
                    <a:bodyPr/>
                    <a:lstStyle/>
                    <a:p>
                      <a:pPr algn="ctr" indent="0" marL="0">
                        <a:buNone/>
                      </a:pPr>
                      <a:r>
                        <a:rPr lang="en-US" sz="2232" b="1" dirty="0">
                          <a:solidFill>
                            <a:srgbClr val="1B1B1F"/>
                          </a:solidFill>
                          <a:latin typeface="Consolas" pitchFamily="34" charset="0"/>
                          <a:ea typeface="Consolas" pitchFamily="34" charset="-122"/>
                          <a:cs typeface="Consolas" pitchFamily="34" charset="-120"/>
                        </a:rPr>
                        <a:t>V</a:t>
                      </a: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2EADB"/>
                    </a:solidFill>
                  </a:tcPr>
                </a:tc>
                <a:tc>
                  <a:txBody>
                    <a:bodyPr/>
                    <a:lstStyle/>
                    <a:p>
                      <a:pPr algn="ctr" indent="0" marL="0">
                        <a:buNone/>
                      </a:pPr>
                      <a:r>
                        <a:rPr lang="en-US" sz="2232" b="1" dirty="0">
                          <a:solidFill>
                            <a:srgbClr val="1B1B1F"/>
                          </a:solidFill>
                          <a:latin typeface="Consolas" pitchFamily="34" charset="0"/>
                          <a:ea typeface="Consolas" pitchFamily="34" charset="-122"/>
                          <a:cs typeface="Consolas" pitchFamily="34" charset="-120"/>
                        </a:rPr>
                        <a:t>X</a:t>
                      </a: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2EADB"/>
                    </a:solidFill>
                  </a:tcPr>
                </a:tc>
              </a:tr>
              <a:tr h="566928">
                <a:tc>
                  <a:txBody>
                    <a:bodyPr/>
                    <a:lstStyle/>
                    <a:p>
                      <a:pPr algn="ctr" indent="0" marL="0">
                        <a:buNone/>
                      </a:pPr>
                      <a:r>
                        <a:rPr lang="en-US" sz="2232" b="1" dirty="0">
                          <a:solidFill>
                            <a:srgbClr val="1B1B1F"/>
                          </a:solidFill>
                          <a:latin typeface="Consolas" pitchFamily="34" charset="0"/>
                          <a:ea typeface="Consolas" pitchFamily="34" charset="-122"/>
                          <a:cs typeface="Consolas" pitchFamily="34" charset="-120"/>
                        </a:rPr>
                        <a:t>A</a:t>
                      </a: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2EADB"/>
                    </a:solidFill>
                  </a:tcPr>
                </a:tc>
                <a:tc>
                  <a:txBody>
                    <a:bodyPr/>
                    <a:lstStyle/>
                    <a:p>
                      <a:pPr algn="ctr" indent="0" marL="0">
                        <a:buNone/>
                      </a:pPr>
                      <a:r>
                        <a:rPr lang="en-US" sz="2232" b="1" dirty="0">
                          <a:solidFill>
                            <a:srgbClr val="1B1B1F"/>
                          </a:solidFill>
                          <a:latin typeface="Consolas" pitchFamily="34" charset="0"/>
                          <a:ea typeface="Consolas" pitchFamily="34" charset="-122"/>
                          <a:cs typeface="Consolas" pitchFamily="34" charset="-120"/>
                        </a:rPr>
                        <a:t>Z</a:t>
                      </a: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FFFFF"/>
                    </a:solidFill>
                  </a:tcPr>
                </a:tc>
                <a:tc>
                  <a:txBody>
                    <a:bodyPr/>
                    <a:lstStyle/>
                    <a:p>
                      <a:pPr algn="ctr" indent="0" marL="0">
                        <a:buNone/>
                      </a:pPr>
                      <a:r>
                        <a:rPr lang="en-US" sz="2232" b="1" dirty="0">
                          <a:solidFill>
                            <a:srgbClr val="1B1B1F"/>
                          </a:solidFill>
                          <a:latin typeface="Consolas" pitchFamily="34" charset="0"/>
                          <a:ea typeface="Consolas" pitchFamily="34" charset="-122"/>
                          <a:cs typeface="Consolas" pitchFamily="34" charset="-120"/>
                        </a:rPr>
                        <a:t>E</a:t>
                      </a: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FFFFF"/>
                    </a:solidFill>
                  </a:tcPr>
                </a:tc>
                <a:tc>
                  <a:txBody>
                    <a:bodyPr/>
                    <a:lstStyle/>
                    <a:p>
                      <a:pPr algn="ctr" indent="0" marL="0">
                        <a:buNone/>
                      </a:pPr>
                      <a:r>
                        <a:rPr lang="en-US" sz="2232" b="1" dirty="0">
                          <a:solidFill>
                            <a:srgbClr val="1B1B1F"/>
                          </a:solidFill>
                          <a:latin typeface="Consolas" pitchFamily="34" charset="0"/>
                          <a:ea typeface="Consolas" pitchFamily="34" charset="-122"/>
                          <a:cs typeface="Consolas" pitchFamily="34" charset="-120"/>
                        </a:rPr>
                        <a:t>P</a:t>
                      </a: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FFFFF"/>
                    </a:solidFill>
                  </a:tcPr>
                </a:tc>
                <a:tc>
                  <a:txBody>
                    <a:bodyPr/>
                    <a:lstStyle/>
                    <a:p>
                      <a:pPr algn="ctr" indent="0" marL="0">
                        <a:buNone/>
                      </a:pPr>
                      <a:r>
                        <a:rPr lang="en-US" sz="2232" b="1" dirty="0">
                          <a:solidFill>
                            <a:srgbClr val="1B1B1F"/>
                          </a:solidFill>
                          <a:latin typeface="Consolas" pitchFamily="34" charset="0"/>
                          <a:ea typeface="Consolas" pitchFamily="34" charset="-122"/>
                          <a:cs typeface="Consolas" pitchFamily="34" charset="-120"/>
                        </a:rPr>
                        <a:t>L</a:t>
                      </a: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FFFFF"/>
                    </a:solidFill>
                  </a:tcPr>
                </a:tc>
                <a:tc>
                  <a:txBody>
                    <a:bodyPr/>
                    <a:lstStyle/>
                    <a:p>
                      <a:pPr algn="ctr" indent="0" marL="0">
                        <a:buNone/>
                      </a:pPr>
                      <a:r>
                        <a:rPr lang="en-US" sz="2232" b="1" dirty="0">
                          <a:solidFill>
                            <a:srgbClr val="1B1B1F"/>
                          </a:solidFill>
                          <a:latin typeface="Consolas" pitchFamily="34" charset="0"/>
                          <a:ea typeface="Consolas" pitchFamily="34" charset="-122"/>
                          <a:cs typeface="Consolas" pitchFamily="34" charset="-120"/>
                        </a:rPr>
                        <a:t>I</a:t>
                      </a: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FFFFF"/>
                    </a:solidFill>
                  </a:tcPr>
                </a:tc>
                <a:tc>
                  <a:txBody>
                    <a:bodyPr/>
                    <a:lstStyle/>
                    <a:p>
                      <a:pPr algn="ctr" indent="0" marL="0">
                        <a:buNone/>
                      </a:pPr>
                      <a:r>
                        <a:rPr lang="en-US" sz="2232" b="1" dirty="0">
                          <a:solidFill>
                            <a:srgbClr val="1B1B1F"/>
                          </a:solidFill>
                          <a:latin typeface="Consolas" pitchFamily="34" charset="0"/>
                          <a:ea typeface="Consolas" pitchFamily="34" charset="-122"/>
                          <a:cs typeface="Consolas" pitchFamily="34" charset="-120"/>
                        </a:rPr>
                        <a:t>N</a:t>
                      </a: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3E1C3"/>
                    </a:solidFill>
                  </a:tcPr>
                </a:tc>
              </a:tr>
              <a:tr h="566928">
                <a:tc>
                  <a:txBody>
                    <a:bodyPr/>
                    <a:lstStyle/>
                    <a:p>
                      <a:pPr algn="ctr" indent="0" marL="0">
                        <a:buNone/>
                      </a:pPr>
                      <a:r>
                        <a:rPr lang="en-US" sz="2232" b="1" dirty="0">
                          <a:solidFill>
                            <a:srgbClr val="1B1B1F"/>
                          </a:solidFill>
                          <a:latin typeface="Consolas" pitchFamily="34" charset="0"/>
                          <a:ea typeface="Consolas" pitchFamily="34" charset="-122"/>
                          <a:cs typeface="Consolas" pitchFamily="34" charset="-120"/>
                        </a:rPr>
                        <a:t>D</a:t>
                      </a: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2EADB"/>
                    </a:solidFill>
                  </a:tcPr>
                </a:tc>
                <a:tc>
                  <a:txBody>
                    <a:bodyPr/>
                    <a:lstStyle/>
                    <a:p>
                      <a:pPr algn="ctr" indent="0" marL="0">
                        <a:buNone/>
                      </a:pPr>
                      <a:r>
                        <a:rPr lang="en-US" sz="2232" b="1" dirty="0">
                          <a:solidFill>
                            <a:srgbClr val="1B1B1F"/>
                          </a:solidFill>
                          <a:latin typeface="Consolas" pitchFamily="34" charset="0"/>
                          <a:ea typeface="Consolas" pitchFamily="34" charset="-122"/>
                          <a:cs typeface="Consolas" pitchFamily="34" charset="-120"/>
                        </a:rPr>
                        <a:t>1</a:t>
                      </a: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FFFFF"/>
                    </a:solidFill>
                  </a:tcPr>
                </a:tc>
                <a:tc>
                  <a:txBody>
                    <a:bodyPr/>
                    <a:lstStyle/>
                    <a:p>
                      <a:pPr algn="ctr" indent="0" marL="0">
                        <a:buNone/>
                      </a:pPr>
                      <a:r>
                        <a:rPr lang="en-US" sz="2232" b="1" dirty="0">
                          <a:solidFill>
                            <a:srgbClr val="1B1B1F"/>
                          </a:solidFill>
                          <a:latin typeface="Consolas" pitchFamily="34" charset="0"/>
                          <a:ea typeface="Consolas" pitchFamily="34" charset="-122"/>
                          <a:cs typeface="Consolas" pitchFamily="34" charset="-120"/>
                        </a:rPr>
                        <a:t>8</a:t>
                      </a: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FFFFF"/>
                    </a:solidFill>
                  </a:tcPr>
                </a:tc>
                <a:tc>
                  <a:txBody>
                    <a:bodyPr/>
                    <a:lstStyle/>
                    <a:p>
                      <a:pPr algn="ctr" indent="0" marL="0">
                        <a:buNone/>
                      </a:pPr>
                      <a:r>
                        <a:rPr lang="en-US" sz="2232" b="1" dirty="0">
                          <a:solidFill>
                            <a:srgbClr val="1B1B1F"/>
                          </a:solidFill>
                          <a:latin typeface="Consolas" pitchFamily="34" charset="0"/>
                          <a:ea typeface="Consolas" pitchFamily="34" charset="-122"/>
                          <a:cs typeface="Consolas" pitchFamily="34" charset="-120"/>
                        </a:rPr>
                        <a:t>A</a:t>
                      </a: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3E1C3"/>
                    </a:solidFill>
                  </a:tcPr>
                </a:tc>
                <a:tc>
                  <a:txBody>
                    <a:bodyPr/>
                    <a:lstStyle/>
                    <a:p>
                      <a:pPr algn="ctr" indent="0" marL="0">
                        <a:buNone/>
                      </a:pPr>
                      <a:r>
                        <a:rPr lang="en-US" sz="2232" b="1" dirty="0">
                          <a:solidFill>
                            <a:srgbClr val="1B1B1F"/>
                          </a:solidFill>
                          <a:latin typeface="Consolas" pitchFamily="34" charset="0"/>
                          <a:ea typeface="Consolas" pitchFamily="34" charset="-122"/>
                          <a:cs typeface="Consolas" pitchFamily="34" charset="-120"/>
                        </a:rPr>
                        <a:t>B</a:t>
                      </a: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FFFFF"/>
                    </a:solidFill>
                  </a:tcPr>
                </a:tc>
                <a:tc>
                  <a:txBody>
                    <a:bodyPr/>
                    <a:lstStyle/>
                    <a:p>
                      <a:pPr algn="ctr" indent="0" marL="0">
                        <a:buNone/>
                      </a:pPr>
                      <a:r>
                        <a:rPr lang="en-US" sz="2232" b="1" dirty="0">
                          <a:solidFill>
                            <a:srgbClr val="1B1B1F"/>
                          </a:solidFill>
                          <a:latin typeface="Consolas" pitchFamily="34" charset="0"/>
                          <a:ea typeface="Consolas" pitchFamily="34" charset="-122"/>
                          <a:cs typeface="Consolas" pitchFamily="34" charset="-120"/>
                        </a:rPr>
                        <a:t>C</a:t>
                      </a: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FFFFF"/>
                    </a:solidFill>
                  </a:tcPr>
                </a:tc>
                <a:tc>
                  <a:txBody>
                    <a:bodyPr/>
                    <a:lstStyle/>
                    <a:p>
                      <a:pPr algn="ctr" indent="0" marL="0">
                        <a:buNone/>
                      </a:pPr>
                      <a:r>
                        <a:rPr lang="en-US" sz="2232" b="1" dirty="0">
                          <a:solidFill>
                            <a:srgbClr val="1B1B1F"/>
                          </a:solidFill>
                          <a:latin typeface="Consolas" pitchFamily="34" charset="0"/>
                          <a:ea typeface="Consolas" pitchFamily="34" charset="-122"/>
                          <a:cs typeface="Consolas" pitchFamily="34" charset="-120"/>
                        </a:rPr>
                        <a:t>D</a:t>
                      </a: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FFFFF"/>
                    </a:solidFill>
                  </a:tcPr>
                </a:tc>
              </a:tr>
              <a:tr h="566928">
                <a:tc>
                  <a:txBody>
                    <a:bodyPr/>
                    <a:lstStyle/>
                    <a:p>
                      <a:pPr algn="ctr" indent="0" marL="0">
                        <a:buNone/>
                      </a:pPr>
                      <a:r>
                        <a:rPr lang="en-US" sz="2232" b="1" dirty="0">
                          <a:solidFill>
                            <a:srgbClr val="1B1B1F"/>
                          </a:solidFill>
                          <a:latin typeface="Consolas" pitchFamily="34" charset="0"/>
                          <a:ea typeface="Consolas" pitchFamily="34" charset="-122"/>
                          <a:cs typeface="Consolas" pitchFamily="34" charset="-120"/>
                        </a:rPr>
                        <a:t>F</a:t>
                      </a: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2EADB"/>
                    </a:solidFill>
                  </a:tcPr>
                </a:tc>
                <a:tc>
                  <a:txBody>
                    <a:bodyPr/>
                    <a:lstStyle/>
                    <a:p>
                      <a:pPr algn="ctr" indent="0" marL="0">
                        <a:buNone/>
                      </a:pPr>
                      <a:r>
                        <a:rPr lang="en-US" sz="2232" b="1" dirty="0">
                          <a:solidFill>
                            <a:srgbClr val="1B1B1F"/>
                          </a:solidFill>
                          <a:latin typeface="Consolas" pitchFamily="34" charset="0"/>
                          <a:ea typeface="Consolas" pitchFamily="34" charset="-122"/>
                          <a:cs typeface="Consolas" pitchFamily="34" charset="-120"/>
                        </a:rPr>
                        <a:t>F</a:t>
                      </a: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FFFFF"/>
                    </a:solidFill>
                  </a:tcPr>
                </a:tc>
                <a:tc>
                  <a:txBody>
                    <a:bodyPr/>
                    <a:lstStyle/>
                    <a:p>
                      <a:pPr algn="ctr" indent="0" marL="0">
                        <a:buNone/>
                      </a:pPr>
                      <a:r>
                        <a:rPr lang="en-US" sz="2232" b="1" dirty="0">
                          <a:solidFill>
                            <a:srgbClr val="1B1B1F"/>
                          </a:solidFill>
                          <a:latin typeface="Consolas" pitchFamily="34" charset="0"/>
                          <a:ea typeface="Consolas" pitchFamily="34" charset="-122"/>
                          <a:cs typeface="Consolas" pitchFamily="34" charset="-120"/>
                        </a:rPr>
                        <a:t>G</a:t>
                      </a: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FFFFF"/>
                    </a:solidFill>
                  </a:tcPr>
                </a:tc>
                <a:tc>
                  <a:txBody>
                    <a:bodyPr/>
                    <a:lstStyle/>
                    <a:p>
                      <a:pPr algn="ctr" indent="0" marL="0">
                        <a:buNone/>
                      </a:pPr>
                      <a:r>
                        <a:rPr lang="en-US" sz="2232" b="1" dirty="0">
                          <a:solidFill>
                            <a:srgbClr val="1B1B1F"/>
                          </a:solidFill>
                          <a:latin typeface="Consolas" pitchFamily="34" charset="0"/>
                          <a:ea typeface="Consolas" pitchFamily="34" charset="-122"/>
                          <a:cs typeface="Consolas" pitchFamily="34" charset="-120"/>
                        </a:rPr>
                        <a:t>H</a:t>
                      </a: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FFFFF"/>
                    </a:solidFill>
                  </a:tcPr>
                </a:tc>
                <a:tc>
                  <a:txBody>
                    <a:bodyPr/>
                    <a:lstStyle/>
                    <a:p>
                      <a:pPr algn="ctr" indent="0" marL="0">
                        <a:buNone/>
                      </a:pPr>
                      <a:r>
                        <a:rPr lang="en-US" sz="2232" b="1" dirty="0">
                          <a:solidFill>
                            <a:srgbClr val="1B1B1F"/>
                          </a:solidFill>
                          <a:latin typeface="Consolas" pitchFamily="34" charset="0"/>
                          <a:ea typeface="Consolas" pitchFamily="34" charset="-122"/>
                          <a:cs typeface="Consolas" pitchFamily="34" charset="-120"/>
                        </a:rPr>
                        <a:t>J</a:t>
                      </a: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FFFFF"/>
                    </a:solidFill>
                  </a:tcPr>
                </a:tc>
                <a:tc>
                  <a:txBody>
                    <a:bodyPr/>
                    <a:lstStyle/>
                    <a:p>
                      <a:pPr algn="ctr" indent="0" marL="0">
                        <a:buNone/>
                      </a:pPr>
                      <a:r>
                        <a:rPr lang="en-US" sz="2232" b="1" dirty="0">
                          <a:solidFill>
                            <a:srgbClr val="1B1B1F"/>
                          </a:solidFill>
                          <a:latin typeface="Consolas" pitchFamily="34" charset="0"/>
                          <a:ea typeface="Consolas" pitchFamily="34" charset="-122"/>
                          <a:cs typeface="Consolas" pitchFamily="34" charset="-120"/>
                        </a:rPr>
                        <a:t>K</a:t>
                      </a: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FFFFF"/>
                    </a:solidFill>
                  </a:tcPr>
                </a:tc>
                <a:tc>
                  <a:txBody>
                    <a:bodyPr/>
                    <a:lstStyle/>
                    <a:p>
                      <a:pPr algn="ctr" indent="0" marL="0">
                        <a:buNone/>
                      </a:pPr>
                      <a:r>
                        <a:rPr lang="en-US" sz="2232" b="1" dirty="0">
                          <a:solidFill>
                            <a:srgbClr val="1B1B1F"/>
                          </a:solidFill>
                          <a:latin typeface="Consolas" pitchFamily="34" charset="0"/>
                          <a:ea typeface="Consolas" pitchFamily="34" charset="-122"/>
                          <a:cs typeface="Consolas" pitchFamily="34" charset="-120"/>
                        </a:rPr>
                        <a:t>M</a:t>
                      </a: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FFFFF"/>
                    </a:solidFill>
                  </a:tcPr>
                </a:tc>
              </a:tr>
              <a:tr h="566928">
                <a:tc>
                  <a:txBody>
                    <a:bodyPr/>
                    <a:lstStyle/>
                    <a:p>
                      <a:pPr algn="ctr" indent="0" marL="0">
                        <a:buNone/>
                      </a:pPr>
                      <a:r>
                        <a:rPr lang="en-US" sz="2232" b="1" dirty="0">
                          <a:solidFill>
                            <a:srgbClr val="1B1B1F"/>
                          </a:solidFill>
                          <a:latin typeface="Consolas" pitchFamily="34" charset="0"/>
                          <a:ea typeface="Consolas" pitchFamily="34" charset="-122"/>
                          <a:cs typeface="Consolas" pitchFamily="34" charset="-120"/>
                        </a:rPr>
                        <a:t>G</a:t>
                      </a: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2EADB"/>
                    </a:solidFill>
                  </a:tcPr>
                </a:tc>
                <a:tc>
                  <a:txBody>
                    <a:bodyPr/>
                    <a:lstStyle/>
                    <a:p>
                      <a:pPr algn="ctr" indent="0" marL="0">
                        <a:buNone/>
                      </a:pPr>
                      <a:r>
                        <a:rPr lang="en-US" sz="2232" b="1" dirty="0">
                          <a:solidFill>
                            <a:srgbClr val="1B1B1F"/>
                          </a:solidFill>
                          <a:latin typeface="Consolas" pitchFamily="34" charset="0"/>
                          <a:ea typeface="Consolas" pitchFamily="34" charset="-122"/>
                          <a:cs typeface="Consolas" pitchFamily="34" charset="-120"/>
                        </a:rPr>
                        <a:t>O</a:t>
                      </a: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FFFFF"/>
                    </a:solidFill>
                  </a:tcPr>
                </a:tc>
                <a:tc>
                  <a:txBody>
                    <a:bodyPr/>
                    <a:lstStyle/>
                    <a:p>
                      <a:pPr algn="ctr" indent="0" marL="0">
                        <a:buNone/>
                      </a:pPr>
                      <a:r>
                        <a:rPr lang="en-US" sz="2232" b="1" dirty="0">
                          <a:solidFill>
                            <a:srgbClr val="1B1B1F"/>
                          </a:solidFill>
                          <a:latin typeface="Consolas" pitchFamily="34" charset="0"/>
                          <a:ea typeface="Consolas" pitchFamily="34" charset="-122"/>
                          <a:cs typeface="Consolas" pitchFamily="34" charset="-120"/>
                        </a:rPr>
                        <a:t>Q</a:t>
                      </a: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FFFFF"/>
                    </a:solidFill>
                  </a:tcPr>
                </a:tc>
                <a:tc>
                  <a:txBody>
                    <a:bodyPr/>
                    <a:lstStyle/>
                    <a:p>
                      <a:pPr algn="ctr" indent="0" marL="0">
                        <a:buNone/>
                      </a:pPr>
                      <a:r>
                        <a:rPr lang="en-US" sz="2232" b="1" dirty="0">
                          <a:solidFill>
                            <a:srgbClr val="1B1B1F"/>
                          </a:solidFill>
                          <a:latin typeface="Consolas" pitchFamily="34" charset="0"/>
                          <a:ea typeface="Consolas" pitchFamily="34" charset="-122"/>
                          <a:cs typeface="Consolas" pitchFamily="34" charset="-120"/>
                        </a:rPr>
                        <a:t>R</a:t>
                      </a: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FFFFF"/>
                    </a:solidFill>
                  </a:tcPr>
                </a:tc>
                <a:tc>
                  <a:txBody>
                    <a:bodyPr/>
                    <a:lstStyle/>
                    <a:p>
                      <a:pPr algn="ctr" indent="0" marL="0">
                        <a:buNone/>
                      </a:pPr>
                      <a:r>
                        <a:rPr lang="en-US" sz="2232" b="1" dirty="0">
                          <a:solidFill>
                            <a:srgbClr val="1B1B1F"/>
                          </a:solidFill>
                          <a:latin typeface="Consolas" pitchFamily="34" charset="0"/>
                          <a:ea typeface="Consolas" pitchFamily="34" charset="-122"/>
                          <a:cs typeface="Consolas" pitchFamily="34" charset="-120"/>
                        </a:rPr>
                        <a:t>S</a:t>
                      </a: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FFFFF"/>
                    </a:solidFill>
                  </a:tcPr>
                </a:tc>
                <a:tc>
                  <a:txBody>
                    <a:bodyPr/>
                    <a:lstStyle/>
                    <a:p>
                      <a:pPr algn="ctr" indent="0" marL="0">
                        <a:buNone/>
                      </a:pPr>
                      <a:r>
                        <a:rPr lang="en-US" sz="2232" b="1" dirty="0">
                          <a:solidFill>
                            <a:srgbClr val="1B1B1F"/>
                          </a:solidFill>
                          <a:latin typeface="Consolas" pitchFamily="34" charset="0"/>
                          <a:ea typeface="Consolas" pitchFamily="34" charset="-122"/>
                          <a:cs typeface="Consolas" pitchFamily="34" charset="-120"/>
                        </a:rPr>
                        <a:t>T</a:t>
                      </a: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FFFFF"/>
                    </a:solidFill>
                  </a:tcPr>
                </a:tc>
                <a:tc>
                  <a:txBody>
                    <a:bodyPr/>
                    <a:lstStyle/>
                    <a:p>
                      <a:pPr algn="ctr" indent="0" marL="0">
                        <a:buNone/>
                      </a:pPr>
                      <a:r>
                        <a:rPr lang="en-US" sz="2232" b="1" dirty="0">
                          <a:solidFill>
                            <a:srgbClr val="1B1B1F"/>
                          </a:solidFill>
                          <a:latin typeface="Consolas" pitchFamily="34" charset="0"/>
                          <a:ea typeface="Consolas" pitchFamily="34" charset="-122"/>
                          <a:cs typeface="Consolas" pitchFamily="34" charset="-120"/>
                        </a:rPr>
                        <a:t>U</a:t>
                      </a: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FFFFF"/>
                    </a:solidFill>
                  </a:tcPr>
                </a:tc>
              </a:tr>
              <a:tr h="566928">
                <a:tc>
                  <a:txBody>
                    <a:bodyPr/>
                    <a:lstStyle/>
                    <a:p>
                      <a:pPr algn="ctr" indent="0" marL="0">
                        <a:buNone/>
                      </a:pPr>
                      <a:r>
                        <a:rPr lang="en-US" sz="2232" b="1" dirty="0">
                          <a:solidFill>
                            <a:srgbClr val="1B1B1F"/>
                          </a:solidFill>
                          <a:latin typeface="Consolas" pitchFamily="34" charset="0"/>
                          <a:ea typeface="Consolas" pitchFamily="34" charset="-122"/>
                          <a:cs typeface="Consolas" pitchFamily="34" charset="-120"/>
                        </a:rPr>
                        <a:t>V</a:t>
                      </a: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2EADB"/>
                    </a:solidFill>
                  </a:tcPr>
                </a:tc>
                <a:tc>
                  <a:txBody>
                    <a:bodyPr/>
                    <a:lstStyle/>
                    <a:p>
                      <a:pPr algn="ctr" indent="0" marL="0">
                        <a:buNone/>
                      </a:pPr>
                      <a:r>
                        <a:rPr lang="en-US" sz="2232" b="1" dirty="0">
                          <a:solidFill>
                            <a:srgbClr val="1B1B1F"/>
                          </a:solidFill>
                          <a:latin typeface="Consolas" pitchFamily="34" charset="0"/>
                          <a:ea typeface="Consolas" pitchFamily="34" charset="-122"/>
                          <a:cs typeface="Consolas" pitchFamily="34" charset="-120"/>
                        </a:rPr>
                        <a:t>V</a:t>
                      </a: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FFFFF"/>
                    </a:solidFill>
                  </a:tcPr>
                </a:tc>
                <a:tc>
                  <a:txBody>
                    <a:bodyPr/>
                    <a:lstStyle/>
                    <a:p>
                      <a:pPr algn="ctr" indent="0" marL="0">
                        <a:buNone/>
                      </a:pPr>
                      <a:r>
                        <a:rPr lang="en-US" sz="2232" b="1" dirty="0">
                          <a:solidFill>
                            <a:srgbClr val="1B1B1F"/>
                          </a:solidFill>
                          <a:latin typeface="Consolas" pitchFamily="34" charset="0"/>
                          <a:ea typeface="Consolas" pitchFamily="34" charset="-122"/>
                          <a:cs typeface="Consolas" pitchFamily="34" charset="-120"/>
                        </a:rPr>
                        <a:t>W</a:t>
                      </a: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FFFFF"/>
                    </a:solidFill>
                  </a:tcPr>
                </a:tc>
                <a:tc>
                  <a:txBody>
                    <a:bodyPr/>
                    <a:lstStyle/>
                    <a:p>
                      <a:pPr algn="ctr" indent="0" marL="0">
                        <a:buNone/>
                      </a:pPr>
                      <a:r>
                        <a:rPr lang="en-US" sz="2232" b="1" dirty="0">
                          <a:solidFill>
                            <a:srgbClr val="1B1B1F"/>
                          </a:solidFill>
                          <a:latin typeface="Consolas" pitchFamily="34" charset="0"/>
                          <a:ea typeface="Consolas" pitchFamily="34" charset="-122"/>
                          <a:cs typeface="Consolas" pitchFamily="34" charset="-120"/>
                        </a:rPr>
                        <a:t>X</a:t>
                      </a: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FFFFF"/>
                    </a:solidFill>
                  </a:tcPr>
                </a:tc>
                <a:tc>
                  <a:txBody>
                    <a:bodyPr/>
                    <a:lstStyle/>
                    <a:p>
                      <a:pPr algn="ctr" indent="0" marL="0">
                        <a:buNone/>
                      </a:pPr>
                      <a:r>
                        <a:rPr lang="en-US" sz="2232" b="1" dirty="0">
                          <a:solidFill>
                            <a:srgbClr val="1B1B1F"/>
                          </a:solidFill>
                          <a:latin typeface="Consolas" pitchFamily="34" charset="0"/>
                          <a:ea typeface="Consolas" pitchFamily="34" charset="-122"/>
                          <a:cs typeface="Consolas" pitchFamily="34" charset="-120"/>
                        </a:rPr>
                        <a:t>Y</a:t>
                      </a: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FFFFF"/>
                    </a:solidFill>
                  </a:tcPr>
                </a:tc>
                <a:tc>
                  <a:txBody>
                    <a:bodyPr/>
                    <a:lstStyle/>
                    <a:p>
                      <a:pPr algn="ctr" indent="0" marL="0">
                        <a:buNone/>
                      </a:pPr>
                      <a:r>
                        <a:rPr lang="en-US" sz="2232" b="1" dirty="0">
                          <a:solidFill>
                            <a:srgbClr val="1B1B1F"/>
                          </a:solidFill>
                          <a:latin typeface="Consolas" pitchFamily="34" charset="0"/>
                          <a:ea typeface="Consolas" pitchFamily="34" charset="-122"/>
                          <a:cs typeface="Consolas" pitchFamily="34" charset="-120"/>
                        </a:rPr>
                        <a:t>0</a:t>
                      </a: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FFFFF"/>
                    </a:solidFill>
                  </a:tcPr>
                </a:tc>
                <a:tc>
                  <a:txBody>
                    <a:bodyPr/>
                    <a:lstStyle/>
                    <a:p>
                      <a:pPr algn="ctr" indent="0" marL="0">
                        <a:buNone/>
                      </a:pPr>
                      <a:r>
                        <a:rPr lang="en-US" sz="2232" b="1" dirty="0">
                          <a:solidFill>
                            <a:srgbClr val="1B1B1F"/>
                          </a:solidFill>
                          <a:latin typeface="Consolas" pitchFamily="34" charset="0"/>
                          <a:ea typeface="Consolas" pitchFamily="34" charset="-122"/>
                          <a:cs typeface="Consolas" pitchFamily="34" charset="-120"/>
                        </a:rPr>
                        <a:t>2</a:t>
                      </a: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FFFFF"/>
                    </a:solidFill>
                  </a:tcPr>
                </a:tc>
              </a:tr>
              <a:tr h="566928">
                <a:tc>
                  <a:txBody>
                    <a:bodyPr/>
                    <a:lstStyle/>
                    <a:p>
                      <a:pPr algn="ctr" indent="0" marL="0">
                        <a:buNone/>
                      </a:pPr>
                      <a:r>
                        <a:rPr lang="en-US" sz="2232" b="1" dirty="0">
                          <a:solidFill>
                            <a:srgbClr val="1B1B1F"/>
                          </a:solidFill>
                          <a:latin typeface="Consolas" pitchFamily="34" charset="0"/>
                          <a:ea typeface="Consolas" pitchFamily="34" charset="-122"/>
                          <a:cs typeface="Consolas" pitchFamily="34" charset="-120"/>
                        </a:rPr>
                        <a:t>X</a:t>
                      </a: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2EADB"/>
                    </a:solidFill>
                  </a:tcPr>
                </a:tc>
                <a:tc>
                  <a:txBody>
                    <a:bodyPr/>
                    <a:lstStyle/>
                    <a:p>
                      <a:pPr algn="ctr" indent="0" marL="0">
                        <a:buNone/>
                      </a:pPr>
                      <a:r>
                        <a:rPr lang="en-US" sz="2232" b="1" dirty="0">
                          <a:solidFill>
                            <a:srgbClr val="1B1B1F"/>
                          </a:solidFill>
                          <a:latin typeface="Consolas" pitchFamily="34" charset="0"/>
                          <a:ea typeface="Consolas" pitchFamily="34" charset="-122"/>
                          <a:cs typeface="Consolas" pitchFamily="34" charset="-120"/>
                        </a:rPr>
                        <a:t>3</a:t>
                      </a: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FFFFF"/>
                    </a:solidFill>
                  </a:tcPr>
                </a:tc>
                <a:tc>
                  <a:txBody>
                    <a:bodyPr/>
                    <a:lstStyle/>
                    <a:p>
                      <a:pPr algn="ctr" indent="0" marL="0">
                        <a:buNone/>
                      </a:pPr>
                      <a:r>
                        <a:rPr lang="en-US" sz="2232" b="1" dirty="0">
                          <a:solidFill>
                            <a:srgbClr val="1B1B1F"/>
                          </a:solidFill>
                          <a:latin typeface="Consolas" pitchFamily="34" charset="0"/>
                          <a:ea typeface="Consolas" pitchFamily="34" charset="-122"/>
                          <a:cs typeface="Consolas" pitchFamily="34" charset="-120"/>
                        </a:rPr>
                        <a:t>4</a:t>
                      </a: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FFFFF"/>
                    </a:solidFill>
                  </a:tcPr>
                </a:tc>
                <a:tc>
                  <a:txBody>
                    <a:bodyPr/>
                    <a:lstStyle/>
                    <a:p>
                      <a:pPr algn="ctr" indent="0" marL="0">
                        <a:buNone/>
                      </a:pPr>
                      <a:r>
                        <a:rPr lang="en-US" sz="2232" b="1" dirty="0">
                          <a:solidFill>
                            <a:srgbClr val="1B1B1F"/>
                          </a:solidFill>
                          <a:latin typeface="Consolas" pitchFamily="34" charset="0"/>
                          <a:ea typeface="Consolas" pitchFamily="34" charset="-122"/>
                          <a:cs typeface="Consolas" pitchFamily="34" charset="-120"/>
                        </a:rPr>
                        <a:t>5</a:t>
                      </a: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FFFFF"/>
                    </a:solidFill>
                  </a:tcPr>
                </a:tc>
                <a:tc>
                  <a:txBody>
                    <a:bodyPr/>
                    <a:lstStyle/>
                    <a:p>
                      <a:pPr algn="ctr" indent="0" marL="0">
                        <a:buNone/>
                      </a:pPr>
                      <a:r>
                        <a:rPr lang="en-US" sz="2232" b="1" dirty="0">
                          <a:solidFill>
                            <a:srgbClr val="1B1B1F"/>
                          </a:solidFill>
                          <a:latin typeface="Consolas" pitchFamily="34" charset="0"/>
                          <a:ea typeface="Consolas" pitchFamily="34" charset="-122"/>
                          <a:cs typeface="Consolas" pitchFamily="34" charset="-120"/>
                        </a:rPr>
                        <a:t>6</a:t>
                      </a: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FFFFF"/>
                    </a:solidFill>
                  </a:tcPr>
                </a:tc>
                <a:tc>
                  <a:txBody>
                    <a:bodyPr/>
                    <a:lstStyle/>
                    <a:p>
                      <a:pPr algn="ctr" indent="0" marL="0">
                        <a:buNone/>
                      </a:pPr>
                      <a:r>
                        <a:rPr lang="en-US" sz="2232" b="1" dirty="0">
                          <a:solidFill>
                            <a:srgbClr val="1B1B1F"/>
                          </a:solidFill>
                          <a:latin typeface="Consolas" pitchFamily="34" charset="0"/>
                          <a:ea typeface="Consolas" pitchFamily="34" charset="-122"/>
                          <a:cs typeface="Consolas" pitchFamily="34" charset="-120"/>
                        </a:rPr>
                        <a:t>7</a:t>
                      </a: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FFFFF"/>
                    </a:solidFill>
                  </a:tcPr>
                </a:tc>
                <a:tc>
                  <a:txBody>
                    <a:bodyPr/>
                    <a:lstStyle/>
                    <a:p>
                      <a:pPr algn="ctr" indent="0" marL="0">
                        <a:buNone/>
                      </a:pPr>
                      <a:r>
                        <a:rPr lang="en-US" sz="2232" b="1" dirty="0">
                          <a:solidFill>
                            <a:srgbClr val="1B1B1F"/>
                          </a:solidFill>
                          <a:latin typeface="Consolas" pitchFamily="34" charset="0"/>
                          <a:ea typeface="Consolas" pitchFamily="34" charset="-122"/>
                          <a:cs typeface="Consolas" pitchFamily="34" charset="-120"/>
                        </a:rPr>
                        <a:t>9</a:t>
                      </a: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6064154" y="1325880"/>
            <a:ext cx="5578901" cy="386588"/>
          </a:xfrm>
          <a:prstGeom prst="rect">
            <a:avLst/>
          </a:prstGeom>
          <a:noFill/>
          <a:ln/>
        </p:spPr>
        <p:txBody>
          <a:bodyPr wrap="square" lIns="0" tIns="0" rIns="0" bIns="0" rtlCol="0" anchor="t"/>
          <a:lstStyle/>
          <a:p>
            <a:pPr algn="l" indent="0" marL="0">
              <a:buNone/>
            </a:pPr>
            <a:r>
              <a:rPr lang="en-US" sz="2200" dirty="0">
                <a:solidFill>
                  <a:srgbClr val="1B1B1F"/>
                </a:solidFill>
              </a:rPr>
              <a:t>Quadrat ZEPPELIN18: A–Z und 0–9</a:t>
            </a:r>
            <a:endParaRPr lang="en-US" sz="2200" dirty="0"/>
          </a:p>
        </p:txBody>
      </p:sp>
      <p:sp>
        <p:nvSpPr>
          <p:cNvPr id="5" name="Text 2"/>
          <p:cNvSpPr txBox="1"/>
          <p:nvPr/>
        </p:nvSpPr>
        <p:spPr>
          <a:xfrm>
            <a:off x="6064154" y="1840484"/>
            <a:ext cx="5578901" cy="386588"/>
          </a:xfrm>
          <a:prstGeom prst="rect">
            <a:avLst/>
          </a:prstGeom>
          <a:noFill/>
          <a:ln/>
        </p:spPr>
        <p:txBody>
          <a:bodyPr wrap="square" lIns="0" tIns="0" rIns="0" bIns="0" rtlCol="0" anchor="t"/>
          <a:lstStyle/>
          <a:p>
            <a:pPr algn="l" indent="0" marL="0">
              <a:buNone/>
            </a:pPr>
            <a:r>
              <a:rPr lang="en-US" sz="2200" dirty="0">
                <a:solidFill>
                  <a:srgbClr val="1B1B1F"/>
                </a:solidFill>
              </a:rPr>
              <a:t>Jedes Zeichen → </a:t>
            </a:r>
            <a:r>
              <a:rPr lang="en-US" sz="2200" b="1" dirty="0">
                <a:solidFill>
                  <a:srgbClr val="1B1B1F"/>
                </a:solidFill>
              </a:rPr>
              <a:t>Zeile, dann Spalte</a:t>
            </a:r>
            <a:endParaRPr lang="en-US" sz="2200" dirty="0"/>
          </a:p>
        </p:txBody>
      </p:sp>
      <p:sp>
        <p:nvSpPr>
          <p:cNvPr id="6" name="Text 3"/>
          <p:cNvSpPr txBox="1"/>
          <p:nvPr/>
        </p:nvSpPr>
        <p:spPr>
          <a:xfrm>
            <a:off x="6064154" y="2355088"/>
            <a:ext cx="5578901" cy="386588"/>
          </a:xfrm>
          <a:prstGeom prst="rect">
            <a:avLst/>
          </a:prstGeom>
          <a:noFill/>
          <a:ln/>
        </p:spPr>
        <p:txBody>
          <a:bodyPr wrap="square" lIns="0" tIns="0" rIns="0" bIns="0" rtlCol="0" anchor="t"/>
          <a:lstStyle/>
          <a:p>
            <a:pPr algn="l" indent="0" marL="0">
              <a:buNone/>
            </a:pPr>
            <a:r>
              <a:rPr lang="en-US" sz="2200" dirty="0">
                <a:solidFill>
                  <a:srgbClr val="1B1B1F"/>
                </a:solidFill>
              </a:rPr>
              <a:t>„ankunft8“ → </a:t>
            </a:r>
            <a:r>
              <a:rPr lang="en-US" sz="2200" dirty="0">
                <a:solidFill>
                  <a:srgbClr val="1B1B1F"/>
                </a:solidFill>
                <a:latin typeface="Consolas" pitchFamily="34" charset="0"/>
                <a:ea typeface="Consolas" pitchFamily="34" charset="-122"/>
                <a:cs typeface="Consolas" pitchFamily="34" charset="-120"/>
              </a:rPr>
              <a:t>DF AX FV GX AX FA GV DD</a:t>
            </a:r>
            <a:endParaRPr lang="en-US" sz="2200" dirty="0"/>
          </a:p>
        </p:txBody>
      </p:sp>
      <p:sp>
        <p:nvSpPr>
          <p:cNvPr id="7" name="Text 4"/>
          <p:cNvSpPr txBox="1"/>
          <p:nvPr/>
        </p:nvSpPr>
        <p:spPr>
          <a:xfrm>
            <a:off x="6064154" y="2869692"/>
            <a:ext cx="5578901" cy="386588"/>
          </a:xfrm>
          <a:prstGeom prst="rect">
            <a:avLst/>
          </a:prstGeom>
          <a:noFill/>
          <a:ln/>
        </p:spPr>
        <p:txBody>
          <a:bodyPr wrap="square" lIns="0" tIns="0" rIns="0" bIns="0" rtlCol="0" anchor="t"/>
          <a:lstStyle/>
          <a:p>
            <a:pPr algn="l" indent="0" marL="0">
              <a:buNone/>
            </a:pPr>
            <a:r>
              <a:rPr lang="en-US" sz="2200" dirty="0">
                <a:solidFill>
                  <a:srgbClr val="1B1B1F"/>
                </a:solidFill>
              </a:rPr>
              <a:t>monoalphabetisch, aber </a:t>
            </a:r>
            <a:r>
              <a:rPr lang="en-US" sz="2200" b="1" dirty="0">
                <a:solidFill>
                  <a:srgbClr val="1B1B1F"/>
                </a:solidFill>
              </a:rPr>
              <a:t>fraktioniert</a:t>
            </a:r>
            <a:endParaRPr lang="en-US" sz="22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ADFGVX · Stufe 2</a:t>
            </a:r>
            <a:endParaRPr lang="en-US" sz="30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1560515" y="1325880"/>
          <a:ext cx="2267712" cy="914400"/>
        </p:xfrm>
        <a:graphic>
          <a:graphicData uri="http://schemas.openxmlformats.org/drawingml/2006/table">
            <a:tbl>
              <a:tblPr/>
              <a:tblGrid>
                <a:gridCol w="566928"/>
                <a:gridCol w="566928"/>
                <a:gridCol w="566928"/>
                <a:gridCol w="566928"/>
              </a:tblGrid>
              <a:tr h="566928">
                <a:tc>
                  <a:txBody>
                    <a:bodyPr/>
                    <a:lstStyle/>
                    <a:p>
                      <a:pPr algn="ctr" indent="0" marL="0">
                        <a:buNone/>
                      </a:pPr>
                      <a:r>
                        <a:rPr lang="en-US" sz="2232" b="1" dirty="0">
                          <a:solidFill>
                            <a:srgbClr val="1B1B1F"/>
                          </a:solidFill>
                          <a:latin typeface="Consolas" pitchFamily="34" charset="0"/>
                          <a:ea typeface="Consolas" pitchFamily="34" charset="-122"/>
                          <a:cs typeface="Consolas" pitchFamily="34" charset="-120"/>
                        </a:rPr>
                        <a:t>W·4</a:t>
                      </a: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2EADB"/>
                    </a:solidFill>
                  </a:tcPr>
                </a:tc>
                <a:tc>
                  <a:txBody>
                    <a:bodyPr/>
                    <a:lstStyle/>
                    <a:p>
                      <a:pPr algn="ctr" indent="0" marL="0">
                        <a:buNone/>
                      </a:pPr>
                      <a:r>
                        <a:rPr lang="en-US" sz="2232" b="1" dirty="0">
                          <a:solidFill>
                            <a:srgbClr val="1B1B1F"/>
                          </a:solidFill>
                          <a:latin typeface="Consolas" pitchFamily="34" charset="0"/>
                          <a:ea typeface="Consolas" pitchFamily="34" charset="-122"/>
                          <a:cs typeface="Consolas" pitchFamily="34" charset="-120"/>
                        </a:rPr>
                        <a:t>O·3</a:t>
                      </a: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2EADB"/>
                    </a:solidFill>
                  </a:tcPr>
                </a:tc>
                <a:tc>
                  <a:txBody>
                    <a:bodyPr/>
                    <a:lstStyle/>
                    <a:p>
                      <a:pPr algn="ctr" indent="0" marL="0">
                        <a:buNone/>
                      </a:pPr>
                      <a:r>
                        <a:rPr lang="en-US" sz="2232" b="1" dirty="0">
                          <a:solidFill>
                            <a:srgbClr val="1B1B1F"/>
                          </a:solidFill>
                          <a:latin typeface="Consolas" pitchFamily="34" charset="0"/>
                          <a:ea typeface="Consolas" pitchFamily="34" charset="-122"/>
                          <a:cs typeface="Consolas" pitchFamily="34" charset="-120"/>
                        </a:rPr>
                        <a:t>L·2</a:t>
                      </a: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2EADB"/>
                    </a:solidFill>
                  </a:tcPr>
                </a:tc>
                <a:tc>
                  <a:txBody>
                    <a:bodyPr/>
                    <a:lstStyle/>
                    <a:p>
                      <a:pPr algn="ctr" indent="0" marL="0">
                        <a:buNone/>
                      </a:pPr>
                      <a:r>
                        <a:rPr lang="en-US" sz="2232" b="1" dirty="0">
                          <a:solidFill>
                            <a:srgbClr val="1B1B1F"/>
                          </a:solidFill>
                          <a:latin typeface="Consolas" pitchFamily="34" charset="0"/>
                          <a:ea typeface="Consolas" pitchFamily="34" charset="-122"/>
                          <a:cs typeface="Consolas" pitchFamily="34" charset="-120"/>
                        </a:rPr>
                        <a:t>F·1</a:t>
                      </a: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2EADB"/>
                    </a:solidFill>
                  </a:tcPr>
                </a:tc>
              </a:tr>
              <a:tr h="566928">
                <a:tc>
                  <a:txBody>
                    <a:bodyPr/>
                    <a:lstStyle/>
                    <a:p>
                      <a:pPr algn="ctr" indent="0" marL="0">
                        <a:buNone/>
                      </a:pPr>
                      <a:r>
                        <a:rPr lang="en-US" sz="2232" b="1" dirty="0">
                          <a:solidFill>
                            <a:srgbClr val="1B1B1F"/>
                          </a:solidFill>
                          <a:latin typeface="Consolas" pitchFamily="34" charset="0"/>
                          <a:ea typeface="Consolas" pitchFamily="34" charset="-122"/>
                          <a:cs typeface="Consolas" pitchFamily="34" charset="-120"/>
                        </a:rPr>
                        <a:t>D</a:t>
                      </a: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FFFFF"/>
                    </a:solidFill>
                  </a:tcPr>
                </a:tc>
                <a:tc>
                  <a:txBody>
                    <a:bodyPr/>
                    <a:lstStyle/>
                    <a:p>
                      <a:pPr algn="ctr" indent="0" marL="0">
                        <a:buNone/>
                      </a:pPr>
                      <a:r>
                        <a:rPr lang="en-US" sz="2232" b="1" dirty="0">
                          <a:solidFill>
                            <a:srgbClr val="1B1B1F"/>
                          </a:solidFill>
                          <a:latin typeface="Consolas" pitchFamily="34" charset="0"/>
                          <a:ea typeface="Consolas" pitchFamily="34" charset="-122"/>
                          <a:cs typeface="Consolas" pitchFamily="34" charset="-120"/>
                        </a:rPr>
                        <a:t>F</a:t>
                      </a: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FFFFF"/>
                    </a:solidFill>
                  </a:tcPr>
                </a:tc>
                <a:tc>
                  <a:txBody>
                    <a:bodyPr/>
                    <a:lstStyle/>
                    <a:p>
                      <a:pPr algn="ctr" indent="0" marL="0">
                        <a:buNone/>
                      </a:pPr>
                      <a:r>
                        <a:rPr lang="en-US" sz="2232" b="1" dirty="0">
                          <a:solidFill>
                            <a:srgbClr val="1B1B1F"/>
                          </a:solidFill>
                          <a:latin typeface="Consolas" pitchFamily="34" charset="0"/>
                          <a:ea typeface="Consolas" pitchFamily="34" charset="-122"/>
                          <a:cs typeface="Consolas" pitchFamily="34" charset="-120"/>
                        </a:rPr>
                        <a:t>A</a:t>
                      </a: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FFFFF"/>
                    </a:solidFill>
                  </a:tcPr>
                </a:tc>
                <a:tc>
                  <a:txBody>
                    <a:bodyPr/>
                    <a:lstStyle/>
                    <a:p>
                      <a:pPr algn="ctr" indent="0" marL="0">
                        <a:buNone/>
                      </a:pPr>
                      <a:r>
                        <a:rPr lang="en-US" sz="2232" b="1" dirty="0">
                          <a:solidFill>
                            <a:srgbClr val="1B1B1F"/>
                          </a:solidFill>
                          <a:latin typeface="Consolas" pitchFamily="34" charset="0"/>
                          <a:ea typeface="Consolas" pitchFamily="34" charset="-122"/>
                          <a:cs typeface="Consolas" pitchFamily="34" charset="-120"/>
                        </a:rPr>
                        <a:t>X</a:t>
                      </a: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3E1C3"/>
                    </a:solidFill>
                  </a:tcPr>
                </a:tc>
              </a:tr>
              <a:tr h="566928">
                <a:tc>
                  <a:txBody>
                    <a:bodyPr/>
                    <a:lstStyle/>
                    <a:p>
                      <a:pPr algn="ctr" indent="0" marL="0">
                        <a:buNone/>
                      </a:pPr>
                      <a:r>
                        <a:rPr lang="en-US" sz="2232" b="1" dirty="0">
                          <a:solidFill>
                            <a:srgbClr val="1B1B1F"/>
                          </a:solidFill>
                          <a:latin typeface="Consolas" pitchFamily="34" charset="0"/>
                          <a:ea typeface="Consolas" pitchFamily="34" charset="-122"/>
                          <a:cs typeface="Consolas" pitchFamily="34" charset="-120"/>
                        </a:rPr>
                        <a:t>F</a:t>
                      </a: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FFFFF"/>
                    </a:solidFill>
                  </a:tcPr>
                </a:tc>
                <a:tc>
                  <a:txBody>
                    <a:bodyPr/>
                    <a:lstStyle/>
                    <a:p>
                      <a:pPr algn="ctr" indent="0" marL="0">
                        <a:buNone/>
                      </a:pPr>
                      <a:r>
                        <a:rPr lang="en-US" sz="2232" b="1" dirty="0">
                          <a:solidFill>
                            <a:srgbClr val="1B1B1F"/>
                          </a:solidFill>
                          <a:latin typeface="Consolas" pitchFamily="34" charset="0"/>
                          <a:ea typeface="Consolas" pitchFamily="34" charset="-122"/>
                          <a:cs typeface="Consolas" pitchFamily="34" charset="-120"/>
                        </a:rPr>
                        <a:t>V</a:t>
                      </a: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FFFFF"/>
                    </a:solidFill>
                  </a:tcPr>
                </a:tc>
                <a:tc>
                  <a:txBody>
                    <a:bodyPr/>
                    <a:lstStyle/>
                    <a:p>
                      <a:pPr algn="ctr" indent="0" marL="0">
                        <a:buNone/>
                      </a:pPr>
                      <a:r>
                        <a:rPr lang="en-US" sz="2232" b="1" dirty="0">
                          <a:solidFill>
                            <a:srgbClr val="1B1B1F"/>
                          </a:solidFill>
                          <a:latin typeface="Consolas" pitchFamily="34" charset="0"/>
                          <a:ea typeface="Consolas" pitchFamily="34" charset="-122"/>
                          <a:cs typeface="Consolas" pitchFamily="34" charset="-120"/>
                        </a:rPr>
                        <a:t>G</a:t>
                      </a: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FFFFF"/>
                    </a:solidFill>
                  </a:tcPr>
                </a:tc>
                <a:tc>
                  <a:txBody>
                    <a:bodyPr/>
                    <a:lstStyle/>
                    <a:p>
                      <a:pPr algn="ctr" indent="0" marL="0">
                        <a:buNone/>
                      </a:pPr>
                      <a:r>
                        <a:rPr lang="en-US" sz="2232" b="1" dirty="0">
                          <a:solidFill>
                            <a:srgbClr val="1B1B1F"/>
                          </a:solidFill>
                          <a:latin typeface="Consolas" pitchFamily="34" charset="0"/>
                          <a:ea typeface="Consolas" pitchFamily="34" charset="-122"/>
                          <a:cs typeface="Consolas" pitchFamily="34" charset="-120"/>
                        </a:rPr>
                        <a:t>X</a:t>
                      </a: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3E1C3"/>
                    </a:solidFill>
                  </a:tcPr>
                </a:tc>
              </a:tr>
              <a:tr h="566928">
                <a:tc>
                  <a:txBody>
                    <a:bodyPr/>
                    <a:lstStyle/>
                    <a:p>
                      <a:pPr algn="ctr" indent="0" marL="0">
                        <a:buNone/>
                      </a:pPr>
                      <a:r>
                        <a:rPr lang="en-US" sz="2232" b="1" dirty="0">
                          <a:solidFill>
                            <a:srgbClr val="1B1B1F"/>
                          </a:solidFill>
                          <a:latin typeface="Consolas" pitchFamily="34" charset="0"/>
                          <a:ea typeface="Consolas" pitchFamily="34" charset="-122"/>
                          <a:cs typeface="Consolas" pitchFamily="34" charset="-120"/>
                        </a:rPr>
                        <a:t>A</a:t>
                      </a: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FFFFF"/>
                    </a:solidFill>
                  </a:tcPr>
                </a:tc>
                <a:tc>
                  <a:txBody>
                    <a:bodyPr/>
                    <a:lstStyle/>
                    <a:p>
                      <a:pPr algn="ctr" indent="0" marL="0">
                        <a:buNone/>
                      </a:pPr>
                      <a:r>
                        <a:rPr lang="en-US" sz="2232" b="1" dirty="0">
                          <a:solidFill>
                            <a:srgbClr val="1B1B1F"/>
                          </a:solidFill>
                          <a:latin typeface="Consolas" pitchFamily="34" charset="0"/>
                          <a:ea typeface="Consolas" pitchFamily="34" charset="-122"/>
                          <a:cs typeface="Consolas" pitchFamily="34" charset="-120"/>
                        </a:rPr>
                        <a:t>X</a:t>
                      </a: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FFFFF"/>
                    </a:solidFill>
                  </a:tcPr>
                </a:tc>
                <a:tc>
                  <a:txBody>
                    <a:bodyPr/>
                    <a:lstStyle/>
                    <a:p>
                      <a:pPr algn="ctr" indent="0" marL="0">
                        <a:buNone/>
                      </a:pPr>
                      <a:r>
                        <a:rPr lang="en-US" sz="2232" b="1" dirty="0">
                          <a:solidFill>
                            <a:srgbClr val="1B1B1F"/>
                          </a:solidFill>
                          <a:latin typeface="Consolas" pitchFamily="34" charset="0"/>
                          <a:ea typeface="Consolas" pitchFamily="34" charset="-122"/>
                          <a:cs typeface="Consolas" pitchFamily="34" charset="-120"/>
                        </a:rPr>
                        <a:t>F</a:t>
                      </a: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FFFFF"/>
                    </a:solidFill>
                  </a:tcPr>
                </a:tc>
                <a:tc>
                  <a:txBody>
                    <a:bodyPr/>
                    <a:lstStyle/>
                    <a:p>
                      <a:pPr algn="ctr" indent="0" marL="0">
                        <a:buNone/>
                      </a:pPr>
                      <a:r>
                        <a:rPr lang="en-US" sz="2232" b="1" dirty="0">
                          <a:solidFill>
                            <a:srgbClr val="1B1B1F"/>
                          </a:solidFill>
                          <a:latin typeface="Consolas" pitchFamily="34" charset="0"/>
                          <a:ea typeface="Consolas" pitchFamily="34" charset="-122"/>
                          <a:cs typeface="Consolas" pitchFamily="34" charset="-120"/>
                        </a:rPr>
                        <a:t>A</a:t>
                      </a: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3E1C3"/>
                    </a:solidFill>
                  </a:tcPr>
                </a:tc>
              </a:tr>
              <a:tr h="566928">
                <a:tc>
                  <a:txBody>
                    <a:bodyPr/>
                    <a:lstStyle/>
                    <a:p>
                      <a:pPr algn="ctr" indent="0" marL="0">
                        <a:buNone/>
                      </a:pPr>
                      <a:r>
                        <a:rPr lang="en-US" sz="2232" b="1" dirty="0">
                          <a:solidFill>
                            <a:srgbClr val="1B1B1F"/>
                          </a:solidFill>
                          <a:latin typeface="Consolas" pitchFamily="34" charset="0"/>
                          <a:ea typeface="Consolas" pitchFamily="34" charset="-122"/>
                          <a:cs typeface="Consolas" pitchFamily="34" charset="-120"/>
                        </a:rPr>
                        <a:t>G</a:t>
                      </a: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FFFFF"/>
                    </a:solidFill>
                  </a:tcPr>
                </a:tc>
                <a:tc>
                  <a:txBody>
                    <a:bodyPr/>
                    <a:lstStyle/>
                    <a:p>
                      <a:pPr algn="ctr" indent="0" marL="0">
                        <a:buNone/>
                      </a:pPr>
                      <a:r>
                        <a:rPr lang="en-US" sz="2232" b="1" dirty="0">
                          <a:solidFill>
                            <a:srgbClr val="1B1B1F"/>
                          </a:solidFill>
                          <a:latin typeface="Consolas" pitchFamily="34" charset="0"/>
                          <a:ea typeface="Consolas" pitchFamily="34" charset="-122"/>
                          <a:cs typeface="Consolas" pitchFamily="34" charset="-120"/>
                        </a:rPr>
                        <a:t>V</a:t>
                      </a: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FFFFF"/>
                    </a:solidFill>
                  </a:tcPr>
                </a:tc>
                <a:tc>
                  <a:txBody>
                    <a:bodyPr/>
                    <a:lstStyle/>
                    <a:p>
                      <a:pPr algn="ctr" indent="0" marL="0">
                        <a:buNone/>
                      </a:pPr>
                      <a:r>
                        <a:rPr lang="en-US" sz="2232" b="1" dirty="0">
                          <a:solidFill>
                            <a:srgbClr val="1B1B1F"/>
                          </a:solidFill>
                          <a:latin typeface="Consolas" pitchFamily="34" charset="0"/>
                          <a:ea typeface="Consolas" pitchFamily="34" charset="-122"/>
                          <a:cs typeface="Consolas" pitchFamily="34" charset="-120"/>
                        </a:rPr>
                        <a:t>D</a:t>
                      </a: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FFFFF"/>
                    </a:solidFill>
                  </a:tcPr>
                </a:tc>
                <a:tc>
                  <a:txBody>
                    <a:bodyPr/>
                    <a:lstStyle/>
                    <a:p>
                      <a:pPr algn="ctr" indent="0" marL="0">
                        <a:buNone/>
                      </a:pPr>
                      <a:r>
                        <a:rPr lang="en-US" sz="2232" b="1" dirty="0">
                          <a:solidFill>
                            <a:srgbClr val="1B1B1F"/>
                          </a:solidFill>
                          <a:latin typeface="Consolas" pitchFamily="34" charset="0"/>
                          <a:ea typeface="Consolas" pitchFamily="34" charset="-122"/>
                          <a:cs typeface="Consolas" pitchFamily="34" charset="-120"/>
                        </a:rPr>
                        <a:t>D</a:t>
                      </a:r>
                      <a:endParaRPr lang="en-US" sz="2232" dirty="0">
                        <a:latin typeface="Consolas" charset="0"/>
                        <a:ea typeface="Consolas" charset="0"/>
                        <a:cs typeface="Consolas" charset="0"/>
                      </a:endParaRPr>
                    </a:p>
                  </a:txBody>
                  <a:tcPr marL="0" marR="0" marT="0" marB="0" anchor="ctr">
                    <a:lnL w="6350" cap="flat" cmpd="sng" algn="ctr">
                      <a:solidFill>
                        <a:srgbClr val="4A4A55"/>
                      </a:solidFill>
                      <a:prstDash val="solid"/>
                      <a:round/>
                      <a:headEnd type="none" w="med" len="med"/>
                      <a:tailEnd type="none" w="med" len="med"/>
                    </a:lnL>
                    <a:lnR w="6350" cap="flat" cmpd="sng" algn="ctr">
                      <a:solidFill>
                        <a:srgbClr val="4A4A55"/>
                      </a:solidFill>
                      <a:prstDash val="solid"/>
                      <a:round/>
                      <a:headEnd type="none" w="med" len="med"/>
                      <a:tailEnd type="none" w="med" len="med"/>
                    </a:lnR>
                    <a:lnT w="6350" cap="flat" cmpd="sng" algn="ctr">
                      <a:solidFill>
                        <a:srgbClr val="4A4A55"/>
                      </a:solidFill>
                      <a:prstDash val="solid"/>
                      <a:round/>
                      <a:headEnd type="none" w="med" len="med"/>
                      <a:tailEnd type="none" w="med" len="med"/>
                    </a:lnT>
                    <a:lnB w="6350" cap="flat" cmpd="sng" algn="ctr">
                      <a:solidFill>
                        <a:srgbClr val="4A4A55"/>
                      </a:solidFill>
                      <a:prstDash val="solid"/>
                      <a:round/>
                      <a:headEnd type="none" w="med" len="med"/>
                      <a:tailEnd type="none" w="med" len="med"/>
                    </a:lnB>
                    <a:solidFill>
                      <a:srgbClr val="F3E1C3"/>
                    </a:solidFill>
                  </a:tcPr>
                </a:tc>
              </a:tr>
            </a:tbl>
          </a:graphicData>
        </a:graphic>
      </p:graphicFrame>
      <p:sp>
        <p:nvSpPr>
          <p:cNvPr id="4" name="Text 1"/>
          <p:cNvSpPr txBox="1"/>
          <p:nvPr/>
        </p:nvSpPr>
        <p:spPr>
          <a:xfrm>
            <a:off x="5205862" y="1325880"/>
            <a:ext cx="6437193" cy="386588"/>
          </a:xfrm>
          <a:prstGeom prst="rect">
            <a:avLst/>
          </a:prstGeom>
          <a:noFill/>
          <a:ln/>
        </p:spPr>
        <p:txBody>
          <a:bodyPr wrap="square" lIns="0" tIns="0" rIns="0" bIns="0" rtlCol="0" anchor="t"/>
          <a:lstStyle/>
          <a:p>
            <a:pPr algn="l" indent="0" marL="0">
              <a:buNone/>
            </a:pPr>
            <a:r>
              <a:rPr lang="en-US" sz="2200" dirty="0">
                <a:solidFill>
                  <a:srgbClr val="1B1B1F"/>
                </a:solidFill>
              </a:rPr>
              <a:t>Schlüsselwort WOLF: F = 1, L = 2, O = 3, W = 4</a:t>
            </a:r>
            <a:endParaRPr lang="en-US" sz="2200" dirty="0"/>
          </a:p>
        </p:txBody>
      </p:sp>
      <p:sp>
        <p:nvSpPr>
          <p:cNvPr id="5" name="Text 2"/>
          <p:cNvSpPr txBox="1"/>
          <p:nvPr/>
        </p:nvSpPr>
        <p:spPr>
          <a:xfrm>
            <a:off x="5205862" y="1840484"/>
            <a:ext cx="6437193" cy="386588"/>
          </a:xfrm>
          <a:prstGeom prst="rect">
            <a:avLst/>
          </a:prstGeom>
          <a:noFill/>
          <a:ln/>
        </p:spPr>
        <p:txBody>
          <a:bodyPr wrap="square" lIns="0" tIns="0" rIns="0" bIns="0" rtlCol="0" anchor="t"/>
          <a:lstStyle/>
          <a:p>
            <a:pPr algn="l" indent="0" marL="0">
              <a:buNone/>
            </a:pPr>
            <a:r>
              <a:rPr lang="en-US" sz="2200" dirty="0">
                <a:solidFill>
                  <a:srgbClr val="1B1B1F"/>
                </a:solidFill>
              </a:rPr>
              <a:t>Spalten in dieser Reihenfolge lesen:</a:t>
            </a:r>
            <a:endParaRPr lang="en-US" sz="2200" dirty="0"/>
          </a:p>
        </p:txBody>
      </p:sp>
      <p:sp>
        <p:nvSpPr>
          <p:cNvPr id="6" name="Geheimtext-Kasten"/>
          <p:cNvSpPr/>
          <p:nvPr/>
        </p:nvSpPr>
        <p:spPr>
          <a:xfrm>
            <a:off x="5205862" y="2355088"/>
            <a:ext cx="6437193" cy="716280"/>
          </a:xfrm>
          <a:prstGeom prst="rect">
            <a:avLst/>
          </a:prstGeom>
          <a:solidFill>
            <a:srgbClr val="F2EADB"/>
          </a:solidFill>
          <a:ln w="9525">
            <a:solidFill>
              <a:srgbClr val="D8CDB8"/>
            </a:solidFill>
            <a:prstDash val="solid"/>
          </a:ln>
        </p:spPr>
      </p:sp>
      <p:sp>
        <p:nvSpPr>
          <p:cNvPr id="7" name="Text 4"/>
          <p:cNvSpPr txBox="1"/>
          <p:nvPr/>
        </p:nvSpPr>
        <p:spPr>
          <a:xfrm>
            <a:off x="5434462" y="2464816"/>
            <a:ext cx="5979993" cy="496824"/>
          </a:xfrm>
          <a:prstGeom prst="rect">
            <a:avLst/>
          </a:prstGeom>
          <a:noFill/>
          <a:ln/>
        </p:spPr>
        <p:txBody>
          <a:bodyPr wrap="square" lIns="0" tIns="0" rIns="0" bIns="0" rtlCol="0" anchor="t"/>
          <a:lstStyle/>
          <a:p>
            <a:pPr indent="0" marL="0">
              <a:lnSpc>
                <a:spcPct val="115000"/>
              </a:lnSpc>
              <a:buNone/>
            </a:pPr>
            <a:r>
              <a:rPr lang="en-US" sz="2400" b="1" spc="200" kern="0" dirty="0">
                <a:solidFill>
                  <a:srgbClr val="1B1B1F"/>
                </a:solidFill>
                <a:latin typeface="Consolas" pitchFamily="34" charset="0"/>
                <a:ea typeface="Consolas" pitchFamily="34" charset="-122"/>
                <a:cs typeface="Consolas" pitchFamily="34" charset="-120"/>
              </a:rPr>
              <a:t>XXADA GFDFV XVDFA G</a:t>
            </a:r>
            <a:endParaRPr lang="en-US" sz="2400" dirty="0"/>
          </a:p>
        </p:txBody>
      </p:sp>
      <p:sp>
        <p:nvSpPr>
          <p:cNvPr id="8" name="Text 5"/>
          <p:cNvSpPr txBox="1"/>
          <p:nvPr/>
        </p:nvSpPr>
        <p:spPr>
          <a:xfrm>
            <a:off x="5205862" y="3199384"/>
            <a:ext cx="6437193" cy="386588"/>
          </a:xfrm>
          <a:prstGeom prst="rect">
            <a:avLst/>
          </a:prstGeom>
          <a:noFill/>
          <a:ln/>
        </p:spPr>
        <p:txBody>
          <a:bodyPr wrap="square" lIns="0" tIns="0" rIns="0" bIns="0" rtlCol="0" anchor="t"/>
          <a:lstStyle/>
          <a:p>
            <a:pPr algn="l" indent="0" marL="0">
              <a:buNone/>
            </a:pPr>
            <a:r>
              <a:rPr lang="en-US" sz="2200" dirty="0">
                <a:solidFill>
                  <a:srgbClr val="1B1B1F"/>
                </a:solidFill>
              </a:rPr>
              <a:t>Entschlüsseln: </a:t>
            </a:r>
            <a:r>
              <a:rPr lang="en-US" sz="2200" b="1" dirty="0">
                <a:solidFill>
                  <a:srgbClr val="1B1B1F"/>
                </a:solidFill>
              </a:rPr>
              <a:t>erst Spalten, dann Quadrat</a:t>
            </a:r>
            <a:endParaRPr lang="en-US" sz="22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Falle P4 · Ungleiche Spalten</a:t>
            </a:r>
            <a:endParaRPr lang="en-US" sz="3000" dirty="0"/>
          </a:p>
        </p:txBody>
      </p:sp>
      <p:sp>
        <p:nvSpPr>
          <p:cNvPr id="3" name="Text 1"/>
          <p:cNvSpPr txBox="1"/>
          <p:nvPr/>
        </p:nvSpPr>
        <p:spPr>
          <a:xfrm>
            <a:off x="548640" y="1325880"/>
            <a:ext cx="11094415" cy="432308"/>
          </a:xfrm>
          <a:prstGeom prst="rect">
            <a:avLst/>
          </a:prstGeom>
          <a:noFill/>
          <a:ln/>
        </p:spPr>
        <p:txBody>
          <a:bodyPr wrap="square" lIns="0" tIns="0" rIns="0" bIns="0" rtlCol="0" anchor="t"/>
          <a:lstStyle/>
          <a:p>
            <a:pPr indent="0" marL="0">
              <a:buNone/>
            </a:pPr>
            <a:r>
              <a:rPr lang="en-US" sz="2200" dirty="0">
                <a:solidFill>
                  <a:srgbClr val="1B1B1F"/>
                </a:solidFill>
              </a:rPr>
              <a:t>Bei L = n · z + r sind die </a:t>
            </a:r>
            <a:r>
              <a:rPr lang="en-US" sz="2200" b="1" dirty="0">
                <a:solidFill>
                  <a:srgbClr val="1B1B1F"/>
                </a:solidFill>
              </a:rPr>
              <a:t>ersten r Spalten von links</a:t>
            </a:r>
            <a:r>
              <a:rPr lang="en-US" sz="2200" dirty="0">
                <a:solidFill>
                  <a:srgbClr val="1B1B1F"/>
                </a:solidFill>
              </a:rPr>
              <a:t> eine Zeile länger.</a:t>
            </a:r>
            <a:endParaRPr lang="en-US" sz="2200" dirty="0"/>
          </a:p>
        </p:txBody>
      </p:sp>
      <p:sp>
        <p:nvSpPr>
          <p:cNvPr id="4" name="Shape 2"/>
          <p:cNvSpPr/>
          <p:nvPr/>
        </p:nvSpPr>
        <p:spPr>
          <a:xfrm>
            <a:off x="548640" y="1941068"/>
            <a:ext cx="5364328" cy="1769872"/>
          </a:xfrm>
          <a:prstGeom prst="roundRect">
            <a:avLst>
              <a:gd name="adj" fmla="val 4133"/>
            </a:avLst>
          </a:prstGeom>
          <a:solidFill>
            <a:srgbClr val="FDF3F2"/>
          </a:solidFill>
          <a:ln w="15875">
            <a:solidFill>
              <a:srgbClr val="B3261E"/>
            </a:solidFill>
            <a:prstDash val="solid"/>
          </a:ln>
        </p:spPr>
      </p:sp>
      <p:sp>
        <p:nvSpPr>
          <p:cNvPr id="5" name="Text 3"/>
          <p:cNvSpPr txBox="1"/>
          <p:nvPr/>
        </p:nvSpPr>
        <p:spPr>
          <a:xfrm>
            <a:off x="822960" y="2123948"/>
            <a:ext cx="4815688" cy="365760"/>
          </a:xfrm>
          <a:prstGeom prst="rect">
            <a:avLst/>
          </a:prstGeom>
          <a:noFill/>
          <a:ln/>
        </p:spPr>
        <p:txBody>
          <a:bodyPr wrap="square" lIns="0" tIns="0" rIns="0" bIns="0" rtlCol="0" anchor="ctr"/>
          <a:lstStyle/>
          <a:p>
            <a:pPr indent="0" marL="0">
              <a:buNone/>
            </a:pPr>
            <a:r>
              <a:rPr lang="en-US" sz="1800" b="1" spc="200" kern="0" dirty="0">
                <a:solidFill>
                  <a:srgbClr val="B3261E"/>
                </a:solidFill>
              </a:rPr>
              <a:t>SO NICHT  ✗</a:t>
            </a:r>
            <a:endParaRPr lang="en-US" sz="1800" dirty="0"/>
          </a:p>
        </p:txBody>
      </p:sp>
      <p:sp>
        <p:nvSpPr>
          <p:cNvPr id="6" name="Text 4"/>
          <p:cNvSpPr txBox="1"/>
          <p:nvPr/>
        </p:nvSpPr>
        <p:spPr>
          <a:xfrm>
            <a:off x="822960" y="2626868"/>
            <a:ext cx="4815688" cy="727456"/>
          </a:xfrm>
          <a:prstGeom prst="rect">
            <a:avLst/>
          </a:prstGeom>
          <a:noFill/>
          <a:ln/>
        </p:spPr>
        <p:txBody>
          <a:bodyPr wrap="square" lIns="0" tIns="0" rIns="0" bIns="0" rtlCol="0" anchor="t"/>
          <a:lstStyle/>
          <a:p>
            <a:pPr algn="l" indent="0" marL="0">
              <a:buNone/>
            </a:pPr>
            <a:r>
              <a:rPr lang="en-US" sz="2200" dirty="0">
                <a:solidFill>
                  <a:srgbClr val="1B1B1F"/>
                </a:solidFill>
              </a:rPr>
              <a:t>„Die zuerst gelesene Spalte ist die längere.“</a:t>
            </a:r>
            <a:endParaRPr lang="en-US" sz="2200" dirty="0"/>
          </a:p>
        </p:txBody>
      </p:sp>
      <p:sp>
        <p:nvSpPr>
          <p:cNvPr id="7" name="Shape 5"/>
          <p:cNvSpPr/>
          <p:nvPr/>
        </p:nvSpPr>
        <p:spPr>
          <a:xfrm>
            <a:off x="6278728" y="1941068"/>
            <a:ext cx="5364328" cy="1769872"/>
          </a:xfrm>
          <a:prstGeom prst="roundRect">
            <a:avLst>
              <a:gd name="adj" fmla="val 4133"/>
            </a:avLst>
          </a:prstGeom>
          <a:solidFill>
            <a:srgbClr val="EEF6EE"/>
          </a:solidFill>
          <a:ln w="15875">
            <a:solidFill>
              <a:srgbClr val="2E7D32"/>
            </a:solidFill>
            <a:prstDash val="solid"/>
          </a:ln>
        </p:spPr>
      </p:sp>
      <p:sp>
        <p:nvSpPr>
          <p:cNvPr id="8" name="Text 6"/>
          <p:cNvSpPr txBox="1"/>
          <p:nvPr/>
        </p:nvSpPr>
        <p:spPr>
          <a:xfrm>
            <a:off x="6553048" y="2123948"/>
            <a:ext cx="4815688" cy="365760"/>
          </a:xfrm>
          <a:prstGeom prst="rect">
            <a:avLst/>
          </a:prstGeom>
          <a:noFill/>
          <a:ln/>
        </p:spPr>
        <p:txBody>
          <a:bodyPr wrap="square" lIns="0" tIns="0" rIns="0" bIns="0" rtlCol="0" anchor="ctr"/>
          <a:lstStyle/>
          <a:p>
            <a:pPr indent="0" marL="0">
              <a:buNone/>
            </a:pPr>
            <a:r>
              <a:rPr lang="en-US" sz="1800" b="1" spc="200" kern="0" dirty="0">
                <a:solidFill>
                  <a:srgbClr val="2E7D32"/>
                </a:solidFill>
              </a:rPr>
              <a:t>SO RICHTIG  ✓</a:t>
            </a:r>
            <a:endParaRPr lang="en-US" sz="1800" dirty="0"/>
          </a:p>
        </p:txBody>
      </p:sp>
      <p:sp>
        <p:nvSpPr>
          <p:cNvPr id="9" name="Text 7"/>
          <p:cNvSpPr txBox="1"/>
          <p:nvPr/>
        </p:nvSpPr>
        <p:spPr>
          <a:xfrm>
            <a:off x="6553048" y="2626868"/>
            <a:ext cx="4815688" cy="727456"/>
          </a:xfrm>
          <a:prstGeom prst="rect">
            <a:avLst/>
          </a:prstGeom>
          <a:noFill/>
          <a:ln/>
        </p:spPr>
        <p:txBody>
          <a:bodyPr wrap="square" lIns="0" tIns="0" rIns="0" bIns="0" rtlCol="0" anchor="t"/>
          <a:lstStyle/>
          <a:p>
            <a:pPr algn="l" indent="0" marL="0">
              <a:buNone/>
            </a:pPr>
            <a:r>
              <a:rPr lang="en-US" sz="2200" dirty="0">
                <a:solidFill>
                  <a:srgbClr val="1B1B1F"/>
                </a:solidFill>
              </a:rPr>
              <a:t>20 Zeichen, TOR: 20 = 3 · 6 + 2 → </a:t>
            </a:r>
            <a:r>
              <a:rPr lang="en-US" sz="2200" b="1" dirty="0">
                <a:solidFill>
                  <a:srgbClr val="1B1B1F"/>
                </a:solidFill>
              </a:rPr>
              <a:t>T und O</a:t>
            </a:r>
            <a:r>
              <a:rPr lang="en-US" sz="2200" dirty="0">
                <a:solidFill>
                  <a:srgbClr val="1B1B1F"/>
                </a:solidFill>
              </a:rPr>
              <a:t> je 7, R 6</a:t>
            </a:r>
            <a:endParaRPr lang="en-US" sz="22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1" type="title" hasCustomPrompt="1"/>
          </p:nvPr>
        </p:nvSpPr>
        <p:spPr>
          <a:xfrm>
            <a:off x="1325880" y="347472"/>
            <a:ext cx="10317175" cy="658368"/>
          </a:xfrm>
          <a:prstGeom prst="rect">
            <a:avLst/>
          </a:prstGeom>
          <a:noFill/>
          <a:ln/>
        </p:spPr>
        <p:txBody>
          <a:bodyPr wrap="square" lIns="0" tIns="0" rIns="0" bIns="0" rtlCol="0" anchor="ctr"/>
          <a:lstStyle/>
          <a:p>
            <a:pPr algn="l" indent="0" marL="0">
              <a:buNone/>
            </a:pPr>
            <a:r>
              <a:rPr lang="en-US" sz="3000" b="1" dirty="0">
                <a:solidFill>
                  <a:srgbClr val="14213D"/>
                </a:solidFill>
                <a:latin typeface="Georgia" pitchFamily="34" charset="0"/>
                <a:ea typeface="Georgia" pitchFamily="34" charset="-122"/>
                <a:cs typeface="Georgia" pitchFamily="34" charset="-120"/>
              </a:rPr>
              <a:t>Welt 3 in vier Sätzen</a:t>
            </a:r>
            <a:endParaRPr lang="en-US" sz="3000" dirty="0"/>
          </a:p>
        </p:txBody>
      </p:sp>
      <p:sp>
        <p:nvSpPr>
          <p:cNvPr id="3" name="Merke-Kasten"/>
          <p:cNvSpPr/>
          <p:nvPr/>
        </p:nvSpPr>
        <p:spPr>
          <a:xfrm>
            <a:off x="1097280" y="1508760"/>
            <a:ext cx="9997135" cy="3605784"/>
          </a:xfrm>
          <a:prstGeom prst="roundRect">
            <a:avLst>
              <a:gd name="adj" fmla="val 2536"/>
            </a:avLst>
          </a:prstGeom>
          <a:solidFill>
            <a:srgbClr val="FBF3E2"/>
          </a:solidFill>
          <a:ln w="19050">
            <a:solidFill>
              <a:srgbClr val="B07D2B"/>
            </a:solidFill>
            <a:prstDash val="solid"/>
          </a:ln>
        </p:spPr>
      </p:sp>
      <p:sp>
        <p:nvSpPr>
          <p:cNvPr id="4" name="Text 2"/>
          <p:cNvSpPr txBox="1"/>
          <p:nvPr/>
        </p:nvSpPr>
        <p:spPr>
          <a:xfrm>
            <a:off x="1508760" y="1737360"/>
            <a:ext cx="3657600" cy="411480"/>
          </a:xfrm>
          <a:prstGeom prst="rect">
            <a:avLst/>
          </a:prstGeom>
          <a:noFill/>
          <a:ln/>
        </p:spPr>
        <p:txBody>
          <a:bodyPr wrap="square" lIns="0" tIns="0" rIns="0" bIns="0" rtlCol="0" anchor="ctr"/>
          <a:lstStyle/>
          <a:p>
            <a:pPr indent="0" marL="0">
              <a:buNone/>
            </a:pPr>
            <a:r>
              <a:rPr lang="en-US" sz="2000" b="1" spc="400" kern="0" dirty="0">
                <a:solidFill>
                  <a:srgbClr val="8A5F1A"/>
                </a:solidFill>
                <a:latin typeface="Georgia" pitchFamily="34" charset="0"/>
                <a:ea typeface="Georgia" pitchFamily="34" charset="-122"/>
                <a:cs typeface="Georgia" pitchFamily="34" charset="-120"/>
              </a:rPr>
              <a:t>MERKE</a:t>
            </a:r>
            <a:endParaRPr lang="en-US" sz="2000" dirty="0"/>
          </a:p>
        </p:txBody>
      </p:sp>
      <p:sp>
        <p:nvSpPr>
          <p:cNvPr id="5" name="Text 3"/>
          <p:cNvSpPr txBox="1"/>
          <p:nvPr/>
        </p:nvSpPr>
        <p:spPr>
          <a:xfrm>
            <a:off x="1508760" y="2240280"/>
            <a:ext cx="9174175" cy="386588"/>
          </a:xfrm>
          <a:prstGeom prst="rect">
            <a:avLst/>
          </a:prstGeom>
          <a:noFill/>
          <a:ln/>
        </p:spPr>
        <p:txBody>
          <a:bodyPr wrap="square" lIns="0" tIns="0" rIns="0" bIns="0" rtlCol="0" anchor="t"/>
          <a:lstStyle/>
          <a:p>
            <a:pPr algn="l" indent="0" marL="0">
              <a:buNone/>
            </a:pPr>
            <a:r>
              <a:rPr lang="en-US" sz="2200" dirty="0">
                <a:solidFill>
                  <a:srgbClr val="1B1B1F"/>
                </a:solidFill>
              </a:rPr>
              <a:t>•  </a:t>
            </a:r>
            <a:r>
              <a:rPr lang="en-US" sz="2200" b="1" dirty="0">
                <a:solidFill>
                  <a:srgbClr val="1B1B1F"/>
                </a:solidFill>
              </a:rPr>
              <a:t>One-Time-Pad:</a:t>
            </a:r>
            <a:r>
              <a:rPr lang="en-US" sz="2200" dirty="0">
                <a:solidFill>
                  <a:srgbClr val="1B1B1F"/>
                </a:solidFill>
              </a:rPr>
              <a:t> perfekt sicher – aber nur einmal!</a:t>
            </a:r>
            <a:endParaRPr lang="en-US" sz="2200" dirty="0"/>
          </a:p>
        </p:txBody>
      </p:sp>
      <p:sp>
        <p:nvSpPr>
          <p:cNvPr id="6" name="Text 4"/>
          <p:cNvSpPr txBox="1"/>
          <p:nvPr/>
        </p:nvSpPr>
        <p:spPr>
          <a:xfrm>
            <a:off x="1508760" y="2754884"/>
            <a:ext cx="9174175" cy="727456"/>
          </a:xfrm>
          <a:prstGeom prst="rect">
            <a:avLst/>
          </a:prstGeom>
          <a:noFill/>
          <a:ln/>
        </p:spPr>
        <p:txBody>
          <a:bodyPr wrap="square" lIns="0" tIns="0" rIns="0" bIns="0" rtlCol="0" anchor="t"/>
          <a:lstStyle/>
          <a:p>
            <a:pPr algn="l" indent="0" marL="0">
              <a:buNone/>
            </a:pPr>
            <a:r>
              <a:rPr lang="en-US" sz="2200" dirty="0">
                <a:solidFill>
                  <a:srgbClr val="1B1B1F"/>
                </a:solidFill>
              </a:rPr>
              <a:t>•  </a:t>
            </a:r>
            <a:r>
              <a:rPr lang="en-US" sz="2200" b="1" dirty="0">
                <a:solidFill>
                  <a:srgbClr val="1B1B1F"/>
                </a:solidFill>
              </a:rPr>
              <a:t>Blockchiffre:</a:t>
            </a:r>
            <a:r>
              <a:rPr lang="en-US" sz="2200" dirty="0">
                <a:solidFill>
                  <a:srgbClr val="1B1B1F"/>
                </a:solidFill>
              </a:rPr>
              <a:t> Runden aus XOR, S-Box, Transposition → Konfusion und Diffusion; CBC statt ECB</a:t>
            </a:r>
            <a:endParaRPr lang="en-US" sz="2200" dirty="0"/>
          </a:p>
        </p:txBody>
      </p:sp>
      <p:sp>
        <p:nvSpPr>
          <p:cNvPr id="7" name="Text 5"/>
          <p:cNvSpPr txBox="1"/>
          <p:nvPr/>
        </p:nvSpPr>
        <p:spPr>
          <a:xfrm>
            <a:off x="1508760" y="3610356"/>
            <a:ext cx="9174175" cy="386588"/>
          </a:xfrm>
          <a:prstGeom prst="rect">
            <a:avLst/>
          </a:prstGeom>
          <a:noFill/>
          <a:ln/>
        </p:spPr>
        <p:txBody>
          <a:bodyPr wrap="square" lIns="0" tIns="0" rIns="0" bIns="0" rtlCol="0" anchor="t"/>
          <a:lstStyle/>
          <a:p>
            <a:pPr algn="l" indent="0" marL="0">
              <a:buNone/>
            </a:pPr>
            <a:r>
              <a:rPr lang="en-US" sz="2200" dirty="0">
                <a:solidFill>
                  <a:srgbClr val="1B1B1F"/>
                </a:solidFill>
              </a:rPr>
              <a:t>•  </a:t>
            </a:r>
            <a:r>
              <a:rPr lang="en-US" sz="2200" b="1" dirty="0">
                <a:solidFill>
                  <a:srgbClr val="1B1B1F"/>
                </a:solidFill>
              </a:rPr>
              <a:t>Eigenes Verfahren:</a:t>
            </a:r>
            <a:r>
              <a:rPr lang="en-US" sz="2200" dirty="0">
                <a:solidFill>
                  <a:srgbClr val="1B1B1F"/>
                </a:solidFill>
              </a:rPr>
              <a:t> Stufen rückwärts, Kriterien, Urteil</a:t>
            </a:r>
            <a:endParaRPr lang="en-US" sz="2200" dirty="0"/>
          </a:p>
        </p:txBody>
      </p:sp>
      <p:sp>
        <p:nvSpPr>
          <p:cNvPr id="8" name="Text 6"/>
          <p:cNvSpPr txBox="1"/>
          <p:nvPr/>
        </p:nvSpPr>
        <p:spPr>
          <a:xfrm>
            <a:off x="1508760" y="4124960"/>
            <a:ext cx="9174175" cy="386588"/>
          </a:xfrm>
          <a:prstGeom prst="rect">
            <a:avLst/>
          </a:prstGeom>
          <a:noFill/>
          <a:ln/>
        </p:spPr>
        <p:txBody>
          <a:bodyPr wrap="square" lIns="0" tIns="0" rIns="0" bIns="0" rtlCol="0" anchor="t"/>
          <a:lstStyle/>
          <a:p>
            <a:pPr algn="l" indent="0" marL="0">
              <a:buNone/>
            </a:pPr>
            <a:r>
              <a:rPr lang="en-US" sz="2200" dirty="0">
                <a:solidFill>
                  <a:srgbClr val="1B1B1F"/>
                </a:solidFill>
              </a:rPr>
              <a:t>•  Kür: die Enigma</a:t>
            </a:r>
            <a:endParaRPr lang="en-US" sz="22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4A55"/>
                </a:solidFill>
              </a:defRPr>
            </a:lvl1pPr>
          </a:lstStyle>
          <a:p>
            <a:pPr algn="r"/>
            <a:fld id="{F7021451-1387-4CA6-816F-3879F97B5CBC}" type="slidenum">
              <a:rPr b="0" lang="en-US"/>
              <a:t>28</a:t>
            </a:fld>
            <a:endParaRPr lang="en-US"/>
          </a:p>
        </p:txBody>
      </p:sp>
    </p:spTree>
  </p:cSld>
  <p:clrMapOvr>
    <a:masterClrMapping/>
  </p:clrMapOvr>
</p:sld>
</file>

<file path=ppt/theme/theme1.xml><?xml version="1.0" encoding="utf-8"?>
<a:theme xmlns:a="http://schemas.openxmlformats.org/drawingml/2006/main" name="Kryptos Maschinen">
  <a:themeElements>
    <a:clrScheme name="Kryptos Maschinen">
      <a:dk1>
        <a:srgbClr val="1B1B1F"/>
      </a:dk1>
      <a:lt1>
        <a:srgbClr val="FFFFFF"/>
      </a:lt1>
      <a:dk2>
        <a:srgbClr val="14213D"/>
      </a:dk2>
      <a:lt2>
        <a:srgbClr val="FBF7EE"/>
      </a:lt2>
      <a:accent1>
        <a:srgbClr val="556B2F"/>
      </a:accent1>
      <a:accent2>
        <a:srgbClr val="B07D2B"/>
      </a:accent2>
      <a:accent3>
        <a:srgbClr val="1F4E8C"/>
      </a:accent3>
      <a:accent4>
        <a:srgbClr val="2E7D32"/>
      </a:accent4>
      <a:accent5>
        <a:srgbClr val="B3261E"/>
      </a:accent5>
      <a:accent6>
        <a:srgbClr val="4A4A55"/>
      </a:accent6>
      <a:hlink>
        <a:srgbClr val="1F4E8C"/>
      </a:hlink>
      <a:folHlink>
        <a:srgbClr val="8A5F1A"/>
      </a:folHlink>
    </a:clrScheme>
    <a:fontScheme name="Kryptos Maschinen">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Kryptos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Das Maschinenzeitalter</dc:title>
  <dc:subject>Kryptos – Die Zeitreise der Geheimschriften</dc:subject>
  <dc:creator>Frank Juchim</dc:creator>
  <cp:lastModifiedBy>Frank Juchim</cp:lastModifiedBy>
  <cp:revision>1</cp:revision>
  <dcterms:created xsi:type="dcterms:W3CDTF">2026-10-14T12:48:39Z</dcterms:created>
  <dcterms:modified xsi:type="dcterms:W3CDTF">2026-10-14T12:48:39Z</dcterms:modified>
</cp:coreProperties>
</file>