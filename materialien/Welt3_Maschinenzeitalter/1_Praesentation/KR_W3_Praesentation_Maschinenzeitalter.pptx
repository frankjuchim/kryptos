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S 9 · Vernam" id="{a632ebe3-1287-b8dd-a164-8db92f446a8e}">
          <p14:sldIdLst>
            <p14:sldId id="256"/>
            <p14:sldId id="257"/>
            <p14:sldId id="258"/>
            <p14:sldId id="259"/>
            <p14:sldId id="260"/>
            <p14:sldId id="261"/>
            <p14:sldId id="262"/>
            <p14:sldId id="263"/>
            <p14:sldId id="264"/>
            <p14:sldId id="265"/>
            <p14:sldId id="266"/>
            <p14:sldId id="267"/>
          </p14:sldIdLst>
        </p14:section>
        <p14:section name="DS 10 · Blockchiffre" id="{d495be62-b764-7121-18fa-9bae6612e8aa}">
          <p14:sldIdLst>
            <p14:sldId id="268"/>
            <p14:sldId id="269"/>
            <p14:sldId id="270"/>
            <p14:sldId id="271"/>
            <p14:sldId id="272"/>
            <p14:sldId id="273"/>
            <p14:sldId id="274"/>
            <p14:sldId id="275"/>
          </p14:sldIdLst>
        </p14:section>
        <p14:section name="DS 11 · Werkstatt" id="{7026a048-b015-5335-a176-542198758a55}">
          <p14:sldIdLst>
            <p14:sldId id="276"/>
            <p14:sldId id="277"/>
            <p14:sldId id="278"/>
            <p14:sldId id="279"/>
          </p14:sldIdLst>
        </p14:section>
        <p14:section name="DS 11 · ADFGVX" id="{fe479fab-3162-4177-89ed-e231ae31ac6d}">
          <p14:sldIdLst>
            <p14:sldId id="280"/>
            <p14:sldId id="281"/>
            <p14:sldId id="282"/>
            <p14:sldId id="283"/>
          </p14:sldIdLst>
        </p14:section>
        <p14:section name="Kür K2 · Die Enigma" id="{a37c30b4-dc27-bb89-b088-0fd149394b4a}">
          <p14:sldIdLst>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Begrüßung, Zeitsprung ins Jahr 1917.
Impuls: „Was ändert sich, wenn nicht mehr Menschen, sondern Maschinen verschlüsseln?“
Erwartete Antworten: schneller; Bits statt Buchstaben; viel mehr Nachrichten; Funk kann jeder abhören – also muss die Verschlüsselung besser werden.
Überleitung: „Das Chronoskop hält in einer Fernschreibstelle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Archivfund-Text vorlesen: „Das Chronoskop hält in einer Fernschreibstelle des Jahres 1917. Zwischen Kabelrollen und Stapeln von Formularen findet die Archivarin eine Blechdose mit zwei schmalen Papierstreifen. Beide sind mit Reihen kleiner Löcher gestanzt – acht Spuren nebeneinander, Loch heißt 1, kein Loch heißt 0. Auf dem einen Streifen steht ‚Geheimtext‘, auf dem anderen in roter Schrift: ‚Schlüssel – nach Gebrauch vernichten!‘ Offenbar hat jemand diese Anweisung nicht befolgt. … ‚Eine Maschine hat hier Zeichen für Zeichen zwei Streifen verknüpft. Welche Regel macht aus Geheimtext und Schlüssel wieder die Nachricht?‘ Und dann, leiser: ‚Auf dem Schlüsselstreifen sind zwei Kerben. Wurde er etwa zweimal benutzt?‘“
Paare vergleichen Spalte für Spalte (Akte W3·1, S. 1). Erwartet: „gleich → 0, verschieden → 1“. Mit der ASCII-Tabelle der Anlage: 0100 0110 = 70 = F, 0101 0101 = 85 = U, 0100 1110 = 78 = N, 0100 1011 = 75 = K → FUNK.
Noch nicht verraten, dass die Regel XOR heißt – erst auf Folie 4. Die „zwei Kerben“ als Cliffhanger für den Funkraum stehen lassen.
Hintergrund: Vernam arbeitete 1917 mit dem 5-Bit-Fernschreibcode, nicht mit ASCII (1960er) – wir verwenden bewusst den 8-Bit-ASCII-Code der Anlage.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Wiederholung Sek I (Dualzahlen).
Tafel: Stellenwerttabelle 128 … 1; gemeinsam O = 79 = 64 + 8 + 4 + 2 + 1 umrechnen.
Erwartete Schwierigkeit: dezimal → dual ohne Taschenrechner. Trick: „Großbuchstaben beginnen mit 010, die restlichen 5 Bits sind die Nummer im Alphabet“ (O = 15 → 010 01111).
Falle P1 ausdrücklich: drei Zählweisen (ASCII 65, Anlage A = 1, Programm A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Rückbezug Archivfund: Die Regel des Kurses heißt XOR („exklusives Oder“ – entweder das eine oder das andere, nicht beide).
Beispiel Spalte für Spalte vorrechnen.
Frage: „Warum braucht Bob keine eigene Entschlüsselungsoperation?“ → a ⊕ k ⊕ k = a, weil k ⊕ k = 0 und a ⊕ 0 = a: XOR ist selbstinvers.
Abgrenzung zu Caesar: dort braucht man die Gegenrichtung (P3).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 Lösungen: A1 Q 0101 0001, Y 0101 1001, „4“ 0011 0100, „7“ 0011 0111; W, H. A2 1101 0001 und 0000 0000 (a ⊕ a = 0). A3 Geheimtext 1010 0101 · 0111 0110 · 1101 1001 · 0001 1001.
Schnelle: Auftrag 6 (Sparversion).
Typischer Fehler: A = 1 statt 65 (P1).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Historie vorsichtig formulieren: Gilbert Vernam (AT&amp;T) entwickelte 1917 die Fernschreib-Chiffre (Patent 1919); die Forderung nach einem zufälligen, nie wiederholten Schlüssel wird Joseph Mauborgne zugeschrieben.
Kerckhoffs-Rückgriff: Das Verfahren XOR ist öffentlich – geheim ist nur der Schlüssel.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Abgrenzung: „perfekt“ heißt nicht „praktisch“ – das Schlüsselproblem folgt (Folie 12).
Auch unbegrenzte Rechenleistung hilft nicht: Brute Force liefert alle Klartexte gleicher Länge, ohne Entscheidung.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(Akte W3·1, Auftrag 4).
Lösung: K_HALT = C ⊕ HALT = 0101 0110 · 1001 1011 · 0010 1011 · 1100 0101; K_LAUF = 0101 0010 · 1001 1011 · 0011 0010 · 1101 0111.
Pointe: Beide Schlüssel sind gleich wahrscheinlich → Eve kann nicht entscheiden, welche Nachricht gesendet wurde. Das ist perfekte Sicherheit.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Ablauf siehe Funkraum-Dokument KR_W3_Funkraum_Der_doppelte_Schluessel.
Schritte: 1 Rollen (3 min) · 2 Funken (7 min) · 3 Lauschen (10 min) · 4 Auflösung (5 min).
Die Lehrkraft teilt dem „Sparschwein“-Paar die Zusatzanweisung verdeckt zu (Rollenkarte: denselben Abschnitt zweimal verwenden).
Eve-Tipps: nach 5 min „Sucht das Paar mit den meisten Bytes, die mit 000 beginnen“, nach 8 min das Crib „UHR“.
Ohne Plattform: Papier-Alternative mit Buchstaben-OTP (30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Tafel: Herleitung C1 ⊕ C2 = M1 ⊕ M2 – der Schlüssel fällt heraus.
Beispiel aus dem vorbereiteten Funkraum-Datensatz: Crib „ UHR “ (mit Leerzeichen) an Position 7 liefert „BAHNH“ → Vermutung BAHNHOF in M2; Crib „MORGEN “ an Position 0 liefert „HEUTE 8“. An allen anderen Positionen entstehen Sonderzeichen.
Historischer Hinweis: Venona – ab den 1940er-Jahren wurden Nachrichten entschlüsselt, deren Einmalschlüssel mehrfach benutzt worden waren.
Überleitung zu Auftrag 5 (Crib „UHR“) als Hausaufgabe.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Beispiel: EBBE mit 0010 0001 → dccd (0110 0100 · 0110 0011 · 0110 0011 · 0110 0100) – die beiden B werden gleich verschlüsselt.
Angriff: Häufigkeitsanalyse der Bytes oder Brute Force über 256 Schlüssel (P5, P7, P8).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Ausblick: Das Schlüsselproblem öffnet Welt 4.
HA: Akte W3·1 Aufträge 5–6, Lab 3.1 „Vernams Lochstreifen“, Video 04 (Teil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Brücke: „Der OTP-Schlüssel ist so lang wie die Nachricht. Geht es mit einem 16-Bit-Schlüssel für beliebig lange Texte?“ → Idee der Blockchiffre: kurzer Schlüssel, viele Runden aus einfachen Bausteinen.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S-Box-Tabelle als Handout (DIN A5, laminiert) austeilen.
Wichtig: KRYPTOS-16 ist ein eigens für Kryptos entworfenes Lernmodell, kein reales Verfahren (und keine Abituraufgabe).
S-Box (Eingang 0000 … 1111): 1100 1111 0011 1001 0111 1010 1000 0110 0001 0010 0100 1110 1011 0101 1101 0000.
Rundenschlüssel: K₁ = K, danach wandert die erste Vierergruppe ans Ende (Rotation um 4 Bit nach links).
Nach der letzten Runde folgt kein weiterer Schritt (bewusste Vereinfachung).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Runde 1 gemeinsam an der Tafel, Runde 2 rechnen Paare selbst.
Jede Zelle ist eine 4×4-Matrix (Zeile 1 oben).
Transposition zeigen: neue Zeile 1 = alte Spalte 1 = erstes Bit jeder Zeile (1, 1, 0, 1).
Typischer Fehler: Spalten falsch abgelesen (P4); in Runde 2 noch K₁ benutzt.
Geheimtext: 1110 1111 0011 1101.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Lösung: „JA“ = 0100 1010 0100 0001; Runde 1 → 1100 1010 1000 1010; Runde 2 mit K₂ = 1100 1001 1110 0101 → 1110 1000 0000 0100.
Schnelle: Auftrag 3 (Schlüsselplan, schwache Schlüssel: 16 Schlüssel mit vier gleichen Vierergruppen).
Langsame: nur Runde 1 (KRYPTOS-16/1), Kontrolle im Runden-Labor.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danach Runden-Labor 15 min (Akte W3·2, Auftrag 5: „JA“ → „J@“, erwartet 3 / 7 / 9 / 7).
Erklärung: Runde 1 betrifft nur eine S-Box (2–4 Bits), die Transposition verteilt diese auf alle vier Zeilen → ab Runde 2 alle S-Boxen betroffen. Nach 2 Runden hängt jedes Geheimtextbit von jedem Klartextbit ab.
Mittelwerte: über alle 65 536 Klartexte und 16 Bitpositionen bei K = 2B7E.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Bilder aus dem Runden-Labor (KRYPTOS-16, R = 4, K = 2B7E, IV = 1917; eine 4×4-Pixel-Kachel = ein Block). Alle 39 weißen Kacheln werden in ECB zu 0100 0000 1000 0001 – der Schlüssel-Umriss bleibt erkennbar.
Auffüllen: ungerade Zeichenzahl → Byte 0000 0001, gerade → ganzer Block 0000 0010 0000 0010.
Danach Aufträge 6/7 (ECB gegen CBC „JAJA“, Fehlerfortpflanzung „SEHR GUT“ → in CBC „SEQp(GUT“).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Mini-Beispiel: S(0110) = 1000, aber S(1000) = 0001 ≠ 0110 – die S-Box ist nicht selbstinvers, Entschlüsseln braucht S⁻¹.
Transposition und XOR sind selbstinvers.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Ergänzung. DES: 1977 US-Standard, Grundlage Lucifer (Horst Feistel u. a., IBM); Entschlüsseln mit derselben Struktur, Rundenschlüssel rückwärts; heute per Brute Force angreifbar.
AES (Rijndael, Daemen und Rijmen): KRYPTOS-16 ist ein „AES im Kleinen“ ohne MixColumns. Betrieb heute in Modi wie CBC oder GCM, nie ECB.
Abi-Check a, b (Akte W3·2) als Ausgang; HA: Lab 3.2, Video 04 (Teil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Kerckhoffs als Leitsatz: „Euer Verfahren wird öffentlich – nur der Schlüssel bleibt geheim.“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Werkstatt-Hinweise erklären: Caesar mit k = 0, Wort „AAAA“, Spaltenschlüssel alphabetisch (P7 – schwache Schlüssel); CAE + VIG nebeneinander, zweimal UMK (P8 – Stufen verschmelzen); nur Transpositionen (P6 – Häufigkeiten bleiben).
Umkehrbarkeitsprüfung läuft automatisch vor dem Einreichen.
Dann 20 min Entwurfsphase (Akte W3·3, Aufträge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Ablauf siehe Dokument KR_W3_Funkraum_Knack-Arena. Fortschritt am Beamer; Lehrkraft schließt nach 25 min.
Höchstens 1 Versuch je 30 s und Verfahren.
Erfahrungswerte: Nur-Transpositionen fallen schnell (deutsche Häufigkeiten); Caesar/Substitution allein in Minuten; Vigenère + Spaltentransposition mit langen Schlüsseln bleibt oft „unknackbar“ – dann diskutieren: „unknackbar in 25 Minuten ≠ sicher“.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Beurteilungsraster WK3 (Akte W3·3, Auftrag 3).
P10: Ohne Urteil keine volle Punktzahl – Satzbaustein ist verpflichtend.
Auflösung: „Unknackbar“ und „Arena-Knacker“ würdigen.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Historie: 1918 im deutschen Heer eingeführt, Entwicklung wird dem Funkoffizier Fritz Nebel zugeschrieben. A, D, F, G, V, X sind im Morsecode gut unterscheidbar.
Markiert: A = DF, N = AX.
Fremde Chiffre IV – 5-Schritte-Methode: lesen/nachrechnen, anwenden, umkehren, einordnen, beurteilen.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Die Transposition trennt die beiden Hälften jedes Zeichens – das macht ADFGVX stark.
Danach Akte W3·4, Aufträge 1–2 (7 min): „funk2“ mit TOR → AAVGX VFXFX; GADGF DDGVF VGGDF AADXA → brieftaube.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Typischer Fehler in Auftrag 2: Spalte O wird als kurze Spalte angenommen, weil sie zuerst gelesen wird.
Kein Auffüllen mit X – die letzte Zeile darf unvollständig sein.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HA: Online-IDE KR_W3_ChiffrenWerkstatt (eA, bis DS 12), Akte W3·4 Rest, Boss W3 „Der Fernschreiber“ ist freigeschaltet.
Kür K2 (Mini-Enigma) jederzeit freischaltbar, keine Rangrelevanz.
Ausblick: Das Schlüsselproblem (One-Time-Pad und n(n − 1)/2 Schlüssel) eröffnet Welt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Zusatzfolie (M10, L58): Objektbild aus dem Kryptolabor, erzeugt mit `npm run labor:bilder`. 3 min. Kür-Werkzeug „Enigma“, Reiter Maschine; Beispiel mit 10 Kabeln aus dem Tagesschlüssel.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Zusatzfolie (M10, L58): Objektbild aus dem Kryptolabor, erzeugt mit `npm run labor:bilder`. 3 min. Reiter Innenleben; im Level K2 sichtbar, „Vorführen“ dort ausgeblendet.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3_d1377e2871e621de.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3 · Das Maschinenzeitalter</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3_d1377e2871e621de.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Welt 3 · Das Maschinenzeitalter</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3_d1377e2871e621de.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3 · Das Maschinenzeitalter</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a6f14ff56f7750b7.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3_d1377e2871e621de.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A9C27A"/>
                </a:solidFill>
                <a:latin typeface="Consolas" pitchFamily="34" charset="0"/>
                <a:ea typeface="Consolas" pitchFamily="34" charset="-122"/>
                <a:cs typeface="Consolas" pitchFamily="34" charset="-120"/>
              </a:rPr>
              <a:t>WELT 3 · 1917 – 1977 · MASCHINEN &amp; FERNSCHREIBER</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Das Maschinenzeitalter</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Welt 3 · Wenn Maschinen verschlüsseln</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Der Lochstreifen von 1917</a:t>
            </a:r>
            <a:endParaRPr lang="en-US" sz="3000" dirty="0"/>
          </a:p>
        </p:txBody>
      </p:sp>
      <p:sp>
        <p:nvSpPr>
          <p:cNvPr id="3" name="Text 1"/>
          <p:cNvSpPr txBox="1"/>
          <p:nvPr/>
        </p:nvSpPr>
        <p:spPr>
          <a:xfrm>
            <a:off x="731520" y="1417320"/>
            <a:ext cx="5181448" cy="386588"/>
          </a:xfrm>
          <a:prstGeom prst="rect">
            <a:avLst/>
          </a:prstGeom>
          <a:noFill/>
          <a:ln/>
        </p:spPr>
        <p:txBody>
          <a:bodyPr wrap="square" lIns="0" tIns="0" rIns="0" bIns="0" rtlCol="0" anchor="t"/>
          <a:lstStyle/>
          <a:p>
            <a:pPr algn="ctr" indent="0" marL="0">
              <a:buNone/>
            </a:pPr>
            <a:r>
              <a:rPr lang="en-US" sz="2200" b="1" dirty="0">
                <a:solidFill>
                  <a:srgbClr val="FBF7EE"/>
                </a:solidFill>
              </a:rPr>
              <a:t>Geheimtext-Streifen</a:t>
            </a:r>
            <a:endParaRPr lang="en-US" sz="2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1068" y="1931924"/>
          <a:ext cx="5102352" cy="914400"/>
        </p:xfrm>
        <a:graphic>
          <a:graphicData uri="http://schemas.openxmlformats.org/drawingml/2006/table">
            <a:tbl>
              <a:tblPr/>
              <a:tblGrid>
                <a:gridCol w="566928"/>
                <a:gridCol w="566928"/>
                <a:gridCol w="566928"/>
                <a:gridCol w="566928"/>
                <a:gridCol w="566928"/>
                <a:gridCol w="566928"/>
                <a:gridCol w="566928"/>
                <a:gridCol w="566928"/>
                <a:gridCol w="566928"/>
              </a:tblGrid>
              <a:tr h="566928">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128</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64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16</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8</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278728" y="1417320"/>
            <a:ext cx="5181448" cy="386588"/>
          </a:xfrm>
          <a:prstGeom prst="rect">
            <a:avLst/>
          </a:prstGeom>
          <a:noFill/>
          <a:ln/>
        </p:spPr>
        <p:txBody>
          <a:bodyPr wrap="square" lIns="0" tIns="0" rIns="0" bIns="0" rtlCol="0" anchor="t"/>
          <a:lstStyle/>
          <a:p>
            <a:pPr algn="ctr" indent="0" marL="0">
              <a:buNone/>
            </a:pPr>
            <a:r>
              <a:rPr lang="en-US" sz="2200" b="1" dirty="0">
                <a:solidFill>
                  <a:srgbClr val="FBF7EE"/>
                </a:solidFill>
              </a:rPr>
              <a:t>Schlüssel – nach Gebrauch vernichten!</a:t>
            </a:r>
            <a:endParaRPr lang="en-US" sz="220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318275" y="1931924"/>
          <a:ext cx="5102352" cy="914400"/>
        </p:xfrm>
        <a:graphic>
          <a:graphicData uri="http://schemas.openxmlformats.org/drawingml/2006/table">
            <a:tbl>
              <a:tblPr/>
              <a:tblGrid>
                <a:gridCol w="566928"/>
                <a:gridCol w="566928"/>
                <a:gridCol w="566928"/>
                <a:gridCol w="566928"/>
                <a:gridCol w="566928"/>
                <a:gridCol w="566928"/>
                <a:gridCol w="566928"/>
                <a:gridCol w="566928"/>
                <a:gridCol w="566928"/>
              </a:tblGrid>
              <a:tr h="566928">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128</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64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16</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8</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731520" y="5022596"/>
            <a:ext cx="10728655" cy="727456"/>
          </a:xfrm>
          <a:prstGeom prst="rect">
            <a:avLst/>
          </a:prstGeom>
          <a:noFill/>
          <a:ln/>
        </p:spPr>
        <p:txBody>
          <a:bodyPr wrap="square" lIns="0" tIns="0" rIns="0" bIns="0" rtlCol="0" anchor="t"/>
          <a:lstStyle/>
          <a:p>
            <a:pPr algn="l" indent="0" marL="0">
              <a:buNone/>
            </a:pPr>
            <a:r>
              <a:rPr lang="en-US" sz="2200" dirty="0">
                <a:solidFill>
                  <a:srgbClr val="FBF7EE"/>
                </a:solidFill>
              </a:rPr>
              <a:t>Loch = 1. Welche Regel macht aus Geheimtext und Schlüssel wieder die Nachricht?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Zeichen als Bits</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0241280" cy="914400"/>
        </p:xfrm>
        <a:graphic>
          <a:graphicData uri="http://schemas.openxmlformats.org/drawingml/2006/table">
            <a:tbl>
              <a:tblPr/>
              <a:tblGrid>
                <a:gridCol w="2194560"/>
                <a:gridCol w="1005840"/>
                <a:gridCol w="1005840"/>
                <a:gridCol w="1005840"/>
                <a:gridCol w="1005840"/>
                <a:gridCol w="1005840"/>
                <a:gridCol w="1005840"/>
                <a:gridCol w="1005840"/>
                <a:gridCol w="1005840"/>
              </a:tblGrid>
              <a:tr h="0">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Stellenwert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128</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64</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32</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16</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8</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4</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2</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B = 66</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O = 79</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564892"/>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8 Bit = 1 Byte, Werte 0 … 255; Vierergruppen, höchstwertiges Bit links</a:t>
            </a:r>
            <a:endParaRPr lang="en-US" sz="2200" dirty="0"/>
          </a:p>
        </p:txBody>
      </p:sp>
      <p:sp>
        <p:nvSpPr>
          <p:cNvPr id="5" name="Text 2"/>
          <p:cNvSpPr txBox="1"/>
          <p:nvPr/>
        </p:nvSpPr>
        <p:spPr>
          <a:xfrm>
            <a:off x="548640" y="3079496"/>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ASCII (Anlage): A = 65 … Z = 90, Leerzeichen = 32</a:t>
            </a:r>
            <a:endParaRPr lang="en-US" sz="2200" dirty="0"/>
          </a:p>
        </p:txBody>
      </p:sp>
      <p:sp>
        <p:nvSpPr>
          <p:cNvPr id="6" name="Text 3"/>
          <p:cNvSpPr txBox="1"/>
          <p:nvPr/>
        </p:nvSpPr>
        <p:spPr>
          <a:xfrm>
            <a:off x="548640" y="359410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B = 66 = 64 + 2 = </a:t>
            </a:r>
            <a:r>
              <a:rPr lang="en-US" sz="2200" dirty="0">
                <a:solidFill>
                  <a:srgbClr val="1B1B1F"/>
                </a:solidFill>
                <a:latin typeface="Consolas" pitchFamily="34" charset="0"/>
                <a:ea typeface="Consolas" pitchFamily="34" charset="-122"/>
                <a:cs typeface="Consolas" pitchFamily="34" charset="-120"/>
              </a:rPr>
              <a:t>0100 0010</a:t>
            </a:r>
            <a:endParaRPr lang="en-US" sz="2200" dirty="0"/>
          </a:p>
        </p:txBody>
      </p:sp>
      <p:sp>
        <p:nvSpPr>
          <p:cNvPr id="7" name="Text 4"/>
          <p:cNvSpPr txBox="1"/>
          <p:nvPr/>
        </p:nvSpPr>
        <p:spPr>
          <a:xfrm>
            <a:off x="548640" y="4108704"/>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a:t>
            </a:r>
            <a:r>
              <a:rPr lang="en-US" sz="2200" b="1" dirty="0">
                <a:solidFill>
                  <a:srgbClr val="1B1B1F"/>
                </a:solidFill>
              </a:rPr>
              <a:t>Falle P1:</a:t>
            </a:r>
            <a:r>
              <a:rPr lang="en-US" sz="2200" dirty="0">
                <a:solidFill>
                  <a:srgbClr val="1B1B1F"/>
                </a:solidFill>
              </a:rPr>
              <a:t> ASCII A = 65 ≠ Alphabet A = 1 ≠ Programm A = 0</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XOR – exklusives Oder</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076889" cy="914400"/>
        </p:xfrm>
        <a:graphic>
          <a:graphicData uri="http://schemas.openxmlformats.org/drawingml/2006/table">
            <a:tbl>
              <a:tblPr/>
              <a:tblGrid>
                <a:gridCol w="1358963"/>
                <a:gridCol w="1358963"/>
                <a:gridCol w="1358963"/>
              </a:tblGrid>
              <a:tr h="0">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a</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b</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a ⊕ b</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615436"/>
            <a:ext cx="4076889" cy="386588"/>
          </a:xfrm>
          <a:prstGeom prst="rect">
            <a:avLst/>
          </a:prstGeom>
          <a:noFill/>
          <a:ln/>
        </p:spPr>
        <p:txBody>
          <a:bodyPr wrap="square" lIns="0" tIns="0" rIns="0" bIns="0" rtlCol="0" anchor="t"/>
          <a:lstStyle/>
          <a:p>
            <a:pPr algn="ctr" indent="0" marL="0">
              <a:buNone/>
            </a:pPr>
            <a:r>
              <a:rPr lang="en-US" sz="2200" b="1" dirty="0">
                <a:solidFill>
                  <a:srgbClr val="1B1B1F"/>
                </a:solidFill>
              </a:rPr>
              <a:t>gleich → 0, verschieden → 1</a:t>
            </a:r>
            <a:endParaRPr lang="en-US" sz="22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991289" y="1325880"/>
          <a:ext cx="6651766" cy="914400"/>
        </p:xfrm>
        <a:graphic>
          <a:graphicData uri="http://schemas.openxmlformats.org/drawingml/2006/table">
            <a:tbl>
              <a:tblPr/>
              <a:tblGrid>
                <a:gridCol w="1645920"/>
                <a:gridCol w="5005846"/>
              </a:tblGrid>
              <a:tr h="0">
                <a:tc>
                  <a:txBody>
                    <a:bodyPr/>
                    <a:lstStyle/>
                    <a:p>
                      <a:pPr algn="r" indent="0" marL="0">
                        <a:buNone/>
                      </a:pPr>
                      <a:endParaRPr lang="en-US" sz="2200" dirty="0">
                        <a:latin typeface="Calibri" charset="0"/>
                        <a:ea typeface="Calibri" charset="0"/>
                        <a:cs typeface="Calibri" charset="0"/>
                      </a:endParaRPr>
                    </a:p>
                  </a:txBody>
                  <a:tcPr marL="91440" marR="91440" marT="18288" marB="18288">
                    <a:lnL w="0" cap="flat" cmpd="sng" algn="ctr">
                      <a:noFill/>
                    </a:lnL>
                    <a:lnR w="0" cap="flat" cmpd="sng" algn="ctr">
                      <a:noFill/>
                    </a:lnR>
                    <a:lnT w="0" cap="flat" cmpd="sng" algn="ctr">
                      <a:noFill/>
                    </a:lnT>
                    <a:lnB w="0" cap="flat" cmpd="sng" algn="ctr">
                      <a:noFill/>
                    </a:lnB>
                  </a:tcPr>
                </a:tc>
                <a:tc>
                  <a:txBody>
                    <a:bodyPr/>
                    <a:lstStyle/>
                    <a:p>
                      <a:pPr indent="0" marL="0">
                        <a:buNone/>
                      </a:pPr>
                      <a:r>
                        <a:rPr lang="en-US" sz="2200" b="1" spc="300" kern="0" dirty="0">
                          <a:solidFill>
                            <a:srgbClr val="1B1B1F"/>
                          </a:solidFill>
                          <a:latin typeface="Consolas" pitchFamily="34" charset="0"/>
                          <a:ea typeface="Consolas" pitchFamily="34" charset="-122"/>
                          <a:cs typeface="Consolas" pitchFamily="34" charset="-120"/>
                        </a:rPr>
                        <a:t>0100 1111</a:t>
                      </a:r>
                      <a:endParaRPr lang="en-US" sz="2200" dirty="0">
                        <a:latin typeface="Consolas" charset="0"/>
                        <a:ea typeface="Consolas" charset="0"/>
                        <a:cs typeface="Consolas" charset="0"/>
                      </a:endParaRPr>
                    </a:p>
                  </a:txBody>
                  <a:tcPr marL="91440" marR="91440" marT="18288" marB="18288">
                    <a:lnL w="0" cap="flat" cmpd="sng" algn="ctr">
                      <a:noFill/>
                    </a:lnL>
                    <a:lnR w="0" cap="flat" cmpd="sng" algn="ctr">
                      <a:noFill/>
                    </a:lnR>
                    <a:lnT w="0" cap="flat" cmpd="sng" algn="ctr">
                      <a:noFill/>
                    </a:lnT>
                    <a:lnB w="0" cap="flat" cmpd="sng" algn="ctr">
                      <a:noFill/>
                    </a:lnB>
                  </a:tcPr>
                </a:tc>
              </a:tr>
              <a:tr h="0">
                <a:tc>
                  <a:txBody>
                    <a:bodyPr/>
                    <a:lstStyle/>
                    <a:p>
                      <a:pPr algn="r" indent="0" marL="0">
                        <a:buNone/>
                      </a:pPr>
                      <a:r>
                        <a:rPr lang="en-US" sz="2200" b="1" dirty="0">
                          <a:solidFill>
                            <a:srgbClr val="4A4A55"/>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18288" marB="18288">
                    <a:lnL w="0" cap="flat" cmpd="sng" algn="ctr">
                      <a:noFill/>
                    </a:lnL>
                    <a:lnR w="0" cap="flat" cmpd="sng" algn="ctr">
                      <a:noFill/>
                    </a:lnR>
                    <a:lnT w="0" cap="flat" cmpd="sng" algn="ctr">
                      <a:noFill/>
                    </a:lnT>
                    <a:lnB w="0" cap="flat" cmpd="sng" algn="ctr">
                      <a:noFill/>
                    </a:lnB>
                  </a:tcPr>
                </a:tc>
                <a:tc>
                  <a:txBody>
                    <a:bodyPr/>
                    <a:lstStyle/>
                    <a:p>
                      <a:pPr indent="0" marL="0">
                        <a:buNone/>
                      </a:pPr>
                      <a:r>
                        <a:rPr lang="en-US" sz="2200" b="1" spc="300" kern="0" dirty="0">
                          <a:solidFill>
                            <a:srgbClr val="1B1B1F"/>
                          </a:solidFill>
                          <a:latin typeface="Consolas" pitchFamily="34" charset="0"/>
                          <a:ea typeface="Consolas" pitchFamily="34" charset="-122"/>
                          <a:cs typeface="Consolas" pitchFamily="34" charset="-120"/>
                        </a:rPr>
                        <a:t>1010 0110</a:t>
                      </a:r>
                      <a:endParaRPr lang="en-US" sz="2200" dirty="0">
                        <a:latin typeface="Consolas" charset="0"/>
                        <a:ea typeface="Consolas" charset="0"/>
                        <a:cs typeface="Consolas" charset="0"/>
                      </a:endParaRPr>
                    </a:p>
                  </a:txBody>
                  <a:tcPr marL="91440" marR="91440" marT="18288" marB="18288">
                    <a:lnL w="0" cap="flat" cmpd="sng" algn="ctr">
                      <a:noFill/>
                    </a:lnL>
                    <a:lnR w="0" cap="flat" cmpd="sng" algn="ctr">
                      <a:noFill/>
                    </a:lnR>
                    <a:lnT w="0" cap="flat" cmpd="sng" algn="ctr">
                      <a:noFill/>
                    </a:lnT>
                    <a:lnB w="0" cap="flat" cmpd="sng" algn="ctr">
                      <a:noFill/>
                    </a:lnB>
                  </a:tcPr>
                </a:tc>
              </a:tr>
              <a:tr h="0">
                <a:tc>
                  <a:txBody>
                    <a:bodyPr/>
                    <a:lstStyle/>
                    <a:p>
                      <a:pPr algn="r" indent="0" marL="0">
                        <a:buNone/>
                      </a:pPr>
                      <a:r>
                        <a:rPr lang="en-US" sz="2200" b="1" dirty="0">
                          <a:solidFill>
                            <a:srgbClr val="4A4A55"/>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18288" marB="18288">
                    <a:lnL w="0" cap="flat" cmpd="sng" algn="ctr">
                      <a:noFill/>
                    </a:lnL>
                    <a:lnR w="0" cap="flat" cmpd="sng" algn="ctr">
                      <a:noFill/>
                    </a:lnR>
                    <a:lnT w="0" cap="flat" cmpd="sng" algn="ctr">
                      <a:noFill/>
                    </a:lnT>
                    <a:lnB w="0" cap="flat" cmpd="sng" algn="ctr">
                      <a:noFill/>
                    </a:lnB>
                  </a:tcPr>
                </a:tc>
                <a:tc>
                  <a:txBody>
                    <a:bodyPr/>
                    <a:lstStyle/>
                    <a:p>
                      <a:pPr indent="0" marL="0">
                        <a:buNone/>
                      </a:pPr>
                      <a:r>
                        <a:rPr lang="en-US" sz="2200" b="1" spc="300" kern="0" dirty="0">
                          <a:solidFill>
                            <a:srgbClr val="1B1B1F"/>
                          </a:solidFill>
                          <a:latin typeface="Consolas" pitchFamily="34" charset="0"/>
                          <a:ea typeface="Consolas" pitchFamily="34" charset="-122"/>
                          <a:cs typeface="Consolas" pitchFamily="34" charset="-120"/>
                        </a:rPr>
                        <a:t>1110 1001</a:t>
                      </a:r>
                      <a:endParaRPr lang="en-US" sz="2200" dirty="0">
                        <a:latin typeface="Consolas" charset="0"/>
                        <a:ea typeface="Consolas" charset="0"/>
                        <a:cs typeface="Consolas" charset="0"/>
                      </a:endParaRPr>
                    </a:p>
                  </a:txBody>
                  <a:tcPr marL="91440" marR="91440" marT="18288" marB="18288">
                    <a:lnL w="0" cap="flat" cmpd="sng" algn="ctr">
                      <a:noFill/>
                    </a:lnL>
                    <a:lnR w="0" cap="flat" cmpd="sng" algn="ctr">
                      <a:noFill/>
                    </a:lnR>
                    <a:lnT w="19050" cap="flat" cmpd="sng" algn="ctr">
                      <a:solidFill>
                        <a:srgbClr val="1B1B1F"/>
                      </a:solidFill>
                      <a:prstDash val="solid"/>
                      <a:round/>
                      <a:headEnd type="none" w="med" len="med"/>
                      <a:tailEnd type="none" w="med" len="med"/>
                    </a:lnT>
                    <a:lnB w="0" cap="flat" cmpd="sng" algn="ctr">
                      <a:noFill/>
                    </a:lnB>
                  </a:tcPr>
                </a:tc>
              </a:tr>
            </a:tbl>
          </a:graphicData>
        </a:graphic>
      </p:graphicFrame>
      <p:sp>
        <p:nvSpPr>
          <p:cNvPr id="6" name="Text 2"/>
          <p:cNvSpPr txBox="1"/>
          <p:nvPr/>
        </p:nvSpPr>
        <p:spPr>
          <a:xfrm>
            <a:off x="4991289" y="2795016"/>
            <a:ext cx="6651766" cy="386588"/>
          </a:xfrm>
          <a:prstGeom prst="rect">
            <a:avLst/>
          </a:prstGeom>
          <a:noFill/>
          <a:ln/>
        </p:spPr>
        <p:txBody>
          <a:bodyPr wrap="square" lIns="0" tIns="0" rIns="0" bIns="0" rtlCol="0" anchor="t"/>
          <a:lstStyle/>
          <a:p>
            <a:pPr algn="l" indent="0" marL="0">
              <a:buNone/>
            </a:pPr>
            <a:r>
              <a:rPr lang="en-US" sz="2200" dirty="0">
                <a:solidFill>
                  <a:srgbClr val="1B1B1F"/>
                </a:solidFill>
              </a:rPr>
              <a:t>a ⊕ 0 = a     a ⊕ a = 0</a:t>
            </a:r>
            <a:endParaRPr lang="en-US" sz="2200" dirty="0"/>
          </a:p>
        </p:txBody>
      </p:sp>
      <p:sp>
        <p:nvSpPr>
          <p:cNvPr id="7" name="Text 3"/>
          <p:cNvSpPr txBox="1"/>
          <p:nvPr/>
        </p:nvSpPr>
        <p:spPr>
          <a:xfrm>
            <a:off x="4991289" y="3309620"/>
            <a:ext cx="6651766" cy="448564"/>
          </a:xfrm>
          <a:prstGeom prst="rect">
            <a:avLst/>
          </a:prstGeom>
          <a:noFill/>
          <a:ln/>
        </p:spPr>
        <p:txBody>
          <a:bodyPr wrap="square" lIns="0" tIns="0" rIns="0" bIns="0" rtlCol="0" anchor="t"/>
          <a:lstStyle/>
          <a:p>
            <a:pPr algn="ctr" indent="0" marL="0">
              <a:buNone/>
            </a:pPr>
            <a:r>
              <a:rPr lang="en-US" sz="2600" b="1" dirty="0">
                <a:solidFill>
                  <a:srgbClr val="1B1B1F"/>
                </a:solidFill>
              </a:rPr>
              <a:t>a ⊕ k ⊕ k = a</a:t>
            </a:r>
            <a:endParaRPr lang="en-US" sz="2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Akte W3·1, Aufträge 1–3</a:t>
            </a:r>
            <a:endParaRPr lang="en-US" sz="3000" dirty="0"/>
          </a:p>
        </p:txBody>
      </p:sp>
      <p:sp>
        <p:nvSpPr>
          <p:cNvPr id="3" name="Text 1"/>
          <p:cNvSpPr txBox="1"/>
          <p:nvPr/>
        </p:nvSpPr>
        <p:spPr>
          <a:xfrm>
            <a:off x="548640" y="1325880"/>
            <a:ext cx="1463040" cy="384048"/>
          </a:xfrm>
          <a:prstGeom prst="rect">
            <a:avLst/>
          </a:prstGeom>
          <a:solidFill>
            <a:srgbClr val="556B2F"/>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3392424"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Einzelarbeit → Partnerarbeit</a:t>
            </a:r>
            <a:endParaRPr lang="en-US" sz="1400" dirty="0"/>
          </a:p>
        </p:txBody>
      </p:sp>
      <p:sp>
        <p:nvSpPr>
          <p:cNvPr id="5" name="Text 3"/>
          <p:cNvSpPr txBox="1"/>
          <p:nvPr/>
        </p:nvSpPr>
        <p:spPr>
          <a:xfrm>
            <a:off x="5678424"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12 min</a:t>
            </a:r>
            <a:endParaRPr lang="en-US" sz="1400" dirty="0"/>
          </a:p>
        </p:txBody>
      </p:sp>
      <p:sp>
        <p:nvSpPr>
          <p:cNvPr id="6" name="Text 4"/>
          <p:cNvSpPr txBox="1"/>
          <p:nvPr/>
        </p:nvSpPr>
        <p:spPr>
          <a:xfrm>
            <a:off x="548640" y="196596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1.  ASCII-Werte und Bits von Q, Y, 4, 7</a:t>
            </a:r>
            <a:endParaRPr lang="en-US" sz="2200" dirty="0"/>
          </a:p>
        </p:txBody>
      </p:sp>
      <p:sp>
        <p:nvSpPr>
          <p:cNvPr id="7" name="Text 5"/>
          <p:cNvSpPr txBox="1"/>
          <p:nvPr/>
        </p:nvSpPr>
        <p:spPr>
          <a:xfrm>
            <a:off x="548640" y="2480564"/>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2.  XOR üben: </a:t>
            </a:r>
            <a:r>
              <a:rPr lang="en-US" sz="2200" dirty="0">
                <a:solidFill>
                  <a:srgbClr val="1B1B1F"/>
                </a:solidFill>
                <a:latin typeface="Consolas" pitchFamily="34" charset="0"/>
                <a:ea typeface="Consolas" pitchFamily="34" charset="-122"/>
                <a:cs typeface="Consolas" pitchFamily="34" charset="-120"/>
              </a:rPr>
              <a:t>1100 1010 ⊕ 0001 1011</a:t>
            </a:r>
            <a:endParaRPr lang="en-US" sz="2200" dirty="0"/>
          </a:p>
        </p:txBody>
      </p:sp>
      <p:sp>
        <p:nvSpPr>
          <p:cNvPr id="8" name="Text 6"/>
          <p:cNvSpPr txBox="1"/>
          <p:nvPr/>
        </p:nvSpPr>
        <p:spPr>
          <a:xfrm>
            <a:off x="548640" y="2995168"/>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3.  Alice verschlüsselt </a:t>
            </a:r>
            <a:r>
              <a:rPr lang="en-US" sz="2200" b="1" dirty="0">
                <a:solidFill>
                  <a:srgbClr val="1B1B1F"/>
                </a:solidFill>
              </a:rPr>
              <a:t>BOJE</a:t>
            </a:r>
            <a:r>
              <a:rPr lang="en-US" sz="2200" dirty="0">
                <a:solidFill>
                  <a:srgbClr val="1B1B1F"/>
                </a:solidFill>
              </a:rPr>
              <a:t> mit dem Einmalschlüssel</a:t>
            </a:r>
            <a:endParaRPr lang="en-US" sz="2200" dirty="0"/>
          </a:p>
        </p:txBody>
      </p:sp>
      <p:sp>
        <p:nvSpPr>
          <p:cNvPr id="9" name="Text 7"/>
          <p:cNvSpPr txBox="1"/>
          <p:nvPr/>
        </p:nvSpPr>
        <p:spPr>
          <a:xfrm>
            <a:off x="548640" y="3509772"/>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Kontrolle mit der </a:t>
            </a:r>
            <a:r>
              <a:rPr lang="en-US" sz="2200" b="1" dirty="0">
                <a:solidFill>
                  <a:srgbClr val="1B1B1F"/>
                </a:solidFill>
              </a:rPr>
              <a:t>Bit-Lupe</a:t>
            </a:r>
            <a:r>
              <a:rPr lang="en-US" sz="2200" dirty="0">
                <a:solidFill>
                  <a:srgbClr val="1B1B1F"/>
                </a:solidFill>
              </a:rPr>
              <a:t> erst danach!</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Vernam 1917 und das One-Time-Pad</a:t>
            </a:r>
            <a:endParaRPr lang="en-US" sz="3000" dirty="0"/>
          </a:p>
        </p:txBody>
      </p:sp>
      <p:sp>
        <p:nvSpPr>
          <p:cNvPr id="3" name="Text 1"/>
          <p:cNvSpPr txBox="1"/>
          <p:nvPr/>
        </p:nvSpPr>
        <p:spPr>
          <a:xfrm>
            <a:off x="548640" y="1325880"/>
            <a:ext cx="4506035" cy="448564"/>
          </a:xfrm>
          <a:prstGeom prst="rect">
            <a:avLst/>
          </a:prstGeom>
          <a:noFill/>
          <a:ln/>
        </p:spPr>
        <p:txBody>
          <a:bodyPr wrap="square" lIns="0" tIns="0" rIns="0" bIns="0" rtlCol="0" anchor="t"/>
          <a:lstStyle/>
          <a:p>
            <a:pPr algn="ctr" indent="0" marL="0">
              <a:buNone/>
            </a:pPr>
            <a:r>
              <a:rPr lang="en-US" sz="2600" b="1" dirty="0">
                <a:solidFill>
                  <a:srgbClr val="1B1B1F"/>
                </a:solidFill>
              </a:rPr>
              <a:t>C = M ⊕ K</a:t>
            </a:r>
            <a:endParaRPr lang="en-US" sz="2600" dirty="0"/>
          </a:p>
        </p:txBody>
      </p:sp>
      <p:sp>
        <p:nvSpPr>
          <p:cNvPr id="4" name="Text 2"/>
          <p:cNvSpPr txBox="1"/>
          <p:nvPr/>
        </p:nvSpPr>
        <p:spPr>
          <a:xfrm>
            <a:off x="548640" y="1902460"/>
            <a:ext cx="4506035" cy="448564"/>
          </a:xfrm>
          <a:prstGeom prst="rect">
            <a:avLst/>
          </a:prstGeom>
          <a:noFill/>
          <a:ln/>
        </p:spPr>
        <p:txBody>
          <a:bodyPr wrap="square" lIns="0" tIns="0" rIns="0" bIns="0" rtlCol="0" anchor="t"/>
          <a:lstStyle/>
          <a:p>
            <a:pPr algn="ctr" indent="0" marL="0">
              <a:buNone/>
            </a:pPr>
            <a:r>
              <a:rPr lang="en-US" sz="2600" b="1" dirty="0">
                <a:solidFill>
                  <a:srgbClr val="1B1B1F"/>
                </a:solidFill>
              </a:rPr>
              <a:t>M = C ⊕ K</a:t>
            </a:r>
            <a:endParaRPr lang="en-US" sz="2600" dirty="0"/>
          </a:p>
        </p:txBody>
      </p:sp>
      <p:sp>
        <p:nvSpPr>
          <p:cNvPr id="5" name="Text 3"/>
          <p:cNvSpPr txBox="1"/>
          <p:nvPr/>
        </p:nvSpPr>
        <p:spPr>
          <a:xfrm>
            <a:off x="548640" y="2479040"/>
            <a:ext cx="4506035" cy="603504"/>
          </a:xfrm>
          <a:prstGeom prst="rect">
            <a:avLst/>
          </a:prstGeom>
          <a:noFill/>
          <a:ln/>
        </p:spPr>
        <p:txBody>
          <a:bodyPr wrap="square" lIns="0" tIns="0" rIns="0" bIns="0" rtlCol="0" anchor="t"/>
          <a:lstStyle/>
          <a:p>
            <a:pPr algn="l" indent="0" marL="0">
              <a:buNone/>
            </a:pPr>
            <a:r>
              <a:rPr lang="en-US" sz="1800" dirty="0">
                <a:solidFill>
                  <a:srgbClr val="1B1B1F"/>
                </a:solidFill>
              </a:rPr>
              <a:t>Vernam nutzte den 5-Bit-Fernschreibcode, wir ASCII.</a:t>
            </a:r>
            <a:endParaRPr lang="en-US" sz="1800" dirty="0"/>
          </a:p>
        </p:txBody>
      </p:sp>
      <p:sp>
        <p:nvSpPr>
          <p:cNvPr id="6" name="Text 4"/>
          <p:cNvSpPr txBox="1"/>
          <p:nvPr/>
        </p:nvSpPr>
        <p:spPr>
          <a:xfrm>
            <a:off x="5420435" y="1325880"/>
            <a:ext cx="6222620" cy="386588"/>
          </a:xfrm>
          <a:prstGeom prst="rect">
            <a:avLst/>
          </a:prstGeom>
          <a:noFill/>
          <a:ln/>
        </p:spPr>
        <p:txBody>
          <a:bodyPr wrap="square" lIns="0" tIns="0" rIns="0" bIns="0" rtlCol="0" anchor="t"/>
          <a:lstStyle/>
          <a:p>
            <a:pPr algn="l" indent="0" marL="0">
              <a:buNone/>
            </a:pPr>
            <a:r>
              <a:rPr lang="en-US" sz="2200" dirty="0">
                <a:solidFill>
                  <a:srgbClr val="1B1B1F"/>
                </a:solidFill>
              </a:rPr>
              <a:t>Der Schlüssel ist</a:t>
            </a:r>
            <a:endParaRPr lang="en-US" sz="2200" dirty="0"/>
          </a:p>
        </p:txBody>
      </p:sp>
      <p:sp>
        <p:nvSpPr>
          <p:cNvPr id="7" name="Text 5"/>
          <p:cNvSpPr txBox="1"/>
          <p:nvPr/>
        </p:nvSpPr>
        <p:spPr>
          <a:xfrm>
            <a:off x="5420435" y="1840484"/>
            <a:ext cx="6222620" cy="386588"/>
          </a:xfrm>
          <a:prstGeom prst="rect">
            <a:avLst/>
          </a:prstGeom>
          <a:noFill/>
          <a:ln/>
        </p:spPr>
        <p:txBody>
          <a:bodyPr wrap="square" lIns="0" tIns="0" rIns="0" bIns="0" rtlCol="0" anchor="t"/>
          <a:lstStyle/>
          <a:p>
            <a:pPr algn="l" indent="0" marL="0">
              <a:buNone/>
            </a:pPr>
            <a:r>
              <a:rPr lang="en-US" sz="2200" dirty="0">
                <a:solidFill>
                  <a:srgbClr val="1B1B1F"/>
                </a:solidFill>
              </a:rPr>
              <a:t>1.  </a:t>
            </a:r>
            <a:r>
              <a:rPr lang="en-US" sz="2200" b="1" dirty="0">
                <a:solidFill>
                  <a:srgbClr val="1B1B1F"/>
                </a:solidFill>
              </a:rPr>
              <a:t>echt zufällig</a:t>
            </a:r>
            <a:endParaRPr lang="en-US" sz="2200" dirty="0"/>
          </a:p>
        </p:txBody>
      </p:sp>
      <p:sp>
        <p:nvSpPr>
          <p:cNvPr id="8" name="Text 6"/>
          <p:cNvSpPr txBox="1"/>
          <p:nvPr/>
        </p:nvSpPr>
        <p:spPr>
          <a:xfrm>
            <a:off x="5420435" y="2355088"/>
            <a:ext cx="6222620" cy="386588"/>
          </a:xfrm>
          <a:prstGeom prst="rect">
            <a:avLst/>
          </a:prstGeom>
          <a:noFill/>
          <a:ln/>
        </p:spPr>
        <p:txBody>
          <a:bodyPr wrap="square" lIns="0" tIns="0" rIns="0" bIns="0" rtlCol="0" anchor="t"/>
          <a:lstStyle/>
          <a:p>
            <a:pPr algn="l" indent="0" marL="0">
              <a:buNone/>
            </a:pPr>
            <a:r>
              <a:rPr lang="en-US" sz="2200" dirty="0">
                <a:solidFill>
                  <a:srgbClr val="1B1B1F"/>
                </a:solidFill>
              </a:rPr>
              <a:t>2.  </a:t>
            </a:r>
            <a:r>
              <a:rPr lang="en-US" sz="2200" b="1" dirty="0">
                <a:solidFill>
                  <a:srgbClr val="1B1B1F"/>
                </a:solidFill>
              </a:rPr>
              <a:t>so lang wie die Nachricht</a:t>
            </a:r>
            <a:endParaRPr lang="en-US" sz="2200" dirty="0"/>
          </a:p>
        </p:txBody>
      </p:sp>
      <p:sp>
        <p:nvSpPr>
          <p:cNvPr id="9" name="Text 7"/>
          <p:cNvSpPr txBox="1"/>
          <p:nvPr/>
        </p:nvSpPr>
        <p:spPr>
          <a:xfrm>
            <a:off x="5420435" y="2869692"/>
            <a:ext cx="6222620" cy="386588"/>
          </a:xfrm>
          <a:prstGeom prst="rect">
            <a:avLst/>
          </a:prstGeom>
          <a:noFill/>
          <a:ln/>
        </p:spPr>
        <p:txBody>
          <a:bodyPr wrap="square" lIns="0" tIns="0" rIns="0" bIns="0" rtlCol="0" anchor="t"/>
          <a:lstStyle/>
          <a:p>
            <a:pPr algn="l" indent="0" marL="0">
              <a:buNone/>
            </a:pPr>
            <a:r>
              <a:rPr lang="en-US" sz="2200" dirty="0">
                <a:solidFill>
                  <a:srgbClr val="1B1B1F"/>
                </a:solidFill>
              </a:rPr>
              <a:t>3.  </a:t>
            </a:r>
            <a:r>
              <a:rPr lang="en-US" sz="2200" b="1" dirty="0">
                <a:solidFill>
                  <a:srgbClr val="1B1B1F"/>
                </a:solidFill>
              </a:rPr>
              <a:t>nur einmal</a:t>
            </a:r>
            <a:r>
              <a:rPr lang="en-US" sz="2200" dirty="0">
                <a:solidFill>
                  <a:srgbClr val="1B1B1F"/>
                </a:solidFill>
              </a:rPr>
              <a:t> benutzt</a:t>
            </a:r>
            <a:endParaRPr lang="en-US" sz="2200" dirty="0"/>
          </a:p>
        </p:txBody>
      </p:sp>
      <p:sp>
        <p:nvSpPr>
          <p:cNvPr id="10" name="Text 8"/>
          <p:cNvSpPr txBox="1"/>
          <p:nvPr/>
        </p:nvSpPr>
        <p:spPr>
          <a:xfrm>
            <a:off x="5420435" y="3384296"/>
            <a:ext cx="6222620" cy="386588"/>
          </a:xfrm>
          <a:prstGeom prst="rect">
            <a:avLst/>
          </a:prstGeom>
          <a:noFill/>
          <a:ln/>
        </p:spPr>
        <p:txBody>
          <a:bodyPr wrap="square" lIns="0" tIns="0" rIns="0" bIns="0" rtlCol="0" anchor="t"/>
          <a:lstStyle/>
          <a:p>
            <a:pPr algn="l" indent="0" marL="0">
              <a:buNone/>
            </a:pPr>
            <a:r>
              <a:rPr lang="en-US" sz="2200" dirty="0">
                <a:solidFill>
                  <a:srgbClr val="1B1B1F"/>
                </a:solidFill>
              </a:rPr>
              <a:t>4.  </a:t>
            </a:r>
            <a:r>
              <a:rPr lang="en-US" sz="2200" b="1" dirty="0">
                <a:solidFill>
                  <a:srgbClr val="1B1B1F"/>
                </a:solidFill>
              </a:rPr>
              <a:t>geheim</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Perfekte Sicherheit</a:t>
            </a:r>
            <a:endParaRPr lang="en-US" sz="3000" dirty="0"/>
          </a:p>
        </p:txBody>
      </p:sp>
      <p:sp>
        <p:nvSpPr>
          <p:cNvPr id="3" name="Merke-Kasten"/>
          <p:cNvSpPr/>
          <p:nvPr/>
        </p:nvSpPr>
        <p:spPr>
          <a:xfrm>
            <a:off x="1097280" y="1508760"/>
            <a:ext cx="9997135" cy="2514600"/>
          </a:xfrm>
          <a:prstGeom prst="roundRect">
            <a:avLst>
              <a:gd name="adj" fmla="val 3636"/>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Zu einem OTP-Geheimtext passt </a:t>
            </a:r>
            <a:r>
              <a:rPr lang="en-US" sz="2200" b="1" dirty="0">
                <a:solidFill>
                  <a:srgbClr val="1B1B1F"/>
                </a:solidFill>
              </a:rPr>
              <a:t>jeder</a:t>
            </a:r>
            <a:r>
              <a:rPr lang="en-US" sz="2200" dirty="0">
                <a:solidFill>
                  <a:srgbClr val="1B1B1F"/>
                </a:solidFill>
              </a:rPr>
              <a:t> Klartext gleicher Länge – mit genau einem Schlüssel.</a:t>
            </a:r>
            <a:endParaRPr lang="en-US" sz="2200" dirty="0"/>
          </a:p>
        </p:txBody>
      </p:sp>
      <p:sp>
        <p:nvSpPr>
          <p:cNvPr id="6" name="Text 4"/>
          <p:cNvSpPr txBox="1"/>
          <p:nvPr/>
        </p:nvSpPr>
        <p:spPr>
          <a:xfrm>
            <a:off x="1508760" y="3095752"/>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Eve lernt nur die </a:t>
            </a:r>
            <a:r>
              <a:rPr lang="en-US" sz="2200" b="1" dirty="0">
                <a:solidFill>
                  <a:srgbClr val="1B1B1F"/>
                </a:solidFill>
              </a:rPr>
              <a:t>Länge</a:t>
            </a:r>
            <a:r>
              <a:rPr lang="en-US" sz="2200" dirty="0">
                <a:solidFill>
                  <a:srgbClr val="1B1B1F"/>
                </a:solidFill>
              </a:rPr>
              <a:t>. Claude Shannon bewies das 1949.</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HALT oder LAUF?</a:t>
            </a:r>
            <a:endParaRPr lang="en-US" sz="3000" dirty="0"/>
          </a:p>
        </p:txBody>
      </p:sp>
      <p:sp>
        <p:nvSpPr>
          <p:cNvPr id="3" name="Text 1"/>
          <p:cNvSpPr txBox="1"/>
          <p:nvPr/>
        </p:nvSpPr>
        <p:spPr>
          <a:xfrm>
            <a:off x="548640" y="1325880"/>
            <a:ext cx="1463040" cy="384048"/>
          </a:xfrm>
          <a:prstGeom prst="rect">
            <a:avLst/>
          </a:prstGeom>
          <a:solidFill>
            <a:srgbClr val="556B2F"/>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1746504"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Partnerarbeit</a:t>
            </a:r>
            <a:endParaRPr lang="en-US" sz="1400" dirty="0"/>
          </a:p>
        </p:txBody>
      </p:sp>
      <p:sp>
        <p:nvSpPr>
          <p:cNvPr id="5" name="Text 3"/>
          <p:cNvSpPr txBox="1"/>
          <p:nvPr/>
        </p:nvSpPr>
        <p:spPr>
          <a:xfrm>
            <a:off x="4032504" y="1325880"/>
            <a:ext cx="868680"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6 min</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218883"/>
                <a:gridCol w="2218883"/>
                <a:gridCol w="2218883"/>
                <a:gridCol w="2218883"/>
                <a:gridCol w="2218883"/>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Zeichen 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Zeichen 2</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Zeichen 3</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Zeichen 4</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C</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0001 1110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1101 1010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0110 0111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1001 0001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2958592"/>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Bestimmt einen Schlüssel, für den der Klartext </a:t>
            </a:r>
            <a:r>
              <a:rPr lang="en-US" sz="2200" b="1" dirty="0">
                <a:solidFill>
                  <a:srgbClr val="1B1B1F"/>
                </a:solidFill>
              </a:rPr>
              <a:t>HALT</a:t>
            </a:r>
            <a:r>
              <a:rPr lang="en-US" sz="2200" dirty="0">
                <a:solidFill>
                  <a:srgbClr val="1B1B1F"/>
                </a:solidFill>
              </a:rPr>
              <a:t> lautet, und einen für </a:t>
            </a:r>
            <a:r>
              <a:rPr lang="en-US" sz="2200" b="1" dirty="0">
                <a:solidFill>
                  <a:srgbClr val="1B1B1F"/>
                </a:solidFill>
              </a:rPr>
              <a:t>LAUF</a:t>
            </a:r>
            <a:r>
              <a:rPr lang="en-US" sz="2200" dirty="0">
                <a:solidFill>
                  <a:srgbClr val="1B1B1F"/>
                </a:solidFill>
              </a:rPr>
              <a:t>.</a:t>
            </a:r>
            <a:endParaRPr lang="en-US" sz="2200" dirty="0"/>
          </a:p>
        </p:txBody>
      </p:sp>
      <p:sp>
        <p:nvSpPr>
          <p:cNvPr id="8" name="Text 5"/>
          <p:cNvSpPr txBox="1"/>
          <p:nvPr/>
        </p:nvSpPr>
        <p:spPr>
          <a:xfrm>
            <a:off x="548640" y="3473196"/>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Was bedeutet das für Eve?</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Funkraum: Der doppelte Schlüssel</a:t>
            </a:r>
            <a:endParaRPr lang="en-US" sz="3000" dirty="0"/>
          </a:p>
        </p:txBody>
      </p:sp>
      <p:pic>
        <p:nvPicPr>
          <p:cNvPr id="3" name="Image 0" descr="/tmp/kr_bildcache/qr_72e29757ebfd726a.png">    </p:cNvPr>
          <p:cNvPicPr>
            <a:picLocks noChangeAspect="1"/>
          </p:cNvPicPr>
          <p:nvPr/>
        </p:nvPicPr>
        <p:blipFill>
          <a:blip r:embed="rId1"/>
          <a:stretch>
            <a:fillRect/>
          </a:stretch>
        </p:blipFill>
        <p:spPr>
          <a:xfrm>
            <a:off x="9905695" y="4206240"/>
            <a:ext cx="1737360" cy="1737360"/>
          </a:xfrm>
          <a:prstGeom prst="rect">
            <a:avLst/>
          </a:prstGeom>
        </p:spPr>
      </p:pic>
      <p:sp>
        <p:nvSpPr>
          <p:cNvPr id="4" name="Text 1"/>
          <p:cNvSpPr txBox="1"/>
          <p:nvPr/>
        </p:nvSpPr>
        <p:spPr>
          <a:xfrm>
            <a:off x="731520" y="1417320"/>
            <a:ext cx="8716975" cy="727456"/>
          </a:xfrm>
          <a:prstGeom prst="rect">
            <a:avLst/>
          </a:prstGeom>
          <a:noFill/>
          <a:ln/>
        </p:spPr>
        <p:txBody>
          <a:bodyPr wrap="square" lIns="0" tIns="0" rIns="0" bIns="0" rtlCol="0" anchor="t"/>
          <a:lstStyle/>
          <a:p>
            <a:pPr algn="l" indent="0" marL="0">
              <a:buNone/>
            </a:pPr>
            <a:r>
              <a:rPr lang="en-US" sz="2200" dirty="0">
                <a:solidFill>
                  <a:srgbClr val="FBF7EE"/>
                </a:solidFill>
              </a:rPr>
              <a:t>•  </a:t>
            </a:r>
            <a:r>
              <a:rPr lang="en-US" sz="2200" b="1" dirty="0">
                <a:solidFill>
                  <a:srgbClr val="FBF7EE"/>
                </a:solidFill>
              </a:rPr>
              <a:t>Funkpaare</a:t>
            </a:r>
            <a:r>
              <a:rPr lang="en-US" sz="2200" dirty="0">
                <a:solidFill>
                  <a:srgbClr val="FBF7EE"/>
                </a:solidFill>
              </a:rPr>
              <a:t> (Alice-Team + Bob-Team) mit gemeinsamem Schlüsselblock</a:t>
            </a:r>
            <a:endParaRPr lang="en-US" sz="2200" dirty="0"/>
          </a:p>
        </p:txBody>
      </p:sp>
      <p:sp>
        <p:nvSpPr>
          <p:cNvPr id="5" name="Text 2"/>
          <p:cNvSpPr txBox="1"/>
          <p:nvPr/>
        </p:nvSpPr>
        <p:spPr>
          <a:xfrm>
            <a:off x="731520" y="2272792"/>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  </a:t>
            </a:r>
            <a:r>
              <a:rPr lang="en-US" sz="2200" b="1" dirty="0">
                <a:solidFill>
                  <a:srgbClr val="FBF7EE"/>
                </a:solidFill>
              </a:rPr>
              <a:t>Eve</a:t>
            </a:r>
            <a:r>
              <a:rPr lang="en-US" sz="2200" dirty="0">
                <a:solidFill>
                  <a:srgbClr val="FBF7EE"/>
                </a:solidFill>
              </a:rPr>
              <a:t> sieht alle Funksprüche am Beamer</a:t>
            </a:r>
            <a:endParaRPr lang="en-US" sz="2200" dirty="0"/>
          </a:p>
        </p:txBody>
      </p:sp>
      <p:sp>
        <p:nvSpPr>
          <p:cNvPr id="6" name="Text 3"/>
          <p:cNvSpPr txBox="1"/>
          <p:nvPr/>
        </p:nvSpPr>
        <p:spPr>
          <a:xfrm>
            <a:off x="731520" y="2787396"/>
            <a:ext cx="8716975" cy="727456"/>
          </a:xfrm>
          <a:prstGeom prst="rect">
            <a:avLst/>
          </a:prstGeom>
          <a:noFill/>
          <a:ln/>
        </p:spPr>
        <p:txBody>
          <a:bodyPr wrap="square" lIns="0" tIns="0" rIns="0" bIns="0" rtlCol="0" anchor="t"/>
          <a:lstStyle/>
          <a:p>
            <a:pPr algn="l" indent="0" marL="0">
              <a:buNone/>
            </a:pPr>
            <a:r>
              <a:rPr lang="en-US" sz="2200" dirty="0">
                <a:solidFill>
                  <a:srgbClr val="FBF7EE"/>
                </a:solidFill>
              </a:rPr>
              <a:t>•  Funkspruch-Baukasten: HEUTE · MORGEN · UM · UHR · HAFEN · BAHNHOF …</a:t>
            </a:r>
            <a:endParaRPr lang="en-US" sz="2200" dirty="0"/>
          </a:p>
        </p:txBody>
      </p:sp>
      <p:sp>
        <p:nvSpPr>
          <p:cNvPr id="7" name="Text 4"/>
          <p:cNvSpPr txBox="1"/>
          <p:nvPr/>
        </p:nvSpPr>
        <p:spPr>
          <a:xfrm>
            <a:off x="731520" y="3642868"/>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  </a:t>
            </a:r>
            <a:r>
              <a:rPr lang="en-US" sz="2200" b="1" dirty="0">
                <a:solidFill>
                  <a:srgbClr val="FBF7EE"/>
                </a:solidFill>
              </a:rPr>
              <a:t>Regel: Jeder Schlüsselblock nur einmal!</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Wie Eve gewann</a:t>
            </a:r>
            <a:endParaRPr lang="en-US" sz="3000" dirty="0"/>
          </a:p>
        </p:txBody>
      </p:sp>
      <p:sp>
        <p:nvSpPr>
          <p:cNvPr id="3" name="Text 1"/>
          <p:cNvSpPr txBox="1"/>
          <p:nvPr/>
        </p:nvSpPr>
        <p:spPr>
          <a:xfrm>
            <a:off x="548640" y="1325880"/>
            <a:ext cx="5578901" cy="727456"/>
          </a:xfrm>
          <a:prstGeom prst="rect">
            <a:avLst/>
          </a:prstGeom>
          <a:noFill/>
          <a:ln/>
        </p:spPr>
        <p:txBody>
          <a:bodyPr wrap="square" lIns="0" tIns="0" rIns="0" bIns="0" rtlCol="0" anchor="t"/>
          <a:lstStyle/>
          <a:p>
            <a:pPr algn="l" indent="0" marL="0">
              <a:buNone/>
            </a:pPr>
            <a:r>
              <a:rPr lang="en-US" sz="2200" dirty="0">
                <a:solidFill>
                  <a:srgbClr val="1B1B1F"/>
                </a:solidFill>
              </a:rPr>
              <a:t>1.  C1 ⊕ C2 = (M1 ⊕ K) ⊕ (M2 ⊕ K) = </a:t>
            </a:r>
            <a:r>
              <a:rPr lang="en-US" sz="2200" b="1" dirty="0">
                <a:solidFill>
                  <a:srgbClr val="1B1B1F"/>
                </a:solidFill>
              </a:rPr>
              <a:t>M1 ⊕ M2</a:t>
            </a:r>
            <a:endParaRPr lang="en-US" sz="2200" dirty="0"/>
          </a:p>
        </p:txBody>
      </p:sp>
      <p:sp>
        <p:nvSpPr>
          <p:cNvPr id="4" name="Text 2"/>
          <p:cNvSpPr txBox="1"/>
          <p:nvPr/>
        </p:nvSpPr>
        <p:spPr>
          <a:xfrm>
            <a:off x="548640" y="2181352"/>
            <a:ext cx="5578901" cy="386588"/>
          </a:xfrm>
          <a:prstGeom prst="rect">
            <a:avLst/>
          </a:prstGeom>
          <a:noFill/>
          <a:ln/>
        </p:spPr>
        <p:txBody>
          <a:bodyPr wrap="square" lIns="0" tIns="0" rIns="0" bIns="0" rtlCol="0" anchor="t"/>
          <a:lstStyle/>
          <a:p>
            <a:pPr algn="l" indent="0" marL="0">
              <a:buNone/>
            </a:pPr>
            <a:r>
              <a:rPr lang="en-US" sz="2200" dirty="0">
                <a:solidFill>
                  <a:srgbClr val="1B1B1F"/>
                </a:solidFill>
              </a:rPr>
              <a:t>2.  Byte </a:t>
            </a:r>
            <a:r>
              <a:rPr lang="en-US" sz="2200" dirty="0">
                <a:solidFill>
                  <a:srgbClr val="1B1B1F"/>
                </a:solidFill>
                <a:latin typeface="Consolas" pitchFamily="34" charset="0"/>
                <a:ea typeface="Consolas" pitchFamily="34" charset="-122"/>
                <a:cs typeface="Consolas" pitchFamily="34" charset="-120"/>
              </a:rPr>
              <a:t>0000 0000</a:t>
            </a:r>
            <a:r>
              <a:rPr lang="en-US" sz="2200" dirty="0">
                <a:solidFill>
                  <a:srgbClr val="1B1B1F"/>
                </a:solidFill>
              </a:rPr>
              <a:t> → gleiche Zeichen</a:t>
            </a:r>
            <a:endParaRPr lang="en-US" sz="2200" dirty="0"/>
          </a:p>
        </p:txBody>
      </p:sp>
      <p:sp>
        <p:nvSpPr>
          <p:cNvPr id="5" name="Text 3"/>
          <p:cNvSpPr txBox="1"/>
          <p:nvPr/>
        </p:nvSpPr>
        <p:spPr>
          <a:xfrm>
            <a:off x="548640" y="2695956"/>
            <a:ext cx="5578901" cy="727456"/>
          </a:xfrm>
          <a:prstGeom prst="rect">
            <a:avLst/>
          </a:prstGeom>
          <a:noFill/>
          <a:ln/>
        </p:spPr>
        <p:txBody>
          <a:bodyPr wrap="square" lIns="0" tIns="0" rIns="0" bIns="0" rtlCol="0" anchor="t"/>
          <a:lstStyle/>
          <a:p>
            <a:pPr algn="l" indent="0" marL="0">
              <a:buNone/>
            </a:pPr>
            <a:r>
              <a:rPr lang="en-US" sz="2200" dirty="0">
                <a:solidFill>
                  <a:srgbClr val="1B1B1F"/>
                </a:solidFill>
              </a:rPr>
              <a:t>3.  Wort raten (</a:t>
            </a:r>
            <a:r>
              <a:rPr lang="en-US" sz="2200" b="1" dirty="0">
                <a:solidFill>
                  <a:srgbClr val="1B1B1F"/>
                </a:solidFill>
              </a:rPr>
              <a:t>Crib</a:t>
            </a:r>
            <a:r>
              <a:rPr lang="en-US" sz="2200" dirty="0">
                <a:solidFill>
                  <a:srgbClr val="1B1B1F"/>
                </a:solidFill>
              </a:rPr>
              <a:t>), an jede Position legen</a:t>
            </a:r>
            <a:endParaRPr lang="en-US" sz="2200" dirty="0"/>
          </a:p>
        </p:txBody>
      </p:sp>
      <p:sp>
        <p:nvSpPr>
          <p:cNvPr id="6" name="Text 4"/>
          <p:cNvSpPr txBox="1"/>
          <p:nvPr/>
        </p:nvSpPr>
        <p:spPr>
          <a:xfrm>
            <a:off x="548640" y="3551428"/>
            <a:ext cx="5578901" cy="727456"/>
          </a:xfrm>
          <a:prstGeom prst="rect">
            <a:avLst/>
          </a:prstGeom>
          <a:noFill/>
          <a:ln/>
        </p:spPr>
        <p:txBody>
          <a:bodyPr wrap="square" lIns="0" tIns="0" rIns="0" bIns="0" rtlCol="0" anchor="t"/>
          <a:lstStyle/>
          <a:p>
            <a:pPr algn="l" indent="0" marL="0">
              <a:buNone/>
            </a:pPr>
            <a:r>
              <a:rPr lang="en-US" sz="2200" dirty="0">
                <a:solidFill>
                  <a:srgbClr val="1B1B1F"/>
                </a:solidFill>
              </a:rPr>
              <a:t>4.  sinnvoller Text → Treffer, weiterraten</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93301" y="1325880"/>
          <a:ext cx="5149754" cy="914400"/>
        </p:xfrm>
        <a:graphic>
          <a:graphicData uri="http://schemas.openxmlformats.org/drawingml/2006/table">
            <a:tbl>
              <a:tblPr/>
              <a:tblGrid>
                <a:gridCol w="1761758"/>
                <a:gridCol w="677599"/>
                <a:gridCol w="677599"/>
                <a:gridCol w="677599"/>
                <a:gridCol w="677599"/>
                <a:gridCol w="677599"/>
              </a:tblGrid>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Position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7</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9</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10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11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C1 ⊕ C2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62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14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00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1C</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68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Crib „ UHR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20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55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48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52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20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 ergibt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B</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A</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H</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H</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6493301" y="3059176"/>
            <a:ext cx="5149754" cy="603504"/>
          </a:xfrm>
          <a:prstGeom prst="rect">
            <a:avLst/>
          </a:prstGeom>
          <a:noFill/>
          <a:ln/>
        </p:spPr>
        <p:txBody>
          <a:bodyPr wrap="square" lIns="0" tIns="0" rIns="0" bIns="0" rtlCol="0" anchor="t"/>
          <a:lstStyle/>
          <a:p>
            <a:pPr algn="l" indent="0" marL="0">
              <a:buNone/>
            </a:pPr>
            <a:r>
              <a:rPr lang="en-US" sz="1800" dirty="0">
                <a:solidFill>
                  <a:srgbClr val="1B1B1F"/>
                </a:solidFill>
              </a:rPr>
              <a:t>Demonstrationsbeispiel (Hex): M1 = HEUTE 8 UHR AM HAFEN, M2 = MORGEN BAHNHOF NORD</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P5 · P8 · Sparen am Schlüssel</a:t>
            </a:r>
            <a:endParaRPr lang="en-US" sz="3000" dirty="0"/>
          </a:p>
        </p:txBody>
      </p:sp>
      <p:sp>
        <p:nvSpPr>
          <p:cNvPr id="3" name="Text 1"/>
          <p:cNvSpPr txBox="1"/>
          <p:nvPr/>
        </p:nvSpPr>
        <p:spPr>
          <a:xfrm>
            <a:off x="548640" y="1325880"/>
            <a:ext cx="11094415" cy="773176"/>
          </a:xfrm>
          <a:prstGeom prst="rect">
            <a:avLst/>
          </a:prstGeom>
          <a:noFill/>
          <a:ln/>
        </p:spPr>
        <p:txBody>
          <a:bodyPr wrap="square" lIns="0" tIns="0" rIns="0" bIns="0" rtlCol="0" anchor="t"/>
          <a:lstStyle/>
          <a:p>
            <a:pPr indent="0" marL="0">
              <a:buNone/>
            </a:pPr>
            <a:r>
              <a:rPr lang="en-US" sz="2200" dirty="0">
                <a:solidFill>
                  <a:srgbClr val="1B1B1F"/>
                </a:solidFill>
              </a:rPr>
              <a:t>Ein </a:t>
            </a:r>
            <a:r>
              <a:rPr lang="en-US" sz="2200" b="1" dirty="0">
                <a:solidFill>
                  <a:srgbClr val="1B1B1F"/>
                </a:solidFill>
              </a:rPr>
              <a:t>wiederholter</a:t>
            </a:r>
            <a:r>
              <a:rPr lang="en-US" sz="2200" dirty="0">
                <a:solidFill>
                  <a:srgbClr val="1B1B1F"/>
                </a:solidFill>
              </a:rPr>
              <a:t> Schlüssel ist kein One-Time-Pad – und zwei Schlüssel sind nicht doppelt so sicher.</a:t>
            </a:r>
            <a:endParaRPr lang="en-US" sz="2200" dirty="0"/>
          </a:p>
        </p:txBody>
      </p:sp>
      <p:sp>
        <p:nvSpPr>
          <p:cNvPr id="4" name="Shape 2"/>
          <p:cNvSpPr/>
          <p:nvPr/>
        </p:nvSpPr>
        <p:spPr>
          <a:xfrm>
            <a:off x="548640" y="2281936"/>
            <a:ext cx="5364328" cy="2625344"/>
          </a:xfrm>
          <a:prstGeom prst="roundRect">
            <a:avLst>
              <a:gd name="adj" fmla="val 2786"/>
            </a:avLst>
          </a:prstGeom>
          <a:solidFill>
            <a:srgbClr val="FDF3F2"/>
          </a:solidFill>
          <a:ln w="15875">
            <a:solidFill>
              <a:srgbClr val="B3261E"/>
            </a:solidFill>
            <a:prstDash val="solid"/>
          </a:ln>
        </p:spPr>
      </p:sp>
      <p:sp>
        <p:nvSpPr>
          <p:cNvPr id="5" name="Text 3"/>
          <p:cNvSpPr txBox="1"/>
          <p:nvPr/>
        </p:nvSpPr>
        <p:spPr>
          <a:xfrm>
            <a:off x="822960" y="2464816"/>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967736"/>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„Ein 8-Bit-Schlüssel für alle Zeichen ist auch eine Art OTP.“</a:t>
            </a:r>
            <a:endParaRPr lang="en-US" sz="2200" dirty="0"/>
          </a:p>
        </p:txBody>
      </p:sp>
      <p:sp>
        <p:nvSpPr>
          <p:cNvPr id="7" name="Text 5"/>
          <p:cNvSpPr txBox="1"/>
          <p:nvPr/>
        </p:nvSpPr>
        <p:spPr>
          <a:xfrm>
            <a:off x="822960" y="382320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„Zweimal XOR mit k</a:t>
            </a:r>
            <a:r>
              <a:rPr lang="en-US" sz="2200" baseline="-40000" dirty="0">
                <a:solidFill>
                  <a:srgbClr val="1B1B1F"/>
                </a:solidFill>
              </a:rPr>
              <a:t>1</a:t>
            </a:r>
            <a:r>
              <a:rPr lang="en-US" sz="2200" dirty="0">
                <a:solidFill>
                  <a:srgbClr val="1B1B1F"/>
                </a:solidFill>
              </a:rPr>
              <a:t>, k</a:t>
            </a:r>
            <a:r>
              <a:rPr lang="en-US" sz="2200" baseline="-40000" dirty="0">
                <a:solidFill>
                  <a:srgbClr val="1B1B1F"/>
                </a:solidFill>
              </a:rPr>
              <a:t>2</a:t>
            </a:r>
            <a:r>
              <a:rPr lang="en-US" sz="2200" dirty="0">
                <a:solidFill>
                  <a:srgbClr val="1B1B1F"/>
                </a:solidFill>
              </a:rPr>
              <a:t> ist doppelt sicher.“</a:t>
            </a:r>
            <a:endParaRPr lang="en-US" sz="2200" dirty="0"/>
          </a:p>
        </p:txBody>
      </p:sp>
      <p:sp>
        <p:nvSpPr>
          <p:cNvPr id="8" name="Shape 6"/>
          <p:cNvSpPr/>
          <p:nvPr/>
        </p:nvSpPr>
        <p:spPr>
          <a:xfrm>
            <a:off x="6278728" y="2281936"/>
            <a:ext cx="5364328" cy="2966212"/>
          </a:xfrm>
          <a:prstGeom prst="roundRect">
            <a:avLst>
              <a:gd name="adj" fmla="val 2466"/>
            </a:avLst>
          </a:prstGeom>
          <a:solidFill>
            <a:srgbClr val="EEF6EE"/>
          </a:solidFill>
          <a:ln w="15875">
            <a:solidFill>
              <a:srgbClr val="2E7D32"/>
            </a:solidFill>
            <a:prstDash val="solid"/>
          </a:ln>
        </p:spPr>
      </p:sp>
      <p:sp>
        <p:nvSpPr>
          <p:cNvPr id="9" name="Text 7"/>
          <p:cNvSpPr txBox="1"/>
          <p:nvPr/>
        </p:nvSpPr>
        <p:spPr>
          <a:xfrm>
            <a:off x="6553048" y="2464816"/>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0" name="Text 8"/>
          <p:cNvSpPr txBox="1"/>
          <p:nvPr/>
        </p:nvSpPr>
        <p:spPr>
          <a:xfrm>
            <a:off x="6553048" y="2967736"/>
            <a:ext cx="4815688" cy="1068324"/>
          </a:xfrm>
          <a:prstGeom prst="rect">
            <a:avLst/>
          </a:prstGeom>
          <a:noFill/>
          <a:ln/>
        </p:spPr>
        <p:txBody>
          <a:bodyPr wrap="square" lIns="0" tIns="0" rIns="0" bIns="0" rtlCol="0" anchor="t"/>
          <a:lstStyle/>
          <a:p>
            <a:pPr algn="l" indent="0" marL="0">
              <a:buNone/>
            </a:pPr>
            <a:r>
              <a:rPr lang="en-US" sz="2200" dirty="0">
                <a:solidFill>
                  <a:srgbClr val="1B1B1F"/>
                </a:solidFill>
              </a:rPr>
              <a:t>Gleiche Zeichen → gleiche Bytes: </a:t>
            </a:r>
            <a:r>
              <a:rPr lang="en-US" sz="2200" b="1" dirty="0">
                <a:solidFill>
                  <a:srgbClr val="1B1B1F"/>
                </a:solidFill>
              </a:rPr>
              <a:t>monoalphabetisch</a:t>
            </a:r>
            <a:r>
              <a:rPr lang="en-US" sz="2200" dirty="0">
                <a:solidFill>
                  <a:srgbClr val="1B1B1F"/>
                </a:solidFill>
              </a:rPr>
              <a:t>, nur 256 Schlüssel.</a:t>
            </a:r>
            <a:endParaRPr lang="en-US" sz="2200" dirty="0"/>
          </a:p>
        </p:txBody>
      </p:sp>
      <p:sp>
        <p:nvSpPr>
          <p:cNvPr id="11" name="Text 9"/>
          <p:cNvSpPr txBox="1"/>
          <p:nvPr/>
        </p:nvSpPr>
        <p:spPr>
          <a:xfrm>
            <a:off x="6553048" y="4164076"/>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(M ⊕ k</a:t>
            </a:r>
            <a:r>
              <a:rPr lang="en-US" sz="2200" baseline="-40000" dirty="0">
                <a:solidFill>
                  <a:srgbClr val="1B1B1F"/>
                </a:solidFill>
              </a:rPr>
              <a:t>1</a:t>
            </a:r>
            <a:r>
              <a:rPr lang="en-US" sz="2200" dirty="0">
                <a:solidFill>
                  <a:srgbClr val="1B1B1F"/>
                </a:solidFill>
              </a:rPr>
              <a:t>) ⊕ k</a:t>
            </a:r>
            <a:r>
              <a:rPr lang="en-US" sz="2200" baseline="-40000" dirty="0">
                <a:solidFill>
                  <a:srgbClr val="1B1B1F"/>
                </a:solidFill>
              </a:rPr>
              <a:t>2</a:t>
            </a:r>
            <a:r>
              <a:rPr lang="en-US" sz="2200" dirty="0">
                <a:solidFill>
                  <a:srgbClr val="1B1B1F"/>
                </a:solidFill>
              </a:rPr>
              <a:t> = M ⊕ (k</a:t>
            </a:r>
            <a:r>
              <a:rPr lang="en-US" sz="2200" baseline="-40000" dirty="0">
                <a:solidFill>
                  <a:srgbClr val="1B1B1F"/>
                </a:solidFill>
              </a:rPr>
              <a:t>1</a:t>
            </a:r>
            <a:r>
              <a:rPr lang="en-US" sz="2200" dirty="0">
                <a:solidFill>
                  <a:srgbClr val="1B1B1F"/>
                </a:solidFill>
              </a:rPr>
              <a:t> ⊕ k</a:t>
            </a:r>
            <a:r>
              <a:rPr lang="en-US" sz="2200" baseline="-40000" dirty="0">
                <a:solidFill>
                  <a:srgbClr val="1B1B1F"/>
                </a:solidFill>
              </a:rPr>
              <a:t>2</a:t>
            </a:r>
            <a:r>
              <a:rPr lang="en-US" sz="2200" dirty="0">
                <a:solidFill>
                  <a:srgbClr val="1B1B1F"/>
                </a:solidFill>
              </a:rPr>
              <a:t>): </a:t>
            </a:r>
            <a:r>
              <a:rPr lang="en-US" sz="2200" b="1" dirty="0">
                <a:solidFill>
                  <a:srgbClr val="1B1B1F"/>
                </a:solidFill>
              </a:rPr>
              <a:t>ein</a:t>
            </a:r>
            <a:r>
              <a:rPr lang="en-US" sz="2200" dirty="0">
                <a:solidFill>
                  <a:srgbClr val="1B1B1F"/>
                </a:solidFill>
              </a:rPr>
              <a:t> Schlüssel.</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Schlüsselproblem</a:t>
            </a:r>
            <a:endParaRPr lang="en-US" sz="3000" dirty="0"/>
          </a:p>
        </p:txBody>
      </p:sp>
      <p:sp>
        <p:nvSpPr>
          <p:cNvPr id="3" name="Merke-Kasten"/>
          <p:cNvSpPr/>
          <p:nvPr/>
        </p:nvSpPr>
        <p:spPr>
          <a:xfrm>
            <a:off x="1097280" y="1508760"/>
            <a:ext cx="9997135" cy="2886456"/>
          </a:xfrm>
          <a:prstGeom prst="roundRect">
            <a:avLst>
              <a:gd name="adj" fmla="val 3168"/>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1068324"/>
          </a:xfrm>
          <a:prstGeom prst="rect">
            <a:avLst/>
          </a:prstGeom>
          <a:noFill/>
          <a:ln/>
        </p:spPr>
        <p:txBody>
          <a:bodyPr wrap="square" lIns="0" tIns="0" rIns="0" bIns="0" rtlCol="0" anchor="t"/>
          <a:lstStyle/>
          <a:p>
            <a:pPr algn="l" indent="0" marL="0">
              <a:buNone/>
            </a:pPr>
            <a:r>
              <a:rPr lang="en-US" sz="2200" dirty="0">
                <a:solidFill>
                  <a:srgbClr val="1B1B1F"/>
                </a:solidFill>
              </a:rPr>
              <a:t>Das One-Time-Pad ist </a:t>
            </a:r>
            <a:r>
              <a:rPr lang="en-US" sz="2200" b="1" dirty="0">
                <a:solidFill>
                  <a:srgbClr val="1B1B1F"/>
                </a:solidFill>
              </a:rPr>
              <a:t>perfekt sicher</a:t>
            </a:r>
            <a:r>
              <a:rPr lang="en-US" sz="2200" dirty="0">
                <a:solidFill>
                  <a:srgbClr val="1B1B1F"/>
                </a:solidFill>
              </a:rPr>
              <a:t> – aber jeder Schlüssel muss so lang wie die Nachricht, zufällig und einmalig sein und </a:t>
            </a:r>
            <a:r>
              <a:rPr lang="en-US" sz="2200" b="1" dirty="0">
                <a:solidFill>
                  <a:srgbClr val="1B1B1F"/>
                </a:solidFill>
              </a:rPr>
              <a:t>vorher sicher übergeben</a:t>
            </a:r>
            <a:r>
              <a:rPr lang="en-US" sz="2200" dirty="0">
                <a:solidFill>
                  <a:srgbClr val="1B1B1F"/>
                </a:solidFill>
              </a:rPr>
              <a:t> werden.</a:t>
            </a:r>
            <a:endParaRPr lang="en-US" sz="2200" dirty="0"/>
          </a:p>
        </p:txBody>
      </p:sp>
      <p:sp>
        <p:nvSpPr>
          <p:cNvPr id="6" name="Text 4"/>
          <p:cNvSpPr txBox="1"/>
          <p:nvPr/>
        </p:nvSpPr>
        <p:spPr>
          <a:xfrm>
            <a:off x="1508760" y="3436620"/>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Moderne Verfahren suchen </a:t>
            </a:r>
            <a:r>
              <a:rPr lang="en-US" sz="2200" b="1" dirty="0">
                <a:solidFill>
                  <a:srgbClr val="1B1B1F"/>
                </a:solidFill>
              </a:rPr>
              <a:t>kurze Schlüssel</a:t>
            </a:r>
            <a:r>
              <a:rPr lang="en-US" sz="2200" dirty="0">
                <a:solidFill>
                  <a:srgbClr val="1B1B1F"/>
                </a:solidFill>
              </a:rPr>
              <a: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lIns="0" tIns="0" rIns="0" bIns="0" rtlCol="0" anchor="ctr"/>
          <a:lstStyle/>
          <a:p>
            <a:pPr algn="l" indent="0" marL="0">
              <a:buNone/>
            </a:pPr>
            <a:r>
              <a:rPr lang="en-US" sz="4000" b="1" dirty="0">
                <a:solidFill>
                  <a:srgbClr val="FBF7EE"/>
                </a:solidFill>
                <a:latin typeface="Georgia" pitchFamily="34" charset="0"/>
                <a:ea typeface="Georgia" pitchFamily="34" charset="-122"/>
                <a:cs typeface="Georgia" pitchFamily="34" charset="-120"/>
              </a:rPr>
              <a:t>DS 10 · Der Blockchiffre-Baukasten</a:t>
            </a:r>
            <a:endParaRPr lang="en-US" sz="4000" dirty="0"/>
          </a:p>
        </p:txBody>
      </p:sp>
      <p:sp>
        <p:nvSpPr>
          <p:cNvPr id="3" name="Text 1"/>
          <p:cNvSpPr txBox="1"/>
          <p:nvPr/>
        </p:nvSpPr>
        <p:spPr>
          <a:xfrm>
            <a:off x="1645920" y="3749040"/>
            <a:ext cx="9601200" cy="548640"/>
          </a:xfrm>
          <a:prstGeom prst="rect">
            <a:avLst/>
          </a:prstGeom>
          <a:noFill/>
          <a:ln/>
        </p:spPr>
        <p:txBody>
          <a:bodyPr wrap="square" lIns="0" tIns="0" rIns="0" bIns="0" rtlCol="0" anchor="ctr"/>
          <a:lstStyle/>
          <a:p>
            <a:pPr indent="0" marL="0">
              <a:buNone/>
            </a:pPr>
            <a:r>
              <a:rPr lang="en-US" sz="2000" dirty="0">
                <a:solidFill>
                  <a:srgbClr val="D9A441"/>
                </a:solidFill>
              </a:rPr>
              <a:t>Konfusion und Diffusion – Claude Shannon, 1949</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KRYPTOS-16</a:t>
            </a:r>
            <a:endParaRPr lang="en-US" sz="3000" dirty="0"/>
          </a:p>
        </p:txBody>
      </p:sp>
      <p:sp>
        <p:nvSpPr>
          <p:cNvPr id="3" name="Text 1"/>
          <p:cNvSpPr txBox="1"/>
          <p:nvPr/>
        </p:nvSpPr>
        <p:spPr>
          <a:xfrm>
            <a:off x="548640" y="1325880"/>
            <a:ext cx="5042468" cy="727456"/>
          </a:xfrm>
          <a:prstGeom prst="rect">
            <a:avLst/>
          </a:prstGeom>
          <a:noFill/>
          <a:ln/>
        </p:spPr>
        <p:txBody>
          <a:bodyPr wrap="square" lIns="0" tIns="0" rIns="0" bIns="0" rtlCol="0" anchor="t"/>
          <a:lstStyle/>
          <a:p>
            <a:pPr algn="l" indent="0" marL="0">
              <a:buNone/>
            </a:pPr>
            <a:r>
              <a:rPr lang="en-US" sz="2200" dirty="0">
                <a:solidFill>
                  <a:srgbClr val="1B1B1F"/>
                </a:solidFill>
              </a:rPr>
              <a:t>Block = 2 Zeichen = 16 Bit = </a:t>
            </a:r>
            <a:r>
              <a:rPr lang="en-US" sz="2200" b="1" dirty="0">
                <a:solidFill>
                  <a:srgbClr val="1B1B1F"/>
                </a:solidFill>
              </a:rPr>
              <a:t>4×4-Matrix</a:t>
            </a:r>
            <a:endParaRPr lang="en-US" sz="2200" dirty="0"/>
          </a:p>
        </p:txBody>
      </p:sp>
      <p:sp>
        <p:nvSpPr>
          <p:cNvPr id="4" name="Text 2"/>
          <p:cNvSpPr txBox="1"/>
          <p:nvPr/>
        </p:nvSpPr>
        <p:spPr>
          <a:xfrm>
            <a:off x="548640" y="2181352"/>
            <a:ext cx="5042468" cy="386588"/>
          </a:xfrm>
          <a:prstGeom prst="rect">
            <a:avLst/>
          </a:prstGeom>
          <a:noFill/>
          <a:ln/>
        </p:spPr>
        <p:txBody>
          <a:bodyPr wrap="square" lIns="0" tIns="0" rIns="0" bIns="0" rtlCol="0" anchor="t"/>
          <a:lstStyle/>
          <a:p>
            <a:pPr algn="l" indent="0" marL="0">
              <a:buNone/>
            </a:pPr>
            <a:r>
              <a:rPr lang="en-US" sz="2200" dirty="0">
                <a:solidFill>
                  <a:srgbClr val="1B1B1F"/>
                </a:solidFill>
              </a:rPr>
              <a:t>1.  </a:t>
            </a:r>
            <a:r>
              <a:rPr lang="en-US" sz="2200" b="1" dirty="0">
                <a:solidFill>
                  <a:srgbClr val="1B1B1F"/>
                </a:solidFill>
              </a:rPr>
              <a:t>XOR</a:t>
            </a:r>
            <a:r>
              <a:rPr lang="en-US" sz="2200" dirty="0">
                <a:solidFill>
                  <a:srgbClr val="1B1B1F"/>
                </a:solidFill>
              </a:rPr>
              <a:t> mit K</a:t>
            </a:r>
            <a:r>
              <a:rPr lang="en-US" sz="2200" baseline="-40000" dirty="0">
                <a:solidFill>
                  <a:srgbClr val="1B1B1F"/>
                </a:solidFill>
              </a:rPr>
              <a:t>i</a:t>
            </a:r>
            <a:endParaRPr lang="en-US" sz="2200" dirty="0"/>
          </a:p>
        </p:txBody>
      </p:sp>
      <p:sp>
        <p:nvSpPr>
          <p:cNvPr id="5" name="Text 3"/>
          <p:cNvSpPr txBox="1"/>
          <p:nvPr/>
        </p:nvSpPr>
        <p:spPr>
          <a:xfrm>
            <a:off x="548640" y="2695956"/>
            <a:ext cx="5042468" cy="386588"/>
          </a:xfrm>
          <a:prstGeom prst="rect">
            <a:avLst/>
          </a:prstGeom>
          <a:noFill/>
          <a:ln/>
        </p:spPr>
        <p:txBody>
          <a:bodyPr wrap="square" lIns="0" tIns="0" rIns="0" bIns="0" rtlCol="0" anchor="t"/>
          <a:lstStyle/>
          <a:p>
            <a:pPr algn="l" indent="0" marL="0">
              <a:buNone/>
            </a:pPr>
            <a:r>
              <a:rPr lang="en-US" sz="2200" dirty="0">
                <a:solidFill>
                  <a:srgbClr val="1B1B1F"/>
                </a:solidFill>
              </a:rPr>
              <a:t>2.  </a:t>
            </a:r>
            <a:r>
              <a:rPr lang="en-US" sz="2200" b="1" dirty="0">
                <a:solidFill>
                  <a:srgbClr val="1B1B1F"/>
                </a:solidFill>
              </a:rPr>
              <a:t>S-Box</a:t>
            </a:r>
            <a:r>
              <a:rPr lang="en-US" sz="2200" dirty="0">
                <a:solidFill>
                  <a:srgbClr val="1B1B1F"/>
                </a:solidFill>
              </a:rPr>
              <a:t> je Zeile</a:t>
            </a:r>
            <a:endParaRPr lang="en-US" sz="2200" dirty="0"/>
          </a:p>
        </p:txBody>
      </p:sp>
      <p:sp>
        <p:nvSpPr>
          <p:cNvPr id="6" name="Text 4"/>
          <p:cNvSpPr txBox="1"/>
          <p:nvPr/>
        </p:nvSpPr>
        <p:spPr>
          <a:xfrm>
            <a:off x="548640" y="3210560"/>
            <a:ext cx="5042468" cy="386588"/>
          </a:xfrm>
          <a:prstGeom prst="rect">
            <a:avLst/>
          </a:prstGeom>
          <a:noFill/>
          <a:ln/>
        </p:spPr>
        <p:txBody>
          <a:bodyPr wrap="square" lIns="0" tIns="0" rIns="0" bIns="0" rtlCol="0" anchor="t"/>
          <a:lstStyle/>
          <a:p>
            <a:pPr algn="l" indent="0" marL="0">
              <a:buNone/>
            </a:pPr>
            <a:r>
              <a:rPr lang="en-US" sz="2200" dirty="0">
                <a:solidFill>
                  <a:srgbClr val="1B1B1F"/>
                </a:solidFill>
              </a:rPr>
              <a:t>3.  </a:t>
            </a:r>
            <a:r>
              <a:rPr lang="en-US" sz="2200" b="1" dirty="0">
                <a:solidFill>
                  <a:srgbClr val="1B1B1F"/>
                </a:solidFill>
              </a:rPr>
              <a:t>Transponieren</a:t>
            </a:r>
            <a:endParaRPr lang="en-US" sz="2200" dirty="0"/>
          </a:p>
        </p:txBody>
      </p:sp>
      <p:sp>
        <p:nvSpPr>
          <p:cNvPr id="7" name="Text 5"/>
          <p:cNvSpPr txBox="1"/>
          <p:nvPr/>
        </p:nvSpPr>
        <p:spPr>
          <a:xfrm>
            <a:off x="548640" y="3725164"/>
            <a:ext cx="5042468" cy="727456"/>
          </a:xfrm>
          <a:prstGeom prst="rect">
            <a:avLst/>
          </a:prstGeom>
          <a:noFill/>
          <a:ln/>
        </p:spPr>
        <p:txBody>
          <a:bodyPr wrap="square" lIns="0" tIns="0" rIns="0" bIns="0" rtlCol="0" anchor="t"/>
          <a:lstStyle/>
          <a:p>
            <a:pPr algn="l" indent="0" marL="0">
              <a:buNone/>
            </a:pPr>
            <a:r>
              <a:rPr lang="en-US" sz="2200" dirty="0">
                <a:solidFill>
                  <a:srgbClr val="1B1B1F"/>
                </a:solidFill>
              </a:rPr>
              <a:t>K</a:t>
            </a:r>
            <a:r>
              <a:rPr lang="en-US" sz="2200" baseline="-40000" dirty="0">
                <a:solidFill>
                  <a:srgbClr val="1B1B1F"/>
                </a:solidFill>
              </a:rPr>
              <a:t>i+1</a:t>
            </a:r>
            <a:r>
              <a:rPr lang="en-US" sz="2200" dirty="0">
                <a:solidFill>
                  <a:srgbClr val="1B1B1F"/>
                </a:solidFill>
              </a:rPr>
              <a:t>: erste Vierergruppe ans Ende · 4 Runden (von Hand 2)</a:t>
            </a:r>
            <a:endParaRPr lang="en-US" sz="2200" dirty="0"/>
          </a:p>
        </p:txBody>
      </p:sp>
      <p:pic>
        <p:nvPicPr>
          <p:cNvPr id="8" name="Image 0" descr="struktogramm">    </p:cNvPr>
          <p:cNvPicPr>
            <a:picLocks noChangeAspect="1"/>
          </p:cNvPicPr>
          <p:nvPr/>
        </p:nvPicPr>
        <p:blipFill>
          <a:blip r:embed="rId1"/>
          <a:stretch>
            <a:fillRect/>
          </a:stretch>
        </p:blipFill>
        <p:spPr>
          <a:xfrm>
            <a:off x="5956868" y="1325880"/>
            <a:ext cx="5686187" cy="2612092"/>
          </a:xfrm>
          <a:prstGeom prst="rect">
            <a:avLst/>
          </a:prstGeom>
        </p:spPr>
      </p:pic>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Beispiel „OK“ mit KRYPTOS-16/2</a:t>
            </a:r>
            <a:endParaRPr lang="en-US" sz="3000" dirty="0"/>
          </a:p>
        </p:txBody>
      </p:sp>
      <p:sp>
        <p:nvSpPr>
          <p:cNvPr id="3" name="Text 1"/>
          <p:cNvSpPr txBox="1"/>
          <p:nvPr/>
        </p:nvSpPr>
        <p:spPr>
          <a:xfrm>
            <a:off x="548640" y="132588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K = </a:t>
            </a:r>
            <a:r>
              <a:rPr lang="en-US" sz="2200" dirty="0">
                <a:solidFill>
                  <a:srgbClr val="1B1B1F"/>
                </a:solidFill>
                <a:latin typeface="Consolas" pitchFamily="34" charset="0"/>
                <a:ea typeface="Consolas" pitchFamily="34" charset="-122"/>
                <a:cs typeface="Consolas" pitchFamily="34" charset="-120"/>
              </a:rPr>
              <a:t>1010 0011 0110 1101</a:t>
            </a:r>
            <a:r>
              <a:rPr lang="en-US" sz="2200" dirty="0">
                <a:solidFill>
                  <a:srgbClr val="1B1B1F"/>
                </a:solidFill>
              </a:rPr>
              <a:t> · „OK“ = </a:t>
            </a:r>
            <a:r>
              <a:rPr lang="en-US" sz="2200" dirty="0">
                <a:solidFill>
                  <a:srgbClr val="1B1B1F"/>
                </a:solidFill>
                <a:latin typeface="Consolas" pitchFamily="34" charset="0"/>
                <a:ea typeface="Consolas" pitchFamily="34" charset="-122"/>
                <a:cs typeface="Consolas" pitchFamily="34" charset="-120"/>
              </a:rPr>
              <a:t>0100 1111 0100 1011</a:t>
            </a:r>
            <a:endParaRPr lang="en-US" sz="2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40484"/>
          <a:ext cx="11094415" cy="914400"/>
        </p:xfrm>
        <a:graphic>
          <a:graphicData uri="http://schemas.openxmlformats.org/drawingml/2006/table">
            <a:tbl>
              <a:tblPr/>
              <a:tblGrid>
                <a:gridCol w="1849069"/>
                <a:gridCol w="1849069"/>
                <a:gridCol w="1849069"/>
                <a:gridCol w="1849069"/>
                <a:gridCol w="1849069"/>
                <a:gridCol w="1849069"/>
              </a:tblGrid>
              <a:tr h="0">
                <a:tc>
                  <a:txBody>
                    <a:bodyPr/>
                    <a:lstStyle/>
                    <a:p>
                      <a:pPr algn="ctr" indent="0" marL="0">
                        <a:buNone/>
                      </a:pPr>
                      <a:r>
                        <a:rPr lang="en-US" sz="1700" b="1" dirty="0">
                          <a:solidFill>
                            <a:srgbClr val="1B1B1F"/>
                          </a:solidFill>
                          <a:latin typeface="Consolas" pitchFamily="34" charset="0"/>
                          <a:ea typeface="Consolas" pitchFamily="34" charset="-122"/>
                          <a:cs typeface="Consolas" pitchFamily="34" charset="-120"/>
                        </a:rPr>
                        <a:t>Runde</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700" b="1" dirty="0">
                          <a:solidFill>
                            <a:srgbClr val="1B1B1F"/>
                          </a:solidFill>
                          <a:latin typeface="Consolas" pitchFamily="34" charset="0"/>
                          <a:ea typeface="Consolas" pitchFamily="34" charset="-122"/>
                          <a:cs typeface="Consolas" pitchFamily="34" charset="-120"/>
                        </a:rPr>
                        <a:t>Eingang</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700" b="1" dirty="0">
                          <a:solidFill>
                            <a:srgbClr val="1B1B1F"/>
                          </a:solidFill>
                          <a:latin typeface="Consolas" pitchFamily="34" charset="0"/>
                          <a:ea typeface="Consolas" pitchFamily="34" charset="-122"/>
                          <a:cs typeface="Consolas" pitchFamily="34" charset="-120"/>
                        </a:rPr>
                        <a:t>K</a:t>
                      </a:r>
                      <a:r>
                        <a:rPr lang="en-US" sz="1700" b="1" baseline="-40000" dirty="0">
                          <a:solidFill>
                            <a:srgbClr val="1B1B1F"/>
                          </a:solidFill>
                          <a:latin typeface="Consolas" pitchFamily="34" charset="0"/>
                          <a:ea typeface="Consolas" pitchFamily="34" charset="-122"/>
                          <a:cs typeface="Consolas" pitchFamily="34" charset="-120"/>
                        </a:rPr>
                        <a:t>i</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700" b="1" dirty="0">
                          <a:solidFill>
                            <a:srgbClr val="1B1B1F"/>
                          </a:solidFill>
                          <a:latin typeface="Consolas" pitchFamily="34" charset="0"/>
                          <a:ea typeface="Consolas" pitchFamily="34" charset="-122"/>
                          <a:cs typeface="Consolas" pitchFamily="34" charset="-120"/>
                        </a:rPr>
                        <a:t>nach XOR</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700" b="1" dirty="0">
                          <a:solidFill>
                            <a:srgbClr val="1B1B1F"/>
                          </a:solidFill>
                          <a:latin typeface="Consolas" pitchFamily="34" charset="0"/>
                          <a:ea typeface="Consolas" pitchFamily="34" charset="-122"/>
                          <a:cs typeface="Consolas" pitchFamily="34" charset="-120"/>
                        </a:rPr>
                        <a:t>nach S-Box</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700" b="1" dirty="0">
                          <a:solidFill>
                            <a:srgbClr val="1B1B1F"/>
                          </a:solidFill>
                          <a:latin typeface="Consolas" pitchFamily="34" charset="0"/>
                          <a:ea typeface="Consolas" pitchFamily="34" charset="-122"/>
                          <a:cs typeface="Consolas" pitchFamily="34" charset="-120"/>
                        </a:rPr>
                        <a:t>nach Transp.</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0100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0100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1011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1010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0011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1100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0010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0110</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0011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1000</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1000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2</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1000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0011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1010</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0100</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0111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0011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Zwei Runden von Hand</a:t>
            </a:r>
            <a:endParaRPr lang="en-US" sz="3000" dirty="0"/>
          </a:p>
        </p:txBody>
      </p:sp>
      <p:sp>
        <p:nvSpPr>
          <p:cNvPr id="3" name="Text 1"/>
          <p:cNvSpPr txBox="1"/>
          <p:nvPr/>
        </p:nvSpPr>
        <p:spPr>
          <a:xfrm>
            <a:off x="548640" y="1325880"/>
            <a:ext cx="1463040" cy="384048"/>
          </a:xfrm>
          <a:prstGeom prst="rect">
            <a:avLst/>
          </a:prstGeom>
          <a:solidFill>
            <a:srgbClr val="556B2F"/>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1746504"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Partnerarbeit</a:t>
            </a:r>
            <a:endParaRPr lang="en-US" sz="1400" dirty="0"/>
          </a:p>
        </p:txBody>
      </p:sp>
      <p:sp>
        <p:nvSpPr>
          <p:cNvPr id="5" name="Text 3"/>
          <p:cNvSpPr txBox="1"/>
          <p:nvPr/>
        </p:nvSpPr>
        <p:spPr>
          <a:xfrm>
            <a:off x="4032504"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10 min</a:t>
            </a:r>
            <a:endParaRPr lang="en-US" sz="1400" dirty="0"/>
          </a:p>
        </p:txBody>
      </p:sp>
      <p:sp>
        <p:nvSpPr>
          <p:cNvPr id="6" name="Text 4"/>
          <p:cNvSpPr txBox="1"/>
          <p:nvPr/>
        </p:nvSpPr>
        <p:spPr>
          <a:xfrm>
            <a:off x="548640" y="196596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Akte W3·2, Auftrag 4: KRYPTOS-16/2 für </a:t>
            </a:r>
            <a:r>
              <a:rPr lang="en-US" sz="2200" b="1" dirty="0">
                <a:solidFill>
                  <a:srgbClr val="1B1B1F"/>
                </a:solidFill>
              </a:rPr>
              <a:t>„JA“</a:t>
            </a:r>
            <a:endParaRPr lang="en-US" sz="2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480564"/>
          <a:ext cx="8229600" cy="914400"/>
        </p:xfrm>
        <a:graphic>
          <a:graphicData uri="http://schemas.openxmlformats.org/drawingml/2006/table">
            <a:tbl>
              <a:tblPr/>
              <a:tblGrid>
                <a:gridCol w="1645920"/>
                <a:gridCol w="6583680"/>
              </a:tblGrid>
              <a:tr h="0">
                <a:tc>
                  <a:txBody>
                    <a:bodyPr/>
                    <a:lstStyle/>
                    <a:p>
                      <a:pPr algn="r" indent="0" marL="0">
                        <a:buNone/>
                      </a:pPr>
                      <a:r>
                        <a:rPr lang="en-US" sz="2200" b="1" dirty="0">
                          <a:solidFill>
                            <a:srgbClr val="4A4A55"/>
                          </a:solidFill>
                          <a:latin typeface="Calibri" pitchFamily="34" charset="0"/>
                          <a:ea typeface="Calibri" pitchFamily="34" charset="-122"/>
                          <a:cs typeface="Calibri" pitchFamily="34" charset="-120"/>
                        </a:rPr>
                        <a:t>K</a:t>
                      </a:r>
                      <a:endParaRPr lang="en-US" sz="2200" dirty="0">
                        <a:latin typeface="Calibri" charset="0"/>
                        <a:ea typeface="Calibri" charset="0"/>
                        <a:cs typeface="Calibri" charset="0"/>
                      </a:endParaRPr>
                    </a:p>
                  </a:txBody>
                  <a:tcPr marL="91440" marR="91440" marT="18288" marB="18288">
                    <a:lnL w="0" cap="flat" cmpd="sng" algn="ctr">
                      <a:noFill/>
                    </a:lnL>
                    <a:lnR w="0" cap="flat" cmpd="sng" algn="ctr">
                      <a:noFill/>
                    </a:lnR>
                    <a:lnT w="0" cap="flat" cmpd="sng" algn="ctr">
                      <a:noFill/>
                    </a:lnT>
                    <a:lnB w="0" cap="flat" cmpd="sng" algn="ctr">
                      <a:noFill/>
                    </a:lnB>
                  </a:tcPr>
                </a:tc>
                <a:tc>
                  <a:txBody>
                    <a:bodyPr/>
                    <a:lstStyle/>
                    <a:p>
                      <a:pPr indent="0" marL="0">
                        <a:buNone/>
                      </a:pPr>
                      <a:r>
                        <a:rPr lang="en-US" sz="2200" b="1" spc="300" kern="0" dirty="0">
                          <a:solidFill>
                            <a:srgbClr val="1B1B1F"/>
                          </a:solidFill>
                          <a:latin typeface="Consolas" pitchFamily="34" charset="0"/>
                          <a:ea typeface="Consolas" pitchFamily="34" charset="-122"/>
                          <a:cs typeface="Consolas" pitchFamily="34" charset="-120"/>
                        </a:rPr>
                        <a:t>0101 1100 1001 1110</a:t>
                      </a:r>
                      <a:endParaRPr lang="en-US" sz="2200" dirty="0">
                        <a:latin typeface="Consolas" charset="0"/>
                        <a:ea typeface="Consolas" charset="0"/>
                        <a:cs typeface="Consolas" charset="0"/>
                      </a:endParaRPr>
                    </a:p>
                  </a:txBody>
                  <a:tcPr marL="91440" marR="91440" marT="18288" marB="18288">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3055620"/>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Vorlage mit 4×4-Matrizen je Schritt nutzen. Schnelle: Auftrag 3 (Schlüsselplan).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Lawine</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900760" cy="914400"/>
        </p:xfrm>
        <a:graphic>
          <a:graphicData uri="http://schemas.openxmlformats.org/drawingml/2006/table">
            <a:tbl>
              <a:tblPr/>
              <a:tblGrid>
                <a:gridCol w="1180152"/>
                <a:gridCol w="1180152"/>
                <a:gridCol w="1180152"/>
                <a:gridCol w="1180152"/>
                <a:gridCol w="1180152"/>
              </a:tblGrid>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Runden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„OK“ ↔ „OJ“</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10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Mittel</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16 %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43 %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48 %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49 %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967736"/>
            <a:ext cx="5900760" cy="603504"/>
          </a:xfrm>
          <a:prstGeom prst="rect">
            <a:avLst/>
          </a:prstGeom>
          <a:noFill/>
          <a:ln/>
        </p:spPr>
        <p:txBody>
          <a:bodyPr wrap="square" lIns="0" tIns="0" rIns="0" bIns="0" rtlCol="0" anchor="t"/>
          <a:lstStyle/>
          <a:p>
            <a:pPr algn="l" indent="0" marL="0">
              <a:buNone/>
            </a:pPr>
            <a:r>
              <a:rPr lang="en-US" sz="1800" dirty="0">
                <a:solidFill>
                  <a:srgbClr val="1B1B1F"/>
                </a:solidFill>
              </a:rPr>
              <a:t>gekippte Geheimtextbits, wenn </a:t>
            </a:r>
            <a:r>
              <a:rPr lang="en-US" sz="1800" b="1" dirty="0">
                <a:solidFill>
                  <a:srgbClr val="1B1B1F"/>
                </a:solidFill>
              </a:rPr>
              <a:t>1</a:t>
            </a:r>
            <a:r>
              <a:rPr lang="en-US" sz="1800" dirty="0">
                <a:solidFill>
                  <a:srgbClr val="1B1B1F"/>
                </a:solidFill>
              </a:rPr>
              <a:t> Klartextbit kippt · ideal 50 %</a:t>
            </a:r>
            <a:endParaRPr lang="en-US" sz="1800" dirty="0"/>
          </a:p>
        </p:txBody>
      </p:sp>
      <p:sp>
        <p:nvSpPr>
          <p:cNvPr id="5" name="Text 2"/>
          <p:cNvSpPr txBox="1"/>
          <p:nvPr/>
        </p:nvSpPr>
        <p:spPr>
          <a:xfrm>
            <a:off x="6815160" y="1325880"/>
            <a:ext cx="4827895" cy="727456"/>
          </a:xfrm>
          <a:prstGeom prst="rect">
            <a:avLst/>
          </a:prstGeom>
          <a:noFill/>
          <a:ln/>
        </p:spPr>
        <p:txBody>
          <a:bodyPr wrap="square" lIns="0" tIns="0" rIns="0" bIns="0" rtlCol="0" anchor="t"/>
          <a:lstStyle/>
          <a:p>
            <a:pPr algn="l" indent="0" marL="0">
              <a:buNone/>
            </a:pPr>
            <a:r>
              <a:rPr lang="en-US" sz="2200" b="1" dirty="0">
                <a:solidFill>
                  <a:srgbClr val="1B1B1F"/>
                </a:solidFill>
              </a:rPr>
              <a:t>Konfusion:</a:t>
            </a:r>
            <a:r>
              <a:rPr lang="en-US" sz="2200" dirty="0">
                <a:solidFill>
                  <a:srgbClr val="1B1B1F"/>
                </a:solidFill>
              </a:rPr>
              <a:t> S-Box + Schlüssel-XOR verschleiern den Schlüssel</a:t>
            </a:r>
            <a:endParaRPr lang="en-US" sz="2200" dirty="0"/>
          </a:p>
        </p:txBody>
      </p:sp>
      <p:sp>
        <p:nvSpPr>
          <p:cNvPr id="6" name="Text 3"/>
          <p:cNvSpPr txBox="1"/>
          <p:nvPr/>
        </p:nvSpPr>
        <p:spPr>
          <a:xfrm>
            <a:off x="6815160" y="2181352"/>
            <a:ext cx="4827895" cy="1068324"/>
          </a:xfrm>
          <a:prstGeom prst="rect">
            <a:avLst/>
          </a:prstGeom>
          <a:noFill/>
          <a:ln/>
        </p:spPr>
        <p:txBody>
          <a:bodyPr wrap="square" lIns="0" tIns="0" rIns="0" bIns="0" rtlCol="0" anchor="t"/>
          <a:lstStyle/>
          <a:p>
            <a:pPr algn="l" indent="0" marL="0">
              <a:buNone/>
            </a:pPr>
            <a:r>
              <a:rPr lang="en-US" sz="2200" b="1" dirty="0">
                <a:solidFill>
                  <a:srgbClr val="1B1B1F"/>
                </a:solidFill>
              </a:rPr>
              <a:t>Diffusion:</a:t>
            </a:r>
            <a:r>
              <a:rPr lang="en-US" sz="2200" dirty="0">
                <a:solidFill>
                  <a:srgbClr val="1B1B1F"/>
                </a:solidFill>
              </a:rPr>
              <a:t> Transposition verteilt jedes Bit auf alle S-Boxen der nächsten Runde</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ECB oder CBC?</a:t>
            </a:r>
            <a:endParaRPr lang="en-US" sz="3000" dirty="0"/>
          </a:p>
        </p:txBody>
      </p:sp>
      <p:pic>
        <p:nvPicPr>
          <p:cNvPr id="3" name="Image 0" descr="Pixelbild Schlüssel: Original, ECB mit sichtbarem Umriss, CBC als Rauschen">    </p:cNvPr>
          <p:cNvPicPr>
            <a:picLocks noChangeAspect="1"/>
          </p:cNvPicPr>
          <p:nvPr/>
        </p:nvPicPr>
        <p:blipFill>
          <a:blip r:embed="rId1"/>
          <a:stretch>
            <a:fillRect/>
          </a:stretch>
        </p:blipFill>
        <p:spPr>
          <a:xfrm>
            <a:off x="1706728" y="1325880"/>
            <a:ext cx="8778240" cy="2739705"/>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4193601"/>
          <a:ext cx="11094415" cy="914400"/>
        </p:xfrm>
        <a:graphic>
          <a:graphicData uri="http://schemas.openxmlformats.org/drawingml/2006/table">
            <a:tbl>
              <a:tblPr/>
              <a:tblGrid>
                <a:gridCol w="3698138"/>
                <a:gridCol w="3698138"/>
                <a:gridCol w="3698138"/>
              </a:tblGrid>
              <a:tr h="0">
                <a:tc>
                  <a:txBody>
                    <a:bodyPr/>
                    <a:lstStyle/>
                    <a:p>
                      <a:pPr algn="ctr" indent="0" marL="0">
                        <a:buNone/>
                      </a:pPr>
                      <a:r>
                        <a:rPr lang="en-US" sz="1800" b="1" dirty="0">
                          <a:solidFill>
                            <a:srgbClr val="1B1B1F"/>
                          </a:solidFill>
                          <a:latin typeface="Calibri" pitchFamily="34" charset="0"/>
                          <a:ea typeface="Calibri" pitchFamily="34" charset="-122"/>
                          <a:cs typeface="Calibri" pitchFamily="34" charset="-120"/>
                        </a:rPr>
                        <a:t>Original</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alibri" pitchFamily="34" charset="0"/>
                          <a:ea typeface="Calibri" pitchFamily="34" charset="-122"/>
                          <a:cs typeface="Calibri" pitchFamily="34" charset="-120"/>
                        </a:rPr>
                        <a:t>ECB: 39 weiße → 39 gleiche Kacheln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alibri" pitchFamily="34" charset="0"/>
                          <a:ea typeface="Calibri" pitchFamily="34" charset="-122"/>
                          <a:cs typeface="Calibri" pitchFamily="34" charset="-120"/>
                        </a:rPr>
                        <a:t>CBC: C</a:t>
                      </a:r>
                      <a:r>
                        <a:rPr lang="en-US" sz="1800" b="1" baseline="-40000" dirty="0">
                          <a:solidFill>
                            <a:srgbClr val="1B1B1F"/>
                          </a:solidFill>
                          <a:latin typeface="Calibri" pitchFamily="34" charset="0"/>
                          <a:ea typeface="Calibri" pitchFamily="34" charset="-122"/>
                          <a:cs typeface="Calibri" pitchFamily="34" charset="-120"/>
                        </a:rPr>
                        <a:t>j</a:t>
                      </a:r>
                      <a:r>
                        <a:rPr lang="en-US" sz="1800" b="1" dirty="0">
                          <a:solidFill>
                            <a:srgbClr val="1B1B1F"/>
                          </a:solidFill>
                          <a:latin typeface="Calibri" pitchFamily="34" charset="0"/>
                          <a:ea typeface="Calibri" pitchFamily="34" charset="-122"/>
                          <a:cs typeface="Calibri" pitchFamily="34" charset="-120"/>
                        </a:rPr>
                        <a:t> = E(P</a:t>
                      </a:r>
                      <a:r>
                        <a:rPr lang="en-US" sz="1800" b="1" baseline="-40000" dirty="0">
                          <a:solidFill>
                            <a:srgbClr val="1B1B1F"/>
                          </a:solidFill>
                          <a:latin typeface="Calibri" pitchFamily="34" charset="0"/>
                          <a:ea typeface="Calibri" pitchFamily="34" charset="-122"/>
                          <a:cs typeface="Calibri" pitchFamily="34" charset="-120"/>
                        </a:rPr>
                        <a:t>j</a:t>
                      </a:r>
                      <a:r>
                        <a:rPr lang="en-US" sz="1800" b="1" dirty="0">
                          <a:solidFill>
                            <a:srgbClr val="1B1B1F"/>
                          </a:solidFill>
                          <a:latin typeface="Calibri" pitchFamily="34" charset="0"/>
                          <a:ea typeface="Calibri" pitchFamily="34" charset="-122"/>
                          <a:cs typeface="Calibri" pitchFamily="34" charset="-120"/>
                        </a:rPr>
                        <a:t> ⊕ C</a:t>
                      </a:r>
                      <a:r>
                        <a:rPr lang="en-US" sz="1800" b="1" baseline="-40000" dirty="0">
                          <a:solidFill>
                            <a:srgbClr val="1B1B1F"/>
                          </a:solidFill>
                          <a:latin typeface="Calibri" pitchFamily="34" charset="0"/>
                          <a:ea typeface="Calibri" pitchFamily="34" charset="-122"/>
                          <a:cs typeface="Calibri" pitchFamily="34" charset="-120"/>
                        </a:rPr>
                        <a:t>j−1</a:t>
                      </a:r>
                      <a:r>
                        <a:rPr lang="en-US" sz="1800" b="1" dirty="0">
                          <a:solidFill>
                            <a:srgbClr val="1B1B1F"/>
                          </a:solidFill>
                          <a:latin typeface="Calibri" pitchFamily="34" charset="0"/>
                          <a:ea typeface="Calibri" pitchFamily="34" charset="-122"/>
                          <a:cs typeface="Calibri" pitchFamily="34" charset="-120"/>
                        </a:rPr>
                        <a:t>), C</a:t>
                      </a:r>
                      <a:r>
                        <a:rPr lang="en-US" sz="1800" b="1" baseline="-40000" dirty="0">
                          <a:solidFill>
                            <a:srgbClr val="1B1B1F"/>
                          </a:solidFill>
                          <a:latin typeface="Calibri" pitchFamily="34" charset="0"/>
                          <a:ea typeface="Calibri" pitchFamily="34" charset="-122"/>
                          <a:cs typeface="Calibri" pitchFamily="34" charset="-120"/>
                        </a:rPr>
                        <a:t>0</a:t>
                      </a:r>
                      <a:r>
                        <a:rPr lang="en-US" sz="1800" b="1" dirty="0">
                          <a:solidFill>
                            <a:srgbClr val="1B1B1F"/>
                          </a:solidFill>
                          <a:latin typeface="Calibri" pitchFamily="34" charset="0"/>
                          <a:ea typeface="Calibri" pitchFamily="34" charset="-122"/>
                          <a:cs typeface="Calibri" pitchFamily="34" charset="-120"/>
                        </a:rPr>
                        <a:t> = IV</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1800" dirty="0">
                          <a:solidFill>
                            <a:srgbClr val="1B1B1F"/>
                          </a:solidFill>
                          <a:latin typeface="Calibri" pitchFamily="34" charset="0"/>
                          <a:ea typeface="Calibri" pitchFamily="34" charset="-122"/>
                          <a:cs typeface="Calibri" pitchFamily="34" charset="-120"/>
                        </a:rPr>
                        <a:t>23 verschiedene Kacheln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alibri" pitchFamily="34" charset="0"/>
                          <a:ea typeface="Calibri" pitchFamily="34" charset="-122"/>
                          <a:cs typeface="Calibri" pitchFamily="34" charset="-120"/>
                        </a:rPr>
                        <a:t>Umriss bleibt sichtbar</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alibri" pitchFamily="34" charset="0"/>
                          <a:ea typeface="Calibri" pitchFamily="34" charset="-122"/>
                          <a:cs typeface="Calibri" pitchFamily="34" charset="-120"/>
                        </a:rPr>
                        <a:t>64 verschiedene Kacheln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P3 · Umkehrung</a:t>
            </a:r>
            <a:endParaRPr lang="en-US" sz="3000" dirty="0"/>
          </a:p>
        </p:txBody>
      </p:sp>
      <p:sp>
        <p:nvSpPr>
          <p:cNvPr id="3" name="Text 1"/>
          <p:cNvSpPr txBox="1"/>
          <p:nvPr/>
        </p:nvSpPr>
        <p:spPr>
          <a:xfrm>
            <a:off x="548640" y="1325880"/>
            <a:ext cx="11094415" cy="773176"/>
          </a:xfrm>
          <a:prstGeom prst="rect">
            <a:avLst/>
          </a:prstGeom>
          <a:noFill/>
          <a:ln/>
        </p:spPr>
        <p:txBody>
          <a:bodyPr wrap="square" lIns="0" tIns="0" rIns="0" bIns="0" rtlCol="0" anchor="t"/>
          <a:lstStyle/>
          <a:p>
            <a:pPr indent="0" marL="0">
              <a:buNone/>
            </a:pPr>
            <a:r>
              <a:rPr lang="en-US" sz="2200" dirty="0">
                <a:solidFill>
                  <a:srgbClr val="1B1B1F"/>
                </a:solidFill>
              </a:rPr>
              <a:t>Entschlüsseln heißt: </a:t>
            </a:r>
            <a:r>
              <a:rPr lang="en-US" sz="2200" b="1" dirty="0">
                <a:solidFill>
                  <a:srgbClr val="1B1B1F"/>
                </a:solidFill>
              </a:rPr>
              <a:t>Runden rückwärts</a:t>
            </a:r>
            <a:r>
              <a:rPr lang="en-US" sz="2200" dirty="0">
                <a:solidFill>
                  <a:srgbClr val="1B1B1F"/>
                </a:solidFill>
              </a:rPr>
              <a:t>, je Runde die Schritte rückwärts und invertiert.</a:t>
            </a:r>
            <a:endParaRPr lang="en-US" sz="2200" dirty="0"/>
          </a:p>
        </p:txBody>
      </p:sp>
      <p:sp>
        <p:nvSpPr>
          <p:cNvPr id="4" name="Shape 2"/>
          <p:cNvSpPr/>
          <p:nvPr/>
        </p:nvSpPr>
        <p:spPr>
          <a:xfrm>
            <a:off x="548640" y="2281936"/>
            <a:ext cx="5364328" cy="1769872"/>
          </a:xfrm>
          <a:prstGeom prst="roundRect">
            <a:avLst>
              <a:gd name="adj" fmla="val 4133"/>
            </a:avLst>
          </a:prstGeom>
          <a:solidFill>
            <a:srgbClr val="FDF3F2"/>
          </a:solidFill>
          <a:ln w="15875">
            <a:solidFill>
              <a:srgbClr val="B3261E"/>
            </a:solidFill>
            <a:prstDash val="solid"/>
          </a:ln>
        </p:spPr>
      </p:sp>
      <p:sp>
        <p:nvSpPr>
          <p:cNvPr id="5" name="Text 3"/>
          <p:cNvSpPr txBox="1"/>
          <p:nvPr/>
        </p:nvSpPr>
        <p:spPr>
          <a:xfrm>
            <a:off x="822960" y="2464816"/>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967736"/>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Runde 1 zuerst zurückrechnen, </a:t>
            </a:r>
            <a:r>
              <a:rPr lang="en-US" sz="2200" b="1" dirty="0">
                <a:solidFill>
                  <a:srgbClr val="1B1B1F"/>
                </a:solidFill>
              </a:rPr>
              <a:t>S-Box</a:t>
            </a:r>
            <a:r>
              <a:rPr lang="en-US" sz="2200" dirty="0">
                <a:solidFill>
                  <a:srgbClr val="1B1B1F"/>
                </a:solidFill>
              </a:rPr>
              <a:t> statt S⁻¹</a:t>
            </a:r>
            <a:endParaRPr lang="en-US" sz="2200" dirty="0"/>
          </a:p>
        </p:txBody>
      </p:sp>
      <p:sp>
        <p:nvSpPr>
          <p:cNvPr id="7" name="Shape 5"/>
          <p:cNvSpPr/>
          <p:nvPr/>
        </p:nvSpPr>
        <p:spPr>
          <a:xfrm>
            <a:off x="6278728" y="2281936"/>
            <a:ext cx="5364328" cy="1769872"/>
          </a:xfrm>
          <a:prstGeom prst="roundRect">
            <a:avLst>
              <a:gd name="adj" fmla="val 4133"/>
            </a:avLst>
          </a:prstGeom>
          <a:solidFill>
            <a:srgbClr val="EEF6EE"/>
          </a:solidFill>
          <a:ln w="15875">
            <a:solidFill>
              <a:srgbClr val="2E7D32"/>
            </a:solidFill>
            <a:prstDash val="solid"/>
          </a:ln>
        </p:spPr>
      </p:sp>
      <p:sp>
        <p:nvSpPr>
          <p:cNvPr id="8" name="Text 6"/>
          <p:cNvSpPr txBox="1"/>
          <p:nvPr/>
        </p:nvSpPr>
        <p:spPr>
          <a:xfrm>
            <a:off x="6553048" y="2464816"/>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9" name="Text 7"/>
          <p:cNvSpPr txBox="1"/>
          <p:nvPr/>
        </p:nvSpPr>
        <p:spPr>
          <a:xfrm>
            <a:off x="6553048" y="2967736"/>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Runden R … 1, je Runde: Transposition → </a:t>
            </a:r>
            <a:r>
              <a:rPr lang="en-US" sz="2200" b="1" dirty="0">
                <a:solidFill>
                  <a:srgbClr val="1B1B1F"/>
                </a:solidFill>
              </a:rPr>
              <a:t>S⁻¹</a:t>
            </a:r>
            <a:r>
              <a:rPr lang="en-US" sz="2200" dirty="0">
                <a:solidFill>
                  <a:srgbClr val="1B1B1F"/>
                </a:solidFill>
              </a:rPr>
              <a:t> → XOR K</a:t>
            </a:r>
            <a:r>
              <a:rPr lang="en-US" sz="2200" baseline="-40000" dirty="0">
                <a:solidFill>
                  <a:srgbClr val="1B1B1F"/>
                </a:solidFill>
              </a:rPr>
              <a:t>i</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Echte Blockchiffren</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773604"/>
                <a:gridCol w="2773604"/>
                <a:gridCol w="2773604"/>
                <a:gridCol w="2773604"/>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KRYPTOS-16</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DES (1977)</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AES (2001)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Block</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16 Bit (4×4 Bit)</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64 Bit</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128 Bit (4×4 Byte)</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Schlüssel</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16 Bit</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56 Bit – heute zu kurz</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128 / 192 / 256 Bit</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Runden</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4</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16 (Feistel)</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10 / 12 / 14</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Aufbau</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XOR · S-Box · Transposition</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Feistel: Hälften, Rundenfunktion, Tausch</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S-Box · Zeilenrotation · Spaltenmischung · XOR</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491484"/>
            <a:ext cx="11094415" cy="603504"/>
          </a:xfrm>
          <a:prstGeom prst="rect">
            <a:avLst/>
          </a:prstGeom>
          <a:noFill/>
          <a:ln/>
        </p:spPr>
        <p:txBody>
          <a:bodyPr wrap="square" lIns="0" tIns="0" rIns="0" bIns="0" rtlCol="0" anchor="t"/>
          <a:lstStyle/>
          <a:p>
            <a:pPr algn="l" indent="0" marL="0">
              <a:buNone/>
            </a:pPr>
            <a:r>
              <a:rPr lang="en-US" sz="1800" dirty="0">
                <a:solidFill>
                  <a:srgbClr val="1B1B1F"/>
                </a:solidFill>
              </a:rPr>
              <a:t>Feistel: Block in Hälften L/R, nur eine Hälfte durch die Rundenfunktion, dann tauschen. AES ist Ergänzung (nicht prüfungsrelevant).</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lIns="0" tIns="0" rIns="0" bIns="0" rtlCol="0" anchor="ctr"/>
          <a:lstStyle/>
          <a:p>
            <a:pPr algn="l" indent="0" marL="0">
              <a:buNone/>
            </a:pPr>
            <a:r>
              <a:rPr lang="en-US" sz="4000" b="1" dirty="0">
                <a:solidFill>
                  <a:srgbClr val="FBF7EE"/>
                </a:solidFill>
                <a:latin typeface="Georgia" pitchFamily="34" charset="0"/>
                <a:ea typeface="Georgia" pitchFamily="34" charset="-122"/>
                <a:cs typeface="Georgia" pitchFamily="34" charset="-120"/>
              </a:rPr>
              <a:t>DS 11 · Die Chiffren-Werkstatt</a:t>
            </a:r>
            <a:endParaRPr lang="en-US" sz="4000" dirty="0"/>
          </a:p>
        </p:txBody>
      </p:sp>
      <p:sp>
        <p:nvSpPr>
          <p:cNvPr id="3" name="Text 1"/>
          <p:cNvSpPr txBox="1"/>
          <p:nvPr/>
        </p:nvSpPr>
        <p:spPr>
          <a:xfrm>
            <a:off x="1645920" y="3749040"/>
            <a:ext cx="9601200" cy="548640"/>
          </a:xfrm>
          <a:prstGeom prst="rect">
            <a:avLst/>
          </a:prstGeom>
          <a:noFill/>
          <a:ln/>
        </p:spPr>
        <p:txBody>
          <a:bodyPr wrap="square" lIns="0" tIns="0" rIns="0" bIns="0" rtlCol="0" anchor="ctr"/>
          <a:lstStyle/>
          <a:p>
            <a:pPr indent="0" marL="0">
              <a:buNone/>
            </a:pPr>
            <a:r>
              <a:rPr lang="en-US" sz="2000" dirty="0">
                <a:solidFill>
                  <a:srgbClr val="D9A441"/>
                </a:solidFill>
              </a:rPr>
              <a:t>Jetzt baut ihr.</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Der Baukasten</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698138"/>
                <a:gridCol w="3698138"/>
                <a:gridCol w="3698138"/>
              </a:tblGrid>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Substitution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Transposition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Bitebene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Caesar · Schlüsselwort-Substitution · Vigenère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Spalten · Gartenzaun · Blockrotation · Umkehrung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XOR (nur als letzte Stufe)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566416"/>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a:t>
            </a:r>
            <a:r>
              <a:rPr lang="en-US" sz="2200" b="1" dirty="0">
                <a:solidFill>
                  <a:srgbClr val="1B1B1F"/>
                </a:solidFill>
              </a:rPr>
              <a:t>1–4 Stufen</a:t>
            </a:r>
            <a:r>
              <a:rPr lang="en-US" sz="2200" dirty="0">
                <a:solidFill>
                  <a:srgbClr val="1B1B1F"/>
                </a:solidFill>
              </a:rPr>
              <a:t> kombinieren, nie auffüllen</a:t>
            </a:r>
            <a:endParaRPr lang="en-US" sz="2200" dirty="0"/>
          </a:p>
        </p:txBody>
      </p:sp>
      <p:sp>
        <p:nvSpPr>
          <p:cNvPr id="5" name="Text 2"/>
          <p:cNvSpPr txBox="1"/>
          <p:nvPr/>
        </p:nvSpPr>
        <p:spPr>
          <a:xfrm>
            <a:off x="548640" y="308102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a:t>
            </a:r>
            <a:r>
              <a:rPr lang="en-US" sz="2200" b="1" dirty="0">
                <a:solidFill>
                  <a:srgbClr val="1B1B1F"/>
                </a:solidFill>
              </a:rPr>
              <a:t>Kerckhoffs:</a:t>
            </a:r>
            <a:r>
              <a:rPr lang="en-US" sz="2200" dirty="0">
                <a:solidFill>
                  <a:srgbClr val="1B1B1F"/>
                </a:solidFill>
              </a:rPr>
              <a:t> Verfahren öffentlich, Schlüssel geheim</a:t>
            </a:r>
            <a:endParaRPr lang="en-US" sz="2200" dirty="0"/>
          </a:p>
        </p:txBody>
      </p:sp>
      <p:sp>
        <p:nvSpPr>
          <p:cNvPr id="6" name="Text 3"/>
          <p:cNvSpPr txBox="1"/>
          <p:nvPr/>
        </p:nvSpPr>
        <p:spPr>
          <a:xfrm>
            <a:off x="548640" y="3595624"/>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Text </a:t>
            </a:r>
            <a:r>
              <a:rPr lang="en-US" sz="2200" b="1" dirty="0">
                <a:solidFill>
                  <a:srgbClr val="1B1B1F"/>
                </a:solidFill>
              </a:rPr>
              <a:t>≥ 150 Buchstaben</a:t>
            </a:r>
            <a:r>
              <a:rPr lang="en-US" sz="2200" dirty="0">
                <a:solidFill>
                  <a:srgbClr val="1B1B1F"/>
                </a:solidFill>
              </a:rPr>
              <a:t>, selbst formuliert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Knack-Arena</a:t>
            </a:r>
            <a:endParaRPr lang="en-US" sz="3000" dirty="0"/>
          </a:p>
        </p:txBody>
      </p:sp>
      <p:pic>
        <p:nvPicPr>
          <p:cNvPr id="3" name="Image 0" descr="/tmp/kr_bildcache/qr_984271427082c3ad.png">    </p:cNvPr>
          <p:cNvPicPr>
            <a:picLocks noChangeAspect="1"/>
          </p:cNvPicPr>
          <p:nvPr/>
        </p:nvPicPr>
        <p:blipFill>
          <a:blip r:embed="rId1"/>
          <a:stretch>
            <a:fillRect/>
          </a:stretch>
        </p:blipFill>
        <p:spPr>
          <a:xfrm>
            <a:off x="9905695" y="4206240"/>
            <a:ext cx="1737360" cy="1737360"/>
          </a:xfrm>
          <a:prstGeom prst="rect">
            <a:avLst/>
          </a:prstGeom>
        </p:spPr>
      </p:pic>
      <p:sp>
        <p:nvSpPr>
          <p:cNvPr id="4" name="Text 1"/>
          <p:cNvSpPr txBox="1"/>
          <p:nvPr/>
        </p:nvSpPr>
        <p:spPr>
          <a:xfrm>
            <a:off x="731520" y="1417320"/>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  Verfahren + Geheimtext jedes Teams sind </a:t>
            </a:r>
            <a:r>
              <a:rPr lang="en-US" sz="2200" b="1" dirty="0">
                <a:solidFill>
                  <a:srgbClr val="FBF7EE"/>
                </a:solidFill>
              </a:rPr>
              <a:t>öffentlich</a:t>
            </a:r>
            <a:endParaRPr lang="en-US" sz="2200" dirty="0"/>
          </a:p>
        </p:txBody>
      </p:sp>
      <p:sp>
        <p:nvSpPr>
          <p:cNvPr id="5" name="Text 2"/>
          <p:cNvSpPr txBox="1"/>
          <p:nvPr/>
        </p:nvSpPr>
        <p:spPr>
          <a:xfrm>
            <a:off x="731520" y="1931924"/>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  Angreifen mit allen Labor-Werkzeugen</a:t>
            </a:r>
            <a:endParaRPr lang="en-US" sz="2200" dirty="0"/>
          </a:p>
        </p:txBody>
      </p:sp>
      <p:sp>
        <p:nvSpPr>
          <p:cNvPr id="6" name="Text 3"/>
          <p:cNvSpPr txBox="1"/>
          <p:nvPr/>
        </p:nvSpPr>
        <p:spPr>
          <a:xfrm>
            <a:off x="731520" y="2446528"/>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  Lösung zählt bei </a:t>
            </a:r>
            <a:r>
              <a:rPr lang="en-US" sz="2200" b="1" dirty="0">
                <a:solidFill>
                  <a:srgbClr val="FBF7EE"/>
                </a:solidFill>
              </a:rPr>
              <a:t>exakt passendem</a:t>
            </a:r>
            <a:r>
              <a:rPr lang="en-US" sz="2200" dirty="0">
                <a:solidFill>
                  <a:srgbClr val="FBF7EE"/>
                </a:solidFill>
              </a:rPr>
              <a:t> Klartext</a:t>
            </a:r>
            <a:endParaRPr lang="en-US" sz="2200" dirty="0"/>
          </a:p>
        </p:txBody>
      </p:sp>
      <p:sp>
        <p:nvSpPr>
          <p:cNvPr id="7" name="Text 4"/>
          <p:cNvSpPr txBox="1"/>
          <p:nvPr/>
        </p:nvSpPr>
        <p:spPr>
          <a:xfrm>
            <a:off x="731520" y="2961132"/>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  Abzeichen „Arena-Knacker“ und „Unknackbar“</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Beurteilt euer Verfahren</a:t>
            </a:r>
            <a:endParaRPr lang="en-US" sz="3000" dirty="0"/>
          </a:p>
        </p:txBody>
      </p:sp>
      <p:sp>
        <p:nvSpPr>
          <p:cNvPr id="3" name="Text 1"/>
          <p:cNvSpPr txBox="1"/>
          <p:nvPr/>
        </p:nvSpPr>
        <p:spPr>
          <a:xfrm>
            <a:off x="548640" y="1325880"/>
            <a:ext cx="1463040" cy="384048"/>
          </a:xfrm>
          <a:prstGeom prst="rect">
            <a:avLst/>
          </a:prstGeom>
          <a:solidFill>
            <a:srgbClr val="556B2F"/>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758952"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Team</a:t>
            </a:r>
            <a:endParaRPr lang="en-US" sz="1400" dirty="0"/>
          </a:p>
        </p:txBody>
      </p:sp>
      <p:sp>
        <p:nvSpPr>
          <p:cNvPr id="5" name="Text 3"/>
          <p:cNvSpPr txBox="1"/>
          <p:nvPr/>
        </p:nvSpPr>
        <p:spPr>
          <a:xfrm>
            <a:off x="3044952"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10 min</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773604"/>
                <a:gridCol w="2773604"/>
                <a:gridCol w="2773604"/>
                <a:gridCol w="2773604"/>
              </a:tblGrid>
              <a:tr h="0">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Schlüsselraum</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Häufigkeitsanalyse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schwache Schlüssel</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Kombination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Known-Plaintext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Fehlerfortpflanzung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Kerckhoffs / Arena</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 Urteil</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2896616"/>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„Unser Verfahren ist gegen … sicher/unsicher, weil …; am meisten gefährdet durch …; verbessern würden wir …“</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ADFGVX · Stufe 1</a:t>
            </a:r>
            <a:endParaRPr lang="en-US" sz="3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1139269" y="1325880"/>
          <a:ext cx="3968496" cy="914400"/>
        </p:xfrm>
        <a:graphic>
          <a:graphicData uri="http://schemas.openxmlformats.org/drawingml/2006/table">
            <a:tbl>
              <a:tblPr/>
              <a:tblGrid>
                <a:gridCol w="566928"/>
                <a:gridCol w="566928"/>
                <a:gridCol w="566928"/>
                <a:gridCol w="566928"/>
                <a:gridCol w="566928"/>
                <a:gridCol w="566928"/>
                <a:gridCol w="566928"/>
              </a:tblGrid>
              <a:tr h="566928">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G</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V</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Z</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E</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P</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L</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I</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N</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8</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B</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C</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G</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H</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J</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K</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M</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G</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O</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Q</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R</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S</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U</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V</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V</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W</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Y</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0</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5</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6</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7</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9</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6064154" y="1325880"/>
            <a:ext cx="5578901" cy="386588"/>
          </a:xfrm>
          <a:prstGeom prst="rect">
            <a:avLst/>
          </a:prstGeom>
          <a:noFill/>
          <a:ln/>
        </p:spPr>
        <p:txBody>
          <a:bodyPr wrap="square" lIns="0" tIns="0" rIns="0" bIns="0" rtlCol="0" anchor="t"/>
          <a:lstStyle/>
          <a:p>
            <a:pPr algn="l" indent="0" marL="0">
              <a:buNone/>
            </a:pPr>
            <a:r>
              <a:rPr lang="en-US" sz="2200" dirty="0">
                <a:solidFill>
                  <a:srgbClr val="1B1B1F"/>
                </a:solidFill>
              </a:rPr>
              <a:t>Quadrat ZEPPELIN18: A–Z und 0–9</a:t>
            </a:r>
            <a:endParaRPr lang="en-US" sz="2200" dirty="0"/>
          </a:p>
        </p:txBody>
      </p:sp>
      <p:sp>
        <p:nvSpPr>
          <p:cNvPr id="5" name="Text 2"/>
          <p:cNvSpPr txBox="1"/>
          <p:nvPr/>
        </p:nvSpPr>
        <p:spPr>
          <a:xfrm>
            <a:off x="6064154" y="1840484"/>
            <a:ext cx="5578901" cy="386588"/>
          </a:xfrm>
          <a:prstGeom prst="rect">
            <a:avLst/>
          </a:prstGeom>
          <a:noFill/>
          <a:ln/>
        </p:spPr>
        <p:txBody>
          <a:bodyPr wrap="square" lIns="0" tIns="0" rIns="0" bIns="0" rtlCol="0" anchor="t"/>
          <a:lstStyle/>
          <a:p>
            <a:pPr algn="l" indent="0" marL="0">
              <a:buNone/>
            </a:pPr>
            <a:r>
              <a:rPr lang="en-US" sz="2200" dirty="0">
                <a:solidFill>
                  <a:srgbClr val="1B1B1F"/>
                </a:solidFill>
              </a:rPr>
              <a:t>Jedes Zeichen → </a:t>
            </a:r>
            <a:r>
              <a:rPr lang="en-US" sz="2200" b="1" dirty="0">
                <a:solidFill>
                  <a:srgbClr val="1B1B1F"/>
                </a:solidFill>
              </a:rPr>
              <a:t>Zeile, dann Spalte</a:t>
            </a:r>
            <a:endParaRPr lang="en-US" sz="2200" dirty="0"/>
          </a:p>
        </p:txBody>
      </p:sp>
      <p:sp>
        <p:nvSpPr>
          <p:cNvPr id="6" name="Text 3"/>
          <p:cNvSpPr txBox="1"/>
          <p:nvPr/>
        </p:nvSpPr>
        <p:spPr>
          <a:xfrm>
            <a:off x="6064154" y="2355088"/>
            <a:ext cx="5578901" cy="386588"/>
          </a:xfrm>
          <a:prstGeom prst="rect">
            <a:avLst/>
          </a:prstGeom>
          <a:noFill/>
          <a:ln/>
        </p:spPr>
        <p:txBody>
          <a:bodyPr wrap="square" lIns="0" tIns="0" rIns="0" bIns="0" rtlCol="0" anchor="t"/>
          <a:lstStyle/>
          <a:p>
            <a:pPr algn="l" indent="0" marL="0">
              <a:buNone/>
            </a:pPr>
            <a:r>
              <a:rPr lang="en-US" sz="2200" dirty="0">
                <a:solidFill>
                  <a:srgbClr val="1B1B1F"/>
                </a:solidFill>
              </a:rPr>
              <a:t>„ankunft8“ → </a:t>
            </a:r>
            <a:r>
              <a:rPr lang="en-US" sz="2200" dirty="0">
                <a:solidFill>
                  <a:srgbClr val="1B1B1F"/>
                </a:solidFill>
                <a:latin typeface="Consolas" pitchFamily="34" charset="0"/>
                <a:ea typeface="Consolas" pitchFamily="34" charset="-122"/>
                <a:cs typeface="Consolas" pitchFamily="34" charset="-120"/>
              </a:rPr>
              <a:t>DF AX FV GX AX FA GV DD</a:t>
            </a:r>
            <a:endParaRPr lang="en-US" sz="2200" dirty="0"/>
          </a:p>
        </p:txBody>
      </p:sp>
      <p:sp>
        <p:nvSpPr>
          <p:cNvPr id="7" name="Text 4"/>
          <p:cNvSpPr txBox="1"/>
          <p:nvPr/>
        </p:nvSpPr>
        <p:spPr>
          <a:xfrm>
            <a:off x="6064154" y="2869692"/>
            <a:ext cx="5578901" cy="386588"/>
          </a:xfrm>
          <a:prstGeom prst="rect">
            <a:avLst/>
          </a:prstGeom>
          <a:noFill/>
          <a:ln/>
        </p:spPr>
        <p:txBody>
          <a:bodyPr wrap="square" lIns="0" tIns="0" rIns="0" bIns="0" rtlCol="0" anchor="t"/>
          <a:lstStyle/>
          <a:p>
            <a:pPr algn="l" indent="0" marL="0">
              <a:buNone/>
            </a:pPr>
            <a:r>
              <a:rPr lang="en-US" sz="2200" dirty="0">
                <a:solidFill>
                  <a:srgbClr val="1B1B1F"/>
                </a:solidFill>
              </a:rPr>
              <a:t>monoalphabetisch, aber </a:t>
            </a:r>
            <a:r>
              <a:rPr lang="en-US" sz="2200" b="1" dirty="0">
                <a:solidFill>
                  <a:srgbClr val="1B1B1F"/>
                </a:solidFill>
              </a:rPr>
              <a:t>fraktioniert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ADFGVX · Stufe 2</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1560515" y="1325880"/>
          <a:ext cx="2267712" cy="914400"/>
        </p:xfrm>
        <a:graphic>
          <a:graphicData uri="http://schemas.openxmlformats.org/drawingml/2006/table">
            <a:tbl>
              <a:tblPr/>
              <a:tblGrid>
                <a:gridCol w="566928"/>
                <a:gridCol w="566928"/>
                <a:gridCol w="566928"/>
                <a:gridCol w="566928"/>
              </a:tblGrid>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W·4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O·3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L·2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V</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G</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G</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V</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r>
            </a:tbl>
          </a:graphicData>
        </a:graphic>
      </p:graphicFrame>
      <p:sp>
        <p:nvSpPr>
          <p:cNvPr id="4" name="Text 1"/>
          <p:cNvSpPr txBox="1"/>
          <p:nvPr/>
        </p:nvSpPr>
        <p:spPr>
          <a:xfrm>
            <a:off x="5205862" y="1325880"/>
            <a:ext cx="6437193" cy="386588"/>
          </a:xfrm>
          <a:prstGeom prst="rect">
            <a:avLst/>
          </a:prstGeom>
          <a:noFill/>
          <a:ln/>
        </p:spPr>
        <p:txBody>
          <a:bodyPr wrap="square" lIns="0" tIns="0" rIns="0" bIns="0" rtlCol="0" anchor="t"/>
          <a:lstStyle/>
          <a:p>
            <a:pPr algn="l" indent="0" marL="0">
              <a:buNone/>
            </a:pPr>
            <a:r>
              <a:rPr lang="en-US" sz="2200" dirty="0">
                <a:solidFill>
                  <a:srgbClr val="1B1B1F"/>
                </a:solidFill>
              </a:rPr>
              <a:t>Schlüsselwort WOLF: F = 1, L = 2, O = 3, W = 4</a:t>
            </a:r>
            <a:endParaRPr lang="en-US" sz="2200" dirty="0"/>
          </a:p>
        </p:txBody>
      </p:sp>
      <p:sp>
        <p:nvSpPr>
          <p:cNvPr id="5" name="Text 2"/>
          <p:cNvSpPr txBox="1"/>
          <p:nvPr/>
        </p:nvSpPr>
        <p:spPr>
          <a:xfrm>
            <a:off x="5205862" y="1840484"/>
            <a:ext cx="6437193" cy="386588"/>
          </a:xfrm>
          <a:prstGeom prst="rect">
            <a:avLst/>
          </a:prstGeom>
          <a:noFill/>
          <a:ln/>
        </p:spPr>
        <p:txBody>
          <a:bodyPr wrap="square" lIns="0" tIns="0" rIns="0" bIns="0" rtlCol="0" anchor="t"/>
          <a:lstStyle/>
          <a:p>
            <a:pPr algn="l" indent="0" marL="0">
              <a:buNone/>
            </a:pPr>
            <a:r>
              <a:rPr lang="en-US" sz="2200" dirty="0">
                <a:solidFill>
                  <a:srgbClr val="1B1B1F"/>
                </a:solidFill>
              </a:rPr>
              <a:t>Spalten in dieser Reihenfolge lesen:</a:t>
            </a:r>
            <a:endParaRPr lang="en-US" sz="2200" dirty="0"/>
          </a:p>
        </p:txBody>
      </p:sp>
      <p:sp>
        <p:nvSpPr>
          <p:cNvPr id="6" name="Geheimtext-Kasten"/>
          <p:cNvSpPr/>
          <p:nvPr/>
        </p:nvSpPr>
        <p:spPr>
          <a:xfrm>
            <a:off x="5205862" y="2355088"/>
            <a:ext cx="6437193" cy="716280"/>
          </a:xfrm>
          <a:prstGeom prst="rect">
            <a:avLst/>
          </a:prstGeom>
          <a:solidFill>
            <a:srgbClr val="F2EADB"/>
          </a:solidFill>
          <a:ln w="9525">
            <a:solidFill>
              <a:srgbClr val="D8CDB8"/>
            </a:solidFill>
            <a:prstDash val="solid"/>
          </a:ln>
        </p:spPr>
      </p:sp>
      <p:sp>
        <p:nvSpPr>
          <p:cNvPr id="7" name="Text 4"/>
          <p:cNvSpPr txBox="1"/>
          <p:nvPr/>
        </p:nvSpPr>
        <p:spPr>
          <a:xfrm>
            <a:off x="5434462" y="2464816"/>
            <a:ext cx="5979993" cy="496824"/>
          </a:xfrm>
          <a:prstGeom prst="rect">
            <a:avLst/>
          </a:prstGeom>
          <a:noFill/>
          <a:ln/>
        </p:spPr>
        <p:txBody>
          <a:bodyPr wrap="square" lIns="0" tIns="0" rIns="0" bIns="0" rtlCol="0" anchor="t"/>
          <a:lstStyle/>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XXADA GFDFV XVDFA G</a:t>
            </a:r>
            <a:endParaRPr lang="en-US" sz="2400" dirty="0"/>
          </a:p>
        </p:txBody>
      </p:sp>
      <p:sp>
        <p:nvSpPr>
          <p:cNvPr id="8" name="Text 5"/>
          <p:cNvSpPr txBox="1"/>
          <p:nvPr/>
        </p:nvSpPr>
        <p:spPr>
          <a:xfrm>
            <a:off x="5205862" y="3199384"/>
            <a:ext cx="6437193" cy="386588"/>
          </a:xfrm>
          <a:prstGeom prst="rect">
            <a:avLst/>
          </a:prstGeom>
          <a:noFill/>
          <a:ln/>
        </p:spPr>
        <p:txBody>
          <a:bodyPr wrap="square" lIns="0" tIns="0" rIns="0" bIns="0" rtlCol="0" anchor="t"/>
          <a:lstStyle/>
          <a:p>
            <a:pPr algn="l" indent="0" marL="0">
              <a:buNone/>
            </a:pPr>
            <a:r>
              <a:rPr lang="en-US" sz="2200" dirty="0">
                <a:solidFill>
                  <a:srgbClr val="1B1B1F"/>
                </a:solidFill>
              </a:rPr>
              <a:t>Entschlüsseln: </a:t>
            </a:r>
            <a:r>
              <a:rPr lang="en-US" sz="2200" b="1" dirty="0">
                <a:solidFill>
                  <a:srgbClr val="1B1B1F"/>
                </a:solidFill>
              </a:rPr>
              <a:t>erst Spalten, dann Quadrat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P4 · Ungleiche Spalten</a:t>
            </a:r>
            <a:endParaRPr lang="en-US" sz="3000" dirty="0"/>
          </a:p>
        </p:txBody>
      </p:sp>
      <p:sp>
        <p:nvSpPr>
          <p:cNvPr id="3" name="Text 1"/>
          <p:cNvSpPr txBox="1"/>
          <p:nvPr/>
        </p:nvSpPr>
        <p:spPr>
          <a:xfrm>
            <a:off x="548640" y="1325880"/>
            <a:ext cx="11094415" cy="432308"/>
          </a:xfrm>
          <a:prstGeom prst="rect">
            <a:avLst/>
          </a:prstGeom>
          <a:noFill/>
          <a:ln/>
        </p:spPr>
        <p:txBody>
          <a:bodyPr wrap="square" lIns="0" tIns="0" rIns="0" bIns="0" rtlCol="0" anchor="t"/>
          <a:lstStyle/>
          <a:p>
            <a:pPr indent="0" marL="0">
              <a:buNone/>
            </a:pPr>
            <a:r>
              <a:rPr lang="en-US" sz="2200" dirty="0">
                <a:solidFill>
                  <a:srgbClr val="1B1B1F"/>
                </a:solidFill>
              </a:rPr>
              <a:t>Bei L = n · z + r sind die </a:t>
            </a:r>
            <a:r>
              <a:rPr lang="en-US" sz="2200" b="1" dirty="0">
                <a:solidFill>
                  <a:srgbClr val="1B1B1F"/>
                </a:solidFill>
              </a:rPr>
              <a:t>ersten r Spalten von links</a:t>
            </a:r>
            <a:r>
              <a:rPr lang="en-US" sz="2200" dirty="0">
                <a:solidFill>
                  <a:srgbClr val="1B1B1F"/>
                </a:solidFill>
              </a:rPr>
              <a:t> eine Zeile länger.</a:t>
            </a:r>
            <a:endParaRPr lang="en-US" sz="2200" dirty="0"/>
          </a:p>
        </p:txBody>
      </p:sp>
      <p:sp>
        <p:nvSpPr>
          <p:cNvPr id="4" name="Shape 2"/>
          <p:cNvSpPr/>
          <p:nvPr/>
        </p:nvSpPr>
        <p:spPr>
          <a:xfrm>
            <a:off x="548640" y="1941068"/>
            <a:ext cx="5364328" cy="1769872"/>
          </a:xfrm>
          <a:prstGeom prst="roundRect">
            <a:avLst>
              <a:gd name="adj" fmla="val 4133"/>
            </a:avLst>
          </a:prstGeom>
          <a:solidFill>
            <a:srgbClr val="FDF3F2"/>
          </a:solidFill>
          <a:ln w="15875">
            <a:solidFill>
              <a:srgbClr val="B3261E"/>
            </a:solidFill>
            <a:prstDash val="solid"/>
          </a:ln>
        </p:spPr>
      </p:sp>
      <p:sp>
        <p:nvSpPr>
          <p:cNvPr id="5" name="Text 3"/>
          <p:cNvSpPr txBox="1"/>
          <p:nvPr/>
        </p:nvSpPr>
        <p:spPr>
          <a:xfrm>
            <a:off x="822960" y="2123948"/>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62686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„Die zuerst gelesene Spalte ist die längere.“</a:t>
            </a:r>
            <a:endParaRPr lang="en-US" sz="2200" dirty="0"/>
          </a:p>
        </p:txBody>
      </p:sp>
      <p:sp>
        <p:nvSpPr>
          <p:cNvPr id="7" name="Shape 5"/>
          <p:cNvSpPr/>
          <p:nvPr/>
        </p:nvSpPr>
        <p:spPr>
          <a:xfrm>
            <a:off x="6278728" y="1941068"/>
            <a:ext cx="5364328" cy="1769872"/>
          </a:xfrm>
          <a:prstGeom prst="roundRect">
            <a:avLst>
              <a:gd name="adj" fmla="val 4133"/>
            </a:avLst>
          </a:prstGeom>
          <a:solidFill>
            <a:srgbClr val="EEF6EE"/>
          </a:solidFill>
          <a:ln w="15875">
            <a:solidFill>
              <a:srgbClr val="2E7D32"/>
            </a:solidFill>
            <a:prstDash val="solid"/>
          </a:ln>
        </p:spPr>
      </p:sp>
      <p:sp>
        <p:nvSpPr>
          <p:cNvPr id="8" name="Text 6"/>
          <p:cNvSpPr txBox="1"/>
          <p:nvPr/>
        </p:nvSpPr>
        <p:spPr>
          <a:xfrm>
            <a:off x="6553048" y="2123948"/>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9" name="Text 7"/>
          <p:cNvSpPr txBox="1"/>
          <p:nvPr/>
        </p:nvSpPr>
        <p:spPr>
          <a:xfrm>
            <a:off x="6553048" y="262686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20 Zeichen, TOR: 20 = 3 · 6 + 2 → </a:t>
            </a:r>
            <a:r>
              <a:rPr lang="en-US" sz="2200" b="1" dirty="0">
                <a:solidFill>
                  <a:srgbClr val="1B1B1F"/>
                </a:solidFill>
              </a:rPr>
              <a:t>T und O</a:t>
            </a:r>
            <a:r>
              <a:rPr lang="en-US" sz="2200" dirty="0">
                <a:solidFill>
                  <a:srgbClr val="1B1B1F"/>
                </a:solidFill>
              </a:rPr>
              <a:t> je 7, R 6</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Welt 3 in vier Sätzen</a:t>
            </a:r>
            <a:endParaRPr lang="en-US" sz="3000" dirty="0"/>
          </a:p>
        </p:txBody>
      </p:sp>
      <p:sp>
        <p:nvSpPr>
          <p:cNvPr id="3" name="Merke-Kasten"/>
          <p:cNvSpPr/>
          <p:nvPr/>
        </p:nvSpPr>
        <p:spPr>
          <a:xfrm>
            <a:off x="1097280" y="1508760"/>
            <a:ext cx="9997135" cy="3605784"/>
          </a:xfrm>
          <a:prstGeom prst="roundRect">
            <a:avLst>
              <a:gd name="adj" fmla="val 2536"/>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  </a:t>
            </a:r>
            <a:r>
              <a:rPr lang="en-US" sz="2200" b="1" dirty="0">
                <a:solidFill>
                  <a:srgbClr val="1B1B1F"/>
                </a:solidFill>
              </a:rPr>
              <a:t>One-Time-Pad:</a:t>
            </a:r>
            <a:r>
              <a:rPr lang="en-US" sz="2200" dirty="0">
                <a:solidFill>
                  <a:srgbClr val="1B1B1F"/>
                </a:solidFill>
              </a:rPr>
              <a:t> perfekt sicher – aber nur einmal!</a:t>
            </a:r>
            <a:endParaRPr lang="en-US" sz="2200" dirty="0"/>
          </a:p>
        </p:txBody>
      </p:sp>
      <p:sp>
        <p:nvSpPr>
          <p:cNvPr id="6" name="Text 4"/>
          <p:cNvSpPr txBox="1"/>
          <p:nvPr/>
        </p:nvSpPr>
        <p:spPr>
          <a:xfrm>
            <a:off x="1508760" y="2754884"/>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  </a:t>
            </a:r>
            <a:r>
              <a:rPr lang="en-US" sz="2200" b="1" dirty="0">
                <a:solidFill>
                  <a:srgbClr val="1B1B1F"/>
                </a:solidFill>
              </a:rPr>
              <a:t>Blockchiffre:</a:t>
            </a:r>
            <a:r>
              <a:rPr lang="en-US" sz="2200" dirty="0">
                <a:solidFill>
                  <a:srgbClr val="1B1B1F"/>
                </a:solidFill>
              </a:rPr>
              <a:t> Runden aus XOR, S-Box, Transposition → Konfusion und Diffusion; CBC statt ECB</a:t>
            </a:r>
            <a:endParaRPr lang="en-US" sz="2200" dirty="0"/>
          </a:p>
        </p:txBody>
      </p:sp>
      <p:sp>
        <p:nvSpPr>
          <p:cNvPr id="7" name="Text 5"/>
          <p:cNvSpPr txBox="1"/>
          <p:nvPr/>
        </p:nvSpPr>
        <p:spPr>
          <a:xfrm>
            <a:off x="1508760" y="3610356"/>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  </a:t>
            </a:r>
            <a:r>
              <a:rPr lang="en-US" sz="2200" b="1" dirty="0">
                <a:solidFill>
                  <a:srgbClr val="1B1B1F"/>
                </a:solidFill>
              </a:rPr>
              <a:t>Eigenes Verfahren:</a:t>
            </a:r>
            <a:r>
              <a:rPr lang="en-US" sz="2200" dirty="0">
                <a:solidFill>
                  <a:srgbClr val="1B1B1F"/>
                </a:solidFill>
              </a:rPr>
              <a:t> Stufen rückwärts, Kriterien, Urteil</a:t>
            </a:r>
            <a:endParaRPr lang="en-US" sz="2200" dirty="0"/>
          </a:p>
        </p:txBody>
      </p:sp>
      <p:sp>
        <p:nvSpPr>
          <p:cNvPr id="8" name="Text 6"/>
          <p:cNvSpPr txBox="1"/>
          <p:nvPr/>
        </p:nvSpPr>
        <p:spPr>
          <a:xfrm>
            <a:off x="1508760" y="4124960"/>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  Kür: die Enigma</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Kür: die Enigma im Kryptolabor</a:t>
            </a:r>
            <a:endParaRPr lang="en-US" sz="3000" dirty="0"/>
          </a:p>
        </p:txBody>
      </p:sp>
      <p:sp>
        <p:nvSpPr>
          <p:cNvPr id="3" name="Text 1"/>
          <p:cNvSpPr txBox="1"/>
          <p:nvPr/>
        </p:nvSpPr>
        <p:spPr>
          <a:xfrm>
            <a:off x="548640" y="1325880"/>
            <a:ext cx="11094415" cy="293624"/>
          </a:xfrm>
          <a:prstGeom prst="rect">
            <a:avLst/>
          </a:prstGeom>
          <a:noFill/>
          <a:ln/>
        </p:spPr>
        <p:txBody>
          <a:bodyPr wrap="square" lIns="0" tIns="0" rIns="0" bIns="0" rtlCol="0" anchor="t"/>
          <a:lstStyle/>
          <a:p>
            <a:pPr algn="l" indent="0" marL="0">
              <a:buNone/>
            </a:pPr>
            <a:r>
              <a:rPr lang="en-US" sz="1600" dirty="0">
                <a:solidFill>
                  <a:srgbClr val="1B1B1F"/>
                </a:solidFill>
              </a:rPr>
              <a:t>Tagesschlüssel einstellen, Tasten drücken, Lampen ablesen: Vor jedem Buchstaben dreht sich die rechte Walze.</a:t>
            </a:r>
            <a:endParaRPr lang="en-US" sz="1600" dirty="0"/>
          </a:p>
        </p:txBody>
      </p:sp>
      <p:pic>
        <p:nvPicPr>
          <p:cNvPr id="4" name="Image 0" descr="bild">    </p:cNvPr>
          <p:cNvPicPr>
            <a:picLocks noChangeAspect="1"/>
          </p:cNvPicPr>
          <p:nvPr/>
        </p:nvPicPr>
        <p:blipFill>
          <a:blip r:embed="rId1"/>
          <a:stretch>
            <a:fillRect/>
          </a:stretch>
        </p:blipFill>
        <p:spPr>
          <a:xfrm>
            <a:off x="4422353" y="1747520"/>
            <a:ext cx="3346990" cy="3886200"/>
          </a:xfrm>
          <a:prstGeom prst="rect">
            <a:avLst/>
          </a:prstGeom>
        </p:spPr>
      </p:pic>
      <p:sp>
        <p:nvSpPr>
          <p:cNvPr id="5" name="Text 2"/>
          <p:cNvSpPr txBox="1"/>
          <p:nvPr/>
        </p:nvSpPr>
        <p:spPr>
          <a:xfrm>
            <a:off x="548640" y="5670296"/>
            <a:ext cx="11094415" cy="274320"/>
          </a:xfrm>
          <a:prstGeom prst="rect">
            <a:avLst/>
          </a:prstGeom>
          <a:noFill/>
          <a:ln/>
        </p:spPr>
        <p:txBody>
          <a:bodyPr wrap="square" lIns="0" tIns="0" rIns="0" bIns="0" rtlCol="0" anchor="ctr"/>
          <a:lstStyle/>
          <a:p>
            <a:pPr algn="ctr" indent="0" marL="0">
              <a:buNone/>
            </a:pPr>
            <a:r>
              <a:rPr lang="en-US" sz="1200" i="1" dirty="0">
                <a:solidFill>
                  <a:srgbClr val="4A4A55"/>
                </a:solidFill>
              </a:rPr>
              <a:t>Kryptolabor · Ideen von A. Bodendiek (Krypto-Werkstatt)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Kür: der Stromweg</a:t>
            </a:r>
            <a:endParaRPr lang="en-US" sz="3000" dirty="0"/>
          </a:p>
        </p:txBody>
      </p:sp>
      <p:sp>
        <p:nvSpPr>
          <p:cNvPr id="3" name="Text 1"/>
          <p:cNvSpPr txBox="1"/>
          <p:nvPr/>
        </p:nvSpPr>
        <p:spPr>
          <a:xfrm>
            <a:off x="548640" y="1325880"/>
            <a:ext cx="11094415" cy="293624"/>
          </a:xfrm>
          <a:prstGeom prst="rect">
            <a:avLst/>
          </a:prstGeom>
          <a:noFill/>
          <a:ln/>
        </p:spPr>
        <p:txBody>
          <a:bodyPr wrap="square" lIns="0" tIns="0" rIns="0" bIns="0" rtlCol="0" anchor="t"/>
          <a:lstStyle/>
          <a:p>
            <a:pPr algn="l" indent="0" marL="0">
              <a:buNone/>
            </a:pPr>
            <a:r>
              <a:rPr lang="en-US" sz="1600" dirty="0">
                <a:solidFill>
                  <a:srgbClr val="1B1B1F"/>
                </a:solidFill>
              </a:rPr>
              <a:t>Hinweg durchgezogen, Rückweg gestrichelt – die Umkehrwalze schickt den Strom </a:t>
            </a:r>
            <a:r>
              <a:rPr lang="en-US" sz="1600" b="1" dirty="0">
                <a:solidFill>
                  <a:srgbClr val="1B1B1F"/>
                </a:solidFill>
              </a:rPr>
              <a:t>auf einem anderen Draht</a:t>
            </a:r>
            <a:r>
              <a:rPr lang="en-US" sz="1600" dirty="0">
                <a:solidFill>
                  <a:srgbClr val="1B1B1F"/>
                </a:solidFill>
              </a:rPr>
              <a:t> zurück.</a:t>
            </a:r>
            <a:endParaRPr lang="en-US" sz="1600" dirty="0"/>
          </a:p>
        </p:txBody>
      </p:sp>
      <p:pic>
        <p:nvPicPr>
          <p:cNvPr id="4" name="Image 0" descr="bild">    </p:cNvPr>
          <p:cNvPicPr>
            <a:picLocks noChangeAspect="1"/>
          </p:cNvPicPr>
          <p:nvPr/>
        </p:nvPicPr>
        <p:blipFill>
          <a:blip r:embed="rId1"/>
          <a:stretch>
            <a:fillRect/>
          </a:stretch>
        </p:blipFill>
        <p:spPr>
          <a:xfrm>
            <a:off x="3408760" y="1747520"/>
            <a:ext cx="5374175" cy="3886200"/>
          </a:xfrm>
          <a:prstGeom prst="rect">
            <a:avLst/>
          </a:prstGeom>
        </p:spPr>
      </p:pic>
      <p:sp>
        <p:nvSpPr>
          <p:cNvPr id="5" name="Text 2"/>
          <p:cNvSpPr txBox="1"/>
          <p:nvPr/>
        </p:nvSpPr>
        <p:spPr>
          <a:xfrm>
            <a:off x="548640" y="5670296"/>
            <a:ext cx="11094415" cy="274320"/>
          </a:xfrm>
          <a:prstGeom prst="rect">
            <a:avLst/>
          </a:prstGeom>
          <a:noFill/>
          <a:ln/>
        </p:spPr>
        <p:txBody>
          <a:bodyPr wrap="square" lIns="0" tIns="0" rIns="0" bIns="0" rtlCol="0" anchor="ctr"/>
          <a:lstStyle/>
          <a:p>
            <a:pPr algn="ctr" indent="0" marL="0">
              <a:buNone/>
            </a:pPr>
            <a:r>
              <a:rPr lang="en-US" sz="1200" i="1" dirty="0">
                <a:solidFill>
                  <a:srgbClr val="4A4A55"/>
                </a:solidFill>
              </a:rPr>
              <a:t>Kryptolabor · Ideen von A. Bodendiek (Krypto-Werkstatt)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Kryptos Maschinen">
  <a:themeElements>
    <a:clrScheme name="Kryptos Maschinen">
      <a:dk1>
        <a:srgbClr val="1B1B1F"/>
      </a:dk1>
      <a:lt1>
        <a:srgbClr val="FFFFFF"/>
      </a:lt1>
      <a:dk2>
        <a:srgbClr val="14213D"/>
      </a:dk2>
      <a:lt2>
        <a:srgbClr val="FBF7EE"/>
      </a:lt2>
      <a:accent1>
        <a:srgbClr val="556B2F"/>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Maschinen">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Das Maschinenzeitalter</dc:title>
  <dc:subject>Kryptos – Die Zeitreise der Geheimschriften</dc:subject>
  <dc:creator>Frank Juchim</dc:creator>
  <cp:lastModifiedBy>Frank Juchim</cp:lastModifiedBy>
  <cp:revision>1</cp:revision>
  <dcterms:created xsi:type="dcterms:W3CDTF">2026-10-15T16:44:33Z</dcterms:created>
  <dcterms:modified xsi:type="dcterms:W3CDTF">2026-10-15T16:44:33Z</dcterms:modified>
</cp:coreProperties>
</file>