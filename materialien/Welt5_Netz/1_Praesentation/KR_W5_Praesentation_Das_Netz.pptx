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ingerabdrücke" id="{93577f10-1180-1348-ec65-58f337f9e192}">
          <p14:sldIdLst>
            <p14:sldId id="257"/>
            <p14:sldId id="258"/>
            <p14:sldId id="259"/>
            <p14:sldId id="260"/>
            <p14:sldId id="261"/>
            <p14:sldId id="262"/>
            <p14:sldId id="263"/>
            <p14:sldId id="264"/>
            <p14:sldId id="265"/>
            <p14:sldId id="266"/>
            <p14:sldId id="267"/>
          </p14:sldIdLst>
        </p14:section>
        <p14:section name="Das Siegel" id="{c2a181c1-9c3b-06e1-9c25-703f0686a79a}">
          <p14:sldIdLst>
            <p14:sldId id="268"/>
            <p14:sldId id="269"/>
            <p14:sldId id="270"/>
            <p14:sldId id="271"/>
            <p14:sldId id="272"/>
            <p14:sldId id="273"/>
            <p14:sldId id="274"/>
            <p14:sldId id="275"/>
            <p14:sldId id="276"/>
          </p14:sldIdLst>
        </p14:section>
        <p14:section name="Mallory im Netz" id="{586fc49f-197b-362f-ecf6-c7cee43f71b5}">
          <p14:sldIdLst>
            <p14:sldId id="277"/>
            <p14:sldId id="278"/>
            <p14:sldId id="279"/>
            <p14:sldId id="280"/>
            <p14:sldId id="281"/>
            <p14:sldId id="282"/>
            <p14:sldId id="283"/>
            <p14:sldId id="284"/>
            <p14:sldId id="285"/>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Begrüßung in der Gegenwart: Das Chronoskop ist im Netz gelandet. Neue Figur ankündigen: MALLORY, die aktive Angreiferin – Eve hört nur zu, Mallory fälscht, ändert, schiebt unter. Überblick über drei Doppelstunden: DS 14 Fingerabdrücke (Hash), DS 15 das Siegel (Signatur), DS 16 Mallory im Netz (Zertifikat, TLS, Datenschutz). Artefakt dieser Welt: das Siegel.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 (Archivfund). Partnerarbeit, 3 min vergleichen lassen, dann Plenum. Erwartete Befunde: (1) Die Hashwerte stimmen nur in den ersten zwei Zeichen überein → die Datei ist verändert (winzige Änderung, völlig anderer Fingerabdruck = Lawineneffekt). (2) Der Domainname ist ein anderer (Buchstabendreher in der Reihenfolge der Wörter). (3) Auch die gefälschte Seite hat ein Schloss-Symbol – ein Zertifikat bestätigt nur, WEM der Schlüssel gehört, nicht, dass die Seite vertrauenswürdig ist (Falle P9). Impuls: „Was ist ein Fingerabdruck einer Datei? Was müsste er können?“ → Anforderungsliste an der Tafel sammeln (Folie 4). Leitfrage der Welt festhalten: „Was, wenn Mallory auch den Fingerabdruck auf der Seite fälscht?“ → Signatur (DS 15) und Zertifikat (DS 16). Prüfwerte: SHA-256 der Zeichenkette „chronoskop-update-v7.zip“ ohne bzw. mit angehängtem Leerzeichen (Stellvertreter für den Dateiinhalt).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DS 10 min am Stundenanfang (§1 der Spezifikation). Karten als Papier: KR_W5_Warmup.docx (Lösungen auf der Rückseite in KR_W5_Warmup_LSG). Spiralförmig: W2 (Vigenère) und W4 (Hybrid, Schlüsselanzahl n(n − 1)/2 bzw. 2n). WU-W5-01: KH(„ja“) = 2 – die Rundenformel wird erst auf Folie 7 erklärt; in DS 14 deshalb die Karte nach Folie 7 lösen oder die Formel kurz vorgeben.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Die Tafelliste aus dem Archivfund ordnen und den Fachbegriffen zuordnen (typische Schülerformulierungen: „immer gleich lang“, „man kann nicht zurückrechnen“, „zwei Dateien sollen nicht denselben haben“, „kleine Änderung, großer Unterschied“). Hinweis: Kollisionsresistenz heißt NICHT „es gibt keine Kollisionen“ (kommt auf Folie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Live im Hash-Labor (Ansicht „Lawinen-Vergleich“) eintippen lassen: Das 256-Bit-Raster zeigt die verschiedenen Bits farbig. Erwartung ≈ 128 (die Hälfte) – hier 134. Bezug W3: Diffusion im Runden-Labor (eine kleine Änderung breitet sich über alle Runden aus). Schüler dürfen eigene Wortpaare testen (z. B. Namen mit Groß-/Kleinschreibung).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„Gebrochen“ heißt: Es wurden praktische Kollisionen veröffentlicht (MD5 ab 2004, SHA-1 im Jahr 2017). Für Passwörter: absichtlich langsame Verfahren mit Salz (Argon2, bcrypt, scrypt – nur nennen, Folie 11). Abitur: „Begründen Sie, dass sich eine Hashfunktion nicht zur Verschlüsselung eignet“ (vgl. 2024 NT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Gemeinsam rechnen, Runde für Runde: n: 3 · 0 + 14 = 14; e: 3 · 14 + 5 = 47 → 18; b: 54 + 2 = 56 → 27; e: 81 + 5 = 86 → 28; l: 84 + 12 = 96 → 9. Rechentipp: 3 · h + w ist höchstens 110, also 29, 58 oder 87 abziehen – nach JEDER Runde reduzieren (P2). Normalisierung: nur a–z, Umlaute ersetzen, Ziffern entfallen (P4) → Zahlen in Aufgaben immer als Wort. Struktogramm: a = 1 über ASCII-Wert − 96 (Kleinbuchstaben). Danach Akte W5·1 Auftrag 1–2 (anker/tor: Kollision! kiste/kistf: kein Lawineneffekt). Der KRYPTOS-Hash ist ein Spielzeug-Hash – kein Abitur-Verfahren.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min. Hash-Labor „Kollisionssuche (Schubfach)“ am Beamer: Der Kurs ruft Wörter zu, jedes landet in seinem Fach 0 … 28; meist kracht es schon nach wenigen Wörtern (Geburtstagseffekt: bei 7 zufälligen Wörtern schon über 50 %). Spätestens beim 30. Wort ist eine Kollision sicher. Bei SHA-256 gibt es 2^256 Fächer – Kollisionen existieren, man findet sie aber nicht (≈ 2^128 Versuche).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Akte W5·1 Auftrag 3–4. Herleitung (eA): vorletzte Runde h1 = 3h + v, letzte Runde h2 = 3h1 + l = 9h + 3v + l. Mit v + 1 und l − 3 bleibt die Summe gleich (solange v + 1 ≤ 26 und l − 3 ≥ 1). Einwegeigenschaft verletzt: Zu jedem Ziel z und Anfang mit Zustand h wählt man den letzten Buchstaben w = (z − 3h) mod 29 – Beispiel „ab“ (h = 5), Ziel 20 → „abe“. Kollisionsbaukasten im Hash-Labor für Schnelle.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min. Akte W5·1 Auftrag 5. Fachwort permutationsinvariant: Die Summe hängt nicht von der Reihenfolge ab. Gewichtung nach Position (1, 2, 3, …) bzw. beim KRYPTOS-Hash mit Faktoren 3^j macht die Reihenfolge sichtbar. Wichtig: Prüfsummen schützen gegen ZUFÄLLIGE Fehler (Übertragung, Tippfehler), kryptografische Hashes gegen ANGREIFER (P5). Abitur-Bezug: Summe vs. Stellenwert (2025 NT 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Akte W5·1 Auftrag 5–6. Ohne Salz: KH(„sonne“) = KH(„geheim“) = 0 → ein Angreifer kommt mit einem FALSCHEN Passwort hinein (Kollision) – echte Passwort-Hashes sind deshalb lang (256 Bit). Das Salz ist nicht geheim, macht aber vorab berechnete Tabellen („Rainbow Tables“) wertlos, und gleiche Passwörter sind nicht erkennbar. DSGVO-Bezug für DS 16 vorbereiten: Grundsatz „Integrität und Vertraulichkeit“. Abitur: Passwort-Hashing beschreiben (2024 NT 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Sicherung, Abi-Check a) der Akte W5·1 gemeinsam. Hausaufgabe: Lab Level 5.1 und Abi-Check b)–d).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DS 15. Artefakt dieser Welt: das Siegel. Warm-up: WU-W5-02, -04, -11 (Folie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 Einstieg. Impuls: „Mallory ändert die Datei – und berechnet einfach den neuen Hashwert mit. Was nun?“ Erwartet: „Nur Alice darf den Fingerabdruck erzeugen können“ / „Den Hashwert müsste man verschlüsseln.“ → Das Schlüsselpaar aus W4 in umgekehrter Rolle: Nur Alice besitzt den privaten Schlüssel, jeder kann mit dem öffentlichen prüfen. Bild: das Siegel einer Kanzlei – nur sie hat den Siegelring.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Schaubild mit nummerierten Pfeilen an der Tafel entwickeln – genau wie im Abitur. Immer Schlüsselart UND Inhaber nennen („privater Schlüssel von Alice“, nicht nur „privater Schlüssel“). Warum der Hashwert und nicht die ganze Nachricht? Kurz, feste Länge, schnell zu verschlüsseln. Die Nachricht selbst bleibt lesbar!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 Signatur-Simulator: Alice signiert, Bob prüft – dann ändert Mallory ein Zeichen → H1 ≠ H2 → ungültig. Weitere Knöpfe: Signatur ändern, neuen Hashwert statt Signatur senden, mit Mallorys privatem Schlüssel signieren → jeweils ungültig. Akte W5·2 Auftrag 1–2 in Partnerarbeit (Replay in Auftrag 2d: bleibt gültig → Zeitstempel/Nummer mitsignieren). Falle P9: der Vergleich in ⑥ wird oft vergessen.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 Akte W5·2 Auftrag 4 (Tabelle ✓/✗ für „nur verschlüsseln“, „nur signieren“, „beides“). Merkhilfen: „integer“ = unversehrt, „authentisch“ = echt. Verbindlichkeit ist Ergänzung (KC nennt drei Schutzziele). Falle P10: Schutzziele nicht nur aufzählen, sondern am Szenario erläutern.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mit Akte W5·2 Auftrag 5 (Lückenschaubild (1)–(4) zuerst ohne Archivwissen). Alice: signieren mit privatem Schlüssel von Alice, dann hybrid verschlüsseln (Sitzungsschlüssel mit öffentlichem Schlüssel von Bob). Bob: entschlüsseln mit privatem Schlüssel von Bob, prüfen mit öffentlichem Schlüssel von Alice. Erst signieren, dann verschlüsseln: Die Signatur bezieht sich auf den Klartext und ist für Mallory unsichtbar. Merksatz: Vertraulichkeit → Schlüssel des Empfängers · Signatur → Schlüssel der Absenderin. Abitur: V + I + A gleichzeitig (2024 NT 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Signatur-Simulator, Modus „schwacher Hash“, Knopf „Kollision einsetzen“. Ergänzung mit RSA-Zahlen (nur wenn W4.2 RSA gerechnet wurde): Alice (55, 3)/(55, 27), s = 18^27 mod 55 = 17, Bob prüft 17^3 mod 55 = 18 = KH beider Nachrichten → gültig. Akte W5·2 Auftrag 3 (treffen um fuenf/zehn uhr, KH 8, s = 2). Folge für die Praxis: Signaturen nur mit kollisionsresistenten Hashes (SHA-256), MD5 und SHA-1 sind für Signaturen nicht mehr zulässig. Zahlen in Nachrichten immer als Wort – Ziffern entfallen beim Normalisieren.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Häufigster Punktverlust bei Schaubildern im Abitur: Schlüssel ohne Inhaber, Bobs statt Alices Schlüssel, fehlender Vergleich. Gegenmittel: Schaubilder immer mit Schlüsselart + Inhaber beschriften lassen.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Hausaufgabe: Lab Level 5.2 und Abi-Check der Akte W5·2.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DS 16. Warm-up: WU-W5-05, -07, -08 (Folie 3). Danach direkt in den Funkraum.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 Ablauf und Rollenkarten in KR_W5_Funkraum_Mallory_im_Netz.docx (Werkzeuge/Funkraum). Phase 1 (9 min): Bob-Teams veröffentlichen Schlüsselnummern – das Verzeichnis liefert Mallorys Station aus; Mallory ersetzt Schlüssel, öffnet, ändert (z. B. TOR 3 → TOR 8), verschließt neu mit Bobs echtem Schlüssel. Auflösung: Original vs. empfangen. Phase 2 (9 min): Trent stellt Zertifikate aus (ZERTIFIKAT TEAM SCHEIBE S23 GUELTIG HEUTE), Alice nutzt nur grün geprüfte Schlüssel – Mallory fällt auf. Papier-Variante mit Umschlägen, Schloss-Aufklebern und Stempel. Keine Punkte, Abzeichen „Funkraum-Veteran“.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min Auswertung des Funkraums. Fragen: Was hat Mallory in Phase 1 gebrochen? (kein Verfahren – die Zuordnung Schlüssel ↔ Person) · Welche Schutzziele waren verletzt? · Was leistet Trent, was nicht? (bestätigt die Zuordnung; garantiert nicht, dass Bob ehrlich ist) · Was wäre, wenn Mallory Trents Siegel stehlen oder einen eigenen „Trent“ installieren könnte? (Vertrauensanker = Achillesferse). Bezug W4: Auch Diffie-Hellman ohne Prüfung ist so angreifbar (Akte W5·3 Auftrag 7, eA). Akte W5·3 Auftrag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Das Funkraum-Erlebnis als Schaubild mit nummerierten Pfeilen: Antrag ①, Identitätsprüfung und Signatur der CA ②, Ausgabe ③, Vorlage beim Verbindungsaufbau ④, Prüfung bei Alice ⑤, dann erst verschlüsseln ⑥. Eine Signatur wird immer mit dem öffentlichen Schlüssel dessen geprüft, der sie erstellt hat. Lückenfassung: Akte W5·3, Archivwissen 2 / Auftrag 3a. Abitur: Zertifikate gegen gefälschte öffentliche Schlüssel (2022 E c, gA 2023 E b, gA 2025 NT 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Live ein echtes Zertifikat im Browser anzeigen (Schloss → Verbindung sicher → Zertifikat) und die Felder suchen lassen: Inhaber (Common Name/Subject Alternative Name), Aussteller, Gültigkeit, öffentlicher Schlüssel, Signaturalgorithmus (z. B. sha256WithRSAEncryption – Hash + Signatur!). Private Schlüssel stehen NIE im Zertifikat. Akte W5·3 Auftrag 2 (drei Zertifikate Z1–Z3).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Prüfung von rechts nach links: Serverzertifikat mit dem öffentlichen Schlüssel der Chronopolis CA, Zwischenzertifikat mit dem öffentlichen Schlüssel der Trent Root CA; die Wurzel ist als Vertrauensanker vorinstalliert – irgendwem muss man ohne Prüfung vertrauen. Archivfund aufgreifen: Auch chronoskop-archiv.example hatte ein Schloss (P9). Selbst signiertes Zertifikat → Browser warnt. Gestohlener privater Schlüssel → nur Widerruf hilft. Akte W5·3 Auftrag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Akte W5·3 Auftrag 4 (Kärtchen ordnen). Warum Zertifikat VOR der Schlüsselvereinbarung? Sonst vereinbart der Browser womöglich einen Schlüssel mit Mallory. Heute (TLS 1.3): Diffie-Hellman, der Server signiert seinen Teil mit dem Schlüssel aus dem Zertifikat; technisch laufen Zertifikatsversand und Schlüsselvereinbarung fast gleichzeitig – im Schulmodell genügt diese Reihenfolge. Schloss-Symbol = verschlüsselt mit dem Inhaber des Zertifikats, nicht „diese Seite ist harmlos“.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Fallkarten aus Akte W5·3 Auftrag 5 (Messenger „Funkspruch“). Informationelle Selbstbestimmung: Volkszählungsurteil des Bundesverfassungsgerichts 1983 – jede und jeder bestimmt grundsätzlich selbst über Preisgabe und Verwendung der eigenen Daten. Betroffenenrechte: Auskunft, Berichtigung, Löschung, Widerspruch. Brücke zur Kryptologie: Verschlüsselung und gesalzene Passwort-Hashes sind technische Maßnahmen für „Integrität und Vertraulichkeit“. Abitur: DSGVO-Grundsätze nennen (2024 NT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Erörterung als Hausaufgabe (Akte W5·3 Auftrag 6). Neutral moderieren, beide Seiten gleich gewichten, keine eigene Position vorgeben – bewertet wird die Qualität der Argumentation (P10), jede begründete Position ist zulässig. Sachverhalt: Die EU diskutiert seit 2022 eine Verordnung zur Bekämpfung von Darstellungen sexuellen Kindesmissbrauchs, die Anbieter zum Durchsuchen von Nachrichten verpflichten könnte – auch vor der Ende-zu-Ende-Verschlüsselung auf dem Gerät („Client-Side-Scanning“, umgangssprachlich „Chatkontrolle“). Fachlich: Das Verfahren wird nicht gebrochen, die Prüfung setzt vor der Verschlüsselung an. Historischer Bezug: „Crypto Wars“ der 1990er-Jahre. AKTUELLEN STAND DER EU-GESETZGEBUNG VOR DER STUNDE PRÜFEN und die Folie ggf. anpassen.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 Boss online: 15 Aufgaben im Pool (5 × ★, 6 × ★★, 4 × ★★★), fremde Verfahren Produkt-Hash, Tausch-Siegel, Kurz-Signatur. gA ohne W5-B-15. Papier-Boss „Der Messenger“ (KR_W5_Boss5_Messenger, 24 BE, 60 min) als Hausaufgabe oder Übungsklausur, Erwartungshorizont in 5_Loesungen.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R Titel">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331720"/>
            <a:ext cx="7498080" cy="1554480"/>
          </a:xfrm>
          <a:prstGeom prst="rect">
            <a:avLst/>
          </a:prstGeom>
          <a:noFill/>
          <a:ln/>
        </p:spPr>
        <p:txBody>
          <a:bodyPr wrap="square" rtlCol="0"/>
          <a:lstStyle>
            <a:lvl1pPr algn="l" indent="0" marL="0">
              <a:buNone/>
              <a:defRPr lang="en-US" sz="4600" b="1" dirty="0">
                <a:solidFill>
                  <a:srgbClr val="FBF7EE"/>
                </a:solidFill>
                <a:latin typeface="Georgia" pitchFamily="34" charset="0"/>
                <a:ea typeface="Georgia" pitchFamily="34" charset="-122"/>
                <a:cs typeface="Georgia" pitchFamily="34" charset="-120"/>
              </a:defRPr>
            </a:lvl1pPr>
          </a:lstStyle>
          <a:p>
            <a:pPr algn="l" indent="0" marL="0">
              <a:buNone/>
            </a:pPr>
            <a:endParaRPr lang="en-US" sz="4600" dirty="0"/>
          </a:p>
        </p:txBody>
      </p:sp>
      <p:sp>
        <p:nvSpPr>
          <p:cNvPr id="3" name="Text 0"/>
          <p:cNvSpPr/>
          <p:nvPr>
            <p:ph idx="101" type="body" hasCustomPrompt="1"/>
          </p:nvPr>
        </p:nvSpPr>
        <p:spPr>
          <a:xfrm>
            <a:off x="548640" y="3931920"/>
            <a:ext cx="7315200" cy="914400"/>
          </a:xfrm>
          <a:prstGeom prst="rect">
            <a:avLst/>
          </a:prstGeom>
          <a:noFill/>
          <a:ln/>
        </p:spPr>
        <p:txBody>
          <a:bodyPr wrap="square" rtlCol="0"/>
          <a:lstStyle>
            <a:lvl1pPr algn="l" indent="0" marL="0">
              <a:buNone/>
              <a:defRPr lang="en-US" sz="2200" dirty="0">
                <a:solidFill>
                  <a:srgbClr val="D9A441"/>
                </a:solidFill>
                <a:latin typeface="Calibri" pitchFamily="34" charset="0"/>
                <a:ea typeface="Calibri" pitchFamily="34" charset="-122"/>
                <a:cs typeface="Calibri" pitchFamily="34" charset="-120"/>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R Abschnitt">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645920" y="2651760"/>
            <a:ext cx="9601200" cy="1097280"/>
          </a:xfrm>
          <a:prstGeom prst="rect">
            <a:avLst/>
          </a:prstGeom>
          <a:noFill/>
          <a:ln/>
        </p:spPr>
        <p:txBody>
          <a:bodyPr wrap="square" rtlCol="0"/>
          <a:lstStyle>
            <a:lvl1pPr algn="l" indent="0" marL="0">
              <a:buNone/>
              <a:defRPr lang="en-US" sz="4000" b="1" dirty="0">
                <a:solidFill>
                  <a:srgbClr val="FBF7EE"/>
                </a:solidFill>
                <a:latin typeface="Georgia" pitchFamily="34" charset="0"/>
                <a:ea typeface="Georgia" pitchFamily="34" charset="-122"/>
                <a:cs typeface="Georgia" pitchFamily="34" charset="-120"/>
              </a:defRPr>
            </a:lvl1pPr>
          </a:lstStyle>
          <a:p>
            <a:pPr algn="l" indent="0" marL="0">
              <a:buNone/>
            </a:pPr>
            <a:endParaRPr lang="en-US" sz="4000" dirty="0"/>
          </a:p>
        </p:txBody>
      </p:sp>
      <p:pic>
        <p:nvPicPr>
          <p:cNvPr id="3" name="Image 0" descr="/tmp/kr_bildcache/siegel5_be3719ffa4802d1d.png">    </p:cNvPr>
          <p:cNvPicPr>
            <a:picLocks noChangeAspect="1"/>
          </p:cNvPicPr>
          <p:nvPr/>
        </p:nvPicPr>
        <p:blipFill>
          <a:blip r:embed="rId1"/>
          <a:stretch>
            <a:fillRect/>
          </a:stretch>
        </p:blipFill>
        <p:spPr>
          <a:xfrm>
            <a:off x="548640" y="2788920"/>
            <a:ext cx="868680" cy="868680"/>
          </a:xfrm>
          <a:prstGeom prst="rect">
            <a:avLst/>
          </a:prstGeom>
        </p:spPr>
      </p:pic>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D9A441"/>
                </a:solidFill>
                <a:latin typeface="Calibri" pitchFamily="34" charset="0"/>
                <a:ea typeface="Calibri" pitchFamily="34" charset="-122"/>
                <a:cs typeface="Calibri" pitchFamily="34" charset="-120"/>
              </a:rPr>
              <a:t>Kryptos · Welt 5 · Das Netz</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R Inhalt">
    <p:bg>
      <p:bgPr>
        <a:solidFill>
          <a:srgbClr val="FBF7EE"/>
        </a:solidFill>
      </p:bgPr>
    </p:bg>
    <p:spTree>
      <p:nvGrpSpPr>
        <p:cNvPr id="1" name=""/>
        <p:cNvGrpSpPr/>
        <p:nvPr/>
      </p:nvGrpSpPr>
      <p:grpSpPr>
        <a:xfrm>
          <a:off x="0" y="0"/>
          <a:ext cx="0" cy="0"/>
          <a:chOff x="0" y="0"/>
          <a:chExt cx="0" cy="0"/>
        </a:xfrm>
      </p:grpSpPr>
      <p:pic>
        <p:nvPicPr>
          <p:cNvPr id="2" name="Image 0" descr="/tmp/kr_bildcache/siegel5_be3719ffa4802d1d.png">    </p:cNvPr>
          <p:cNvPicPr>
            <a:picLocks noChangeAspect="1"/>
          </p:cNvPicPr>
          <p:nvPr/>
        </p:nvPicPr>
        <p:blipFill>
          <a:blip r:embed="rId1"/>
          <a:stretch>
            <a:fillRect/>
          </a:stretch>
        </p:blipFill>
        <p:spPr>
          <a:xfrm>
            <a:off x="548640" y="384048"/>
            <a:ext cx="566928" cy="566928"/>
          </a:xfrm>
          <a:prstGeom prst="rect">
            <a:avLst/>
          </a:prstGeom>
        </p:spPr>
      </p:pic>
      <p:sp>
        <p:nvSpPr>
          <p:cNvPr id="3" name="Text 0"/>
          <p:cNvSpPr/>
          <p:nvPr>
            <p:ph idx="101" type="title" hasCustomPrompt="1"/>
          </p:nvPr>
        </p:nvSpPr>
        <p:spPr>
          <a:xfrm>
            <a:off x="1325880" y="347472"/>
            <a:ext cx="10317175" cy="658368"/>
          </a:xfrm>
          <a:prstGeom prst="rect">
            <a:avLst/>
          </a:prstGeom>
          <a:noFill/>
          <a:ln/>
        </p:spPr>
        <p:txBody>
          <a:bodyPr wrap="square" rtlCol="0"/>
          <a:lstStyle>
            <a:lvl1pPr algn="l" indent="0" marL="0">
              <a:buNone/>
              <a:defRPr lang="en-US" sz="3000" b="1" dirty="0">
                <a:solidFill>
                  <a:srgbClr val="14213D"/>
                </a:solidFill>
                <a:latin typeface="Georgia" pitchFamily="34" charset="0"/>
                <a:ea typeface="Georgia" pitchFamily="34" charset="-122"/>
                <a:cs typeface="Georgia" pitchFamily="34" charset="-120"/>
              </a:defRPr>
            </a:lvl1pPr>
          </a:lstStyle>
          <a:p>
            <a:pPr algn="l" indent="0" marL="0">
              <a:buNone/>
            </a:pPr>
            <a:endParaRPr lang="en-US" sz="3000" dirty="0"/>
          </a:p>
        </p:txBody>
      </p:sp>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4A4A55"/>
                </a:solidFill>
                <a:latin typeface="Calibri" pitchFamily="34" charset="0"/>
                <a:ea typeface="Calibri" pitchFamily="34" charset="-122"/>
                <a:cs typeface="Calibri" pitchFamily="34" charset="-120"/>
              </a:rPr>
              <a:t>Kryptos · Welt 5 · Das Netz</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R Dunkel">
    <p:bg>
      <p:bgPr>
        <a:solidFill>
          <a:srgbClr val="0B1426"/>
        </a:solidFill>
      </p:bgPr>
    </p:bg>
    <p:spTree>
      <p:nvGrpSpPr>
        <p:cNvPr id="1" name=""/>
        <p:cNvGrpSpPr/>
        <p:nvPr/>
      </p:nvGrpSpPr>
      <p:grpSpPr>
        <a:xfrm>
          <a:off x="0" y="0"/>
          <a:ext cx="0" cy="0"/>
          <a:chOff x="0" y="0"/>
          <a:chExt cx="0" cy="0"/>
        </a:xfrm>
      </p:grpSpPr>
      <p:pic>
        <p:nvPicPr>
          <p:cNvPr id="2" name="Image 0" descr="/tmp/kr_bildcache/siegel5_be3719ffa4802d1d.png">    </p:cNvPr>
          <p:cNvPicPr>
            <a:picLocks noChangeAspect="1"/>
          </p:cNvPicPr>
          <p:nvPr/>
        </p:nvPicPr>
        <p:blipFill>
          <a:blip r:embed="rId1"/>
          <a:stretch>
            <a:fillRect/>
          </a:stretch>
        </p:blipFill>
        <p:spPr>
          <a:xfrm>
            <a:off x="548640" y="384048"/>
            <a:ext cx="566928" cy="566928"/>
          </a:xfrm>
          <a:prstGeom prst="rect">
            <a:avLst/>
          </a:prstGeom>
        </p:spPr>
      </p:pic>
      <p:sp>
        <p:nvSpPr>
          <p:cNvPr id="3" name="Text 0"/>
          <p:cNvSpPr/>
          <p:nvPr>
            <p:ph idx="101" type="title" hasCustomPrompt="1"/>
          </p:nvPr>
        </p:nvSpPr>
        <p:spPr>
          <a:xfrm>
            <a:off x="1325880" y="347472"/>
            <a:ext cx="10317175" cy="658368"/>
          </a:xfrm>
          <a:prstGeom prst="rect">
            <a:avLst/>
          </a:prstGeom>
          <a:noFill/>
          <a:ln/>
        </p:spPr>
        <p:txBody>
          <a:bodyPr wrap="square" rtlCol="0"/>
          <a:lstStyle>
            <a:lvl1pPr algn="l" indent="0" marL="0">
              <a:buNone/>
              <a:defRPr lang="en-US" sz="3000" b="1" dirty="0">
                <a:solidFill>
                  <a:srgbClr val="FBF7EE"/>
                </a:solidFill>
                <a:latin typeface="Georgia" pitchFamily="34" charset="0"/>
                <a:ea typeface="Georgia" pitchFamily="34" charset="-122"/>
                <a:cs typeface="Georgia" pitchFamily="34" charset="-120"/>
              </a:defRPr>
            </a:lvl1pPr>
          </a:lstStyle>
          <a:p>
            <a:pPr algn="l" indent="0" marL="0">
              <a:buNone/>
            </a:pPr>
            <a:endParaRPr lang="en-US" sz="3000" dirty="0"/>
          </a:p>
        </p:txBody>
      </p:sp>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D9A441"/>
                </a:solidFill>
                <a:latin typeface="Calibri" pitchFamily="34" charset="0"/>
                <a:ea typeface="Calibri" pitchFamily="34" charset="-122"/>
                <a:cs typeface="Calibri" pitchFamily="34" charset="-120"/>
              </a:rPr>
              <a:t>Kryptos · Welt 5 · Das Netz</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5.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hiffrierscheibe" descr="/tmp/kr_bildcache/scheibe_454ce3f05be24b17.png">    </p:cNvPr>
          <p:cNvPicPr>
            <a:picLocks noChangeAspect="1"/>
          </p:cNvPicPr>
          <p:nvPr/>
        </p:nvPicPr>
        <p:blipFill>
          <a:blip r:embed="rId1">
            <a:alphaModFix amt="45000"/>
          </a:blip>
          <a:stretch>
            <a:fillRect/>
          </a:stretch>
        </p:blipFill>
        <p:spPr>
          <a:xfrm>
            <a:off x="7223760" y="-1005840"/>
            <a:ext cx="6766560" cy="6766560"/>
          </a:xfrm>
          <a:prstGeom prst="rect">
            <a:avLst/>
          </a:prstGeom>
        </p:spPr>
      </p:pic>
      <p:pic>
        <p:nvPicPr>
          <p:cNvPr id="3" name="Image 1" descr="/tmp/kr_bildcache/siegel5_be3719ffa4802d1d.png">    </p:cNvPr>
          <p:cNvPicPr>
            <a:picLocks noChangeAspect="1"/>
          </p:cNvPicPr>
          <p:nvPr/>
        </p:nvPicPr>
        <p:blipFill>
          <a:blip r:embed="rId2"/>
          <a:stretch>
            <a:fillRect/>
          </a:stretch>
        </p:blipFill>
        <p:spPr>
          <a:xfrm>
            <a:off x="548640" y="685800"/>
            <a:ext cx="1005840" cy="1005840"/>
          </a:xfrm>
          <a:prstGeom prst="rect">
            <a:avLst/>
          </a:prstGeom>
        </p:spPr>
      </p:pic>
      <p:sp>
        <p:nvSpPr>
          <p:cNvPr id="4" name="Text 0"/>
          <p:cNvSpPr txBox="1"/>
          <p:nvPr/>
        </p:nvSpPr>
        <p:spPr>
          <a:xfrm>
            <a:off x="548640" y="1828800"/>
            <a:ext cx="7772400" cy="365760"/>
          </a:xfrm>
          <a:prstGeom prst="rect">
            <a:avLst/>
          </a:prstGeom>
          <a:noFill/>
          <a:ln/>
        </p:spPr>
        <p:txBody>
          <a:bodyPr wrap="square" lIns="0" tIns="0" rIns="0" bIns="0" rtlCol="0" anchor="ctr"/>
          <a:lstStyle/>
          <a:p>
            <a:pPr indent="0" marL="0">
              <a:buNone/>
            </a:pPr>
            <a:r>
              <a:rPr lang="en-US" sz="1600" b="1" spc="300" kern="0" dirty="0">
                <a:solidFill>
                  <a:srgbClr val="5CC8D2"/>
                </a:solidFill>
                <a:latin typeface="Consolas" pitchFamily="34" charset="0"/>
                <a:ea typeface="Consolas" pitchFamily="34" charset="-122"/>
                <a:cs typeface="Consolas" pitchFamily="34" charset="-120"/>
              </a:rPr>
              <a:t>WELT 5 · HEUTE · ÜBERALL</a:t>
            </a:r>
            <a:endParaRPr lang="en-US" sz="1600" dirty="0"/>
          </a:p>
        </p:txBody>
      </p:sp>
      <p:sp>
        <p:nvSpPr>
          <p:cNvPr id="5" name="Text 0"/>
          <p:cNvSpPr/>
          <p:nvPr>
            <p:ph idx="100" type="title" hasCustomPrompt="1"/>
          </p:nvPr>
        </p:nvSpPr>
        <p:spPr>
          <a:xfrm>
            <a:off x="548640" y="2331720"/>
            <a:ext cx="7498080" cy="1554480"/>
          </a:xfrm>
          <a:prstGeom prst="rect">
            <a:avLst/>
          </a:prstGeom>
          <a:noFill/>
          <a:ln/>
        </p:spPr>
        <p:txBody>
          <a:bodyPr wrap="square" lIns="0" tIns="0" rIns="0" bIns="0" rtlCol="0" anchor="t"/>
          <a:lstStyle/>
          <a:p>
            <a:pPr algn="l" indent="0" marL="0">
              <a:buNone/>
            </a:pPr>
            <a:r>
              <a:rPr lang="en-US" sz="4600" b="1" dirty="0">
                <a:solidFill>
                  <a:srgbClr val="FBF7EE"/>
                </a:solidFill>
                <a:latin typeface="Georgia" pitchFamily="34" charset="0"/>
                <a:ea typeface="Georgia" pitchFamily="34" charset="-122"/>
                <a:cs typeface="Georgia" pitchFamily="34" charset="-120"/>
              </a:rPr>
              <a:t>Das Netz</a:t>
            </a:r>
            <a:endParaRPr lang="en-US" sz="4600" dirty="0"/>
          </a:p>
        </p:txBody>
      </p:sp>
      <p:sp>
        <p:nvSpPr>
          <p:cNvPr id="6" name="Text 0"/>
          <p:cNvSpPr/>
          <p:nvPr>
            <p:ph idx="101" type="body" hasCustomPrompt="1"/>
          </p:nvPr>
        </p:nvSpPr>
        <p:spPr>
          <a:xfrm>
            <a:off x="548640" y="3931920"/>
            <a:ext cx="7315200" cy="914400"/>
          </a:xfrm>
          <a:prstGeom prst="rect">
            <a:avLst/>
          </a:prstGeom>
          <a:noFill/>
          <a:ln/>
        </p:spPr>
        <p:txBody>
          <a:bodyPr wrap="square" lIns="0" tIns="0" rIns="0" bIns="0" rtlCol="0" anchor="t"/>
          <a:lstStyle/>
          <a:p>
            <a:pPr algn="l" indent="0" marL="0">
              <a:buNone/>
            </a:pPr>
            <a:r>
              <a:rPr lang="en-US" sz="2200" dirty="0">
                <a:solidFill>
                  <a:srgbClr val="D9A441"/>
                </a:solidFill>
                <a:latin typeface="Calibri" pitchFamily="34" charset="0"/>
                <a:ea typeface="Calibri" pitchFamily="34" charset="-122"/>
                <a:cs typeface="Calibri" pitchFamily="34" charset="-120"/>
              </a:rPr>
              <a:t>Wem kannst du trauen, wenn jeder alles fälschen kann?</a:t>
            </a:r>
            <a:endParaRPr lang="en-US" sz="2200" dirty="0"/>
          </a:p>
        </p:txBody>
      </p:sp>
      <p:sp>
        <p:nvSpPr>
          <p:cNvPr id="7" name="Text 3"/>
          <p:cNvSpPr txBox="1"/>
          <p:nvPr/>
        </p:nvSpPr>
        <p:spPr>
          <a:xfrm>
            <a:off x="548640" y="6172200"/>
            <a:ext cx="7315200" cy="320040"/>
          </a:xfrm>
          <a:prstGeom prst="rect">
            <a:avLst/>
          </a:prstGeom>
          <a:noFill/>
          <a:ln/>
        </p:spPr>
        <p:txBody>
          <a:bodyPr wrap="square" lIns="0" tIns="0" rIns="0" bIns="0" rtlCol="0" anchor="ctr"/>
          <a:lstStyle/>
          <a:p>
            <a:pPr indent="0" marL="0">
              <a:buNone/>
            </a:pPr>
            <a:r>
              <a:rPr lang="en-US" sz="1200" spc="400" kern="0" dirty="0">
                <a:solidFill>
                  <a:srgbClr val="D9A441"/>
                </a:solidFill>
              </a:rPr>
              <a:t>KRYPTOS · DIE ZEITREISE DER GEHEIMSCHRIFTEN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FBF7EE"/>
                </a:solidFill>
                <a:latin typeface="Georgia" pitchFamily="34" charset="0"/>
                <a:ea typeface="Georgia" pitchFamily="34" charset="-122"/>
                <a:cs typeface="Georgia" pitchFamily="34" charset="-120"/>
              </a:rPr>
              <a:t>Die gefälschte Website</a:t>
            </a:r>
            <a:endParaRPr lang="en-US" sz="3000" dirty="0"/>
          </a:p>
        </p:txBody>
      </p:sp>
      <p:sp>
        <p:nvSpPr>
          <p:cNvPr id="3" name="Text 1"/>
          <p:cNvSpPr txBox="1"/>
          <p:nvPr/>
        </p:nvSpPr>
        <p:spPr>
          <a:xfrm>
            <a:off x="731520" y="1417320"/>
            <a:ext cx="10728655" cy="727456"/>
          </a:xfrm>
          <a:prstGeom prst="rect">
            <a:avLst/>
          </a:prstGeom>
          <a:noFill/>
          <a:ln/>
        </p:spPr>
        <p:txBody>
          <a:bodyPr wrap="square" lIns="0" tIns="0" rIns="0" bIns="0" rtlCol="0" anchor="t"/>
          <a:lstStyle/>
          <a:p>
            <a:pPr algn="l" indent="0" marL="0">
              <a:buNone/>
            </a:pPr>
            <a:r>
              <a:rPr lang="en-US" sz="2200" i="1" dirty="0">
                <a:solidFill>
                  <a:srgbClr val="FBF7EE"/>
                </a:solidFill>
              </a:rPr>
              <a:t>E-Mail: „Wichtiges Sicherheitsupdate für Ihr Chronoskop! Jetzt herunterladen.“</a:t>
            </a:r>
            <a:endParaRPr lang="en-US" sz="2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731520" y="2272792"/>
          <a:ext cx="10728655" cy="914400"/>
        </p:xfrm>
        <a:graphic>
          <a:graphicData uri="http://schemas.openxmlformats.org/drawingml/2006/table">
            <a:tbl>
              <a:tblPr/>
              <a:tblGrid>
                <a:gridCol w="1788109"/>
                <a:gridCol w="4470273"/>
                <a:gridCol w="4470273"/>
              </a:tblGrid>
              <a:tr h="0">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700" b="1" dirty="0">
                          <a:solidFill>
                            <a:srgbClr val="1B1B1F"/>
                          </a:solidFill>
                          <a:latin typeface="Calibri" pitchFamily="34" charset="0"/>
                          <a:ea typeface="Calibri" pitchFamily="34" charset="-122"/>
                          <a:cs typeface="Calibri" pitchFamily="34" charset="-120"/>
                        </a:rPr>
                        <a:t>offizielle Seite</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700" b="1" dirty="0">
                          <a:solidFill>
                            <a:srgbClr val="1B1B1F"/>
                          </a:solidFill>
                          <a:latin typeface="Calibri" pitchFamily="34" charset="0"/>
                          <a:ea typeface="Calibri" pitchFamily="34" charset="-122"/>
                          <a:cs typeface="Calibri" pitchFamily="34" charset="-120"/>
                        </a:rPr>
                        <a:t>Datei aus der E-Mail</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1700" b="1" dirty="0">
                          <a:solidFill>
                            <a:srgbClr val="1B1B1F"/>
                          </a:solidFill>
                          <a:latin typeface="Calibri" pitchFamily="34" charset="0"/>
                          <a:ea typeface="Calibri" pitchFamily="34" charset="-122"/>
                          <a:cs typeface="Calibri" pitchFamily="34" charset="-120"/>
                        </a:rPr>
                        <a:t>Domain</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700" dirty="0">
                          <a:solidFill>
                            <a:srgbClr val="1B1B1F"/>
                          </a:solidFill>
                          <a:latin typeface="Consolas" pitchFamily="34" charset="0"/>
                          <a:ea typeface="Consolas" pitchFamily="34" charset="-122"/>
                          <a:cs typeface="Consolas" pitchFamily="34" charset="-120"/>
                        </a:rPr>
                        <a:t>archiv.chronoskop.example</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onsolas" pitchFamily="34" charset="0"/>
                          <a:ea typeface="Consolas" pitchFamily="34" charset="-122"/>
                          <a:cs typeface="Consolas" pitchFamily="34" charset="-120"/>
                        </a:rPr>
                        <a:t>chronoskop-archiv.example</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1B1B1F"/>
                          </a:solidFill>
                          <a:latin typeface="Calibri" pitchFamily="34" charset="0"/>
                          <a:ea typeface="Calibri" pitchFamily="34" charset="-122"/>
                          <a:cs typeface="Calibri" pitchFamily="34" charset="-120"/>
                        </a:rPr>
                        <a:t>Datei</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700" dirty="0">
                          <a:solidFill>
                            <a:srgbClr val="1B1B1F"/>
                          </a:solidFill>
                          <a:latin typeface="Consolas" pitchFamily="34" charset="0"/>
                          <a:ea typeface="Consolas" pitchFamily="34" charset="-122"/>
                          <a:cs typeface="Consolas" pitchFamily="34" charset="-120"/>
                        </a:rPr>
                        <a:t>chronoskop-update-v7.zip</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onsolas" pitchFamily="34" charset="0"/>
                          <a:ea typeface="Consolas" pitchFamily="34" charset="-122"/>
                          <a:cs typeface="Consolas" pitchFamily="34" charset="-120"/>
                        </a:rPr>
                        <a:t>chronoskop-update-v7.zip</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1B1B1F"/>
                          </a:solidFill>
                          <a:latin typeface="Calibri" pitchFamily="34" charset="0"/>
                          <a:ea typeface="Calibri" pitchFamily="34" charset="-122"/>
                          <a:cs typeface="Calibri" pitchFamily="34" charset="-120"/>
                        </a:rPr>
                        <a:t>SHA-256</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700" dirty="0">
                          <a:solidFill>
                            <a:srgbClr val="1B1B1F"/>
                          </a:solidFill>
                          <a:latin typeface="Consolas" pitchFamily="34" charset="0"/>
                          <a:ea typeface="Consolas" pitchFamily="34" charset="-122"/>
                          <a:cs typeface="Consolas" pitchFamily="34" charset="-120"/>
                        </a:rPr>
                        <a:t>03a20cc0 … 0134dae7</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onsolas" pitchFamily="34" charset="0"/>
                          <a:ea typeface="Consolas" pitchFamily="34" charset="-122"/>
                          <a:cs typeface="Consolas" pitchFamily="34" charset="-120"/>
                        </a:rPr>
                        <a:t>03d0d355 … 8f2ad39e</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1B1B1F"/>
                          </a:solidFill>
                          <a:latin typeface="Calibri" pitchFamily="34" charset="0"/>
                          <a:ea typeface="Calibri" pitchFamily="34" charset="-122"/>
                          <a:cs typeface="Calibri" pitchFamily="34" charset="-120"/>
                        </a:rPr>
                        <a:t>Schloss</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 Zertifikat für </a:t>
                      </a:r>
                      <a:r>
                        <a:rPr lang="en-US" sz="1700" dirty="0">
                          <a:solidFill>
                            <a:srgbClr val="1B1B1F"/>
                          </a:solidFill>
                          <a:latin typeface="Consolas" pitchFamily="34" charset="0"/>
                          <a:ea typeface="Consolas" pitchFamily="34" charset="-122"/>
                          <a:cs typeface="Consolas" pitchFamily="34" charset="-120"/>
                        </a:rPr>
                        <a:t>archiv.chronoskop.example</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 Zertifikat für </a:t>
                      </a:r>
                      <a:r>
                        <a:rPr lang="en-US" sz="1700" dirty="0">
                          <a:solidFill>
                            <a:srgbClr val="1B1B1F"/>
                          </a:solidFill>
                          <a:latin typeface="Consolas" pitchFamily="34" charset="0"/>
                          <a:ea typeface="Consolas" pitchFamily="34" charset="-122"/>
                          <a:cs typeface="Consolas" pitchFamily="34" charset="-120"/>
                        </a:rPr>
                        <a:t>chronoskop-archiv.example</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731520" y="4438396"/>
            <a:ext cx="10728655" cy="386588"/>
          </a:xfrm>
          <a:prstGeom prst="rect">
            <a:avLst/>
          </a:prstGeom>
          <a:noFill/>
          <a:ln/>
        </p:spPr>
        <p:txBody>
          <a:bodyPr wrap="square" lIns="0" tIns="0" rIns="0" bIns="0" rtlCol="0" anchor="t"/>
          <a:lstStyle/>
          <a:p>
            <a:pPr algn="l" indent="0" marL="0">
              <a:buNone/>
            </a:pPr>
            <a:r>
              <a:rPr lang="en-US" sz="2200" b="1" dirty="0">
                <a:solidFill>
                  <a:srgbClr val="FBF7EE"/>
                </a:solidFill>
              </a:rPr>
              <a:t>Ist die Datei echt? Woran erkennt ihr das?</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Warm-up</a:t>
            </a:r>
            <a:endParaRPr lang="en-US" sz="3000" dirty="0"/>
          </a:p>
        </p:txBody>
      </p:sp>
      <p:sp>
        <p:nvSpPr>
          <p:cNvPr id="3" name="Text 1"/>
          <p:cNvSpPr txBox="1"/>
          <p:nvPr/>
        </p:nvSpPr>
        <p:spPr>
          <a:xfrm>
            <a:off x="548640" y="1325880"/>
            <a:ext cx="1463040" cy="384048"/>
          </a:xfrm>
          <a:prstGeom prst="rect">
            <a:avLst/>
          </a:prstGeom>
          <a:solidFill>
            <a:srgbClr val="0E7C86"/>
          </a:solidFill>
          <a:ln/>
        </p:spPr>
        <p:txBody>
          <a:bodyPr wrap="square" lIns="0" tIns="0" rIns="0" bIns="0" rtlCol="0" anchor="ctr"/>
          <a:lstStyle/>
          <a:p>
            <a:pPr algn="ctr" indent="0" marL="0">
              <a:buNone/>
            </a:pPr>
            <a:r>
              <a:rPr lang="en-US" sz="1400" b="1" spc="300" kern="0" dirty="0">
                <a:solidFill>
                  <a:srgbClr val="FFFFFF"/>
                </a:solidFill>
              </a:rPr>
              <a:t>AUFTRAG</a:t>
            </a:r>
            <a:endParaRPr lang="en-US" sz="1400" dirty="0"/>
          </a:p>
        </p:txBody>
      </p:sp>
      <p:sp>
        <p:nvSpPr>
          <p:cNvPr id="4" name="Text 2"/>
          <p:cNvSpPr txBox="1"/>
          <p:nvPr/>
        </p:nvSpPr>
        <p:spPr>
          <a:xfrm>
            <a:off x="2148840" y="1325880"/>
            <a:ext cx="1636776" cy="384048"/>
          </a:xfrm>
          <a:prstGeom prst="rect">
            <a:avLst/>
          </a:prstGeom>
          <a:solidFill>
            <a:srgbClr val="F2EADB"/>
          </a:solidFill>
          <a:ln/>
        </p:spPr>
        <p:txBody>
          <a:bodyPr wrap="square" lIns="0" tIns="0" rIns="0" bIns="0" rtlCol="0" anchor="ctr"/>
          <a:lstStyle/>
          <a:p>
            <a:pPr algn="ctr" indent="0" marL="0">
              <a:buNone/>
            </a:pPr>
            <a:r>
              <a:rPr lang="en-US" sz="1400" dirty="0">
                <a:solidFill>
                  <a:srgbClr val="1B1B1F"/>
                </a:solidFill>
              </a:rPr>
              <a:t>Einzelarbeit</a:t>
            </a:r>
            <a:endParaRPr lang="en-US" sz="1400" dirty="0"/>
          </a:p>
        </p:txBody>
      </p:sp>
      <p:sp>
        <p:nvSpPr>
          <p:cNvPr id="5" name="Text 3"/>
          <p:cNvSpPr txBox="1"/>
          <p:nvPr/>
        </p:nvSpPr>
        <p:spPr>
          <a:xfrm>
            <a:off x="3922776" y="1325880"/>
            <a:ext cx="978408" cy="384048"/>
          </a:xfrm>
          <a:prstGeom prst="rect">
            <a:avLst/>
          </a:prstGeom>
          <a:solidFill>
            <a:srgbClr val="F2EADB"/>
          </a:solidFill>
          <a:ln/>
        </p:spPr>
        <p:txBody>
          <a:bodyPr wrap="square" lIns="0" tIns="0" rIns="0" bIns="0" rtlCol="0" anchor="ctr"/>
          <a:lstStyle/>
          <a:p>
            <a:pPr algn="ctr" indent="0" marL="0">
              <a:buNone/>
            </a:pPr>
            <a:r>
              <a:rPr lang="en-US" sz="1400" dirty="0">
                <a:solidFill>
                  <a:srgbClr val="1B1B1F"/>
                </a:solidFill>
              </a:rPr>
              <a:t>10 min</a:t>
            </a:r>
            <a:endParaRPr lang="en-US" sz="1400" dirty="0"/>
          </a:p>
        </p:txBody>
      </p:sp>
      <p:sp>
        <p:nvSpPr>
          <p:cNvPr id="6" name="Text 4"/>
          <p:cNvSpPr txBox="1"/>
          <p:nvPr/>
        </p:nvSpPr>
        <p:spPr>
          <a:xfrm>
            <a:off x="548640" y="1965960"/>
            <a:ext cx="11094415" cy="386588"/>
          </a:xfrm>
          <a:prstGeom prst="rect">
            <a:avLst/>
          </a:prstGeom>
          <a:noFill/>
          <a:ln/>
        </p:spPr>
        <p:txBody>
          <a:bodyPr wrap="square" lIns="0" tIns="0" rIns="0" bIns="0" rtlCol="0" anchor="t"/>
          <a:lstStyle/>
          <a:p>
            <a:pPr algn="l" indent="0" marL="0">
              <a:buNone/>
            </a:pPr>
            <a:r>
              <a:rPr lang="en-US" sz="2200" dirty="0">
                <a:solidFill>
                  <a:srgbClr val="1B1B1F"/>
                </a:solidFill>
              </a:rPr>
              <a:t>Lab → </a:t>
            </a:r>
            <a:r>
              <a:rPr lang="en-US" sz="2200" b="1" dirty="0">
                <a:solidFill>
                  <a:srgbClr val="1B1B1F"/>
                </a:solidFill>
              </a:rPr>
              <a:t>Warm-up W5</a:t>
            </a:r>
            <a:r>
              <a:rPr lang="en-US" sz="2200" dirty="0">
                <a:solidFill>
                  <a:srgbClr val="1B1B1F"/>
                </a:solidFill>
              </a:rPr>
              <a:t> – drei Karten, dann Kurzvergleich.</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2480564"/>
          <a:ext cx="11064240" cy="914400"/>
        </p:xfrm>
        <a:graphic>
          <a:graphicData uri="http://schemas.openxmlformats.org/drawingml/2006/table">
            <a:tbl>
              <a:tblPr/>
              <a:tblGrid>
                <a:gridCol w="2377440"/>
                <a:gridCol w="4206240"/>
                <a:gridCol w="4480560"/>
              </a:tblGrid>
              <a:tr h="0">
                <a:tc>
                  <a:txBody>
                    <a:bodyPr/>
                    <a:lstStyle/>
                    <a:p>
                      <a:pPr algn="l" indent="0" marL="0">
                        <a:buNone/>
                      </a:pPr>
                      <a:r>
                        <a:rPr lang="en-US" sz="1900" b="1" dirty="0">
                          <a:solidFill>
                            <a:srgbClr val="1B1B1F"/>
                          </a:solidFill>
                          <a:latin typeface="Calibri" pitchFamily="34" charset="0"/>
                          <a:ea typeface="Calibri" pitchFamily="34" charset="-122"/>
                          <a:cs typeface="Calibri" pitchFamily="34" charset="-120"/>
                        </a:rPr>
                        <a:t>Doppelstunde</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900" b="1" dirty="0">
                          <a:solidFill>
                            <a:srgbClr val="1B1B1F"/>
                          </a:solidFill>
                          <a:latin typeface="Calibri" pitchFamily="34" charset="0"/>
                          <a:ea typeface="Calibri" pitchFamily="34" charset="-122"/>
                          <a:cs typeface="Calibri" pitchFamily="34" charset="-120"/>
                        </a:rPr>
                        <a:t>Karten</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900" b="1" dirty="0">
                          <a:solidFill>
                            <a:srgbClr val="1B1B1F"/>
                          </a:solidFill>
                          <a:latin typeface="Calibri" pitchFamily="34" charset="0"/>
                          <a:ea typeface="Calibri" pitchFamily="34" charset="-122"/>
                          <a:cs typeface="Calibri" pitchFamily="34" charset="-120"/>
                        </a:rPr>
                        <a:t>Themen</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1900" b="1" dirty="0">
                          <a:solidFill>
                            <a:srgbClr val="1B1B1F"/>
                          </a:solidFill>
                          <a:latin typeface="Calibri" pitchFamily="34" charset="0"/>
                          <a:ea typeface="Calibri" pitchFamily="34" charset="-122"/>
                          <a:cs typeface="Calibri" pitchFamily="34" charset="-120"/>
                        </a:rPr>
                        <a:t>DS 14</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900" dirty="0">
                          <a:solidFill>
                            <a:srgbClr val="1B1B1F"/>
                          </a:solidFill>
                          <a:latin typeface="Calibri" pitchFamily="34" charset="0"/>
                          <a:ea typeface="Calibri" pitchFamily="34" charset="-122"/>
                          <a:cs typeface="Calibri" pitchFamily="34" charset="-120"/>
                        </a:rPr>
                        <a:t>WU-W5-01 · 10 · 12</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1B1F"/>
                          </a:solidFill>
                          <a:latin typeface="Calibri" pitchFamily="34" charset="0"/>
                          <a:ea typeface="Calibri" pitchFamily="34" charset="-122"/>
                          <a:cs typeface="Calibri" pitchFamily="34" charset="-120"/>
                        </a:rPr>
                        <a:t>Mini-Hash · Hybrid · Schlüsselanzahl</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1B1F"/>
                          </a:solidFill>
                          <a:latin typeface="Calibri" pitchFamily="34" charset="0"/>
                          <a:ea typeface="Calibri" pitchFamily="34" charset="-122"/>
                          <a:cs typeface="Calibri" pitchFamily="34" charset="-120"/>
                        </a:rPr>
                        <a:t>DS 15</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900" dirty="0">
                          <a:solidFill>
                            <a:srgbClr val="1B1B1F"/>
                          </a:solidFill>
                          <a:latin typeface="Calibri" pitchFamily="34" charset="0"/>
                          <a:ea typeface="Calibri" pitchFamily="34" charset="-122"/>
                          <a:cs typeface="Calibri" pitchFamily="34" charset="-120"/>
                        </a:rPr>
                        <a:t>WU-W5-02 · 04 · 11</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1B1F"/>
                          </a:solidFill>
                          <a:latin typeface="Calibri" pitchFamily="34" charset="0"/>
                          <a:ea typeface="Calibri" pitchFamily="34" charset="-122"/>
                          <a:cs typeface="Calibri" pitchFamily="34" charset="-120"/>
                        </a:rPr>
                        <a:t>Wer siegelt womit? · Schutzziele · Vigenère</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1B1F"/>
                          </a:solidFill>
                          <a:latin typeface="Calibri" pitchFamily="34" charset="0"/>
                          <a:ea typeface="Calibri" pitchFamily="34" charset="-122"/>
                          <a:cs typeface="Calibri" pitchFamily="34" charset="-120"/>
                        </a:rPr>
                        <a:t>DS 16</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900" dirty="0">
                          <a:solidFill>
                            <a:srgbClr val="1B1B1F"/>
                          </a:solidFill>
                          <a:latin typeface="Calibri" pitchFamily="34" charset="0"/>
                          <a:ea typeface="Calibri" pitchFamily="34" charset="-122"/>
                          <a:cs typeface="Calibri" pitchFamily="34" charset="-120"/>
                        </a:rPr>
                        <a:t>WU-W5-05 · 07 · 08</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1B1F"/>
                          </a:solidFill>
                          <a:latin typeface="Calibri" pitchFamily="34" charset="0"/>
                          <a:ea typeface="Calibri" pitchFamily="34" charset="-122"/>
                          <a:cs typeface="Calibri" pitchFamily="34" charset="-120"/>
                        </a:rPr>
                        <a:t>Zertifikat · TLS · Mallorys Trick</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Was muss ein Fingerabdruck können?</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3291840"/>
                <a:gridCol w="7772400"/>
              </a:tblGrid>
              <a:tr h="0">
                <a:tc>
                  <a:txBody>
                    <a:bodyPr/>
                    <a:lstStyle/>
                    <a:p>
                      <a:pPr algn="l" indent="0" marL="0">
                        <a:buNone/>
                      </a:pPr>
                      <a:r>
                        <a:rPr lang="en-US" sz="2000" b="1" dirty="0">
                          <a:solidFill>
                            <a:srgbClr val="1B1B1F"/>
                          </a:solidFill>
                          <a:latin typeface="Calibri" pitchFamily="34" charset="0"/>
                          <a:ea typeface="Calibri" pitchFamily="34" charset="-122"/>
                          <a:cs typeface="Calibri" pitchFamily="34" charset="-120"/>
                        </a:rPr>
                        <a:t>Anforderung</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2000" b="1" dirty="0">
                          <a:solidFill>
                            <a:srgbClr val="1B1B1F"/>
                          </a:solidFill>
                          <a:latin typeface="Calibri" pitchFamily="34" charset="0"/>
                          <a:ea typeface="Calibri" pitchFamily="34" charset="-122"/>
                          <a:cs typeface="Calibri" pitchFamily="34" charset="-120"/>
                        </a:rPr>
                        <a:t>Bedeutung</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2000" b="1" dirty="0">
                          <a:solidFill>
                            <a:srgbClr val="1B1B1F"/>
                          </a:solidFill>
                          <a:latin typeface="Calibri" pitchFamily="34" charset="0"/>
                          <a:ea typeface="Calibri" pitchFamily="34" charset="-122"/>
                          <a:cs typeface="Calibri" pitchFamily="34" charset="-120"/>
                        </a:rPr>
                        <a:t>feste Länge</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Hashwert immer gleich lang (SHA-256: 256 Bit = 64 Hexziffern)</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2000" b="1" dirty="0">
                          <a:solidFill>
                            <a:srgbClr val="1B1B1F"/>
                          </a:solidFill>
                          <a:latin typeface="Calibri" pitchFamily="34" charset="0"/>
                          <a:ea typeface="Calibri" pitchFamily="34" charset="-122"/>
                          <a:cs typeface="Calibri" pitchFamily="34" charset="-120"/>
                        </a:rPr>
                        <a:t>effizient berechenbar</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auch für große Dateien schnell</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2000" b="1" dirty="0">
                          <a:solidFill>
                            <a:srgbClr val="1B1B1F"/>
                          </a:solidFill>
                          <a:latin typeface="Calibri" pitchFamily="34" charset="0"/>
                          <a:ea typeface="Calibri" pitchFamily="34" charset="-122"/>
                          <a:cs typeface="Calibri" pitchFamily="34" charset="-120"/>
                        </a:rPr>
                        <a:t>Einwegeigenschaft</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zum Hashwert praktisch keine passende Nachricht findbar</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2000" b="1" dirty="0">
                          <a:solidFill>
                            <a:srgbClr val="1B1B1F"/>
                          </a:solidFill>
                          <a:latin typeface="Calibri" pitchFamily="34" charset="0"/>
                          <a:ea typeface="Calibri" pitchFamily="34" charset="-122"/>
                          <a:cs typeface="Calibri" pitchFamily="34" charset="-120"/>
                        </a:rPr>
                        <a:t>Kollisionsresistenz</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praktisch keine zwei Nachrichten mit gleichem Hashwert findbar</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2000" b="1" dirty="0">
                          <a:solidFill>
                            <a:srgbClr val="1B1B1F"/>
                          </a:solidFill>
                          <a:latin typeface="Calibri" pitchFamily="34" charset="0"/>
                          <a:ea typeface="Calibri" pitchFamily="34" charset="-122"/>
                          <a:cs typeface="Calibri" pitchFamily="34" charset="-120"/>
                        </a:rPr>
                        <a:t>Lawineneffekt</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ein Bit anders → etwa die Hälfte der Bits anders</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4481576"/>
            <a:ext cx="11094415" cy="324612"/>
          </a:xfrm>
          <a:prstGeom prst="rect">
            <a:avLst/>
          </a:prstGeom>
          <a:noFill/>
          <a:ln/>
        </p:spPr>
        <p:txBody>
          <a:bodyPr wrap="square" lIns="0" tIns="0" rIns="0" bIns="0" rtlCol="0" anchor="t"/>
          <a:lstStyle/>
          <a:p>
            <a:pPr algn="l" indent="0" marL="0">
              <a:buNone/>
            </a:pPr>
            <a:r>
              <a:rPr lang="en-US" sz="1800" dirty="0">
                <a:solidFill>
                  <a:srgbClr val="1B1B1F"/>
                </a:solidFill>
              </a:rPr>
              <a:t>Eine </a:t>
            </a:r>
            <a:r>
              <a:rPr lang="en-US" sz="1800" b="1" dirty="0">
                <a:solidFill>
                  <a:srgbClr val="1B1B1F"/>
                </a:solidFill>
              </a:rPr>
              <a:t>Hashfunktion</a:t>
            </a:r>
            <a:r>
              <a:rPr lang="en-US" sz="1800" dirty="0">
                <a:solidFill>
                  <a:srgbClr val="1B1B1F"/>
                </a:solidFill>
              </a:rPr>
              <a:t> macht aus einer beliebig langen Nachricht einen </a:t>
            </a:r>
            <a:r>
              <a:rPr lang="en-US" sz="1800" b="1" dirty="0">
                <a:solidFill>
                  <a:srgbClr val="1B1B1F"/>
                </a:solidFill>
              </a:rPr>
              <a:t>Hashwert fester Länge</a:t>
            </a:r>
            <a:r>
              <a:rPr lang="en-US" sz="1800" dirty="0">
                <a:solidFill>
                  <a:srgbClr val="1B1B1F"/>
                </a:solidFill>
              </a:rPr>
              <a:t>.</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Lawineneffekt bei SHA-256</a:t>
            </a:r>
            <a:endParaRPr lang="en-US" sz="3000" dirty="0"/>
          </a:p>
        </p:txBody>
      </p:sp>
      <p:sp>
        <p:nvSpPr>
          <p:cNvPr id="3" name="Text 1"/>
          <p:cNvSpPr txBox="1"/>
          <p:nvPr/>
        </p:nvSpPr>
        <p:spPr>
          <a:xfrm>
            <a:off x="548640" y="1325880"/>
            <a:ext cx="5364328" cy="386588"/>
          </a:xfrm>
          <a:prstGeom prst="rect">
            <a:avLst/>
          </a:prstGeom>
          <a:noFill/>
          <a:ln/>
        </p:spPr>
        <p:txBody>
          <a:bodyPr wrap="square" lIns="0" tIns="0" rIns="0" bIns="0" rtlCol="0" anchor="t"/>
          <a:lstStyle/>
          <a:p>
            <a:pPr algn="l" indent="0" marL="0">
              <a:buNone/>
            </a:pPr>
            <a:r>
              <a:rPr lang="en-US" sz="2200" dirty="0">
                <a:solidFill>
                  <a:srgbClr val="1B1B1F"/>
                </a:solidFill>
              </a:rPr>
              <a:t>„</a:t>
            </a:r>
            <a:r>
              <a:rPr lang="en-US" sz="2200" b="1" dirty="0">
                <a:solidFill>
                  <a:srgbClr val="1B1B1F"/>
                </a:solidFill>
              </a:rPr>
              <a:t>heute</a:t>
            </a:r>
            <a:r>
              <a:rPr lang="en-US" sz="2200" dirty="0">
                <a:solidFill>
                  <a:srgbClr val="1B1B1F"/>
                </a:solidFill>
              </a:rPr>
              <a:t>“ →</a:t>
            </a:r>
            <a:endParaRPr lang="en-US" sz="2200" dirty="0"/>
          </a:p>
        </p:txBody>
      </p:sp>
      <p:sp>
        <p:nvSpPr>
          <p:cNvPr id="4" name="Geheimtext-Kasten"/>
          <p:cNvSpPr/>
          <p:nvPr/>
        </p:nvSpPr>
        <p:spPr>
          <a:xfrm>
            <a:off x="548640" y="1840484"/>
            <a:ext cx="5364328" cy="1323975"/>
          </a:xfrm>
          <a:prstGeom prst="rect">
            <a:avLst/>
          </a:prstGeom>
          <a:solidFill>
            <a:srgbClr val="F2EADB"/>
          </a:solidFill>
          <a:ln w="9525">
            <a:solidFill>
              <a:srgbClr val="D8CDB8"/>
            </a:solidFill>
            <a:prstDash val="solid"/>
          </a:ln>
        </p:spPr>
      </p:sp>
      <p:sp>
        <p:nvSpPr>
          <p:cNvPr id="5" name="Text 3"/>
          <p:cNvSpPr txBox="1"/>
          <p:nvPr/>
        </p:nvSpPr>
        <p:spPr>
          <a:xfrm>
            <a:off x="777240" y="1950212"/>
            <a:ext cx="4907128" cy="1104519"/>
          </a:xfrm>
          <a:prstGeom prst="rect">
            <a:avLst/>
          </a:prstGeom>
          <a:noFill/>
          <a:ln/>
        </p:spPr>
        <p:txBody>
          <a:bodyPr wrap="square" lIns="0" tIns="0" rIns="0" bIns="0" rtlCol="0" anchor="t"/>
          <a:lstStyle/>
          <a:p>
            <a:pPr indent="0" marL="0">
              <a:lnSpc>
                <a:spcPct val="115000"/>
              </a:lnSpc>
              <a:buNone/>
            </a:pPr>
            <a:r>
              <a:rPr lang="en-US" sz="1900" b="1" spc="200" kern="0" dirty="0">
                <a:solidFill>
                  <a:srgbClr val="1B1B1F"/>
                </a:solidFill>
                <a:latin typeface="Consolas" pitchFamily="34" charset="0"/>
                <a:ea typeface="Consolas" pitchFamily="34" charset="-122"/>
                <a:cs typeface="Consolas" pitchFamily="34" charset="-120"/>
              </a:rPr>
              <a:t>b748a919 ad3e0a2c e7499df9</a:t>
            </a:r>
            <a:endParaRPr lang="en-US" sz="1900" dirty="0"/>
          </a:p>
          <a:p>
            <a:pPr indent="0" marL="0">
              <a:lnSpc>
                <a:spcPct val="115000"/>
              </a:lnSpc>
              <a:buNone/>
            </a:pPr>
            <a:r>
              <a:rPr lang="en-US" sz="1900" b="1" spc="200" kern="0" dirty="0">
                <a:solidFill>
                  <a:srgbClr val="1B1B1F"/>
                </a:solidFill>
                <a:latin typeface="Consolas" pitchFamily="34" charset="0"/>
                <a:ea typeface="Consolas" pitchFamily="34" charset="-122"/>
                <a:cs typeface="Consolas" pitchFamily="34" charset="-120"/>
              </a:rPr>
              <a:t>3f42e4a9 babab9c7 f28fff79</a:t>
            </a:r>
            <a:endParaRPr lang="en-US" sz="1900" dirty="0"/>
          </a:p>
          <a:p>
            <a:pPr indent="0" marL="0">
              <a:lnSpc>
                <a:spcPct val="115000"/>
              </a:lnSpc>
              <a:buNone/>
            </a:pPr>
            <a:r>
              <a:rPr lang="en-US" sz="1900" b="1" spc="200" kern="0" dirty="0">
                <a:solidFill>
                  <a:srgbClr val="1B1B1F"/>
                </a:solidFill>
                <a:latin typeface="Consolas" pitchFamily="34" charset="0"/>
                <a:ea typeface="Consolas" pitchFamily="34" charset="-122"/>
                <a:cs typeface="Consolas" pitchFamily="34" charset="-120"/>
              </a:rPr>
              <a:t>8b66b534 66b4bc7e</a:t>
            </a:r>
            <a:endParaRPr lang="en-US" sz="1900" dirty="0"/>
          </a:p>
        </p:txBody>
      </p:sp>
      <p:sp>
        <p:nvSpPr>
          <p:cNvPr id="6" name="Text 4"/>
          <p:cNvSpPr txBox="1"/>
          <p:nvPr/>
        </p:nvSpPr>
        <p:spPr>
          <a:xfrm>
            <a:off x="6278728" y="1325880"/>
            <a:ext cx="5364328" cy="386588"/>
          </a:xfrm>
          <a:prstGeom prst="rect">
            <a:avLst/>
          </a:prstGeom>
          <a:noFill/>
          <a:ln/>
        </p:spPr>
        <p:txBody>
          <a:bodyPr wrap="square" lIns="0" tIns="0" rIns="0" bIns="0" rtlCol="0" anchor="t"/>
          <a:lstStyle/>
          <a:p>
            <a:pPr algn="l" indent="0" marL="0">
              <a:buNone/>
            </a:pPr>
            <a:r>
              <a:rPr lang="en-US" sz="2200" dirty="0">
                <a:solidFill>
                  <a:srgbClr val="1B1B1F"/>
                </a:solidFill>
              </a:rPr>
              <a:t>„</a:t>
            </a:r>
            <a:r>
              <a:rPr lang="en-US" sz="2200" b="1" dirty="0">
                <a:solidFill>
                  <a:srgbClr val="1B1B1F"/>
                </a:solidFill>
              </a:rPr>
              <a:t>heutf</a:t>
            </a:r>
            <a:r>
              <a:rPr lang="en-US" sz="2200" dirty="0">
                <a:solidFill>
                  <a:srgbClr val="1B1B1F"/>
                </a:solidFill>
              </a:rPr>
              <a:t>“ →</a:t>
            </a:r>
            <a:endParaRPr lang="en-US" sz="2200" dirty="0"/>
          </a:p>
        </p:txBody>
      </p:sp>
      <p:sp>
        <p:nvSpPr>
          <p:cNvPr id="7" name="Geheimtext-Kasten"/>
          <p:cNvSpPr/>
          <p:nvPr/>
        </p:nvSpPr>
        <p:spPr>
          <a:xfrm>
            <a:off x="6278728" y="1840484"/>
            <a:ext cx="5364328" cy="1323975"/>
          </a:xfrm>
          <a:prstGeom prst="rect">
            <a:avLst/>
          </a:prstGeom>
          <a:solidFill>
            <a:srgbClr val="F2EADB"/>
          </a:solidFill>
          <a:ln w="9525">
            <a:solidFill>
              <a:srgbClr val="D8CDB8"/>
            </a:solidFill>
            <a:prstDash val="solid"/>
          </a:ln>
        </p:spPr>
      </p:sp>
      <p:sp>
        <p:nvSpPr>
          <p:cNvPr id="8" name="Text 6"/>
          <p:cNvSpPr txBox="1"/>
          <p:nvPr/>
        </p:nvSpPr>
        <p:spPr>
          <a:xfrm>
            <a:off x="6507328" y="1950212"/>
            <a:ext cx="4907128" cy="1104519"/>
          </a:xfrm>
          <a:prstGeom prst="rect">
            <a:avLst/>
          </a:prstGeom>
          <a:noFill/>
          <a:ln/>
        </p:spPr>
        <p:txBody>
          <a:bodyPr wrap="square" lIns="0" tIns="0" rIns="0" bIns="0" rtlCol="0" anchor="t"/>
          <a:lstStyle/>
          <a:p>
            <a:pPr indent="0" marL="0">
              <a:lnSpc>
                <a:spcPct val="115000"/>
              </a:lnSpc>
              <a:buNone/>
            </a:pPr>
            <a:r>
              <a:rPr lang="en-US" sz="1900" b="1" spc="200" kern="0" dirty="0">
                <a:solidFill>
                  <a:srgbClr val="1B1B1F"/>
                </a:solidFill>
                <a:latin typeface="Consolas" pitchFamily="34" charset="0"/>
                <a:ea typeface="Consolas" pitchFamily="34" charset="-122"/>
                <a:cs typeface="Consolas" pitchFamily="34" charset="-120"/>
              </a:rPr>
              <a:t>1751ffd9 a4d1d9b3 e14e3209</a:t>
            </a:r>
            <a:endParaRPr lang="en-US" sz="1900" dirty="0"/>
          </a:p>
          <a:p>
            <a:pPr indent="0" marL="0">
              <a:lnSpc>
                <a:spcPct val="115000"/>
              </a:lnSpc>
              <a:buNone/>
            </a:pPr>
            <a:r>
              <a:rPr lang="en-US" sz="1900" b="1" spc="200" kern="0" dirty="0">
                <a:solidFill>
                  <a:srgbClr val="1B1B1F"/>
                </a:solidFill>
                <a:latin typeface="Consolas" pitchFamily="34" charset="0"/>
                <a:ea typeface="Consolas" pitchFamily="34" charset="-122"/>
                <a:cs typeface="Consolas" pitchFamily="34" charset="-120"/>
              </a:rPr>
              <a:t>a9fe839e 516bf7a6 000e14cf</a:t>
            </a:r>
            <a:endParaRPr lang="en-US" sz="1900" dirty="0"/>
          </a:p>
          <a:p>
            <a:pPr indent="0" marL="0">
              <a:lnSpc>
                <a:spcPct val="115000"/>
              </a:lnSpc>
              <a:buNone/>
            </a:pPr>
            <a:r>
              <a:rPr lang="en-US" sz="1900" b="1" spc="200" kern="0" dirty="0">
                <a:solidFill>
                  <a:srgbClr val="1B1B1F"/>
                </a:solidFill>
                <a:latin typeface="Consolas" pitchFamily="34" charset="0"/>
                <a:ea typeface="Consolas" pitchFamily="34" charset="-122"/>
                <a:cs typeface="Consolas" pitchFamily="34" charset="-120"/>
              </a:rPr>
              <a:t>76b6f21e 79bd0dc3</a:t>
            </a:r>
            <a:endParaRPr lang="en-US" sz="1900" dirty="0"/>
          </a:p>
        </p:txBody>
      </p:sp>
      <p:sp>
        <p:nvSpPr>
          <p:cNvPr id="9" name="Text 7"/>
          <p:cNvSpPr txBox="1"/>
          <p:nvPr/>
        </p:nvSpPr>
        <p:spPr>
          <a:xfrm>
            <a:off x="548640" y="3420491"/>
            <a:ext cx="11094415" cy="386588"/>
          </a:xfrm>
          <a:prstGeom prst="rect">
            <a:avLst/>
          </a:prstGeom>
          <a:noFill/>
          <a:ln/>
        </p:spPr>
        <p:txBody>
          <a:bodyPr wrap="square" lIns="0" tIns="0" rIns="0" bIns="0" rtlCol="0" anchor="t"/>
          <a:lstStyle/>
          <a:p>
            <a:pPr algn="ctr" indent="0" marL="0">
              <a:buNone/>
            </a:pPr>
            <a:r>
              <a:rPr lang="en-US" sz="2200" dirty="0">
                <a:solidFill>
                  <a:srgbClr val="1B1B1F"/>
                </a:solidFill>
              </a:rPr>
              <a:t>Ein Buchstabe anders → </a:t>
            </a:r>
            <a:r>
              <a:rPr lang="en-US" sz="2200" b="1" dirty="0">
                <a:solidFill>
                  <a:srgbClr val="1B1B1F"/>
                </a:solidFill>
              </a:rPr>
              <a:t>134 von 256 Bits</a:t>
            </a:r>
            <a:r>
              <a:rPr lang="en-US" sz="2200" dirty="0">
                <a:solidFill>
                  <a:srgbClr val="1B1B1F"/>
                </a:solidFill>
              </a:rPr>
              <a:t> verschieden.</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Falle P9 · Hash ist keine Verschlüsselung</a:t>
            </a:r>
            <a:endParaRPr lang="en-US" sz="3000" dirty="0"/>
          </a:p>
        </p:txBody>
      </p:sp>
      <p:sp>
        <p:nvSpPr>
          <p:cNvPr id="3" name="Text 1"/>
          <p:cNvSpPr txBox="1"/>
          <p:nvPr/>
        </p:nvSpPr>
        <p:spPr>
          <a:xfrm>
            <a:off x="548640" y="1325880"/>
            <a:ext cx="11094415" cy="432308"/>
          </a:xfrm>
          <a:prstGeom prst="rect">
            <a:avLst/>
          </a:prstGeom>
          <a:noFill/>
          <a:ln/>
        </p:spPr>
        <p:txBody>
          <a:bodyPr wrap="square" lIns="0" tIns="0" rIns="0" bIns="0" rtlCol="0" anchor="t"/>
          <a:lstStyle/>
          <a:p>
            <a:pPr indent="0" marL="0">
              <a:buNone/>
            </a:pPr>
            <a:r>
              <a:rPr lang="en-US" sz="2200" dirty="0">
                <a:solidFill>
                  <a:srgbClr val="1B1B1F"/>
                </a:solidFill>
              </a:rPr>
              <a:t>Ein Hashwert dient zum </a:t>
            </a:r>
            <a:r>
              <a:rPr lang="en-US" sz="2200" b="1" dirty="0">
                <a:solidFill>
                  <a:srgbClr val="1B1B1F"/>
                </a:solidFill>
              </a:rPr>
              <a:t>Prüfen</a:t>
            </a:r>
            <a:r>
              <a:rPr lang="en-US" sz="2200" dirty="0">
                <a:solidFill>
                  <a:srgbClr val="1B1B1F"/>
                </a:solidFill>
              </a:rPr>
              <a:t> (Integrität), nicht zum </a:t>
            </a:r>
            <a:r>
              <a:rPr lang="en-US" sz="2200" b="1" dirty="0">
                <a:solidFill>
                  <a:srgbClr val="1B1B1F"/>
                </a:solidFill>
              </a:rPr>
              <a:t>Geheimhalten</a:t>
            </a:r>
            <a:r>
              <a:rPr lang="en-US" sz="2200" dirty="0">
                <a:solidFill>
                  <a:srgbClr val="1B1B1F"/>
                </a:solidFill>
              </a:rPr>
              <a:t>.</a:t>
            </a:r>
            <a:endParaRPr lang="en-US" sz="2200" dirty="0"/>
          </a:p>
        </p:txBody>
      </p:sp>
      <p:sp>
        <p:nvSpPr>
          <p:cNvPr id="4" name="Shape 2"/>
          <p:cNvSpPr/>
          <p:nvPr/>
        </p:nvSpPr>
        <p:spPr>
          <a:xfrm>
            <a:off x="548640" y="1941068"/>
            <a:ext cx="5364328" cy="2110740"/>
          </a:xfrm>
          <a:prstGeom prst="roundRect">
            <a:avLst>
              <a:gd name="adj" fmla="val 3466"/>
            </a:avLst>
          </a:prstGeom>
          <a:solidFill>
            <a:srgbClr val="FDF3F2"/>
          </a:solidFill>
          <a:ln w="15875">
            <a:solidFill>
              <a:srgbClr val="B3261E"/>
            </a:solidFill>
            <a:prstDash val="solid"/>
          </a:ln>
        </p:spPr>
      </p:sp>
      <p:sp>
        <p:nvSpPr>
          <p:cNvPr id="5" name="Text 3"/>
          <p:cNvSpPr txBox="1"/>
          <p:nvPr/>
        </p:nvSpPr>
        <p:spPr>
          <a:xfrm>
            <a:off x="822960" y="2123948"/>
            <a:ext cx="4815688" cy="365760"/>
          </a:xfrm>
          <a:prstGeom prst="rect">
            <a:avLst/>
          </a:prstGeom>
          <a:noFill/>
          <a:ln/>
        </p:spPr>
        <p:txBody>
          <a:bodyPr wrap="square" lIns="0" tIns="0" rIns="0" bIns="0" rtlCol="0" anchor="ctr"/>
          <a:lstStyle/>
          <a:p>
            <a:pPr indent="0" marL="0">
              <a:buNone/>
            </a:pPr>
            <a:r>
              <a:rPr lang="en-US" sz="1800" b="1" spc="200" kern="0" dirty="0">
                <a:solidFill>
                  <a:srgbClr val="B3261E"/>
                </a:solidFill>
              </a:rPr>
              <a:t>SO NICHT  ✗</a:t>
            </a:r>
            <a:endParaRPr lang="en-US" sz="1800" dirty="0"/>
          </a:p>
        </p:txBody>
      </p:sp>
      <p:sp>
        <p:nvSpPr>
          <p:cNvPr id="6" name="Text 4"/>
          <p:cNvSpPr txBox="1"/>
          <p:nvPr/>
        </p:nvSpPr>
        <p:spPr>
          <a:xfrm>
            <a:off x="822960" y="2626868"/>
            <a:ext cx="4815688" cy="1068324"/>
          </a:xfrm>
          <a:prstGeom prst="rect">
            <a:avLst/>
          </a:prstGeom>
          <a:noFill/>
          <a:ln/>
        </p:spPr>
        <p:txBody>
          <a:bodyPr wrap="square" lIns="0" tIns="0" rIns="0" bIns="0" rtlCol="0" anchor="t"/>
          <a:lstStyle/>
          <a:p>
            <a:pPr algn="l" indent="0" marL="0">
              <a:buNone/>
            </a:pPr>
            <a:r>
              <a:rPr lang="en-US" sz="2200" dirty="0">
                <a:solidFill>
                  <a:srgbClr val="1B1B1F"/>
                </a:solidFill>
              </a:rPr>
              <a:t>„Ich speichere nur den Hash meines Tagebuchs – dann ist es </a:t>
            </a:r>
            <a:r>
              <a:rPr lang="en-US" sz="2200" b="1" dirty="0">
                <a:solidFill>
                  <a:srgbClr val="1B1B1F"/>
                </a:solidFill>
              </a:rPr>
              <a:t>verschlüsselt</a:t>
            </a:r>
            <a:r>
              <a:rPr lang="en-US" sz="2200" dirty="0">
                <a:solidFill>
                  <a:srgbClr val="1B1B1F"/>
                </a:solidFill>
              </a:rPr>
              <a:t>.“</a:t>
            </a:r>
            <a:endParaRPr lang="en-US" sz="2200" dirty="0"/>
          </a:p>
        </p:txBody>
      </p:sp>
      <p:sp>
        <p:nvSpPr>
          <p:cNvPr id="7" name="Shape 5"/>
          <p:cNvSpPr/>
          <p:nvPr/>
        </p:nvSpPr>
        <p:spPr>
          <a:xfrm>
            <a:off x="6278728" y="1941068"/>
            <a:ext cx="5364328" cy="3089148"/>
          </a:xfrm>
          <a:prstGeom prst="roundRect">
            <a:avLst>
              <a:gd name="adj" fmla="val 2368"/>
            </a:avLst>
          </a:prstGeom>
          <a:solidFill>
            <a:srgbClr val="EEF6EE"/>
          </a:solidFill>
          <a:ln w="15875">
            <a:solidFill>
              <a:srgbClr val="2E7D32"/>
            </a:solidFill>
            <a:prstDash val="solid"/>
          </a:ln>
        </p:spPr>
      </p:sp>
      <p:sp>
        <p:nvSpPr>
          <p:cNvPr id="8" name="Text 6"/>
          <p:cNvSpPr txBox="1"/>
          <p:nvPr/>
        </p:nvSpPr>
        <p:spPr>
          <a:xfrm>
            <a:off x="6553048" y="2123948"/>
            <a:ext cx="4815688" cy="365760"/>
          </a:xfrm>
          <a:prstGeom prst="rect">
            <a:avLst/>
          </a:prstGeom>
          <a:noFill/>
          <a:ln/>
        </p:spPr>
        <p:txBody>
          <a:bodyPr wrap="square" lIns="0" tIns="0" rIns="0" bIns="0" rtlCol="0" anchor="ctr"/>
          <a:lstStyle/>
          <a:p>
            <a:pPr indent="0" marL="0">
              <a:buNone/>
            </a:pPr>
            <a:r>
              <a:rPr lang="en-US" sz="1800" b="1" spc="200" kern="0" dirty="0">
                <a:solidFill>
                  <a:srgbClr val="2E7D32"/>
                </a:solidFill>
              </a:rPr>
              <a:t>SO RICHTIG  ✓</a:t>
            </a:r>
            <a:endParaRPr lang="en-US" sz="1800" dirty="0"/>
          </a:p>
        </p:txBody>
      </p:sp>
      <p:sp>
        <p:nvSpPr>
          <p:cNvPr id="9" name="Text 7"/>
          <p:cNvSpPr txBox="1"/>
          <p:nvPr/>
        </p:nvSpPr>
        <p:spPr>
          <a:xfrm>
            <a:off x="6553048" y="2626868"/>
            <a:ext cx="4815688" cy="1315212"/>
          </a:xfrm>
          <a:prstGeom prst="rect">
            <a:avLst/>
          </a:prstGeom>
          <a:noFill/>
          <a:ln/>
        </p:spPr>
        <p:txBody>
          <a:bodyPr wrap="square" lIns="0" tIns="0" rIns="0" bIns="0" rtlCol="0" anchor="t"/>
          <a:lstStyle/>
          <a:p>
            <a:pPr marL="279400" indent="-279400">
              <a:spcAft>
                <a:spcPts val="600"/>
              </a:spcAft>
              <a:buSzPct val="100000"/>
              <a:buChar char="●"/>
            </a:pPr>
            <a:r>
              <a:rPr lang="en-US" sz="2200" dirty="0">
                <a:solidFill>
                  <a:srgbClr val="1B1B1F"/>
                </a:solidFill>
              </a:rPr>
              <a:t>kein Schlüssel</a:t>
            </a:r>
            <a:endParaRPr lang="en-US" sz="2200" dirty="0"/>
          </a:p>
          <a:p>
            <a:pPr marL="279400" indent="-279400">
              <a:spcAft>
                <a:spcPts val="600"/>
              </a:spcAft>
              <a:buSzPct val="100000"/>
              <a:buChar char="●"/>
            </a:pPr>
            <a:r>
              <a:rPr lang="en-US" sz="2200" dirty="0">
                <a:solidFill>
                  <a:srgbClr val="1B1B1F"/>
                </a:solidFill>
              </a:rPr>
              <a:t>nicht umkehrbar</a:t>
            </a:r>
            <a:endParaRPr lang="en-US" sz="2200" dirty="0"/>
          </a:p>
          <a:p>
            <a:pPr marL="279400" indent="-279400">
              <a:spcAft>
                <a:spcPts val="600"/>
              </a:spcAft>
              <a:buSzPct val="100000"/>
              <a:buChar char="●"/>
            </a:pPr>
            <a:r>
              <a:rPr lang="en-US" sz="2200" dirty="0">
                <a:solidFill>
                  <a:srgbClr val="1B1B1F"/>
                </a:solidFill>
              </a:rPr>
              <a:t>viele Nachrichten je Hashwert</a:t>
            </a:r>
            <a:endParaRPr lang="en-US" sz="2200" dirty="0"/>
          </a:p>
        </p:txBody>
      </p:sp>
      <p:sp>
        <p:nvSpPr>
          <p:cNvPr id="10" name="Text 8"/>
          <p:cNvSpPr txBox="1"/>
          <p:nvPr/>
        </p:nvSpPr>
        <p:spPr>
          <a:xfrm>
            <a:off x="6553048" y="4070096"/>
            <a:ext cx="4815688" cy="603504"/>
          </a:xfrm>
          <a:prstGeom prst="rect">
            <a:avLst/>
          </a:prstGeom>
          <a:noFill/>
          <a:ln/>
        </p:spPr>
        <p:txBody>
          <a:bodyPr wrap="square" lIns="0" tIns="0" rIns="0" bIns="0" rtlCol="0" anchor="t"/>
          <a:lstStyle/>
          <a:p>
            <a:pPr algn="l" indent="0" marL="0">
              <a:buNone/>
            </a:pPr>
            <a:r>
              <a:rPr lang="en-US" sz="1800" dirty="0">
                <a:solidFill>
                  <a:srgbClr val="1B1B1F"/>
                </a:solidFill>
              </a:rPr>
              <a:t>heute: </a:t>
            </a:r>
            <a:r>
              <a:rPr lang="en-US" sz="1800" b="1" dirty="0">
                <a:solidFill>
                  <a:srgbClr val="1B1B1F"/>
                </a:solidFill>
              </a:rPr>
              <a:t>SHA-256</a:t>
            </a:r>
            <a:r>
              <a:rPr lang="en-US" sz="1800" dirty="0">
                <a:solidFill>
                  <a:srgbClr val="1B1B1F"/>
                </a:solidFill>
              </a:rPr>
              <a:t>, SHA-3 · gebrochen: </a:t>
            </a:r>
            <a:r>
              <a:rPr lang="en-US" sz="1800" b="1" dirty="0">
                <a:solidFill>
                  <a:srgbClr val="1B1B1F"/>
                </a:solidFill>
              </a:rPr>
              <a:t>MD5, SHA-1</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Der KRYPTOS-Hash</a:t>
            </a:r>
            <a:endParaRPr lang="en-US" sz="3000" dirty="0"/>
          </a:p>
        </p:txBody>
      </p:sp>
      <p:sp>
        <p:nvSpPr>
          <p:cNvPr id="3" name="Text 1"/>
          <p:cNvSpPr txBox="1"/>
          <p:nvPr/>
        </p:nvSpPr>
        <p:spPr>
          <a:xfrm>
            <a:off x="548640" y="1325880"/>
            <a:ext cx="5042468" cy="448564"/>
          </a:xfrm>
          <a:prstGeom prst="rect">
            <a:avLst/>
          </a:prstGeom>
          <a:noFill/>
          <a:ln/>
        </p:spPr>
        <p:txBody>
          <a:bodyPr wrap="square" lIns="0" tIns="0" rIns="0" bIns="0" rtlCol="0" anchor="t"/>
          <a:lstStyle/>
          <a:p>
            <a:pPr algn="ctr" indent="0" marL="0">
              <a:buNone/>
            </a:pPr>
            <a:r>
              <a:rPr lang="en-US" sz="2600" dirty="0">
                <a:solidFill>
                  <a:srgbClr val="1B1B1F"/>
                </a:solidFill>
              </a:rPr>
              <a:t>h ← (3 · h + w) mod 29</a:t>
            </a:r>
            <a:endParaRPr lang="en-US" sz="2600" dirty="0"/>
          </a:p>
        </p:txBody>
      </p:sp>
      <p:sp>
        <p:nvSpPr>
          <p:cNvPr id="4" name="Text 2"/>
          <p:cNvSpPr txBox="1"/>
          <p:nvPr/>
        </p:nvSpPr>
        <p:spPr>
          <a:xfrm>
            <a:off x="548640" y="1902460"/>
            <a:ext cx="5042468" cy="324612"/>
          </a:xfrm>
          <a:prstGeom prst="rect">
            <a:avLst/>
          </a:prstGeom>
          <a:noFill/>
          <a:ln/>
        </p:spPr>
        <p:txBody>
          <a:bodyPr wrap="square" lIns="0" tIns="0" rIns="0" bIns="0" rtlCol="0" anchor="t"/>
          <a:lstStyle/>
          <a:p>
            <a:pPr algn="l" indent="0" marL="0">
              <a:buNone/>
            </a:pPr>
            <a:r>
              <a:rPr lang="en-US" sz="1800" dirty="0">
                <a:solidFill>
                  <a:srgbClr val="1B1B1F"/>
                </a:solidFill>
              </a:rPr>
              <a:t>Start h = 0 · Nummerierung </a:t>
            </a:r>
            <a:r>
              <a:rPr lang="en-US" sz="1800" b="1" dirty="0">
                <a:solidFill>
                  <a:srgbClr val="1B1B1F"/>
                </a:solidFill>
              </a:rPr>
              <a:t>A = 1 … Z = 26</a:t>
            </a:r>
            <a:endParaRPr lang="en-US" sz="1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2355088"/>
          <a:ext cx="5042468" cy="914400"/>
        </p:xfrm>
        <a:graphic>
          <a:graphicData uri="http://schemas.openxmlformats.org/drawingml/2006/table">
            <a:tbl>
              <a:tblPr/>
              <a:tblGrid>
                <a:gridCol w="1655736"/>
                <a:gridCol w="677346"/>
                <a:gridCol w="677346"/>
                <a:gridCol w="677346"/>
                <a:gridCol w="677346"/>
                <a:gridCol w="677346"/>
              </a:tblGrid>
              <a:tr h="0">
                <a:tc>
                  <a:txBody>
                    <a:bodyPr/>
                    <a:lstStyle/>
                    <a:p>
                      <a:pPr algn="ctr" indent="0" marL="0">
                        <a:buNone/>
                      </a:pPr>
                      <a:r>
                        <a:rPr lang="en-US" sz="1900" b="1" dirty="0">
                          <a:solidFill>
                            <a:srgbClr val="1B1B1F"/>
                          </a:solidFill>
                          <a:latin typeface="Calibri" pitchFamily="34" charset="0"/>
                          <a:ea typeface="Calibri" pitchFamily="34" charset="-122"/>
                          <a:cs typeface="Calibri" pitchFamily="34" charset="-120"/>
                        </a:rPr>
                        <a:t>Buchstabe</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900" dirty="0">
                          <a:solidFill>
                            <a:srgbClr val="1B1B1F"/>
                          </a:solidFill>
                          <a:latin typeface="Consolas" pitchFamily="34" charset="0"/>
                          <a:ea typeface="Consolas" pitchFamily="34" charset="-122"/>
                          <a:cs typeface="Consolas" pitchFamily="34" charset="-120"/>
                        </a:rPr>
                        <a:t>n</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1B1B1F"/>
                          </a:solidFill>
                          <a:latin typeface="Consolas" pitchFamily="34" charset="0"/>
                          <a:ea typeface="Consolas" pitchFamily="34" charset="-122"/>
                          <a:cs typeface="Consolas" pitchFamily="34" charset="-120"/>
                        </a:rPr>
                        <a:t>e</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1B1B1F"/>
                          </a:solidFill>
                          <a:latin typeface="Consolas" pitchFamily="34" charset="0"/>
                          <a:ea typeface="Consolas" pitchFamily="34" charset="-122"/>
                          <a:cs typeface="Consolas" pitchFamily="34" charset="-120"/>
                        </a:rPr>
                        <a:t>b</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1B1B1F"/>
                          </a:solidFill>
                          <a:latin typeface="Consolas" pitchFamily="34" charset="0"/>
                          <a:ea typeface="Consolas" pitchFamily="34" charset="-122"/>
                          <a:cs typeface="Consolas" pitchFamily="34" charset="-120"/>
                        </a:rPr>
                        <a:t>e</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1B1B1F"/>
                          </a:solidFill>
                          <a:latin typeface="Consolas" pitchFamily="34" charset="0"/>
                          <a:ea typeface="Consolas" pitchFamily="34" charset="-122"/>
                          <a:cs typeface="Consolas" pitchFamily="34" charset="-120"/>
                        </a:rPr>
                        <a:t>l</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ctr" indent="0" marL="0">
                        <a:buNone/>
                      </a:pPr>
                      <a:r>
                        <a:rPr lang="en-US" sz="1900" b="1" dirty="0">
                          <a:solidFill>
                            <a:srgbClr val="1B1B1F"/>
                          </a:solidFill>
                          <a:latin typeface="Calibri" pitchFamily="34" charset="0"/>
                          <a:ea typeface="Calibri" pitchFamily="34" charset="-122"/>
                          <a:cs typeface="Calibri" pitchFamily="34" charset="-120"/>
                        </a:rPr>
                        <a:t>Wert w</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900" dirty="0">
                          <a:solidFill>
                            <a:srgbClr val="1B1B1F"/>
                          </a:solidFill>
                          <a:latin typeface="Calibri" pitchFamily="34" charset="0"/>
                          <a:ea typeface="Calibri" pitchFamily="34" charset="-122"/>
                          <a:cs typeface="Calibri" pitchFamily="34" charset="-120"/>
                        </a:rPr>
                        <a:t>14</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1B1B1F"/>
                          </a:solidFill>
                          <a:latin typeface="Calibri" pitchFamily="34" charset="0"/>
                          <a:ea typeface="Calibri" pitchFamily="34" charset="-122"/>
                          <a:cs typeface="Calibri" pitchFamily="34" charset="-120"/>
                        </a:rPr>
                        <a:t>5</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1B1B1F"/>
                          </a:solidFill>
                          <a:latin typeface="Calibri" pitchFamily="34" charset="0"/>
                          <a:ea typeface="Calibri" pitchFamily="34" charset="-122"/>
                          <a:cs typeface="Calibri" pitchFamily="34" charset="-120"/>
                        </a:rPr>
                        <a:t>2</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1B1B1F"/>
                          </a:solidFill>
                          <a:latin typeface="Calibri" pitchFamily="34" charset="0"/>
                          <a:ea typeface="Calibri" pitchFamily="34" charset="-122"/>
                          <a:cs typeface="Calibri" pitchFamily="34" charset="-120"/>
                        </a:rPr>
                        <a:t>5</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1B1B1F"/>
                          </a:solidFill>
                          <a:latin typeface="Calibri" pitchFamily="34" charset="0"/>
                          <a:ea typeface="Calibri" pitchFamily="34" charset="-122"/>
                          <a:cs typeface="Calibri" pitchFamily="34" charset="-120"/>
                        </a:rPr>
                        <a:t>12</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ctr" indent="0" marL="0">
                        <a:buNone/>
                      </a:pPr>
                      <a:r>
                        <a:rPr lang="en-US" sz="1900" b="1" dirty="0">
                          <a:solidFill>
                            <a:srgbClr val="1B1B1F"/>
                          </a:solidFill>
                          <a:latin typeface="Calibri" pitchFamily="34" charset="0"/>
                          <a:ea typeface="Calibri" pitchFamily="34" charset="-122"/>
                          <a:cs typeface="Calibri" pitchFamily="34" charset="-120"/>
                        </a:rPr>
                        <a:t>3 · h + w</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900" dirty="0">
                          <a:solidFill>
                            <a:srgbClr val="1B1B1F"/>
                          </a:solidFill>
                          <a:latin typeface="Calibri" pitchFamily="34" charset="0"/>
                          <a:ea typeface="Calibri" pitchFamily="34" charset="-122"/>
                          <a:cs typeface="Calibri" pitchFamily="34" charset="-120"/>
                        </a:rPr>
                        <a:t>14</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1B1B1F"/>
                          </a:solidFill>
                          <a:latin typeface="Calibri" pitchFamily="34" charset="0"/>
                          <a:ea typeface="Calibri" pitchFamily="34" charset="-122"/>
                          <a:cs typeface="Calibri" pitchFamily="34" charset="-120"/>
                        </a:rPr>
                        <a:t>47</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1B1B1F"/>
                          </a:solidFill>
                          <a:latin typeface="Calibri" pitchFamily="34" charset="0"/>
                          <a:ea typeface="Calibri" pitchFamily="34" charset="-122"/>
                          <a:cs typeface="Calibri" pitchFamily="34" charset="-120"/>
                        </a:rPr>
                        <a:t>56</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1B1B1F"/>
                          </a:solidFill>
                          <a:latin typeface="Calibri" pitchFamily="34" charset="0"/>
                          <a:ea typeface="Calibri" pitchFamily="34" charset="-122"/>
                          <a:cs typeface="Calibri" pitchFamily="34" charset="-120"/>
                        </a:rPr>
                        <a:t>86</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1B1B1F"/>
                          </a:solidFill>
                          <a:latin typeface="Calibri" pitchFamily="34" charset="0"/>
                          <a:ea typeface="Calibri" pitchFamily="34" charset="-122"/>
                          <a:cs typeface="Calibri" pitchFamily="34" charset="-120"/>
                        </a:rPr>
                        <a:t>96</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ctr" indent="0" marL="0">
                        <a:buNone/>
                      </a:pPr>
                      <a:r>
                        <a:rPr lang="en-US" sz="1900" b="1" dirty="0">
                          <a:solidFill>
                            <a:srgbClr val="1B1B1F"/>
                          </a:solidFill>
                          <a:latin typeface="Calibri" pitchFamily="34" charset="0"/>
                          <a:ea typeface="Calibri" pitchFamily="34" charset="-122"/>
                          <a:cs typeface="Calibri" pitchFamily="34" charset="-120"/>
                        </a:rPr>
                        <a:t>h</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900" dirty="0">
                          <a:solidFill>
                            <a:srgbClr val="1B1B1F"/>
                          </a:solidFill>
                          <a:latin typeface="Calibri" pitchFamily="34" charset="0"/>
                          <a:ea typeface="Calibri" pitchFamily="34" charset="-122"/>
                          <a:cs typeface="Calibri" pitchFamily="34" charset="-120"/>
                        </a:rPr>
                        <a:t>14</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1B1B1F"/>
                          </a:solidFill>
                          <a:latin typeface="Calibri" pitchFamily="34" charset="0"/>
                          <a:ea typeface="Calibri" pitchFamily="34" charset="-122"/>
                          <a:cs typeface="Calibri" pitchFamily="34" charset="-120"/>
                        </a:rPr>
                        <a:t>18</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1B1B1F"/>
                          </a:solidFill>
                          <a:latin typeface="Calibri" pitchFamily="34" charset="0"/>
                          <a:ea typeface="Calibri" pitchFamily="34" charset="-122"/>
                          <a:cs typeface="Calibri" pitchFamily="34" charset="-120"/>
                        </a:rPr>
                        <a:t>27</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1B1B1F"/>
                          </a:solidFill>
                          <a:latin typeface="Calibri" pitchFamily="34" charset="0"/>
                          <a:ea typeface="Calibri" pitchFamily="34" charset="-122"/>
                          <a:cs typeface="Calibri" pitchFamily="34" charset="-120"/>
                        </a:rPr>
                        <a:t>28</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900" b="1" dirty="0">
                          <a:solidFill>
                            <a:srgbClr val="1B1B1F"/>
                          </a:solidFill>
                          <a:latin typeface="Calibri" pitchFamily="34" charset="0"/>
                          <a:ea typeface="Calibri" pitchFamily="34" charset="-122"/>
                          <a:cs typeface="Calibri" pitchFamily="34" charset="-120"/>
                        </a:rPr>
                        <a:t>9</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4026408"/>
            <a:ext cx="5042468" cy="603504"/>
          </a:xfrm>
          <a:prstGeom prst="rect">
            <a:avLst/>
          </a:prstGeom>
          <a:noFill/>
          <a:ln/>
        </p:spPr>
        <p:txBody>
          <a:bodyPr wrap="square" lIns="0" tIns="0" rIns="0" bIns="0" rtlCol="0" anchor="t"/>
          <a:lstStyle/>
          <a:p>
            <a:pPr algn="l" indent="0" marL="0">
              <a:buNone/>
            </a:pPr>
            <a:r>
              <a:rPr lang="en-US" sz="1800" dirty="0">
                <a:solidFill>
                  <a:srgbClr val="1B1B1F"/>
                </a:solidFill>
              </a:rPr>
              <a:t>KH(„nebel“) = </a:t>
            </a:r>
            <a:r>
              <a:rPr lang="en-US" sz="1800" b="1" dirty="0">
                <a:solidFill>
                  <a:srgbClr val="1B1B1F"/>
                </a:solidFill>
              </a:rPr>
              <a:t>9</a:t>
            </a:r>
            <a:r>
              <a:rPr lang="en-US" sz="1800" dirty="0">
                <a:solidFill>
                  <a:srgbClr val="1B1B1F"/>
                </a:solidFill>
              </a:rPr>
              <a:t> · Tipp: 29, 58 oder 87 abziehen</a:t>
            </a:r>
            <a:endParaRPr lang="en-US" sz="1800" dirty="0"/>
          </a:p>
        </p:txBody>
      </p:sp>
      <p:pic>
        <p:nvPicPr>
          <p:cNvPr id="7" name="Image 0" descr="struktogramm">    </p:cNvPr>
          <p:cNvPicPr>
            <a:picLocks noChangeAspect="1"/>
          </p:cNvPicPr>
          <p:nvPr/>
        </p:nvPicPr>
        <p:blipFill>
          <a:blip r:embed="rId1"/>
          <a:stretch>
            <a:fillRect/>
          </a:stretch>
        </p:blipFill>
        <p:spPr>
          <a:xfrm>
            <a:off x="5956868" y="1325880"/>
            <a:ext cx="5686187" cy="2555331"/>
          </a:xfrm>
          <a:prstGeom prst="rect">
            <a:avLst/>
          </a:prstGeom>
        </p:spPr>
      </p:pic>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Kollision!</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651760"/>
                <a:gridCol w="2103120"/>
                <a:gridCol w="2103120"/>
                <a:gridCol w="2103120"/>
                <a:gridCol w="2103120"/>
              </a:tblGrid>
              <a:tr h="0">
                <a:tc>
                  <a:txBody>
                    <a:bodyPr/>
                    <a:lstStyle/>
                    <a:p>
                      <a:pPr algn="ctr" indent="0" marL="0">
                        <a:buNone/>
                      </a:pPr>
                      <a:r>
                        <a:rPr lang="en-US" sz="2000" b="1" dirty="0">
                          <a:solidFill>
                            <a:srgbClr val="1B1B1F"/>
                          </a:solidFill>
                          <a:latin typeface="Calibri" pitchFamily="34" charset="0"/>
                          <a:ea typeface="Calibri" pitchFamily="34" charset="-122"/>
                          <a:cs typeface="Calibri" pitchFamily="34" charset="-120"/>
                        </a:rPr>
                        <a:t>Fach (Hashwert)</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000" b="1" dirty="0">
                          <a:solidFill>
                            <a:srgbClr val="1B1B1F"/>
                          </a:solidFill>
                          <a:latin typeface="Calibri" pitchFamily="34" charset="0"/>
                          <a:ea typeface="Calibri" pitchFamily="34" charset="-122"/>
                          <a:cs typeface="Calibri" pitchFamily="34" charset="-120"/>
                        </a:rPr>
                        <a:t>4</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000" b="1" dirty="0">
                          <a:solidFill>
                            <a:srgbClr val="1B1B1F"/>
                          </a:solidFill>
                          <a:latin typeface="Calibri" pitchFamily="34" charset="0"/>
                          <a:ea typeface="Calibri" pitchFamily="34" charset="-122"/>
                          <a:cs typeface="Calibri" pitchFamily="34" charset="-120"/>
                        </a:rPr>
                        <a:t>9</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000" b="1" dirty="0">
                          <a:solidFill>
                            <a:srgbClr val="1B1B1F"/>
                          </a:solidFill>
                          <a:latin typeface="Calibri" pitchFamily="34" charset="0"/>
                          <a:ea typeface="Calibri" pitchFamily="34" charset="-122"/>
                          <a:cs typeface="Calibri" pitchFamily="34" charset="-120"/>
                        </a:rPr>
                        <a:t>11</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000" b="1" dirty="0">
                          <a:solidFill>
                            <a:srgbClr val="1B1B1F"/>
                          </a:solidFill>
                          <a:latin typeface="Calibri" pitchFamily="34" charset="0"/>
                          <a:ea typeface="Calibri" pitchFamily="34" charset="-122"/>
                          <a:cs typeface="Calibri" pitchFamily="34" charset="-120"/>
                        </a:rPr>
                        <a:t>22</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ctr" indent="0" marL="0">
                        <a:buNone/>
                      </a:pPr>
                      <a:r>
                        <a:rPr lang="en-US" sz="2000" b="1" dirty="0">
                          <a:solidFill>
                            <a:srgbClr val="1B1B1F"/>
                          </a:solidFill>
                          <a:latin typeface="Calibri" pitchFamily="34" charset="0"/>
                          <a:ea typeface="Calibri" pitchFamily="34" charset="-122"/>
                          <a:cs typeface="Calibri" pitchFamily="34" charset="-120"/>
                        </a:rPr>
                        <a:t>Nachrichten</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000" dirty="0">
                          <a:solidFill>
                            <a:srgbClr val="1B1B1F"/>
                          </a:solidFill>
                          <a:latin typeface="Calibri" pitchFamily="34" charset="0"/>
                          <a:ea typeface="Calibri" pitchFamily="34" charset="-122"/>
                          <a:cs typeface="Calibri" pitchFamily="34" charset="-120"/>
                        </a:rPr>
                        <a:t>hafen, eis, zoo, bear</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alibri" pitchFamily="34" charset="0"/>
                          <a:ea typeface="Calibri" pitchFamily="34" charset="-122"/>
                          <a:cs typeface="Calibri" pitchFamily="34" charset="-120"/>
                        </a:rPr>
                        <a:t>nebel, nebfi</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alibri" pitchFamily="34" charset="0"/>
                          <a:ea typeface="Calibri" pitchFamily="34" charset="-122"/>
                          <a:cs typeface="Calibri" pitchFamily="34" charset="-120"/>
                        </a:rPr>
                        <a:t>anker, tor</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1B1B1F"/>
                          </a:solidFill>
                          <a:latin typeface="Calibri" pitchFamily="34" charset="0"/>
                          <a:ea typeface="Calibri" pitchFamily="34" charset="-122"/>
                          <a:cs typeface="Calibri" pitchFamily="34" charset="-120"/>
                        </a:rPr>
                        <a:t>heute, morgen</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r>
            </a:tbl>
          </a:graphicData>
        </a:graphic>
      </p:graphicFrame>
      <p:sp>
        <p:nvSpPr>
          <p:cNvPr id="4" name="Text 1"/>
          <p:cNvSpPr txBox="1"/>
          <p:nvPr/>
        </p:nvSpPr>
        <p:spPr>
          <a:xfrm>
            <a:off x="548640" y="2566416"/>
            <a:ext cx="11094415" cy="727456"/>
          </a:xfrm>
          <a:prstGeom prst="rect">
            <a:avLst/>
          </a:prstGeom>
          <a:noFill/>
          <a:ln/>
        </p:spPr>
        <p:txBody>
          <a:bodyPr wrap="square" lIns="0" tIns="0" rIns="0" bIns="0" rtlCol="0" anchor="t"/>
          <a:lstStyle/>
          <a:p>
            <a:pPr algn="l" indent="0" marL="0">
              <a:buNone/>
            </a:pPr>
            <a:r>
              <a:rPr lang="en-US" sz="2200" dirty="0">
                <a:solidFill>
                  <a:srgbClr val="1B1B1F"/>
                </a:solidFill>
              </a:rPr>
              <a:t>Nur </a:t>
            </a:r>
            <a:r>
              <a:rPr lang="en-US" sz="2200" b="1" dirty="0">
                <a:solidFill>
                  <a:srgbClr val="1B1B1F"/>
                </a:solidFill>
              </a:rPr>
              <a:t>29</a:t>
            </a:r>
            <a:r>
              <a:rPr lang="en-US" sz="2200" dirty="0">
                <a:solidFill>
                  <a:srgbClr val="1B1B1F"/>
                </a:solidFill>
              </a:rPr>
              <a:t> mögliche Hashwerte, aber unendlich viele Nachrichten → </a:t>
            </a:r>
            <a:r>
              <a:rPr lang="en-US" sz="2200" b="1" dirty="0">
                <a:solidFill>
                  <a:srgbClr val="1B1B1F"/>
                </a:solidFill>
              </a:rPr>
              <a:t>Schubfachprinzip</a:t>
            </a:r>
            <a:r>
              <a:rPr lang="en-US" sz="2200" dirty="0">
                <a:solidFill>
                  <a:srgbClr val="1B1B1F"/>
                </a:solidFill>
              </a:rPr>
              <a:t>: Unter 30 Nachrichten haben sicher zwei denselben Hash.</a:t>
            </a:r>
            <a:endParaRPr lang="en-US" sz="2200" dirty="0"/>
          </a:p>
        </p:txBody>
      </p:sp>
      <p:sp>
        <p:nvSpPr>
          <p:cNvPr id="5" name="Text 2"/>
          <p:cNvSpPr txBox="1"/>
          <p:nvPr/>
        </p:nvSpPr>
        <p:spPr>
          <a:xfrm>
            <a:off x="548640" y="3421888"/>
            <a:ext cx="11094415" cy="386588"/>
          </a:xfrm>
          <a:prstGeom prst="rect">
            <a:avLst/>
          </a:prstGeom>
          <a:noFill/>
          <a:ln/>
        </p:spPr>
        <p:txBody>
          <a:bodyPr wrap="square" lIns="0" tIns="0" rIns="0" bIns="0" rtlCol="0" anchor="t"/>
          <a:lstStyle/>
          <a:p>
            <a:pPr algn="l" indent="0" marL="0">
              <a:buNone/>
            </a:pPr>
            <a:r>
              <a:rPr lang="en-US" sz="2200" dirty="0">
                <a:solidFill>
                  <a:srgbClr val="1B1B1F"/>
                </a:solidFill>
              </a:rPr>
              <a:t>Jede Hashfunktion hat Kollisionen – gute machen sie </a:t>
            </a:r>
            <a:r>
              <a:rPr lang="en-US" sz="2200" b="1" dirty="0">
                <a:solidFill>
                  <a:srgbClr val="1B1B1F"/>
                </a:solidFill>
              </a:rPr>
              <a:t>unauffindbar</a:t>
            </a:r>
            <a:r>
              <a:rPr lang="en-US" sz="2200" dirty="0">
                <a:solidFill>
                  <a:srgbClr val="1B1B1F"/>
                </a:solidFill>
              </a:rPr>
              <a:t>.</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Kollisionen bauen</a:t>
            </a:r>
            <a:endParaRPr lang="en-US" sz="3000" dirty="0"/>
          </a:p>
        </p:txBody>
      </p:sp>
      <p:sp>
        <p:nvSpPr>
          <p:cNvPr id="3" name="Text 1"/>
          <p:cNvSpPr txBox="1"/>
          <p:nvPr/>
        </p:nvSpPr>
        <p:spPr>
          <a:xfrm>
            <a:off x="548640" y="1325880"/>
            <a:ext cx="11094415" cy="448564"/>
          </a:xfrm>
          <a:prstGeom prst="rect">
            <a:avLst/>
          </a:prstGeom>
          <a:noFill/>
          <a:ln/>
        </p:spPr>
        <p:txBody>
          <a:bodyPr wrap="square" lIns="0" tIns="0" rIns="0" bIns="0" rtlCol="0" anchor="t"/>
          <a:lstStyle/>
          <a:p>
            <a:pPr algn="ctr" indent="0" marL="0">
              <a:buNone/>
            </a:pPr>
            <a:r>
              <a:rPr lang="en-US" sz="2600" dirty="0">
                <a:solidFill>
                  <a:srgbClr val="1B1B1F"/>
                </a:solidFill>
              </a:rPr>
              <a:t>KH = (9 · h + 3 · v + l) mod 29</a:t>
            </a:r>
            <a:endParaRPr lang="en-US" sz="2600" dirty="0"/>
          </a:p>
        </p:txBody>
      </p:sp>
      <p:sp>
        <p:nvSpPr>
          <p:cNvPr id="4" name="Text 2"/>
          <p:cNvSpPr txBox="1"/>
          <p:nvPr/>
        </p:nvSpPr>
        <p:spPr>
          <a:xfrm>
            <a:off x="548640" y="1902460"/>
            <a:ext cx="11094415" cy="603504"/>
          </a:xfrm>
          <a:prstGeom prst="rect">
            <a:avLst/>
          </a:prstGeom>
          <a:noFill/>
          <a:ln/>
        </p:spPr>
        <p:txBody>
          <a:bodyPr wrap="square" lIns="0" tIns="0" rIns="0" bIns="0" rtlCol="0" anchor="t"/>
          <a:lstStyle/>
          <a:p>
            <a:pPr algn="l" indent="0" marL="0">
              <a:buNone/>
            </a:pPr>
            <a:r>
              <a:rPr lang="en-US" sz="1800" dirty="0">
                <a:solidFill>
                  <a:srgbClr val="1B1B1F"/>
                </a:solidFill>
              </a:rPr>
              <a:t>v = vorletzter, l = letzter Buchstabe: </a:t>
            </a:r>
            <a:r>
              <a:rPr lang="en-US" sz="1800" b="1" dirty="0">
                <a:solidFill>
                  <a:srgbClr val="1B1B1F"/>
                </a:solidFill>
              </a:rPr>
              <a:t>vorletzter +1, letzter −3</a:t>
            </a:r>
            <a:r>
              <a:rPr lang="en-US" sz="1800" dirty="0">
                <a:solidFill>
                  <a:srgbClr val="1B1B1F"/>
                </a:solidFill>
              </a:rPr>
              <a:t> → 3 · 1 − 3 = 0, der Hash bleibt.</a:t>
            </a:r>
            <a:endParaRPr lang="en-US" sz="1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633980"/>
          <a:ext cx="8321040" cy="914400"/>
        </p:xfrm>
        <a:graphic>
          <a:graphicData uri="http://schemas.openxmlformats.org/drawingml/2006/table">
            <a:tbl>
              <a:tblPr/>
              <a:tblGrid>
                <a:gridCol w="2377440"/>
                <a:gridCol w="1188720"/>
                <a:gridCol w="1188720"/>
                <a:gridCol w="1188720"/>
                <a:gridCol w="1188720"/>
                <a:gridCol w="1188720"/>
              </a:tblGrid>
              <a:tr h="0">
                <a:tc>
                  <a:txBody>
                    <a:bodyPr/>
                    <a:lstStyle/>
                    <a:p>
                      <a:pPr algn="ctr" indent="0" marL="0">
                        <a:buNone/>
                      </a:pPr>
                      <a:r>
                        <a:rPr lang="en-US" sz="2000" b="1" dirty="0">
                          <a:solidFill>
                            <a:srgbClr val="1B1B1F"/>
                          </a:solidFill>
                          <a:latin typeface="Calibri" pitchFamily="34" charset="0"/>
                          <a:ea typeface="Calibri" pitchFamily="34" charset="-122"/>
                          <a:cs typeface="Calibri" pitchFamily="34" charset="-120"/>
                        </a:rPr>
                        <a:t>Zustände</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000" b="1" dirty="0">
                          <a:solidFill>
                            <a:srgbClr val="1B1B1F"/>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000" b="1" dirty="0">
                          <a:solidFill>
                            <a:srgbClr val="1B1B1F"/>
                          </a:solidFill>
                          <a:latin typeface="Calibri" pitchFamily="34" charset="0"/>
                          <a:ea typeface="Calibri" pitchFamily="34" charset="-122"/>
                          <a:cs typeface="Calibri" pitchFamily="34" charset="-120"/>
                        </a:rPr>
                        <a:t>2</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000" b="1" dirty="0">
                          <a:solidFill>
                            <a:srgbClr val="1B1B1F"/>
                          </a:solidFill>
                          <a:latin typeface="Calibri" pitchFamily="34" charset="0"/>
                          <a:ea typeface="Calibri" pitchFamily="34" charset="-122"/>
                          <a:cs typeface="Calibri" pitchFamily="34" charset="-120"/>
                        </a:rPr>
                        <a:t>3</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000" b="1" dirty="0">
                          <a:solidFill>
                            <a:srgbClr val="1B1B1F"/>
                          </a:solidFill>
                          <a:latin typeface="Calibri" pitchFamily="34" charset="0"/>
                          <a:ea typeface="Calibri" pitchFamily="34" charset="-122"/>
                          <a:cs typeface="Calibri" pitchFamily="34" charset="-120"/>
                        </a:rPr>
                        <a:t>4</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000" b="1" dirty="0">
                          <a:solidFill>
                            <a:srgbClr val="1B1B1F"/>
                          </a:solidFill>
                          <a:latin typeface="Calibri" pitchFamily="34" charset="0"/>
                          <a:ea typeface="Calibri" pitchFamily="34" charset="-122"/>
                          <a:cs typeface="Calibri" pitchFamily="34" charset="-120"/>
                        </a:rPr>
                        <a:t>5</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ctr" indent="0" marL="0">
                        <a:buNone/>
                      </a:pPr>
                      <a:r>
                        <a:rPr lang="en-US" sz="2000" b="1" dirty="0">
                          <a:solidFill>
                            <a:srgbClr val="1B1B1F"/>
                          </a:solidFill>
                          <a:latin typeface="Consolas" pitchFamily="34" charset="0"/>
                          <a:ea typeface="Consolas" pitchFamily="34" charset="-122"/>
                          <a:cs typeface="Consolas" pitchFamily="34" charset="-120"/>
                        </a:rPr>
                        <a:t>nebel</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000" dirty="0">
                          <a:solidFill>
                            <a:srgbClr val="1B1B1F"/>
                          </a:solidFill>
                          <a:latin typeface="Calibri" pitchFamily="34" charset="0"/>
                          <a:ea typeface="Calibri" pitchFamily="34" charset="-122"/>
                          <a:cs typeface="Calibri" pitchFamily="34" charset="-120"/>
                        </a:rPr>
                        <a:t>14</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alibri" pitchFamily="34" charset="0"/>
                          <a:ea typeface="Calibri" pitchFamily="34" charset="-122"/>
                          <a:cs typeface="Calibri" pitchFamily="34" charset="-120"/>
                        </a:rPr>
                        <a:t>18</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alibri" pitchFamily="34" charset="0"/>
                          <a:ea typeface="Calibri" pitchFamily="34" charset="-122"/>
                          <a:cs typeface="Calibri" pitchFamily="34" charset="-120"/>
                        </a:rPr>
                        <a:t>27</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alibri" pitchFamily="34" charset="0"/>
                          <a:ea typeface="Calibri" pitchFamily="34" charset="-122"/>
                          <a:cs typeface="Calibri" pitchFamily="34" charset="-120"/>
                        </a:rPr>
                        <a:t>28</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1B1B1F"/>
                          </a:solidFill>
                          <a:latin typeface="Calibri" pitchFamily="34" charset="0"/>
                          <a:ea typeface="Calibri" pitchFamily="34" charset="-122"/>
                          <a:cs typeface="Calibri" pitchFamily="34" charset="-120"/>
                        </a:rPr>
                        <a:t>9</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ctr" indent="0" marL="0">
                        <a:buNone/>
                      </a:pPr>
                      <a:r>
                        <a:rPr lang="en-US" sz="2000" b="1" dirty="0">
                          <a:solidFill>
                            <a:srgbClr val="1B1B1F"/>
                          </a:solidFill>
                          <a:latin typeface="Consolas" pitchFamily="34" charset="0"/>
                          <a:ea typeface="Consolas" pitchFamily="34" charset="-122"/>
                          <a:cs typeface="Consolas" pitchFamily="34" charset="-120"/>
                        </a:rPr>
                        <a:t>nebfi</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000" dirty="0">
                          <a:solidFill>
                            <a:srgbClr val="1B1B1F"/>
                          </a:solidFill>
                          <a:latin typeface="Calibri" pitchFamily="34" charset="0"/>
                          <a:ea typeface="Calibri" pitchFamily="34" charset="-122"/>
                          <a:cs typeface="Calibri" pitchFamily="34" charset="-120"/>
                        </a:rPr>
                        <a:t>14</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alibri" pitchFamily="34" charset="0"/>
                          <a:ea typeface="Calibri" pitchFamily="34" charset="-122"/>
                          <a:cs typeface="Calibri" pitchFamily="34" charset="-120"/>
                        </a:rPr>
                        <a:t>18</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alibri" pitchFamily="34" charset="0"/>
                          <a:ea typeface="Calibri" pitchFamily="34" charset="-122"/>
                          <a:cs typeface="Calibri" pitchFamily="34" charset="-120"/>
                        </a:rPr>
                        <a:t>27</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c>
                  <a:txBody>
                    <a:bodyPr/>
                    <a:lstStyle/>
                    <a:p>
                      <a:pPr algn="ctr" indent="0" marL="0">
                        <a:buNone/>
                      </a:pPr>
                      <a:r>
                        <a:rPr lang="en-US" sz="2000" b="1" dirty="0">
                          <a:solidFill>
                            <a:srgbClr val="1B1B1F"/>
                          </a:solidFill>
                          <a:latin typeface="Calibri" pitchFamily="34" charset="0"/>
                          <a:ea typeface="Calibri" pitchFamily="34" charset="-122"/>
                          <a:cs typeface="Calibri" pitchFamily="34" charset="-120"/>
                        </a:rPr>
                        <a:t>9</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r>
            </a:tbl>
          </a:graphicData>
        </a:graphic>
      </p:graphicFrame>
      <p:sp>
        <p:nvSpPr>
          <p:cNvPr id="6" name="Text 3"/>
          <p:cNvSpPr txBox="1"/>
          <p:nvPr/>
        </p:nvSpPr>
        <p:spPr>
          <a:xfrm>
            <a:off x="548640" y="3965956"/>
            <a:ext cx="11094415" cy="386588"/>
          </a:xfrm>
          <a:prstGeom prst="rect">
            <a:avLst/>
          </a:prstGeom>
          <a:noFill/>
          <a:ln/>
        </p:spPr>
        <p:txBody>
          <a:bodyPr wrap="square" lIns="0" tIns="0" rIns="0" bIns="0" rtlCol="0" anchor="t"/>
          <a:lstStyle/>
          <a:p>
            <a:pPr algn="l" indent="0" marL="0">
              <a:buNone/>
            </a:pPr>
            <a:r>
              <a:rPr lang="en-US" sz="2200" dirty="0">
                <a:solidFill>
                  <a:srgbClr val="1B1B1F"/>
                </a:solidFill>
              </a:rPr>
              <a:t>Folge: </a:t>
            </a:r>
            <a:r>
              <a:rPr lang="en-US" sz="2200" b="1" dirty="0">
                <a:solidFill>
                  <a:srgbClr val="1B1B1F"/>
                </a:solidFill>
              </a:rPr>
              <a:t>keine Kollisionsresistenz</a:t>
            </a:r>
            <a:r>
              <a:rPr lang="en-US" sz="2200" dirty="0">
                <a:solidFill>
                  <a:srgbClr val="1B1B1F"/>
                </a:solidFill>
              </a:rPr>
              <a:t>, </a:t>
            </a:r>
            <a:r>
              <a:rPr lang="en-US" sz="2200" b="1" dirty="0">
                <a:solidFill>
                  <a:srgbClr val="1B1B1F"/>
                </a:solidFill>
              </a:rPr>
              <a:t>kein Lawineneffekt</a:t>
            </a:r>
            <a:r>
              <a:rPr lang="en-US" sz="2200" dirty="0">
                <a:solidFill>
                  <a:srgbClr val="1B1B1F"/>
                </a:solidFill>
              </a:rPr>
              <a:t>, keine Einwegeigenschaft.</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Prüfsummen</a:t>
            </a:r>
            <a:endParaRPr lang="en-US" sz="3000" dirty="0"/>
          </a:p>
        </p:txBody>
      </p:sp>
      <p:sp>
        <p:nvSpPr>
          <p:cNvPr id="3" name="Text 1"/>
          <p:cNvSpPr txBox="1"/>
          <p:nvPr/>
        </p:nvSpPr>
        <p:spPr>
          <a:xfrm>
            <a:off x="548640" y="1325880"/>
            <a:ext cx="5364328" cy="417576"/>
          </a:xfrm>
          <a:prstGeom prst="rect">
            <a:avLst/>
          </a:prstGeom>
          <a:noFill/>
          <a:ln/>
        </p:spPr>
        <p:txBody>
          <a:bodyPr wrap="square" lIns="0" tIns="0" rIns="0" bIns="0" rtlCol="0" anchor="t"/>
          <a:lstStyle/>
          <a:p>
            <a:pPr algn="l" indent="0" marL="0">
              <a:buNone/>
            </a:pPr>
            <a:r>
              <a:rPr lang="en-US" sz="2400" b="1" dirty="0">
                <a:solidFill>
                  <a:srgbClr val="0E7C86"/>
                </a:solidFill>
                <a:latin typeface="Georgia" pitchFamily="34" charset="0"/>
                <a:ea typeface="Georgia" pitchFamily="34" charset="-122"/>
                <a:cs typeface="Georgia" pitchFamily="34" charset="-120"/>
              </a:rPr>
              <a:t>Summe S(t) = (Σ w</a:t>
            </a:r>
            <a:r>
              <a:rPr lang="en-US" sz="2400" b="1" baseline="-40000" dirty="0">
                <a:solidFill>
                  <a:srgbClr val="0E7C86"/>
                </a:solidFill>
                <a:latin typeface="Georgia" pitchFamily="34" charset="0"/>
                <a:ea typeface="Georgia" pitchFamily="34" charset="-122"/>
                <a:cs typeface="Georgia" pitchFamily="34" charset="-120"/>
              </a:rPr>
              <a:t>i</a:t>
            </a:r>
            <a:r>
              <a:rPr lang="en-US" sz="2400" b="1" dirty="0">
                <a:solidFill>
                  <a:srgbClr val="0E7C86"/>
                </a:solidFill>
                <a:latin typeface="Georgia" pitchFamily="34" charset="0"/>
                <a:ea typeface="Georgia" pitchFamily="34" charset="-122"/>
                <a:cs typeface="Georgia" pitchFamily="34" charset="-120"/>
              </a:rPr>
              <a:t>) mod 29</a:t>
            </a:r>
            <a:endParaRPr lang="en-US" sz="2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871472"/>
          <a:ext cx="5029200" cy="914400"/>
        </p:xfrm>
        <a:graphic>
          <a:graphicData uri="http://schemas.openxmlformats.org/drawingml/2006/table">
            <a:tbl>
              <a:tblPr/>
              <a:tblGrid>
                <a:gridCol w="2011680"/>
                <a:gridCol w="3017520"/>
              </a:tblGrid>
              <a:tr h="0">
                <a:tc>
                  <a:txBody>
                    <a:bodyPr/>
                    <a:lstStyle/>
                    <a:p>
                      <a:pPr algn="ctr" indent="0" marL="0">
                        <a:buNone/>
                      </a:pPr>
                      <a:r>
                        <a:rPr lang="en-US" sz="1900" b="1" dirty="0">
                          <a:solidFill>
                            <a:srgbClr val="1B1B1F"/>
                          </a:solidFill>
                          <a:latin typeface="Calibri" pitchFamily="34" charset="0"/>
                          <a:ea typeface="Calibri" pitchFamily="34" charset="-122"/>
                          <a:cs typeface="Calibri" pitchFamily="34" charset="-120"/>
                        </a:rPr>
                        <a:t>Wort</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900" b="1" dirty="0">
                          <a:solidFill>
                            <a:srgbClr val="1B1B1F"/>
                          </a:solidFill>
                          <a:latin typeface="Calibri" pitchFamily="34" charset="0"/>
                          <a:ea typeface="Calibri" pitchFamily="34" charset="-122"/>
                          <a:cs typeface="Calibri" pitchFamily="34" charset="-120"/>
                        </a:rPr>
                        <a:t>S</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ctr" indent="0" marL="0">
                        <a:buNone/>
                      </a:pPr>
                      <a:r>
                        <a:rPr lang="en-US" sz="1900" dirty="0">
                          <a:solidFill>
                            <a:srgbClr val="1B1B1F"/>
                          </a:solidFill>
                          <a:latin typeface="Consolas" pitchFamily="34" charset="0"/>
                          <a:ea typeface="Consolas" pitchFamily="34" charset="-122"/>
                          <a:cs typeface="Consolas" pitchFamily="34" charset="-120"/>
                        </a:rPr>
                        <a:t>rabe</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1B1B1F"/>
                          </a:solidFill>
                          <a:latin typeface="Calibri" pitchFamily="34" charset="0"/>
                          <a:ea typeface="Calibri" pitchFamily="34" charset="-122"/>
                          <a:cs typeface="Calibri" pitchFamily="34" charset="-120"/>
                        </a:rPr>
                        <a:t>18 + 1 + 2 + 5 = </a:t>
                      </a:r>
                      <a:r>
                        <a:rPr lang="en-US" sz="1900" b="1" dirty="0">
                          <a:solidFill>
                            <a:srgbClr val="1B1B1F"/>
                          </a:solidFill>
                          <a:latin typeface="Calibri" pitchFamily="34" charset="0"/>
                          <a:ea typeface="Calibri" pitchFamily="34" charset="-122"/>
                          <a:cs typeface="Calibri" pitchFamily="34" charset="-120"/>
                        </a:rPr>
                        <a:t>26</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ctr" indent="0" marL="0">
                        <a:buNone/>
                      </a:pPr>
                      <a:r>
                        <a:rPr lang="en-US" sz="1900" dirty="0">
                          <a:solidFill>
                            <a:srgbClr val="1B1B1F"/>
                          </a:solidFill>
                          <a:latin typeface="Consolas" pitchFamily="34" charset="0"/>
                          <a:ea typeface="Consolas" pitchFamily="34" charset="-122"/>
                          <a:cs typeface="Consolas" pitchFamily="34" charset="-120"/>
                        </a:rPr>
                        <a:t>bear</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1B1B1F"/>
                          </a:solidFill>
                          <a:latin typeface="Calibri" pitchFamily="34" charset="0"/>
                          <a:ea typeface="Calibri" pitchFamily="34" charset="-122"/>
                          <a:cs typeface="Calibri" pitchFamily="34" charset="-120"/>
                        </a:rPr>
                        <a:t>2 + 5 + 1 + 18 = </a:t>
                      </a:r>
                      <a:r>
                        <a:rPr lang="en-US" sz="1900" b="1" dirty="0">
                          <a:solidFill>
                            <a:srgbClr val="1B1B1F"/>
                          </a:solidFill>
                          <a:latin typeface="Calibri" pitchFamily="34" charset="0"/>
                          <a:ea typeface="Calibri" pitchFamily="34" charset="-122"/>
                          <a:cs typeface="Calibri" pitchFamily="34" charset="-120"/>
                        </a:rPr>
                        <a:t>26</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3156966"/>
            <a:ext cx="5364328" cy="727456"/>
          </a:xfrm>
          <a:prstGeom prst="rect">
            <a:avLst/>
          </a:prstGeom>
          <a:noFill/>
          <a:ln/>
        </p:spPr>
        <p:txBody>
          <a:bodyPr wrap="square" lIns="0" tIns="0" rIns="0" bIns="0" rtlCol="0" anchor="t"/>
          <a:lstStyle/>
          <a:p>
            <a:pPr algn="l" indent="0" marL="0">
              <a:buNone/>
            </a:pPr>
            <a:r>
              <a:rPr lang="en-US" sz="2200" dirty="0">
                <a:solidFill>
                  <a:srgbClr val="1B1B1F"/>
                </a:solidFill>
              </a:rPr>
              <a:t>→ Vertauschung </a:t>
            </a:r>
            <a:r>
              <a:rPr lang="en-US" sz="2200" b="1" dirty="0">
                <a:solidFill>
                  <a:srgbClr val="1B1B1F"/>
                </a:solidFill>
              </a:rPr>
              <a:t>unbemerkt</a:t>
            </a:r>
            <a:r>
              <a:rPr lang="en-US" sz="2200" dirty="0">
                <a:solidFill>
                  <a:srgbClr val="1B1B1F"/>
                </a:solidFill>
              </a:rPr>
              <a:t> (permutationsinvariant)</a:t>
            </a:r>
            <a:endParaRPr lang="en-US" sz="2200" dirty="0"/>
          </a:p>
        </p:txBody>
      </p:sp>
      <p:sp>
        <p:nvSpPr>
          <p:cNvPr id="6" name="Text 3"/>
          <p:cNvSpPr txBox="1"/>
          <p:nvPr/>
        </p:nvSpPr>
        <p:spPr>
          <a:xfrm>
            <a:off x="6278728" y="1325880"/>
            <a:ext cx="5364328" cy="417576"/>
          </a:xfrm>
          <a:prstGeom prst="rect">
            <a:avLst/>
          </a:prstGeom>
          <a:noFill/>
          <a:ln/>
        </p:spPr>
        <p:txBody>
          <a:bodyPr wrap="square" lIns="0" tIns="0" rIns="0" bIns="0" rtlCol="0" anchor="t"/>
          <a:lstStyle/>
          <a:p>
            <a:pPr algn="l" indent="0" marL="0">
              <a:buNone/>
            </a:pPr>
            <a:r>
              <a:rPr lang="en-US" sz="2400" b="1" dirty="0">
                <a:solidFill>
                  <a:srgbClr val="0E7C86"/>
                </a:solidFill>
                <a:latin typeface="Georgia" pitchFamily="34" charset="0"/>
                <a:ea typeface="Georgia" pitchFamily="34" charset="-122"/>
                <a:cs typeface="Georgia" pitchFamily="34" charset="-120"/>
              </a:rPr>
              <a:t>gewichtet G(t) = (Σ i · w</a:t>
            </a:r>
            <a:r>
              <a:rPr lang="en-US" sz="2400" b="1" baseline="-40000" dirty="0">
                <a:solidFill>
                  <a:srgbClr val="0E7C86"/>
                </a:solidFill>
                <a:latin typeface="Georgia" pitchFamily="34" charset="0"/>
                <a:ea typeface="Georgia" pitchFamily="34" charset="-122"/>
                <a:cs typeface="Georgia" pitchFamily="34" charset="-120"/>
              </a:rPr>
              <a:t>i</a:t>
            </a:r>
            <a:r>
              <a:rPr lang="en-US" sz="2400" b="1" dirty="0">
                <a:solidFill>
                  <a:srgbClr val="0E7C86"/>
                </a:solidFill>
                <a:latin typeface="Georgia" pitchFamily="34" charset="0"/>
                <a:ea typeface="Georgia" pitchFamily="34" charset="-122"/>
                <a:cs typeface="Georgia" pitchFamily="34" charset="-120"/>
              </a:rPr>
              <a:t>) mod 29</a:t>
            </a:r>
            <a:endParaRPr lang="en-US" sz="240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6278728" y="1871472"/>
          <a:ext cx="5029200" cy="914400"/>
        </p:xfrm>
        <a:graphic>
          <a:graphicData uri="http://schemas.openxmlformats.org/drawingml/2006/table">
            <a:tbl>
              <a:tblPr/>
              <a:tblGrid>
                <a:gridCol w="2011680"/>
                <a:gridCol w="3017520"/>
              </a:tblGrid>
              <a:tr h="0">
                <a:tc>
                  <a:txBody>
                    <a:bodyPr/>
                    <a:lstStyle/>
                    <a:p>
                      <a:pPr algn="ctr" indent="0" marL="0">
                        <a:buNone/>
                      </a:pPr>
                      <a:r>
                        <a:rPr lang="en-US" sz="1900" b="1" dirty="0">
                          <a:solidFill>
                            <a:srgbClr val="1B1B1F"/>
                          </a:solidFill>
                          <a:latin typeface="Calibri" pitchFamily="34" charset="0"/>
                          <a:ea typeface="Calibri" pitchFamily="34" charset="-122"/>
                          <a:cs typeface="Calibri" pitchFamily="34" charset="-120"/>
                        </a:rPr>
                        <a:t>Wort</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900" b="1" dirty="0">
                          <a:solidFill>
                            <a:srgbClr val="1B1B1F"/>
                          </a:solidFill>
                          <a:latin typeface="Calibri" pitchFamily="34" charset="0"/>
                          <a:ea typeface="Calibri" pitchFamily="34" charset="-122"/>
                          <a:cs typeface="Calibri" pitchFamily="34" charset="-120"/>
                        </a:rPr>
                        <a:t>G</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ctr" indent="0" marL="0">
                        <a:buNone/>
                      </a:pPr>
                      <a:r>
                        <a:rPr lang="en-US" sz="1900" dirty="0">
                          <a:solidFill>
                            <a:srgbClr val="1B1B1F"/>
                          </a:solidFill>
                          <a:latin typeface="Consolas" pitchFamily="34" charset="0"/>
                          <a:ea typeface="Consolas" pitchFamily="34" charset="-122"/>
                          <a:cs typeface="Consolas" pitchFamily="34" charset="-120"/>
                        </a:rPr>
                        <a:t>rabe</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1B1B1F"/>
                          </a:solidFill>
                          <a:latin typeface="Calibri" pitchFamily="34" charset="0"/>
                          <a:ea typeface="Calibri" pitchFamily="34" charset="-122"/>
                          <a:cs typeface="Calibri" pitchFamily="34" charset="-120"/>
                        </a:rPr>
                        <a:t>46 → </a:t>
                      </a:r>
                      <a:r>
                        <a:rPr lang="en-US" sz="1900" b="1" dirty="0">
                          <a:solidFill>
                            <a:srgbClr val="1B1B1F"/>
                          </a:solidFill>
                          <a:latin typeface="Calibri" pitchFamily="34" charset="0"/>
                          <a:ea typeface="Calibri" pitchFamily="34" charset="-122"/>
                          <a:cs typeface="Calibri" pitchFamily="34" charset="-120"/>
                        </a:rPr>
                        <a:t>17</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ctr" indent="0" marL="0">
                        <a:buNone/>
                      </a:pPr>
                      <a:r>
                        <a:rPr lang="en-US" sz="1900" dirty="0">
                          <a:solidFill>
                            <a:srgbClr val="1B1B1F"/>
                          </a:solidFill>
                          <a:latin typeface="Consolas" pitchFamily="34" charset="0"/>
                          <a:ea typeface="Consolas" pitchFamily="34" charset="-122"/>
                          <a:cs typeface="Consolas" pitchFamily="34" charset="-120"/>
                        </a:rPr>
                        <a:t>bear</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1B1B1F"/>
                          </a:solidFill>
                          <a:latin typeface="Calibri" pitchFamily="34" charset="0"/>
                          <a:ea typeface="Calibri" pitchFamily="34" charset="-122"/>
                          <a:cs typeface="Calibri" pitchFamily="34" charset="-120"/>
                        </a:rPr>
                        <a:t>87 → </a:t>
                      </a:r>
                      <a:r>
                        <a:rPr lang="en-US" sz="1900" b="1" dirty="0">
                          <a:solidFill>
                            <a:srgbClr val="1B1B1F"/>
                          </a:solidFill>
                          <a:latin typeface="Calibri" pitchFamily="34" charset="0"/>
                          <a:ea typeface="Calibri" pitchFamily="34" charset="-122"/>
                          <a:cs typeface="Calibri" pitchFamily="34" charset="-120"/>
                        </a:rPr>
                        <a:t>0</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6278728" y="3156966"/>
            <a:ext cx="5364328" cy="386588"/>
          </a:xfrm>
          <a:prstGeom prst="rect">
            <a:avLst/>
          </a:prstGeom>
          <a:noFill/>
          <a:ln/>
        </p:spPr>
        <p:txBody>
          <a:bodyPr wrap="square" lIns="0" tIns="0" rIns="0" bIns="0" rtlCol="0" anchor="t"/>
          <a:lstStyle/>
          <a:p>
            <a:pPr algn="l" indent="0" marL="0">
              <a:buNone/>
            </a:pPr>
            <a:r>
              <a:rPr lang="en-US" sz="2200" dirty="0">
                <a:solidFill>
                  <a:srgbClr val="1B1B1F"/>
                </a:solidFill>
              </a:rPr>
              <a:t>→ Vertauschung </a:t>
            </a:r>
            <a:r>
              <a:rPr lang="en-US" sz="2200" b="1" dirty="0">
                <a:solidFill>
                  <a:srgbClr val="1B1B1F"/>
                </a:solidFill>
              </a:rPr>
              <a:t>bemerkt</a:t>
            </a:r>
            <a:endParaRPr lang="en-US" sz="2200" dirty="0"/>
          </a:p>
        </p:txBody>
      </p:sp>
      <p:sp>
        <p:nvSpPr>
          <p:cNvPr id="9" name="Text 5"/>
          <p:cNvSpPr txBox="1"/>
          <p:nvPr/>
        </p:nvSpPr>
        <p:spPr>
          <a:xfrm>
            <a:off x="548640" y="4140454"/>
            <a:ext cx="11094415" cy="324612"/>
          </a:xfrm>
          <a:prstGeom prst="rect">
            <a:avLst/>
          </a:prstGeom>
          <a:noFill/>
          <a:ln/>
        </p:spPr>
        <p:txBody>
          <a:bodyPr wrap="square" lIns="0" tIns="0" rIns="0" bIns="0" rtlCol="0" anchor="t"/>
          <a:lstStyle/>
          <a:p>
            <a:pPr algn="ctr" indent="0" marL="0">
              <a:buNone/>
            </a:pPr>
            <a:r>
              <a:rPr lang="en-US" sz="1800" dirty="0">
                <a:solidFill>
                  <a:srgbClr val="1B1B1F"/>
                </a:solidFill>
              </a:rPr>
              <a:t>Auch der KRYPTOS-Hash bemerkt sie: KH(„rabe“) = 13, KH(„bear“) = 4.</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Passwörter speichern</a:t>
            </a:r>
            <a:endParaRPr lang="en-US" sz="3000" dirty="0"/>
          </a:p>
        </p:txBody>
      </p:sp>
      <p:sp>
        <p:nvSpPr>
          <p:cNvPr id="3" name="Text 1"/>
          <p:cNvSpPr txBox="1"/>
          <p:nvPr/>
        </p:nvSpPr>
        <p:spPr>
          <a:xfrm>
            <a:off x="548640" y="1325880"/>
            <a:ext cx="5900760" cy="727456"/>
          </a:xfrm>
          <a:prstGeom prst="rect">
            <a:avLst/>
          </a:prstGeom>
          <a:noFill/>
          <a:ln/>
        </p:spPr>
        <p:txBody>
          <a:bodyPr wrap="square" lIns="0" tIns="0" rIns="0" bIns="0" rtlCol="0" anchor="t"/>
          <a:lstStyle/>
          <a:p>
            <a:pPr algn="l" indent="0" marL="0">
              <a:buNone/>
            </a:pPr>
            <a:r>
              <a:rPr lang="en-US" sz="2200" b="1" dirty="0">
                <a:solidFill>
                  <a:srgbClr val="1B1B1F"/>
                </a:solidFill>
              </a:rPr>
              <a:t>1.</a:t>
            </a:r>
            <a:r>
              <a:rPr lang="en-US" sz="2200" dirty="0">
                <a:solidFill>
                  <a:srgbClr val="1B1B1F"/>
                </a:solidFill>
              </a:rPr>
              <a:t>  </a:t>
            </a:r>
            <a:r>
              <a:rPr lang="en-US" sz="2200" b="1" dirty="0">
                <a:solidFill>
                  <a:srgbClr val="1B1B1F"/>
                </a:solidFill>
              </a:rPr>
              <a:t>Registrierung:</a:t>
            </a:r>
            <a:r>
              <a:rPr lang="en-US" sz="2200" dirty="0">
                <a:solidFill>
                  <a:srgbClr val="1B1B1F"/>
                </a:solidFill>
              </a:rPr>
              <a:t> zufälliges Salz erzeugen</a:t>
            </a:r>
            <a:endParaRPr lang="en-US" sz="2200" dirty="0"/>
          </a:p>
        </p:txBody>
      </p:sp>
      <p:sp>
        <p:nvSpPr>
          <p:cNvPr id="4" name="Text 2"/>
          <p:cNvSpPr txBox="1"/>
          <p:nvPr/>
        </p:nvSpPr>
        <p:spPr>
          <a:xfrm>
            <a:off x="548640" y="2181352"/>
            <a:ext cx="5900760" cy="727456"/>
          </a:xfrm>
          <a:prstGeom prst="rect">
            <a:avLst/>
          </a:prstGeom>
          <a:noFill/>
          <a:ln/>
        </p:spPr>
        <p:txBody>
          <a:bodyPr wrap="square" lIns="0" tIns="0" rIns="0" bIns="0" rtlCol="0" anchor="t"/>
          <a:lstStyle/>
          <a:p>
            <a:pPr algn="l" indent="0" marL="0">
              <a:buNone/>
            </a:pPr>
            <a:r>
              <a:rPr lang="en-US" sz="2200" b="1" dirty="0">
                <a:solidFill>
                  <a:srgbClr val="1B1B1F"/>
                </a:solidFill>
              </a:rPr>
              <a:t>2.</a:t>
            </a:r>
            <a:r>
              <a:rPr lang="en-US" sz="2200" dirty="0">
                <a:solidFill>
                  <a:srgbClr val="1B1B1F"/>
                </a:solidFill>
              </a:rPr>
              <a:t>  Hash(Salz + Passwort) und Salz speichern – </a:t>
            </a:r>
            <a:r>
              <a:rPr lang="en-US" sz="2200" b="1" dirty="0">
                <a:solidFill>
                  <a:srgbClr val="1B1B1F"/>
                </a:solidFill>
              </a:rPr>
              <a:t>nie das Passwort</a:t>
            </a:r>
            <a:endParaRPr lang="en-US" sz="2200" dirty="0"/>
          </a:p>
        </p:txBody>
      </p:sp>
      <p:sp>
        <p:nvSpPr>
          <p:cNvPr id="5" name="Text 3"/>
          <p:cNvSpPr txBox="1"/>
          <p:nvPr/>
        </p:nvSpPr>
        <p:spPr>
          <a:xfrm>
            <a:off x="548640" y="3036824"/>
            <a:ext cx="5900760" cy="386588"/>
          </a:xfrm>
          <a:prstGeom prst="rect">
            <a:avLst/>
          </a:prstGeom>
          <a:noFill/>
          <a:ln/>
        </p:spPr>
        <p:txBody>
          <a:bodyPr wrap="square" lIns="0" tIns="0" rIns="0" bIns="0" rtlCol="0" anchor="t"/>
          <a:lstStyle/>
          <a:p>
            <a:pPr algn="l" indent="0" marL="0">
              <a:buNone/>
            </a:pPr>
            <a:r>
              <a:rPr lang="en-US" sz="2200" b="1" dirty="0">
                <a:solidFill>
                  <a:srgbClr val="1B1B1F"/>
                </a:solidFill>
              </a:rPr>
              <a:t>3.</a:t>
            </a:r>
            <a:r>
              <a:rPr lang="en-US" sz="2200" dirty="0">
                <a:solidFill>
                  <a:srgbClr val="1B1B1F"/>
                </a:solidFill>
              </a:rPr>
              <a:t>  </a:t>
            </a:r>
            <a:r>
              <a:rPr lang="en-US" sz="2200" b="1" dirty="0">
                <a:solidFill>
                  <a:srgbClr val="1B1B1F"/>
                </a:solidFill>
              </a:rPr>
              <a:t>Login:</a:t>
            </a:r>
            <a:r>
              <a:rPr lang="en-US" sz="2200" dirty="0">
                <a:solidFill>
                  <a:srgbClr val="1B1B1F"/>
                </a:solidFill>
              </a:rPr>
              <a:t> Salz + Eingabe hashen</a:t>
            </a:r>
            <a:endParaRPr lang="en-US" sz="2200" dirty="0"/>
          </a:p>
        </p:txBody>
      </p:sp>
      <p:sp>
        <p:nvSpPr>
          <p:cNvPr id="6" name="Text 4"/>
          <p:cNvSpPr txBox="1"/>
          <p:nvPr/>
        </p:nvSpPr>
        <p:spPr>
          <a:xfrm>
            <a:off x="548640" y="3551428"/>
            <a:ext cx="5900760" cy="386588"/>
          </a:xfrm>
          <a:prstGeom prst="rect">
            <a:avLst/>
          </a:prstGeom>
          <a:noFill/>
          <a:ln/>
        </p:spPr>
        <p:txBody>
          <a:bodyPr wrap="square" lIns="0" tIns="0" rIns="0" bIns="0" rtlCol="0" anchor="t"/>
          <a:lstStyle/>
          <a:p>
            <a:pPr algn="l" indent="0" marL="0">
              <a:buNone/>
            </a:pPr>
            <a:r>
              <a:rPr lang="en-US" sz="2200" b="1" dirty="0">
                <a:solidFill>
                  <a:srgbClr val="1B1B1F"/>
                </a:solidFill>
              </a:rPr>
              <a:t>4.</a:t>
            </a:r>
            <a:r>
              <a:rPr lang="en-US" sz="2200" dirty="0">
                <a:solidFill>
                  <a:srgbClr val="1B1B1F"/>
                </a:solidFill>
              </a:rPr>
              <a:t>  mit dem gespeicherten Wert </a:t>
            </a:r>
            <a:r>
              <a:rPr lang="en-US" sz="2200" b="1" dirty="0">
                <a:solidFill>
                  <a:srgbClr val="1B1B1F"/>
                </a:solidFill>
              </a:rPr>
              <a:t>vergleichen</a:t>
            </a:r>
            <a:endParaRPr lang="en-US" sz="2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815160" y="1325880"/>
          <a:ext cx="4827895" cy="914400"/>
        </p:xfrm>
        <a:graphic>
          <a:graphicData uri="http://schemas.openxmlformats.org/drawingml/2006/table">
            <a:tbl>
              <a:tblPr/>
              <a:tblGrid>
                <a:gridCol w="1331833"/>
                <a:gridCol w="1082114"/>
                <a:gridCol w="2413947"/>
              </a:tblGrid>
              <a:tr h="0">
                <a:tc>
                  <a:txBody>
                    <a:bodyPr/>
                    <a:lstStyle/>
                    <a:p>
                      <a:pPr algn="ctr" indent="0" marL="0">
                        <a:buNone/>
                      </a:pPr>
                      <a:r>
                        <a:rPr lang="en-US" sz="1800" b="1" dirty="0">
                          <a:solidFill>
                            <a:srgbClr val="1B1B1F"/>
                          </a:solidFill>
                          <a:latin typeface="Calibri" pitchFamily="34" charset="0"/>
                          <a:ea typeface="Calibri" pitchFamily="34" charset="-122"/>
                          <a:cs typeface="Calibri" pitchFamily="34" charset="-120"/>
                        </a:rPr>
                        <a:t>Konto</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00" b="1" dirty="0">
                          <a:solidFill>
                            <a:srgbClr val="1B1B1F"/>
                          </a:solidFill>
                          <a:latin typeface="Calibri" pitchFamily="34" charset="0"/>
                          <a:ea typeface="Calibri" pitchFamily="34" charset="-122"/>
                          <a:cs typeface="Calibri" pitchFamily="34" charset="-120"/>
                        </a:rPr>
                        <a:t>Salz</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00" b="1" dirty="0">
                          <a:solidFill>
                            <a:srgbClr val="1B1B1F"/>
                          </a:solidFill>
                          <a:latin typeface="Calibri" pitchFamily="34" charset="0"/>
                          <a:ea typeface="Calibri" pitchFamily="34" charset="-122"/>
                          <a:cs typeface="Calibri" pitchFamily="34" charset="-120"/>
                        </a:rPr>
                        <a:t>KH(Salz + Passwort)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ctr" indent="0" marL="0">
                        <a:buNone/>
                      </a:pPr>
                      <a:r>
                        <a:rPr lang="en-US" sz="1800" dirty="0">
                          <a:solidFill>
                            <a:srgbClr val="1B1B1F"/>
                          </a:solidFill>
                          <a:latin typeface="Calibri" pitchFamily="34" charset="0"/>
                          <a:ea typeface="Calibri" pitchFamily="34" charset="-122"/>
                          <a:cs typeface="Calibri" pitchFamily="34" charset="-120"/>
                        </a:rPr>
                        <a:t>Ole</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qx</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alibri" pitchFamily="34" charset="0"/>
                          <a:ea typeface="Calibri" pitchFamily="34" charset="-122"/>
                          <a:cs typeface="Calibri" pitchFamily="34" charset="-120"/>
                        </a:rPr>
                        <a:t>13</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B1B1F"/>
                          </a:solidFill>
                          <a:latin typeface="Calibri" pitchFamily="34" charset="0"/>
                          <a:ea typeface="Calibri" pitchFamily="34" charset="-122"/>
                          <a:cs typeface="Calibri" pitchFamily="34" charset="-120"/>
                        </a:rPr>
                        <a:t>Kim</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kz</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alibri" pitchFamily="34" charset="0"/>
                          <a:ea typeface="Calibri" pitchFamily="34" charset="-122"/>
                          <a:cs typeface="Calibri" pitchFamily="34" charset="-120"/>
                        </a:rPr>
                        <a:t>11</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6815160" y="2564892"/>
            <a:ext cx="4827895" cy="603504"/>
          </a:xfrm>
          <a:prstGeom prst="rect">
            <a:avLst/>
          </a:prstGeom>
          <a:noFill/>
          <a:ln/>
        </p:spPr>
        <p:txBody>
          <a:bodyPr wrap="square" lIns="0" tIns="0" rIns="0" bIns="0" rtlCol="0" anchor="t"/>
          <a:lstStyle/>
          <a:p>
            <a:pPr algn="l" indent="0" marL="0">
              <a:buNone/>
            </a:pPr>
            <a:r>
              <a:rPr lang="en-US" sz="1800" dirty="0">
                <a:solidFill>
                  <a:srgbClr val="1B1B1F"/>
                </a:solidFill>
              </a:rPr>
              <a:t>Beide: Passwort „sonne“ – man sieht es nicht.</a:t>
            </a:r>
            <a:endParaRPr lang="en-US" sz="1800" dirty="0"/>
          </a:p>
        </p:txBody>
      </p:sp>
      <p:sp>
        <p:nvSpPr>
          <p:cNvPr id="9" name="Text 6"/>
          <p:cNvSpPr txBox="1"/>
          <p:nvPr/>
        </p:nvSpPr>
        <p:spPr>
          <a:xfrm>
            <a:off x="6815160" y="3296412"/>
            <a:ext cx="4827895" cy="603504"/>
          </a:xfrm>
          <a:prstGeom prst="rect">
            <a:avLst/>
          </a:prstGeom>
          <a:noFill/>
          <a:ln/>
        </p:spPr>
        <p:txBody>
          <a:bodyPr wrap="square" lIns="0" tIns="0" rIns="0" bIns="0" rtlCol="0" anchor="t"/>
          <a:lstStyle/>
          <a:p>
            <a:pPr algn="l" indent="0" marL="0">
              <a:buNone/>
            </a:pPr>
            <a:r>
              <a:rPr lang="en-US" sz="1800" dirty="0">
                <a:solidFill>
                  <a:srgbClr val="1B1B1F"/>
                </a:solidFill>
              </a:rPr>
              <a:t>Praxis: </a:t>
            </a:r>
            <a:r>
              <a:rPr lang="en-US" sz="1800" b="1" dirty="0">
                <a:solidFill>
                  <a:srgbClr val="1B1B1F"/>
                </a:solidFill>
              </a:rPr>
              <a:t>Argon2, bcrypt</a:t>
            </a:r>
            <a:r>
              <a:rPr lang="en-US" sz="1800" dirty="0">
                <a:solidFill>
                  <a:srgbClr val="1B1B1F"/>
                </a:solidFill>
              </a:rPr>
              <a:t> – langsam mit Absicht</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Level 5.1 · Fingerabdrücke</a:t>
            </a:r>
            <a:endParaRPr lang="en-US" sz="3000" dirty="0"/>
          </a:p>
        </p:txBody>
      </p:sp>
      <p:sp>
        <p:nvSpPr>
          <p:cNvPr id="3" name="Merke-Kasten"/>
          <p:cNvSpPr/>
          <p:nvPr/>
        </p:nvSpPr>
        <p:spPr>
          <a:xfrm>
            <a:off x="1097280" y="1508760"/>
            <a:ext cx="9997135" cy="3803904"/>
          </a:xfrm>
          <a:prstGeom prst="roundRect">
            <a:avLst>
              <a:gd name="adj" fmla="val 2404"/>
            </a:avLst>
          </a:prstGeom>
          <a:solidFill>
            <a:srgbClr val="FBF3E2"/>
          </a:solidFill>
          <a:ln w="19050">
            <a:solidFill>
              <a:srgbClr val="B07D2B"/>
            </a:solidFill>
            <a:prstDash val="solid"/>
          </a:ln>
        </p:spPr>
      </p:sp>
      <p:sp>
        <p:nvSpPr>
          <p:cNvPr id="4" name="Text 2"/>
          <p:cNvSpPr txBox="1"/>
          <p:nvPr/>
        </p:nvSpPr>
        <p:spPr>
          <a:xfrm>
            <a:off x="1508760" y="1737360"/>
            <a:ext cx="3657600" cy="411480"/>
          </a:xfrm>
          <a:prstGeom prst="rect">
            <a:avLst/>
          </a:prstGeom>
          <a:noFill/>
          <a:ln/>
        </p:spPr>
        <p:txBody>
          <a:bodyPr wrap="square" lIns="0" tIns="0" rIns="0" bIns="0" rtlCol="0" anchor="ctr"/>
          <a:lstStyle/>
          <a:p>
            <a:pPr indent="0" marL="0">
              <a:buNone/>
            </a:pPr>
            <a:r>
              <a:rPr lang="en-US" sz="2000" b="1" spc="400" kern="0" dirty="0">
                <a:solidFill>
                  <a:srgbClr val="8A5F1A"/>
                </a:solidFill>
                <a:latin typeface="Georgia" pitchFamily="34" charset="0"/>
                <a:ea typeface="Georgia" pitchFamily="34" charset="-122"/>
                <a:cs typeface="Georgia" pitchFamily="34" charset="-120"/>
              </a:rPr>
              <a:t>MERKE</a:t>
            </a:r>
            <a:endParaRPr lang="en-US" sz="2000" dirty="0"/>
          </a:p>
        </p:txBody>
      </p:sp>
      <p:sp>
        <p:nvSpPr>
          <p:cNvPr id="5" name="Text 3"/>
          <p:cNvSpPr txBox="1"/>
          <p:nvPr/>
        </p:nvSpPr>
        <p:spPr>
          <a:xfrm>
            <a:off x="1508760" y="2240280"/>
            <a:ext cx="9174175" cy="727456"/>
          </a:xfrm>
          <a:prstGeom prst="rect">
            <a:avLst/>
          </a:prstGeom>
          <a:noFill/>
          <a:ln/>
        </p:spPr>
        <p:txBody>
          <a:bodyPr wrap="square" lIns="0" tIns="0" rIns="0" bIns="0" rtlCol="0" anchor="t"/>
          <a:lstStyle/>
          <a:p>
            <a:pPr algn="l" indent="0" marL="0">
              <a:buNone/>
            </a:pPr>
            <a:r>
              <a:rPr lang="en-US" sz="2200" b="1" dirty="0">
                <a:solidFill>
                  <a:srgbClr val="1B1B1F"/>
                </a:solidFill>
              </a:rPr>
              <a:t>Hashwert = Fingerabdruck fester Länge.</a:t>
            </a:r>
            <a:r>
              <a:rPr lang="en-US" sz="2200" dirty="0">
                <a:solidFill>
                  <a:srgbClr val="1B1B1F"/>
                </a:solidFill>
              </a:rPr>
              <a:t> Gute Hashfunktionen: einweg, kollisionsresistent, Lawineneffekt.</a:t>
            </a:r>
            <a:endParaRPr lang="en-US" sz="2200" dirty="0"/>
          </a:p>
        </p:txBody>
      </p:sp>
      <p:sp>
        <p:nvSpPr>
          <p:cNvPr id="6" name="Text 4"/>
          <p:cNvSpPr txBox="1"/>
          <p:nvPr/>
        </p:nvSpPr>
        <p:spPr>
          <a:xfrm>
            <a:off x="1508760" y="3095752"/>
            <a:ext cx="9174175" cy="727456"/>
          </a:xfrm>
          <a:prstGeom prst="rect">
            <a:avLst/>
          </a:prstGeom>
          <a:noFill/>
          <a:ln/>
        </p:spPr>
        <p:txBody>
          <a:bodyPr wrap="square" lIns="0" tIns="0" rIns="0" bIns="0" rtlCol="0" anchor="t"/>
          <a:lstStyle/>
          <a:p>
            <a:pPr algn="l" indent="0" marL="0">
              <a:buNone/>
            </a:pPr>
            <a:r>
              <a:rPr lang="en-US" sz="2200" b="1" dirty="0">
                <a:solidFill>
                  <a:srgbClr val="1B1B1F"/>
                </a:solidFill>
              </a:rPr>
              <a:t>Kollisionen gibt es immer</a:t>
            </a:r>
            <a:r>
              <a:rPr lang="en-US" sz="2200" dirty="0">
                <a:solidFill>
                  <a:srgbClr val="1B1B1F"/>
                </a:solidFill>
              </a:rPr>
              <a:t> (Schubfach) – gute Hashfunktionen machen sie unauffindbar.</a:t>
            </a:r>
            <a:endParaRPr lang="en-US" sz="2200" dirty="0"/>
          </a:p>
        </p:txBody>
      </p:sp>
      <p:sp>
        <p:nvSpPr>
          <p:cNvPr id="7" name="Text 5"/>
          <p:cNvSpPr txBox="1"/>
          <p:nvPr/>
        </p:nvSpPr>
        <p:spPr>
          <a:xfrm>
            <a:off x="1508760" y="3951224"/>
            <a:ext cx="9174175" cy="727456"/>
          </a:xfrm>
          <a:prstGeom prst="rect">
            <a:avLst/>
          </a:prstGeom>
          <a:noFill/>
          <a:ln/>
        </p:spPr>
        <p:txBody>
          <a:bodyPr wrap="square" lIns="0" tIns="0" rIns="0" bIns="0" rtlCol="0" anchor="t"/>
          <a:lstStyle/>
          <a:p>
            <a:pPr algn="l" indent="0" marL="0">
              <a:buNone/>
            </a:pPr>
            <a:r>
              <a:rPr lang="en-US" sz="2200" b="1" dirty="0">
                <a:solidFill>
                  <a:srgbClr val="1B1B1F"/>
                </a:solidFill>
              </a:rPr>
              <a:t>Hash ≠ Verschlüsselung.</a:t>
            </a:r>
            <a:r>
              <a:rPr lang="en-US" sz="2200" dirty="0">
                <a:solidFill>
                  <a:srgbClr val="1B1B1F"/>
                </a:solidFill>
              </a:rPr>
              <a:t> Passwörter nur </a:t>
            </a:r>
            <a:r>
              <a:rPr lang="en-US" sz="2200" b="1" dirty="0">
                <a:solidFill>
                  <a:srgbClr val="1B1B1F"/>
                </a:solidFill>
              </a:rPr>
              <a:t>gesalzen gehasht</a:t>
            </a:r>
            <a:r>
              <a:rPr lang="en-US" sz="2200" dirty="0">
                <a:solidFill>
                  <a:srgbClr val="1B1B1F"/>
                </a:solidFill>
              </a:rPr>
              <a:t> speichern.</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1645920" y="2651760"/>
            <a:ext cx="9601200" cy="1097280"/>
          </a:xfrm>
          <a:prstGeom prst="rect">
            <a:avLst/>
          </a:prstGeom>
          <a:noFill/>
          <a:ln/>
        </p:spPr>
        <p:txBody>
          <a:bodyPr wrap="square" lIns="0" tIns="0" rIns="0" bIns="0" rtlCol="0" anchor="ctr"/>
          <a:lstStyle/>
          <a:p>
            <a:pPr algn="l" indent="0" marL="0">
              <a:buNone/>
            </a:pPr>
            <a:r>
              <a:rPr lang="en-US" sz="4000" b="1" dirty="0">
                <a:solidFill>
                  <a:srgbClr val="FBF7EE"/>
                </a:solidFill>
                <a:latin typeface="Georgia" pitchFamily="34" charset="0"/>
                <a:ea typeface="Georgia" pitchFamily="34" charset="-122"/>
                <a:cs typeface="Georgia" pitchFamily="34" charset="-120"/>
              </a:rPr>
              <a:t>Das Siegel</a:t>
            </a:r>
            <a:endParaRPr lang="en-US" sz="4000" dirty="0"/>
          </a:p>
        </p:txBody>
      </p:sp>
      <p:sp>
        <p:nvSpPr>
          <p:cNvPr id="3" name="Text 1"/>
          <p:cNvSpPr txBox="1"/>
          <p:nvPr/>
        </p:nvSpPr>
        <p:spPr>
          <a:xfrm>
            <a:off x="1645920" y="3749040"/>
            <a:ext cx="9601200" cy="548640"/>
          </a:xfrm>
          <a:prstGeom prst="rect">
            <a:avLst/>
          </a:prstGeom>
          <a:noFill/>
          <a:ln/>
        </p:spPr>
        <p:txBody>
          <a:bodyPr wrap="square" lIns="0" tIns="0" rIns="0" bIns="0" rtlCol="0" anchor="ctr"/>
          <a:lstStyle/>
          <a:p>
            <a:pPr indent="0" marL="0">
              <a:buNone/>
            </a:pPr>
            <a:r>
              <a:rPr lang="en-US" sz="2000" dirty="0">
                <a:solidFill>
                  <a:srgbClr val="D9A441"/>
                </a:solidFill>
              </a:rPr>
              <a:t>DS 15 · digitale Signatur, Schutzziele, signieren und verschlüsseln</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Mallory rechnet mit</a:t>
            </a:r>
            <a:endParaRPr lang="en-US" sz="3000" dirty="0"/>
          </a:p>
        </p:txBody>
      </p:sp>
      <p:pic>
        <p:nvPicPr>
          <p:cNvPr id="3" name="Image 0" descr="schaubild">    </p:cNvPr>
          <p:cNvPicPr>
            <a:picLocks noChangeAspect="1"/>
          </p:cNvPicPr>
          <p:nvPr/>
        </p:nvPicPr>
        <p:blipFill>
          <a:blip r:embed="rId1"/>
          <a:stretch>
            <a:fillRect/>
          </a:stretch>
        </p:blipFill>
        <p:spPr>
          <a:xfrm>
            <a:off x="548640" y="1325880"/>
            <a:ext cx="6866339" cy="4183046"/>
          </a:xfrm>
          <a:prstGeom prst="rect">
            <a:avLst/>
          </a:prstGeom>
        </p:spPr>
      </p:pic>
      <p:sp>
        <p:nvSpPr>
          <p:cNvPr id="4" name="Text 1"/>
          <p:cNvSpPr txBox="1"/>
          <p:nvPr/>
        </p:nvSpPr>
        <p:spPr>
          <a:xfrm>
            <a:off x="7780739" y="1325880"/>
            <a:ext cx="3862316" cy="727456"/>
          </a:xfrm>
          <a:prstGeom prst="rect">
            <a:avLst/>
          </a:prstGeom>
          <a:noFill/>
          <a:ln/>
        </p:spPr>
        <p:txBody>
          <a:bodyPr wrap="square" lIns="0" tIns="0" rIns="0" bIns="0" rtlCol="0" anchor="t"/>
          <a:lstStyle/>
          <a:p>
            <a:pPr algn="l" indent="0" marL="0">
              <a:buNone/>
            </a:pPr>
            <a:r>
              <a:rPr lang="en-US" sz="2200" dirty="0">
                <a:solidFill>
                  <a:srgbClr val="1B1B1F"/>
                </a:solidFill>
              </a:rPr>
              <a:t>Bob vergleicht – </a:t>
            </a:r>
            <a:r>
              <a:rPr lang="en-US" sz="2200" b="1" dirty="0">
                <a:solidFill>
                  <a:srgbClr val="1B1B1F"/>
                </a:solidFill>
              </a:rPr>
              <a:t>alles passt</a:t>
            </a:r>
            <a:r>
              <a:rPr lang="en-US" sz="2200" dirty="0">
                <a:solidFill>
                  <a:srgbClr val="1B1B1F"/>
                </a:solidFill>
              </a:rPr>
              <a:t>.</a:t>
            </a:r>
            <a:endParaRPr lang="en-US" sz="2200" dirty="0"/>
          </a:p>
        </p:txBody>
      </p:sp>
      <p:sp>
        <p:nvSpPr>
          <p:cNvPr id="5" name="Text 2"/>
          <p:cNvSpPr txBox="1"/>
          <p:nvPr/>
        </p:nvSpPr>
        <p:spPr>
          <a:xfrm>
            <a:off x="7780739" y="2181352"/>
            <a:ext cx="3862316" cy="1068324"/>
          </a:xfrm>
          <a:prstGeom prst="rect">
            <a:avLst/>
          </a:prstGeom>
          <a:noFill/>
          <a:ln/>
        </p:spPr>
        <p:txBody>
          <a:bodyPr wrap="square" lIns="0" tIns="0" rIns="0" bIns="0" rtlCol="0" anchor="t"/>
          <a:lstStyle/>
          <a:p>
            <a:pPr algn="l" indent="0" marL="0">
              <a:buNone/>
            </a:pPr>
            <a:r>
              <a:rPr lang="en-US" sz="2200" dirty="0">
                <a:solidFill>
                  <a:srgbClr val="1B1B1F"/>
                </a:solidFill>
              </a:rPr>
              <a:t>Der mitgeschickte Hashwert schützt nur gegen </a:t>
            </a:r>
            <a:r>
              <a:rPr lang="en-US" sz="2200" b="1" dirty="0">
                <a:solidFill>
                  <a:srgbClr val="1B1B1F"/>
                </a:solidFill>
              </a:rPr>
              <a:t>zufällige</a:t>
            </a:r>
            <a:r>
              <a:rPr lang="en-US" sz="2200" dirty="0">
                <a:solidFill>
                  <a:srgbClr val="1B1B1F"/>
                </a:solidFill>
              </a:rPr>
              <a:t> Fehler.</a:t>
            </a:r>
            <a:endParaRPr lang="en-US" sz="2200" dirty="0"/>
          </a:p>
        </p:txBody>
      </p:sp>
      <p:sp>
        <p:nvSpPr>
          <p:cNvPr id="6" name="Text 3"/>
          <p:cNvSpPr txBox="1"/>
          <p:nvPr/>
        </p:nvSpPr>
        <p:spPr>
          <a:xfrm>
            <a:off x="7780739" y="3377692"/>
            <a:ext cx="3862316" cy="386588"/>
          </a:xfrm>
          <a:prstGeom prst="rect">
            <a:avLst/>
          </a:prstGeom>
          <a:noFill/>
          <a:ln/>
        </p:spPr>
        <p:txBody>
          <a:bodyPr wrap="square" lIns="0" tIns="0" rIns="0" bIns="0" rtlCol="0" anchor="t"/>
          <a:lstStyle/>
          <a:p>
            <a:pPr algn="l" indent="0" marL="0">
              <a:buNone/>
            </a:pPr>
            <a:r>
              <a:rPr lang="en-US" sz="2200" b="1" dirty="0">
                <a:solidFill>
                  <a:srgbClr val="1B1B1F"/>
                </a:solidFill>
              </a:rPr>
              <a:t>Was fehlt?</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Signatur erstellen</a:t>
            </a:r>
            <a:endParaRPr lang="en-US" sz="3000" dirty="0"/>
          </a:p>
        </p:txBody>
      </p:sp>
      <p:pic>
        <p:nvPicPr>
          <p:cNvPr id="3" name="Image 0" descr="schaubild">    </p:cNvPr>
          <p:cNvPicPr>
            <a:picLocks noChangeAspect="1"/>
          </p:cNvPicPr>
          <p:nvPr/>
        </p:nvPicPr>
        <p:blipFill>
          <a:blip r:embed="rId1"/>
          <a:stretch>
            <a:fillRect/>
          </a:stretch>
        </p:blipFill>
        <p:spPr>
          <a:xfrm>
            <a:off x="548640" y="1325880"/>
            <a:ext cx="5900760" cy="3439522"/>
          </a:xfrm>
          <a:prstGeom prst="rect">
            <a:avLst/>
          </a:prstGeom>
        </p:spPr>
      </p:pic>
      <p:sp>
        <p:nvSpPr>
          <p:cNvPr id="4" name="Text 1"/>
          <p:cNvSpPr txBox="1"/>
          <p:nvPr/>
        </p:nvSpPr>
        <p:spPr>
          <a:xfrm>
            <a:off x="6815160" y="1325880"/>
            <a:ext cx="4827895" cy="727456"/>
          </a:xfrm>
          <a:prstGeom prst="rect">
            <a:avLst/>
          </a:prstGeom>
          <a:noFill/>
          <a:ln/>
        </p:spPr>
        <p:txBody>
          <a:bodyPr wrap="square" lIns="0" tIns="0" rIns="0" bIns="0" rtlCol="0" anchor="t"/>
          <a:lstStyle/>
          <a:p>
            <a:pPr algn="l" indent="0" marL="0">
              <a:buNone/>
            </a:pPr>
            <a:r>
              <a:rPr lang="en-US" sz="2200" b="1" dirty="0">
                <a:solidFill>
                  <a:srgbClr val="1B1B1F"/>
                </a:solidFill>
              </a:rPr>
              <a:t>1.</a:t>
            </a:r>
            <a:r>
              <a:rPr lang="en-US" sz="2200" dirty="0">
                <a:solidFill>
                  <a:srgbClr val="1B1B1F"/>
                </a:solidFill>
              </a:rPr>
              <a:t>  Hashwert der Nachricht berechnen</a:t>
            </a:r>
            <a:endParaRPr lang="en-US" sz="2200" dirty="0"/>
          </a:p>
        </p:txBody>
      </p:sp>
      <p:sp>
        <p:nvSpPr>
          <p:cNvPr id="5" name="Text 2"/>
          <p:cNvSpPr txBox="1"/>
          <p:nvPr/>
        </p:nvSpPr>
        <p:spPr>
          <a:xfrm>
            <a:off x="6815160" y="2181352"/>
            <a:ext cx="4827895" cy="727456"/>
          </a:xfrm>
          <a:prstGeom prst="rect">
            <a:avLst/>
          </a:prstGeom>
          <a:noFill/>
          <a:ln/>
        </p:spPr>
        <p:txBody>
          <a:bodyPr wrap="square" lIns="0" tIns="0" rIns="0" bIns="0" rtlCol="0" anchor="t"/>
          <a:lstStyle/>
          <a:p>
            <a:pPr algn="l" indent="0" marL="0">
              <a:buNone/>
            </a:pPr>
            <a:r>
              <a:rPr lang="en-US" sz="2200" b="1" dirty="0">
                <a:solidFill>
                  <a:srgbClr val="1B1B1F"/>
                </a:solidFill>
              </a:rPr>
              <a:t>2.</a:t>
            </a:r>
            <a:r>
              <a:rPr lang="en-US" sz="2200" dirty="0">
                <a:solidFill>
                  <a:srgbClr val="1B1B1F"/>
                </a:solidFill>
              </a:rPr>
              <a:t>  Hashwert mit </a:t>
            </a:r>
            <a:r>
              <a:rPr lang="en-US" sz="2200" b="1" dirty="0">
                <a:solidFill>
                  <a:srgbClr val="1B1B1F"/>
                </a:solidFill>
              </a:rPr>
              <a:t>Alices privatem Schlüssel</a:t>
            </a:r>
            <a:r>
              <a:rPr lang="en-US" sz="2200" dirty="0">
                <a:solidFill>
                  <a:srgbClr val="1B1B1F"/>
                </a:solidFill>
              </a:rPr>
              <a:t> verschlüsseln = </a:t>
            </a:r>
            <a:r>
              <a:rPr lang="en-US" sz="2200" b="1" dirty="0">
                <a:solidFill>
                  <a:srgbClr val="1B1B1F"/>
                </a:solidFill>
              </a:rPr>
              <a:t>Signatur</a:t>
            </a:r>
            <a:endParaRPr lang="en-US" sz="2200" dirty="0"/>
          </a:p>
        </p:txBody>
      </p:sp>
      <p:sp>
        <p:nvSpPr>
          <p:cNvPr id="6" name="Text 3"/>
          <p:cNvSpPr txBox="1"/>
          <p:nvPr/>
        </p:nvSpPr>
        <p:spPr>
          <a:xfrm>
            <a:off x="6815160" y="3036824"/>
            <a:ext cx="4827895" cy="386588"/>
          </a:xfrm>
          <a:prstGeom prst="rect">
            <a:avLst/>
          </a:prstGeom>
          <a:noFill/>
          <a:ln/>
        </p:spPr>
        <p:txBody>
          <a:bodyPr wrap="square" lIns="0" tIns="0" rIns="0" bIns="0" rtlCol="0" anchor="t"/>
          <a:lstStyle/>
          <a:p>
            <a:pPr algn="l" indent="0" marL="0">
              <a:buNone/>
            </a:pPr>
            <a:r>
              <a:rPr lang="en-US" sz="2200" b="1" dirty="0">
                <a:solidFill>
                  <a:srgbClr val="1B1B1F"/>
                </a:solidFill>
              </a:rPr>
              <a:t>3.</a:t>
            </a:r>
            <a:r>
              <a:rPr lang="en-US" sz="2200" dirty="0">
                <a:solidFill>
                  <a:srgbClr val="1B1B1F"/>
                </a:solidFill>
              </a:rPr>
              <a:t>  Nachricht + Signatur senden</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Signatur prüfen</a:t>
            </a:r>
            <a:endParaRPr lang="en-US" sz="3000" dirty="0"/>
          </a:p>
        </p:txBody>
      </p:sp>
      <p:pic>
        <p:nvPicPr>
          <p:cNvPr id="3" name="Image 0" descr="schaubild">    </p:cNvPr>
          <p:cNvPicPr>
            <a:picLocks noChangeAspect="1"/>
          </p:cNvPicPr>
          <p:nvPr/>
        </p:nvPicPr>
        <p:blipFill>
          <a:blip r:embed="rId1"/>
          <a:stretch>
            <a:fillRect/>
          </a:stretch>
        </p:blipFill>
        <p:spPr>
          <a:xfrm>
            <a:off x="548640" y="1325880"/>
            <a:ext cx="5900760" cy="3703504"/>
          </a:xfrm>
          <a:prstGeom prst="rect">
            <a:avLst/>
          </a:prstGeom>
        </p:spPr>
      </p:pic>
      <p:sp>
        <p:nvSpPr>
          <p:cNvPr id="4" name="Text 1"/>
          <p:cNvSpPr txBox="1"/>
          <p:nvPr/>
        </p:nvSpPr>
        <p:spPr>
          <a:xfrm>
            <a:off x="6815160" y="1325880"/>
            <a:ext cx="4827895" cy="727456"/>
          </a:xfrm>
          <a:prstGeom prst="rect">
            <a:avLst/>
          </a:prstGeom>
          <a:noFill/>
          <a:ln/>
        </p:spPr>
        <p:txBody>
          <a:bodyPr wrap="square" lIns="0" tIns="0" rIns="0" bIns="0" rtlCol="0" anchor="t"/>
          <a:lstStyle/>
          <a:p>
            <a:pPr algn="l" indent="0" marL="0">
              <a:buNone/>
            </a:pPr>
            <a:r>
              <a:rPr lang="en-US" sz="2200" b="1" dirty="0">
                <a:solidFill>
                  <a:srgbClr val="1B1B1F"/>
                </a:solidFill>
              </a:rPr>
              <a:t>4</a:t>
            </a:r>
            <a:r>
              <a:rPr lang="en-US" sz="2200" dirty="0">
                <a:solidFill>
                  <a:srgbClr val="1B1B1F"/>
                </a:solidFill>
              </a:rPr>
              <a:t>  Bob: Hashwert H</a:t>
            </a:r>
            <a:r>
              <a:rPr lang="en-US" sz="2200" baseline="-40000" dirty="0">
                <a:solidFill>
                  <a:srgbClr val="1B1B1F"/>
                </a:solidFill>
              </a:rPr>
              <a:t>1</a:t>
            </a:r>
            <a:r>
              <a:rPr lang="en-US" sz="2200" dirty="0">
                <a:solidFill>
                  <a:srgbClr val="1B1B1F"/>
                </a:solidFill>
              </a:rPr>
              <a:t> der </a:t>
            </a:r>
            <a:r>
              <a:rPr lang="en-US" sz="2200" b="1" dirty="0">
                <a:solidFill>
                  <a:srgbClr val="1B1B1F"/>
                </a:solidFill>
              </a:rPr>
              <a:t>empfangenen</a:t>
            </a:r>
            <a:r>
              <a:rPr lang="en-US" sz="2200" dirty="0">
                <a:solidFill>
                  <a:srgbClr val="1B1B1F"/>
                </a:solidFill>
              </a:rPr>
              <a:t> Nachricht</a:t>
            </a:r>
            <a:endParaRPr lang="en-US" sz="2200" dirty="0"/>
          </a:p>
        </p:txBody>
      </p:sp>
      <p:sp>
        <p:nvSpPr>
          <p:cNvPr id="5" name="Text 2"/>
          <p:cNvSpPr txBox="1"/>
          <p:nvPr/>
        </p:nvSpPr>
        <p:spPr>
          <a:xfrm>
            <a:off x="6815160" y="2181352"/>
            <a:ext cx="4827895" cy="727456"/>
          </a:xfrm>
          <a:prstGeom prst="rect">
            <a:avLst/>
          </a:prstGeom>
          <a:noFill/>
          <a:ln/>
        </p:spPr>
        <p:txBody>
          <a:bodyPr wrap="square" lIns="0" tIns="0" rIns="0" bIns="0" rtlCol="0" anchor="t"/>
          <a:lstStyle/>
          <a:p>
            <a:pPr algn="l" indent="0" marL="0">
              <a:buNone/>
            </a:pPr>
            <a:r>
              <a:rPr lang="en-US" sz="2200" b="1" dirty="0">
                <a:solidFill>
                  <a:srgbClr val="1B1B1F"/>
                </a:solidFill>
              </a:rPr>
              <a:t>5</a:t>
            </a:r>
            <a:r>
              <a:rPr lang="en-US" sz="2200" dirty="0">
                <a:solidFill>
                  <a:srgbClr val="1B1B1F"/>
                </a:solidFill>
              </a:rPr>
              <a:t>  Signatur mit </a:t>
            </a:r>
            <a:r>
              <a:rPr lang="en-US" sz="2200" b="1" dirty="0">
                <a:solidFill>
                  <a:srgbClr val="1B1B1F"/>
                </a:solidFill>
              </a:rPr>
              <a:t>Alices öffentlichem Schlüssel</a:t>
            </a:r>
            <a:r>
              <a:rPr lang="en-US" sz="2200" dirty="0">
                <a:solidFill>
                  <a:srgbClr val="1B1B1F"/>
                </a:solidFill>
              </a:rPr>
              <a:t> entschlüsseln → H</a:t>
            </a:r>
            <a:r>
              <a:rPr lang="en-US" sz="2200" baseline="-40000" dirty="0">
                <a:solidFill>
                  <a:srgbClr val="1B1B1F"/>
                </a:solidFill>
              </a:rPr>
              <a:t>2</a:t>
            </a:r>
            <a:endParaRPr lang="en-US" sz="2200" dirty="0"/>
          </a:p>
        </p:txBody>
      </p:sp>
      <p:sp>
        <p:nvSpPr>
          <p:cNvPr id="6" name="Text 3"/>
          <p:cNvSpPr txBox="1"/>
          <p:nvPr/>
        </p:nvSpPr>
        <p:spPr>
          <a:xfrm>
            <a:off x="6815160" y="3036824"/>
            <a:ext cx="4827895" cy="727456"/>
          </a:xfrm>
          <a:prstGeom prst="rect">
            <a:avLst/>
          </a:prstGeom>
          <a:noFill/>
          <a:ln/>
        </p:spPr>
        <p:txBody>
          <a:bodyPr wrap="square" lIns="0" tIns="0" rIns="0" bIns="0" rtlCol="0" anchor="t"/>
          <a:lstStyle/>
          <a:p>
            <a:pPr algn="l" indent="0" marL="0">
              <a:buNone/>
            </a:pPr>
            <a:r>
              <a:rPr lang="en-US" sz="2200" b="1" dirty="0">
                <a:solidFill>
                  <a:srgbClr val="1B1B1F"/>
                </a:solidFill>
              </a:rPr>
              <a:t>6</a:t>
            </a:r>
            <a:r>
              <a:rPr lang="en-US" sz="2200" dirty="0">
                <a:solidFill>
                  <a:srgbClr val="1B1B1F"/>
                </a:solidFill>
              </a:rPr>
              <a:t>  </a:t>
            </a:r>
            <a:r>
              <a:rPr lang="en-US" sz="2200" b="1" dirty="0">
                <a:solidFill>
                  <a:srgbClr val="1B1B1F"/>
                </a:solidFill>
              </a:rPr>
              <a:t>H</a:t>
            </a:r>
            <a:r>
              <a:rPr lang="en-US" sz="2200" b="1" baseline="-40000" dirty="0">
                <a:solidFill>
                  <a:srgbClr val="1B1B1F"/>
                </a:solidFill>
              </a:rPr>
              <a:t>1</a:t>
            </a:r>
            <a:r>
              <a:rPr lang="en-US" sz="2200" b="1" dirty="0">
                <a:solidFill>
                  <a:srgbClr val="1B1B1F"/>
                </a:solidFill>
              </a:rPr>
              <a:t> = H</a:t>
            </a:r>
            <a:r>
              <a:rPr lang="en-US" sz="2200" b="1" baseline="-40000" dirty="0">
                <a:solidFill>
                  <a:srgbClr val="1B1B1F"/>
                </a:solidFill>
              </a:rPr>
              <a:t>2</a:t>
            </a:r>
            <a:r>
              <a:rPr lang="en-US" sz="2200" b="1" dirty="0">
                <a:solidFill>
                  <a:srgbClr val="1B1B1F"/>
                </a:solidFill>
              </a:rPr>
              <a:t>?</a:t>
            </a:r>
            <a:r>
              <a:rPr lang="en-US" sz="2200" dirty="0">
                <a:solidFill>
                  <a:srgbClr val="1B1B1F"/>
                </a:solidFill>
              </a:rPr>
              <a:t> gleich → gültig, sonst ungültig</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Schutzziele</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3108960"/>
                <a:gridCol w="4937760"/>
                <a:gridCol w="3017520"/>
              </a:tblGrid>
              <a:tr h="0">
                <a:tc>
                  <a:txBody>
                    <a:bodyPr/>
                    <a:lstStyle/>
                    <a:p>
                      <a:pPr algn="l" indent="0" marL="0">
                        <a:buNone/>
                      </a:pPr>
                      <a:r>
                        <a:rPr lang="en-US" sz="2100" b="1" dirty="0">
                          <a:solidFill>
                            <a:srgbClr val="1B1B1F"/>
                          </a:solidFill>
                          <a:latin typeface="Calibri" pitchFamily="34" charset="0"/>
                          <a:ea typeface="Calibri" pitchFamily="34" charset="-122"/>
                          <a:cs typeface="Calibri" pitchFamily="34" charset="-120"/>
                        </a:rPr>
                        <a:t>Schutzziel</a:t>
                      </a:r>
                      <a:endParaRPr lang="en-US" sz="21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2100" b="1" dirty="0">
                          <a:solidFill>
                            <a:srgbClr val="1B1B1F"/>
                          </a:solidFill>
                          <a:latin typeface="Calibri" pitchFamily="34" charset="0"/>
                          <a:ea typeface="Calibri" pitchFamily="34" charset="-122"/>
                          <a:cs typeface="Calibri" pitchFamily="34" charset="-120"/>
                        </a:rPr>
                        <a:t>Bedeutung</a:t>
                      </a:r>
                      <a:endParaRPr lang="en-US" sz="21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2100" b="1" dirty="0">
                          <a:solidFill>
                            <a:srgbClr val="1B1B1F"/>
                          </a:solidFill>
                          <a:latin typeface="Calibri" pitchFamily="34" charset="0"/>
                          <a:ea typeface="Calibri" pitchFamily="34" charset="-122"/>
                          <a:cs typeface="Calibri" pitchFamily="34" charset="-120"/>
                        </a:rPr>
                        <a:t>durch Signatur?</a:t>
                      </a:r>
                      <a:endParaRPr lang="en-US" sz="21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2100" b="1" dirty="0">
                          <a:solidFill>
                            <a:srgbClr val="1B1B1F"/>
                          </a:solidFill>
                          <a:latin typeface="Calibri" pitchFamily="34" charset="0"/>
                          <a:ea typeface="Calibri" pitchFamily="34" charset="-122"/>
                          <a:cs typeface="Calibri" pitchFamily="34" charset="-120"/>
                        </a:rPr>
                        <a:t>Vertraulichkeit</a:t>
                      </a:r>
                      <a:endParaRPr lang="en-US" sz="21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2100" dirty="0">
                          <a:solidFill>
                            <a:srgbClr val="1B1B1F"/>
                          </a:solidFill>
                          <a:latin typeface="Calibri" pitchFamily="34" charset="0"/>
                          <a:ea typeface="Calibri" pitchFamily="34" charset="-122"/>
                          <a:cs typeface="Calibri" pitchFamily="34" charset="-120"/>
                        </a:rPr>
                        <a:t>nur Befugte können lesen</a:t>
                      </a:r>
                      <a:endParaRPr lang="en-US" sz="21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1B1F"/>
                          </a:solidFill>
                          <a:latin typeface="Calibri" pitchFamily="34" charset="0"/>
                          <a:ea typeface="Calibri" pitchFamily="34" charset="-122"/>
                          <a:cs typeface="Calibri" pitchFamily="34" charset="-120"/>
                        </a:rPr>
                        <a:t>✗ – nur durch Verschlüsselung</a:t>
                      </a:r>
                      <a:endParaRPr lang="en-US" sz="21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1B1F"/>
                          </a:solidFill>
                          <a:latin typeface="Calibri" pitchFamily="34" charset="0"/>
                          <a:ea typeface="Calibri" pitchFamily="34" charset="-122"/>
                          <a:cs typeface="Calibri" pitchFamily="34" charset="-120"/>
                        </a:rPr>
                        <a:t>Integrität</a:t>
                      </a:r>
                      <a:endParaRPr lang="en-US" sz="21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2100" dirty="0">
                          <a:solidFill>
                            <a:srgbClr val="1B1B1F"/>
                          </a:solidFill>
                          <a:latin typeface="Calibri" pitchFamily="34" charset="0"/>
                          <a:ea typeface="Calibri" pitchFamily="34" charset="-122"/>
                          <a:cs typeface="Calibri" pitchFamily="34" charset="-120"/>
                        </a:rPr>
                        <a:t>unverändert</a:t>
                      </a:r>
                      <a:endParaRPr lang="en-US" sz="21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1B1F"/>
                          </a:solidFill>
                          <a:latin typeface="Calibri" pitchFamily="34" charset="0"/>
                          <a:ea typeface="Calibri" pitchFamily="34" charset="-122"/>
                          <a:cs typeface="Calibri" pitchFamily="34" charset="-120"/>
                        </a:rPr>
                        <a:t>✓</a:t>
                      </a:r>
                      <a:endParaRPr lang="en-US" sz="21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1B1F"/>
                          </a:solidFill>
                          <a:latin typeface="Calibri" pitchFamily="34" charset="0"/>
                          <a:ea typeface="Calibri" pitchFamily="34" charset="-122"/>
                          <a:cs typeface="Calibri" pitchFamily="34" charset="-120"/>
                        </a:rPr>
                        <a:t>Authentizität</a:t>
                      </a:r>
                      <a:endParaRPr lang="en-US" sz="21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2100" dirty="0">
                          <a:solidFill>
                            <a:srgbClr val="1B1B1F"/>
                          </a:solidFill>
                          <a:latin typeface="Calibri" pitchFamily="34" charset="0"/>
                          <a:ea typeface="Calibri" pitchFamily="34" charset="-122"/>
                          <a:cs typeface="Calibri" pitchFamily="34" charset="-120"/>
                        </a:rPr>
                        <a:t>echter Absender</a:t>
                      </a:r>
                      <a:endParaRPr lang="en-US" sz="21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1B1F"/>
                          </a:solidFill>
                          <a:latin typeface="Calibri" pitchFamily="34" charset="0"/>
                          <a:ea typeface="Calibri" pitchFamily="34" charset="-122"/>
                          <a:cs typeface="Calibri" pitchFamily="34" charset="-120"/>
                        </a:rPr>
                        <a:t>✓</a:t>
                      </a:r>
                      <a:endParaRPr lang="en-US" sz="21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1B1F"/>
                          </a:solidFill>
                          <a:latin typeface="Calibri" pitchFamily="34" charset="0"/>
                          <a:ea typeface="Calibri" pitchFamily="34" charset="-122"/>
                          <a:cs typeface="Calibri" pitchFamily="34" charset="-120"/>
                        </a:rPr>
                        <a:t>Verbindlichkeit</a:t>
                      </a:r>
                      <a:endParaRPr lang="en-US" sz="21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2100" dirty="0">
                          <a:solidFill>
                            <a:srgbClr val="1B1B1F"/>
                          </a:solidFill>
                          <a:latin typeface="Calibri" pitchFamily="34" charset="0"/>
                          <a:ea typeface="Calibri" pitchFamily="34" charset="-122"/>
                          <a:cs typeface="Calibri" pitchFamily="34" charset="-120"/>
                        </a:rPr>
                        <a:t>nicht abstreitbar</a:t>
                      </a:r>
                      <a:endParaRPr lang="en-US" sz="21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1B1F"/>
                          </a:solidFill>
                          <a:latin typeface="Calibri" pitchFamily="34" charset="0"/>
                          <a:ea typeface="Calibri" pitchFamily="34" charset="-122"/>
                          <a:cs typeface="Calibri" pitchFamily="34" charset="-120"/>
                        </a:rPr>
                        <a:t>✓</a:t>
                      </a:r>
                      <a:endParaRPr lang="en-US" sz="21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Signieren und verschlüsseln</a:t>
            </a:r>
            <a:endParaRPr lang="en-US" sz="3000" dirty="0"/>
          </a:p>
        </p:txBody>
      </p:sp>
      <p:pic>
        <p:nvPicPr>
          <p:cNvPr id="3" name="Image 0" descr="schaubild">    </p:cNvPr>
          <p:cNvPicPr>
            <a:picLocks noChangeAspect="1"/>
          </p:cNvPicPr>
          <p:nvPr/>
        </p:nvPicPr>
        <p:blipFill>
          <a:blip r:embed="rId1"/>
          <a:stretch>
            <a:fillRect/>
          </a:stretch>
        </p:blipFill>
        <p:spPr>
          <a:xfrm>
            <a:off x="1139154" y="1325880"/>
            <a:ext cx="5256165" cy="4480560"/>
          </a:xfrm>
          <a:prstGeom prst="rect">
            <a:avLst/>
          </a:prstGeom>
        </p:spPr>
      </p:pic>
      <p:sp>
        <p:nvSpPr>
          <p:cNvPr id="4" name="Text 1"/>
          <p:cNvSpPr txBox="1"/>
          <p:nvPr/>
        </p:nvSpPr>
        <p:spPr>
          <a:xfrm>
            <a:off x="7351593" y="1325880"/>
            <a:ext cx="4291462" cy="727456"/>
          </a:xfrm>
          <a:prstGeom prst="rect">
            <a:avLst/>
          </a:prstGeom>
          <a:noFill/>
          <a:ln/>
        </p:spPr>
        <p:txBody>
          <a:bodyPr wrap="square" lIns="0" tIns="0" rIns="0" bIns="0" rtlCol="0" anchor="t"/>
          <a:lstStyle/>
          <a:p>
            <a:pPr algn="l" indent="0" marL="0">
              <a:buNone/>
            </a:pPr>
            <a:r>
              <a:rPr lang="en-US" sz="2200" b="1" dirty="0">
                <a:solidFill>
                  <a:srgbClr val="1B1B1F"/>
                </a:solidFill>
              </a:rPr>
              <a:t>Jedes Schlüsselpaar hat genau eine Aufgabe:</a:t>
            </a:r>
            <a:endParaRPr lang="en-US" sz="2200" dirty="0"/>
          </a:p>
        </p:txBody>
      </p:sp>
      <p:sp>
        <p:nvSpPr>
          <p:cNvPr id="5" name="Text 2"/>
          <p:cNvSpPr txBox="1"/>
          <p:nvPr/>
        </p:nvSpPr>
        <p:spPr>
          <a:xfrm>
            <a:off x="7351593" y="2181352"/>
            <a:ext cx="4291462" cy="386588"/>
          </a:xfrm>
          <a:prstGeom prst="rect">
            <a:avLst/>
          </a:prstGeom>
          <a:noFill/>
          <a:ln/>
        </p:spPr>
        <p:txBody>
          <a:bodyPr wrap="square" lIns="0" tIns="0" rIns="0" bIns="0" rtlCol="0" anchor="t"/>
          <a:lstStyle/>
          <a:p>
            <a:pPr algn="l" indent="0" marL="0">
              <a:buNone/>
            </a:pPr>
            <a:r>
              <a:rPr lang="en-US" sz="2200" dirty="0">
                <a:solidFill>
                  <a:srgbClr val="1B1B1F"/>
                </a:solidFill>
              </a:rPr>
              <a:t>▪  Alices Paar → </a:t>
            </a:r>
            <a:r>
              <a:rPr lang="en-US" sz="2200" b="1" dirty="0">
                <a:solidFill>
                  <a:srgbClr val="1B1B1F"/>
                </a:solidFill>
              </a:rPr>
              <a:t>Signatur</a:t>
            </a:r>
            <a:endParaRPr lang="en-US" sz="2200" dirty="0"/>
          </a:p>
        </p:txBody>
      </p:sp>
      <p:sp>
        <p:nvSpPr>
          <p:cNvPr id="6" name="Text 3"/>
          <p:cNvSpPr txBox="1"/>
          <p:nvPr/>
        </p:nvSpPr>
        <p:spPr>
          <a:xfrm>
            <a:off x="7351593" y="2695956"/>
            <a:ext cx="4291462" cy="386588"/>
          </a:xfrm>
          <a:prstGeom prst="rect">
            <a:avLst/>
          </a:prstGeom>
          <a:noFill/>
          <a:ln/>
        </p:spPr>
        <p:txBody>
          <a:bodyPr wrap="square" lIns="0" tIns="0" rIns="0" bIns="0" rtlCol="0" anchor="t"/>
          <a:lstStyle/>
          <a:p>
            <a:pPr algn="l" indent="0" marL="0">
              <a:buNone/>
            </a:pPr>
            <a:r>
              <a:rPr lang="en-US" sz="2200" dirty="0">
                <a:solidFill>
                  <a:srgbClr val="1B1B1F"/>
                </a:solidFill>
              </a:rPr>
              <a:t>▪  Bobs Paar → </a:t>
            </a:r>
            <a:r>
              <a:rPr lang="en-US" sz="2200" b="1" dirty="0">
                <a:solidFill>
                  <a:srgbClr val="1B1B1F"/>
                </a:solidFill>
              </a:rPr>
              <a:t>Vertraulichkeit</a:t>
            </a:r>
            <a:endParaRPr lang="en-US" sz="2200" dirty="0"/>
          </a:p>
        </p:txBody>
      </p:sp>
      <p:sp>
        <p:nvSpPr>
          <p:cNvPr id="7" name="Text 4"/>
          <p:cNvSpPr txBox="1"/>
          <p:nvPr/>
        </p:nvSpPr>
        <p:spPr>
          <a:xfrm>
            <a:off x="7351593" y="3210560"/>
            <a:ext cx="4291462" cy="603504"/>
          </a:xfrm>
          <a:prstGeom prst="rect">
            <a:avLst/>
          </a:prstGeom>
          <a:noFill/>
          <a:ln/>
        </p:spPr>
        <p:txBody>
          <a:bodyPr wrap="square" lIns="0" tIns="0" rIns="0" bIns="0" rtlCol="0" anchor="t"/>
          <a:lstStyle/>
          <a:p>
            <a:pPr algn="l" indent="0" marL="0">
              <a:buNone/>
            </a:pPr>
            <a:r>
              <a:rPr lang="en-US" sz="1800" dirty="0">
                <a:solidFill>
                  <a:srgbClr val="1B1B1F"/>
                </a:solidFill>
              </a:rPr>
              <a:t>Bob macht alles in </a:t>
            </a:r>
            <a:r>
              <a:rPr lang="en-US" sz="1800" b="1" dirty="0">
                <a:solidFill>
                  <a:srgbClr val="1B1B1F"/>
                </a:solidFill>
              </a:rPr>
              <a:t>umgekehrter Reihenfolge</a:t>
            </a:r>
            <a:r>
              <a:rPr lang="en-US" sz="1800" dirty="0">
                <a:solidFill>
                  <a:srgbClr val="1B1B1F"/>
                </a:solidFill>
              </a:rPr>
              <a:t> rückgängig (P3).</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Zwei Euro oder tausend?</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4754880"/>
                <a:gridCol w="1280160"/>
                <a:gridCol w="2377440"/>
                <a:gridCol w="2651760"/>
              </a:tblGrid>
              <a:tr h="0">
                <a:tc>
                  <a:txBody>
                    <a:bodyPr/>
                    <a:lstStyle/>
                    <a:p>
                      <a:pPr algn="ctr" indent="0" marL="0">
                        <a:buNone/>
                      </a:pPr>
                      <a:r>
                        <a:rPr lang="en-US" sz="2000" b="1" dirty="0">
                          <a:solidFill>
                            <a:srgbClr val="1B1B1F"/>
                          </a:solidFill>
                          <a:latin typeface="Calibri" pitchFamily="34" charset="0"/>
                          <a:ea typeface="Calibri" pitchFamily="34" charset="-122"/>
                          <a:cs typeface="Calibri" pitchFamily="34" charset="-120"/>
                        </a:rPr>
                        <a:t>Nachricht</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000" b="1" dirty="0">
                          <a:solidFill>
                            <a:srgbClr val="1B1B1F"/>
                          </a:solidFill>
                          <a:latin typeface="Calibri" pitchFamily="34" charset="0"/>
                          <a:ea typeface="Calibri" pitchFamily="34" charset="-122"/>
                          <a:cs typeface="Calibri" pitchFamily="34" charset="-120"/>
                        </a:rPr>
                        <a:t>KH</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000" b="1" dirty="0">
                          <a:solidFill>
                            <a:srgbClr val="1B1B1F"/>
                          </a:solidFill>
                          <a:latin typeface="Calibri" pitchFamily="34" charset="0"/>
                          <a:ea typeface="Calibri" pitchFamily="34" charset="-122"/>
                          <a:cs typeface="Calibri" pitchFamily="34" charset="-120"/>
                        </a:rPr>
                        <a:t>Signatur</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000" b="1" dirty="0">
                          <a:solidFill>
                            <a:srgbClr val="1B1B1F"/>
                          </a:solidFill>
                          <a:latin typeface="Calibri" pitchFamily="34" charset="0"/>
                          <a:ea typeface="Calibri" pitchFamily="34" charset="-122"/>
                          <a:cs typeface="Calibri" pitchFamily="34" charset="-120"/>
                        </a:rPr>
                        <a:t>Bob prüft</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ctr" indent="0" marL="0">
                        <a:buNone/>
                      </a:pPr>
                      <a:r>
                        <a:rPr lang="en-US" sz="2000" dirty="0">
                          <a:solidFill>
                            <a:srgbClr val="1B1B1F"/>
                          </a:solidFill>
                          <a:latin typeface="Calibri" pitchFamily="34" charset="0"/>
                          <a:ea typeface="Calibri" pitchFamily="34" charset="-122"/>
                          <a:cs typeface="Calibri" pitchFamily="34" charset="-120"/>
                        </a:rPr>
                        <a:t>Alice: „ueberweise zwei euro“</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alibri" pitchFamily="34" charset="0"/>
                          <a:ea typeface="Calibri" pitchFamily="34" charset="-122"/>
                          <a:cs typeface="Calibri" pitchFamily="34" charset="-120"/>
                        </a:rPr>
                        <a:t>18</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alibri" pitchFamily="34" charset="0"/>
                          <a:ea typeface="Calibri" pitchFamily="34" charset="-122"/>
                          <a:cs typeface="Calibri" pitchFamily="34" charset="-120"/>
                        </a:rPr>
                        <a:t>s von Alice</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alibri" pitchFamily="34" charset="0"/>
                          <a:ea typeface="Calibri" pitchFamily="34" charset="-122"/>
                          <a:cs typeface="Calibri" pitchFamily="34" charset="-120"/>
                        </a:rPr>
                        <a:t>gültig</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ctr" indent="0" marL="0">
                        <a:buNone/>
                      </a:pPr>
                      <a:r>
                        <a:rPr lang="en-US" sz="2000" dirty="0">
                          <a:solidFill>
                            <a:srgbClr val="1B1B1F"/>
                          </a:solidFill>
                          <a:latin typeface="Calibri" pitchFamily="34" charset="0"/>
                          <a:ea typeface="Calibri" pitchFamily="34" charset="-122"/>
                          <a:cs typeface="Calibri" pitchFamily="34" charset="-120"/>
                        </a:rPr>
                        <a:t>Mallory: „ueberweise tausend euro“</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alibri" pitchFamily="34" charset="0"/>
                          <a:ea typeface="Calibri" pitchFamily="34" charset="-122"/>
                          <a:cs typeface="Calibri" pitchFamily="34" charset="-120"/>
                        </a:rPr>
                        <a:t>18</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1B1B1F"/>
                          </a:solidFill>
                          <a:latin typeface="Calibri" pitchFamily="34" charset="0"/>
                          <a:ea typeface="Calibri" pitchFamily="34" charset="-122"/>
                          <a:cs typeface="Calibri" pitchFamily="34" charset="-120"/>
                        </a:rPr>
                        <a:t>dieselbe</a:t>
                      </a:r>
                      <a:r>
                        <a:rPr lang="en-US" sz="2000" dirty="0">
                          <a:solidFill>
                            <a:srgbClr val="1B1B1F"/>
                          </a:solidFill>
                          <a:latin typeface="Calibri" pitchFamily="34" charset="0"/>
                          <a:ea typeface="Calibri" pitchFamily="34" charset="-122"/>
                          <a:cs typeface="Calibri" pitchFamily="34" charset="-120"/>
                        </a:rPr>
                        <a:t> s</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1B1B1F"/>
                          </a:solidFill>
                          <a:latin typeface="Calibri" pitchFamily="34" charset="0"/>
                          <a:ea typeface="Calibri" pitchFamily="34" charset="-122"/>
                          <a:cs typeface="Calibri" pitchFamily="34" charset="-120"/>
                        </a:rPr>
                        <a:t>gültig!</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2657856"/>
            <a:ext cx="11094415" cy="727456"/>
          </a:xfrm>
          <a:prstGeom prst="rect">
            <a:avLst/>
          </a:prstGeom>
          <a:noFill/>
          <a:ln/>
        </p:spPr>
        <p:txBody>
          <a:bodyPr wrap="square" lIns="0" tIns="0" rIns="0" bIns="0" rtlCol="0" anchor="t"/>
          <a:lstStyle/>
          <a:p>
            <a:pPr algn="l" indent="0" marL="0">
              <a:buNone/>
            </a:pPr>
            <a:r>
              <a:rPr lang="en-US" sz="2200" dirty="0">
                <a:solidFill>
                  <a:srgbClr val="1B1B1F"/>
                </a:solidFill>
              </a:rPr>
              <a:t>Mallory braucht Alices privaten Schlüssel </a:t>
            </a:r>
            <a:r>
              <a:rPr lang="en-US" sz="2200" b="1" dirty="0">
                <a:solidFill>
                  <a:srgbClr val="1B1B1F"/>
                </a:solidFill>
              </a:rPr>
              <a:t>nicht</a:t>
            </a:r>
            <a:r>
              <a:rPr lang="en-US" sz="2200" dirty="0">
                <a:solidFill>
                  <a:srgbClr val="1B1B1F"/>
                </a:solidFill>
              </a:rPr>
              <a:t> – die alte Signatur passt zum gleichen Hashwert.</a:t>
            </a:r>
            <a:endParaRPr lang="en-US" sz="2200" dirty="0"/>
          </a:p>
        </p:txBody>
      </p:sp>
      <p:sp>
        <p:nvSpPr>
          <p:cNvPr id="5" name="Text 2"/>
          <p:cNvSpPr txBox="1"/>
          <p:nvPr/>
        </p:nvSpPr>
        <p:spPr>
          <a:xfrm>
            <a:off x="548640" y="3513328"/>
            <a:ext cx="11094415" cy="386588"/>
          </a:xfrm>
          <a:prstGeom prst="rect">
            <a:avLst/>
          </a:prstGeom>
          <a:noFill/>
          <a:ln/>
        </p:spPr>
        <p:txBody>
          <a:bodyPr wrap="square" lIns="0" tIns="0" rIns="0" bIns="0" rtlCol="0" anchor="t"/>
          <a:lstStyle/>
          <a:p>
            <a:pPr algn="l" indent="0" marL="0">
              <a:buNone/>
            </a:pPr>
            <a:r>
              <a:rPr lang="en-US" sz="2200" b="1" dirty="0">
                <a:solidFill>
                  <a:srgbClr val="1B1B1F"/>
                </a:solidFill>
              </a:rPr>
              <a:t>Eine Signatur ist nur so stark wie die Kollisionsresistenz der Hashfunktion.</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Falle P9 · Schlüsselrollen</a:t>
            </a:r>
            <a:endParaRPr lang="en-US" sz="3000" dirty="0"/>
          </a:p>
        </p:txBody>
      </p:sp>
      <p:sp>
        <p:nvSpPr>
          <p:cNvPr id="3" name="Text 1"/>
          <p:cNvSpPr txBox="1"/>
          <p:nvPr/>
        </p:nvSpPr>
        <p:spPr>
          <a:xfrm>
            <a:off x="548640" y="1325880"/>
            <a:ext cx="11094415" cy="773176"/>
          </a:xfrm>
          <a:prstGeom prst="rect">
            <a:avLst/>
          </a:prstGeom>
          <a:noFill/>
          <a:ln/>
        </p:spPr>
        <p:txBody>
          <a:bodyPr wrap="square" lIns="0" tIns="0" rIns="0" bIns="0" rtlCol="0" anchor="t"/>
          <a:lstStyle/>
          <a:p>
            <a:pPr indent="0" marL="0">
              <a:buNone/>
            </a:pPr>
            <a:r>
              <a:rPr lang="en-US" sz="2200" dirty="0">
                <a:solidFill>
                  <a:srgbClr val="1B1B1F"/>
                </a:solidFill>
              </a:rPr>
              <a:t>Signatur → Schlüssel der </a:t>
            </a:r>
            <a:r>
              <a:rPr lang="en-US" sz="2200" b="1" dirty="0">
                <a:solidFill>
                  <a:srgbClr val="1B1B1F"/>
                </a:solidFill>
              </a:rPr>
              <a:t>Absenderin</a:t>
            </a:r>
            <a:r>
              <a:rPr lang="en-US" sz="2200" dirty="0">
                <a:solidFill>
                  <a:srgbClr val="1B1B1F"/>
                </a:solidFill>
              </a:rPr>
              <a:t> · Vertraulichkeit → Schlüssel des </a:t>
            </a:r>
            <a:r>
              <a:rPr lang="en-US" sz="2200" b="1" dirty="0">
                <a:solidFill>
                  <a:srgbClr val="1B1B1F"/>
                </a:solidFill>
              </a:rPr>
              <a:t>Empfängers</a:t>
            </a:r>
            <a:endParaRPr lang="en-US" sz="2200" dirty="0"/>
          </a:p>
        </p:txBody>
      </p:sp>
      <p:sp>
        <p:nvSpPr>
          <p:cNvPr id="4" name="Shape 2"/>
          <p:cNvSpPr/>
          <p:nvPr/>
        </p:nvSpPr>
        <p:spPr>
          <a:xfrm>
            <a:off x="548640" y="2281936"/>
            <a:ext cx="5364328" cy="2616200"/>
          </a:xfrm>
          <a:prstGeom prst="roundRect">
            <a:avLst>
              <a:gd name="adj" fmla="val 2796"/>
            </a:avLst>
          </a:prstGeom>
          <a:solidFill>
            <a:srgbClr val="FDF3F2"/>
          </a:solidFill>
          <a:ln w="15875">
            <a:solidFill>
              <a:srgbClr val="B3261E"/>
            </a:solidFill>
            <a:prstDash val="solid"/>
          </a:ln>
        </p:spPr>
      </p:sp>
      <p:sp>
        <p:nvSpPr>
          <p:cNvPr id="5" name="Text 3"/>
          <p:cNvSpPr txBox="1"/>
          <p:nvPr/>
        </p:nvSpPr>
        <p:spPr>
          <a:xfrm>
            <a:off x="822960" y="2464816"/>
            <a:ext cx="4815688" cy="365760"/>
          </a:xfrm>
          <a:prstGeom prst="rect">
            <a:avLst/>
          </a:prstGeom>
          <a:noFill/>
          <a:ln/>
        </p:spPr>
        <p:txBody>
          <a:bodyPr wrap="square" lIns="0" tIns="0" rIns="0" bIns="0" rtlCol="0" anchor="ctr"/>
          <a:lstStyle/>
          <a:p>
            <a:pPr indent="0" marL="0">
              <a:buNone/>
            </a:pPr>
            <a:r>
              <a:rPr lang="en-US" sz="1800" b="1" spc="200" kern="0" dirty="0">
                <a:solidFill>
                  <a:srgbClr val="B3261E"/>
                </a:solidFill>
              </a:rPr>
              <a:t>SO NICHT  ✗</a:t>
            </a:r>
            <a:endParaRPr lang="en-US" sz="1800" dirty="0"/>
          </a:p>
        </p:txBody>
      </p:sp>
      <p:sp>
        <p:nvSpPr>
          <p:cNvPr id="6" name="Text 4"/>
          <p:cNvSpPr txBox="1"/>
          <p:nvPr/>
        </p:nvSpPr>
        <p:spPr>
          <a:xfrm>
            <a:off x="822960" y="2967736"/>
            <a:ext cx="4815688" cy="1573784"/>
          </a:xfrm>
          <a:prstGeom prst="rect">
            <a:avLst/>
          </a:prstGeom>
          <a:noFill/>
          <a:ln/>
        </p:spPr>
        <p:txBody>
          <a:bodyPr wrap="square" lIns="0" tIns="0" rIns="0" bIns="0" rtlCol="0" anchor="t"/>
          <a:lstStyle/>
          <a:p>
            <a:pPr marL="279400" indent="-279400">
              <a:spcAft>
                <a:spcPts val="600"/>
              </a:spcAft>
              <a:buSzPct val="100000"/>
              <a:buChar char="●"/>
            </a:pPr>
            <a:r>
              <a:rPr lang="en-US" sz="2200" dirty="0">
                <a:solidFill>
                  <a:srgbClr val="1B1B1F"/>
                </a:solidFill>
              </a:rPr>
              <a:t>„Alice signiert mit Bobs öffentlichem Schlüssel.“</a:t>
            </a:r>
            <a:endParaRPr lang="en-US" sz="2200" dirty="0"/>
          </a:p>
          <a:p>
            <a:pPr marL="279400" indent="-279400">
              <a:spcAft>
                <a:spcPts val="600"/>
              </a:spcAft>
              <a:buSzPct val="100000"/>
              <a:buChar char="●"/>
            </a:pPr>
            <a:r>
              <a:rPr lang="en-US" sz="2200" dirty="0">
                <a:solidFill>
                  <a:srgbClr val="1B1B1F"/>
                </a:solidFill>
              </a:rPr>
              <a:t>„Bob prüft, indem er die Signatur entschlüsselt.“</a:t>
            </a:r>
            <a:endParaRPr lang="en-US" sz="2200" dirty="0"/>
          </a:p>
        </p:txBody>
      </p:sp>
      <p:sp>
        <p:nvSpPr>
          <p:cNvPr id="7" name="Shape 5"/>
          <p:cNvSpPr/>
          <p:nvPr/>
        </p:nvSpPr>
        <p:spPr>
          <a:xfrm>
            <a:off x="6278728" y="2281936"/>
            <a:ext cx="5364328" cy="2625344"/>
          </a:xfrm>
          <a:prstGeom prst="roundRect">
            <a:avLst>
              <a:gd name="adj" fmla="val 2786"/>
            </a:avLst>
          </a:prstGeom>
          <a:solidFill>
            <a:srgbClr val="EEF6EE"/>
          </a:solidFill>
          <a:ln w="15875">
            <a:solidFill>
              <a:srgbClr val="2E7D32"/>
            </a:solidFill>
            <a:prstDash val="solid"/>
          </a:ln>
        </p:spPr>
      </p:sp>
      <p:sp>
        <p:nvSpPr>
          <p:cNvPr id="8" name="Text 6"/>
          <p:cNvSpPr txBox="1"/>
          <p:nvPr/>
        </p:nvSpPr>
        <p:spPr>
          <a:xfrm>
            <a:off x="6553048" y="2464816"/>
            <a:ext cx="4815688" cy="365760"/>
          </a:xfrm>
          <a:prstGeom prst="rect">
            <a:avLst/>
          </a:prstGeom>
          <a:noFill/>
          <a:ln/>
        </p:spPr>
        <p:txBody>
          <a:bodyPr wrap="square" lIns="0" tIns="0" rIns="0" bIns="0" rtlCol="0" anchor="ctr"/>
          <a:lstStyle/>
          <a:p>
            <a:pPr indent="0" marL="0">
              <a:buNone/>
            </a:pPr>
            <a:r>
              <a:rPr lang="en-US" sz="1800" b="1" spc="200" kern="0" dirty="0">
                <a:solidFill>
                  <a:srgbClr val="2E7D32"/>
                </a:solidFill>
              </a:rPr>
              <a:t>SO RICHTIG  ✓</a:t>
            </a:r>
            <a:endParaRPr lang="en-US" sz="1800" dirty="0"/>
          </a:p>
        </p:txBody>
      </p:sp>
      <p:sp>
        <p:nvSpPr>
          <p:cNvPr id="9" name="Text 7"/>
          <p:cNvSpPr txBox="1"/>
          <p:nvPr/>
        </p:nvSpPr>
        <p:spPr>
          <a:xfrm>
            <a:off x="6553048" y="2967736"/>
            <a:ext cx="4815688" cy="727456"/>
          </a:xfrm>
          <a:prstGeom prst="rect">
            <a:avLst/>
          </a:prstGeom>
          <a:noFill/>
          <a:ln/>
        </p:spPr>
        <p:txBody>
          <a:bodyPr wrap="square" lIns="0" tIns="0" rIns="0" bIns="0" rtlCol="0" anchor="t"/>
          <a:lstStyle/>
          <a:p>
            <a:pPr algn="l" indent="0" marL="0">
              <a:buNone/>
            </a:pPr>
            <a:r>
              <a:rPr lang="en-US" sz="2200" dirty="0">
                <a:solidFill>
                  <a:srgbClr val="1B1B1F"/>
                </a:solidFill>
              </a:rPr>
              <a:t>▪  Alice signiert mit </a:t>
            </a:r>
            <a:r>
              <a:rPr lang="en-US" sz="2200" b="1" dirty="0">
                <a:solidFill>
                  <a:srgbClr val="1B1B1F"/>
                </a:solidFill>
              </a:rPr>
              <a:t>ihrem privaten</a:t>
            </a:r>
            <a:r>
              <a:rPr lang="en-US" sz="2200" dirty="0">
                <a:solidFill>
                  <a:srgbClr val="1B1B1F"/>
                </a:solidFill>
              </a:rPr>
              <a:t> Schlüssel.</a:t>
            </a:r>
            <a:endParaRPr lang="en-US" sz="2200" dirty="0"/>
          </a:p>
        </p:txBody>
      </p:sp>
      <p:sp>
        <p:nvSpPr>
          <p:cNvPr id="10" name="Text 8"/>
          <p:cNvSpPr txBox="1"/>
          <p:nvPr/>
        </p:nvSpPr>
        <p:spPr>
          <a:xfrm>
            <a:off x="6553048" y="3823208"/>
            <a:ext cx="4815688" cy="727456"/>
          </a:xfrm>
          <a:prstGeom prst="rect">
            <a:avLst/>
          </a:prstGeom>
          <a:noFill/>
          <a:ln/>
        </p:spPr>
        <p:txBody>
          <a:bodyPr wrap="square" lIns="0" tIns="0" rIns="0" bIns="0" rtlCol="0" anchor="t"/>
          <a:lstStyle/>
          <a:p>
            <a:pPr algn="l" indent="0" marL="0">
              <a:buNone/>
            </a:pPr>
            <a:r>
              <a:rPr lang="en-US" sz="2200" dirty="0">
                <a:solidFill>
                  <a:srgbClr val="1B1B1F"/>
                </a:solidFill>
              </a:rPr>
              <a:t>▪  Bob entschlüsselt </a:t>
            </a:r>
            <a:r>
              <a:rPr lang="en-US" sz="2200" b="1" dirty="0">
                <a:solidFill>
                  <a:srgbClr val="1B1B1F"/>
                </a:solidFill>
              </a:rPr>
              <a:t>und vergleicht</a:t>
            </a:r>
            <a:r>
              <a:rPr lang="en-US" sz="2200" dirty="0">
                <a:solidFill>
                  <a:srgbClr val="1B1B1F"/>
                </a:solidFill>
              </a:rPr>
              <a:t> H</a:t>
            </a:r>
            <a:r>
              <a:rPr lang="en-US" sz="2200" baseline="-40000" dirty="0">
                <a:solidFill>
                  <a:srgbClr val="1B1B1F"/>
                </a:solidFill>
              </a:rPr>
              <a:t>1</a:t>
            </a:r>
            <a:r>
              <a:rPr lang="en-US" sz="2200" dirty="0">
                <a:solidFill>
                  <a:srgbClr val="1B1B1F"/>
                </a:solidFill>
              </a:rPr>
              <a:t> mit H</a:t>
            </a:r>
            <a:r>
              <a:rPr lang="en-US" sz="2200" baseline="-40000" dirty="0">
                <a:solidFill>
                  <a:srgbClr val="1B1B1F"/>
                </a:solidFill>
              </a:rPr>
              <a:t>2</a:t>
            </a:r>
            <a:r>
              <a:rPr lang="en-US" sz="2200" dirty="0">
                <a:solidFill>
                  <a:srgbClr val="1B1B1F"/>
                </a:solidFill>
              </a:rPr>
              <a:t>.</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Level 5.2 · Das Siegel</a:t>
            </a:r>
            <a:endParaRPr lang="en-US" sz="3000" dirty="0"/>
          </a:p>
        </p:txBody>
      </p:sp>
      <p:sp>
        <p:nvSpPr>
          <p:cNvPr id="3" name="Merke-Kasten"/>
          <p:cNvSpPr/>
          <p:nvPr/>
        </p:nvSpPr>
        <p:spPr>
          <a:xfrm>
            <a:off x="1097280" y="1508760"/>
            <a:ext cx="9997135" cy="3803904"/>
          </a:xfrm>
          <a:prstGeom prst="roundRect">
            <a:avLst>
              <a:gd name="adj" fmla="val 2404"/>
            </a:avLst>
          </a:prstGeom>
          <a:solidFill>
            <a:srgbClr val="FBF3E2"/>
          </a:solidFill>
          <a:ln w="19050">
            <a:solidFill>
              <a:srgbClr val="B07D2B"/>
            </a:solidFill>
            <a:prstDash val="solid"/>
          </a:ln>
        </p:spPr>
      </p:sp>
      <p:sp>
        <p:nvSpPr>
          <p:cNvPr id="4" name="Text 2"/>
          <p:cNvSpPr txBox="1"/>
          <p:nvPr/>
        </p:nvSpPr>
        <p:spPr>
          <a:xfrm>
            <a:off x="1508760" y="1737360"/>
            <a:ext cx="3657600" cy="411480"/>
          </a:xfrm>
          <a:prstGeom prst="rect">
            <a:avLst/>
          </a:prstGeom>
          <a:noFill/>
          <a:ln/>
        </p:spPr>
        <p:txBody>
          <a:bodyPr wrap="square" lIns="0" tIns="0" rIns="0" bIns="0" rtlCol="0" anchor="ctr"/>
          <a:lstStyle/>
          <a:p>
            <a:pPr indent="0" marL="0">
              <a:buNone/>
            </a:pPr>
            <a:r>
              <a:rPr lang="en-US" sz="2000" b="1" spc="400" kern="0" dirty="0">
                <a:solidFill>
                  <a:srgbClr val="8A5F1A"/>
                </a:solidFill>
                <a:latin typeface="Georgia" pitchFamily="34" charset="0"/>
                <a:ea typeface="Georgia" pitchFamily="34" charset="-122"/>
                <a:cs typeface="Georgia" pitchFamily="34" charset="-120"/>
              </a:rPr>
              <a:t>MERKE</a:t>
            </a:r>
            <a:endParaRPr lang="en-US" sz="2000" dirty="0"/>
          </a:p>
        </p:txBody>
      </p:sp>
      <p:sp>
        <p:nvSpPr>
          <p:cNvPr id="5" name="Text 3"/>
          <p:cNvSpPr txBox="1"/>
          <p:nvPr/>
        </p:nvSpPr>
        <p:spPr>
          <a:xfrm>
            <a:off x="1508760" y="2240280"/>
            <a:ext cx="9174175" cy="727456"/>
          </a:xfrm>
          <a:prstGeom prst="rect">
            <a:avLst/>
          </a:prstGeom>
          <a:noFill/>
          <a:ln/>
        </p:spPr>
        <p:txBody>
          <a:bodyPr wrap="square" lIns="0" tIns="0" rIns="0" bIns="0" rtlCol="0" anchor="t"/>
          <a:lstStyle/>
          <a:p>
            <a:pPr algn="l" indent="0" marL="0">
              <a:buNone/>
            </a:pPr>
            <a:r>
              <a:rPr lang="en-US" sz="2200" b="1" dirty="0">
                <a:solidFill>
                  <a:srgbClr val="1B1B1F"/>
                </a:solidFill>
              </a:rPr>
              <a:t>Signieren:</a:t>
            </a:r>
            <a:r>
              <a:rPr lang="en-US" sz="2200" dirty="0">
                <a:solidFill>
                  <a:srgbClr val="1B1B1F"/>
                </a:solidFill>
              </a:rPr>
              <a:t> Hashwert mit dem </a:t>
            </a:r>
            <a:r>
              <a:rPr lang="en-US" sz="2200" b="1" dirty="0">
                <a:solidFill>
                  <a:srgbClr val="1B1B1F"/>
                </a:solidFill>
              </a:rPr>
              <a:t>privaten</a:t>
            </a:r>
            <a:r>
              <a:rPr lang="en-US" sz="2200" dirty="0">
                <a:solidFill>
                  <a:srgbClr val="1B1B1F"/>
                </a:solidFill>
              </a:rPr>
              <a:t> Schlüssel der Absenderin verschlüsseln.</a:t>
            </a:r>
            <a:endParaRPr lang="en-US" sz="2200" dirty="0"/>
          </a:p>
        </p:txBody>
      </p:sp>
      <p:sp>
        <p:nvSpPr>
          <p:cNvPr id="6" name="Text 4"/>
          <p:cNvSpPr txBox="1"/>
          <p:nvPr/>
        </p:nvSpPr>
        <p:spPr>
          <a:xfrm>
            <a:off x="1508760" y="3095752"/>
            <a:ext cx="9174175" cy="727456"/>
          </a:xfrm>
          <a:prstGeom prst="rect">
            <a:avLst/>
          </a:prstGeom>
          <a:noFill/>
          <a:ln/>
        </p:spPr>
        <p:txBody>
          <a:bodyPr wrap="square" lIns="0" tIns="0" rIns="0" bIns="0" rtlCol="0" anchor="t"/>
          <a:lstStyle/>
          <a:p>
            <a:pPr algn="l" indent="0" marL="0">
              <a:buNone/>
            </a:pPr>
            <a:r>
              <a:rPr lang="en-US" sz="2200" b="1" dirty="0">
                <a:solidFill>
                  <a:srgbClr val="1B1B1F"/>
                </a:solidFill>
              </a:rPr>
              <a:t>Prüfen:</a:t>
            </a:r>
            <a:r>
              <a:rPr lang="en-US" sz="2200" dirty="0">
                <a:solidFill>
                  <a:srgbClr val="1B1B1F"/>
                </a:solidFill>
              </a:rPr>
              <a:t> Hash selbst berechnen, Signatur mit ihrem </a:t>
            </a:r>
            <a:r>
              <a:rPr lang="en-US" sz="2200" b="1" dirty="0">
                <a:solidFill>
                  <a:srgbClr val="1B1B1F"/>
                </a:solidFill>
              </a:rPr>
              <a:t>öffentlichen</a:t>
            </a:r>
            <a:r>
              <a:rPr lang="en-US" sz="2200" dirty="0">
                <a:solidFill>
                  <a:srgbClr val="1B1B1F"/>
                </a:solidFill>
              </a:rPr>
              <a:t> Schlüssel entschlüsseln, </a:t>
            </a:r>
            <a:r>
              <a:rPr lang="en-US" sz="2200" b="1" dirty="0">
                <a:solidFill>
                  <a:srgbClr val="1B1B1F"/>
                </a:solidFill>
              </a:rPr>
              <a:t>vergleichen</a:t>
            </a:r>
            <a:r>
              <a:rPr lang="en-US" sz="2200" dirty="0">
                <a:solidFill>
                  <a:srgbClr val="1B1B1F"/>
                </a:solidFill>
              </a:rPr>
              <a:t>.</a:t>
            </a:r>
            <a:endParaRPr lang="en-US" sz="2200" dirty="0"/>
          </a:p>
        </p:txBody>
      </p:sp>
      <p:sp>
        <p:nvSpPr>
          <p:cNvPr id="7" name="Text 5"/>
          <p:cNvSpPr txBox="1"/>
          <p:nvPr/>
        </p:nvSpPr>
        <p:spPr>
          <a:xfrm>
            <a:off x="1508760" y="3951224"/>
            <a:ext cx="9174175" cy="727456"/>
          </a:xfrm>
          <a:prstGeom prst="rect">
            <a:avLst/>
          </a:prstGeom>
          <a:noFill/>
          <a:ln/>
        </p:spPr>
        <p:txBody>
          <a:bodyPr wrap="square" lIns="0" tIns="0" rIns="0" bIns="0" rtlCol="0" anchor="t"/>
          <a:lstStyle/>
          <a:p>
            <a:pPr algn="l" indent="0" marL="0">
              <a:buNone/>
            </a:pPr>
            <a:r>
              <a:rPr lang="en-US" sz="2200" dirty="0">
                <a:solidFill>
                  <a:srgbClr val="1B1B1F"/>
                </a:solidFill>
              </a:rPr>
              <a:t>Signatur → Integrität, Authentizität, Verbindlichkeit. </a:t>
            </a:r>
            <a:r>
              <a:rPr lang="en-US" sz="2200" b="1" dirty="0">
                <a:solidFill>
                  <a:srgbClr val="1B1B1F"/>
                </a:solidFill>
              </a:rPr>
              <a:t>Vertraulichkeit nur durch Verschlüsselung.</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1645920" y="2651760"/>
            <a:ext cx="9601200" cy="1097280"/>
          </a:xfrm>
          <a:prstGeom prst="rect">
            <a:avLst/>
          </a:prstGeom>
          <a:noFill/>
          <a:ln/>
        </p:spPr>
        <p:txBody>
          <a:bodyPr wrap="square" lIns="0" tIns="0" rIns="0" bIns="0" rtlCol="0" anchor="ctr"/>
          <a:lstStyle/>
          <a:p>
            <a:pPr algn="l" indent="0" marL="0">
              <a:buNone/>
            </a:pPr>
            <a:r>
              <a:rPr lang="en-US" sz="4000" b="1" dirty="0">
                <a:solidFill>
                  <a:srgbClr val="FBF7EE"/>
                </a:solidFill>
                <a:latin typeface="Georgia" pitchFamily="34" charset="0"/>
                <a:ea typeface="Georgia" pitchFamily="34" charset="-122"/>
                <a:cs typeface="Georgia" pitchFamily="34" charset="-120"/>
              </a:rPr>
              <a:t>Mallory im Netz</a:t>
            </a:r>
            <a:endParaRPr lang="en-US" sz="4000" dirty="0"/>
          </a:p>
        </p:txBody>
      </p:sp>
      <p:sp>
        <p:nvSpPr>
          <p:cNvPr id="3" name="Text 1"/>
          <p:cNvSpPr txBox="1"/>
          <p:nvPr/>
        </p:nvSpPr>
        <p:spPr>
          <a:xfrm>
            <a:off x="1645920" y="3749040"/>
            <a:ext cx="9601200" cy="548640"/>
          </a:xfrm>
          <a:prstGeom prst="rect">
            <a:avLst/>
          </a:prstGeom>
          <a:noFill/>
          <a:ln/>
        </p:spPr>
        <p:txBody>
          <a:bodyPr wrap="square" lIns="0" tIns="0" rIns="0" bIns="0" rtlCol="0" anchor="ctr"/>
          <a:lstStyle/>
          <a:p>
            <a:pPr indent="0" marL="0">
              <a:buNone/>
            </a:pPr>
            <a:r>
              <a:rPr lang="en-US" sz="2000" dirty="0">
                <a:solidFill>
                  <a:srgbClr val="D9A441"/>
                </a:solidFill>
              </a:rPr>
              <a:t>DS 16 · Man-in-the-Middle, Zertifikate, TLS, Datenschutz</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FBF7EE"/>
                </a:solidFill>
                <a:latin typeface="Georgia" pitchFamily="34" charset="0"/>
                <a:ea typeface="Georgia" pitchFamily="34" charset="-122"/>
                <a:cs typeface="Georgia" pitchFamily="34" charset="-120"/>
              </a:rPr>
              <a:t>Funkraum: Mallory im Netz</a:t>
            </a:r>
            <a:endParaRPr lang="en-US" sz="3000" dirty="0"/>
          </a:p>
        </p:txBody>
      </p:sp>
      <p:pic>
        <p:nvPicPr>
          <p:cNvPr id="3" name="Image 0" descr="/tmp/kr_bildcache/qr_72e29757ebfd726a.png">    </p:cNvPr>
          <p:cNvPicPr>
            <a:picLocks noChangeAspect="1"/>
          </p:cNvPicPr>
          <p:nvPr/>
        </p:nvPicPr>
        <p:blipFill>
          <a:blip r:embed="rId1"/>
          <a:stretch>
            <a:fillRect/>
          </a:stretch>
        </p:blipFill>
        <p:spPr>
          <a:xfrm>
            <a:off x="9905695" y="4206240"/>
            <a:ext cx="1737360" cy="1737360"/>
          </a:xfrm>
          <a:prstGeom prst="rect">
            <a:avLst/>
          </a:prstGeom>
        </p:spPr>
      </p:pic>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731520" y="1417320"/>
          <a:ext cx="8503920" cy="914400"/>
        </p:xfrm>
        <a:graphic>
          <a:graphicData uri="http://schemas.openxmlformats.org/drawingml/2006/table">
            <a:tbl>
              <a:tblPr/>
              <a:tblGrid>
                <a:gridCol w="2743200"/>
                <a:gridCol w="5760720"/>
              </a:tblGrid>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Rolle</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Aufgabe</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Alice-Teams</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senden einen geheimen Auftrag</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Bob-Teams</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führen den Auftrag aus</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Mallory-Team</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Postamt – sitzt zwischen allen</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Trent</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Lehrkraft – siegelt Schlüssel</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731520" y="3242056"/>
            <a:ext cx="8716975" cy="386588"/>
          </a:xfrm>
          <a:prstGeom prst="rect">
            <a:avLst/>
          </a:prstGeom>
          <a:noFill/>
          <a:ln/>
        </p:spPr>
        <p:txBody>
          <a:bodyPr wrap="square" lIns="0" tIns="0" rIns="0" bIns="0" rtlCol="0" anchor="t"/>
          <a:lstStyle/>
          <a:p>
            <a:pPr algn="l" indent="0" marL="0">
              <a:buNone/>
            </a:pPr>
            <a:r>
              <a:rPr lang="en-US" sz="2200" b="1" dirty="0">
                <a:solidFill>
                  <a:srgbClr val="FBF7EE"/>
                </a:solidFill>
              </a:rPr>
              <a:t>Phase 1:</a:t>
            </a:r>
            <a:r>
              <a:rPr lang="en-US" sz="2200" dirty="0">
                <a:solidFill>
                  <a:srgbClr val="FBF7EE"/>
                </a:solidFill>
              </a:rPr>
              <a:t> ohne Zertifikate · </a:t>
            </a:r>
            <a:r>
              <a:rPr lang="en-US" sz="2200" b="1" dirty="0">
                <a:solidFill>
                  <a:srgbClr val="FBF7EE"/>
                </a:solidFill>
              </a:rPr>
              <a:t>Phase 2:</a:t>
            </a:r>
            <a:r>
              <a:rPr lang="en-US" sz="2200" dirty="0">
                <a:solidFill>
                  <a:srgbClr val="FBF7EE"/>
                </a:solidFill>
              </a:rPr>
              <a:t> Trent siegelt Schlüssel</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Was ist passiert?</a:t>
            </a:r>
            <a:endParaRPr lang="en-US" sz="3000" dirty="0"/>
          </a:p>
        </p:txBody>
      </p:sp>
      <p:pic>
        <p:nvPicPr>
          <p:cNvPr id="3" name="Image 0" descr="schaubild">    </p:cNvPr>
          <p:cNvPicPr>
            <a:picLocks noChangeAspect="1"/>
          </p:cNvPicPr>
          <p:nvPr/>
        </p:nvPicPr>
        <p:blipFill>
          <a:blip r:embed="rId1"/>
          <a:stretch>
            <a:fillRect/>
          </a:stretch>
        </p:blipFill>
        <p:spPr>
          <a:xfrm>
            <a:off x="903562" y="1325880"/>
            <a:ext cx="6156495" cy="4480560"/>
          </a:xfrm>
          <a:prstGeom prst="rect">
            <a:avLst/>
          </a:prstGeom>
        </p:spPr>
      </p:pic>
      <p:sp>
        <p:nvSpPr>
          <p:cNvPr id="4" name="Text 1"/>
          <p:cNvSpPr txBox="1"/>
          <p:nvPr/>
        </p:nvSpPr>
        <p:spPr>
          <a:xfrm>
            <a:off x="7780739" y="1325880"/>
            <a:ext cx="3862316" cy="1068324"/>
          </a:xfrm>
          <a:prstGeom prst="rect">
            <a:avLst/>
          </a:prstGeom>
          <a:noFill/>
          <a:ln/>
        </p:spPr>
        <p:txBody>
          <a:bodyPr wrap="square" lIns="0" tIns="0" rIns="0" bIns="0" rtlCol="0" anchor="t"/>
          <a:lstStyle/>
          <a:p>
            <a:pPr algn="l" indent="0" marL="0">
              <a:buNone/>
            </a:pPr>
            <a:r>
              <a:rPr lang="en-US" sz="2200" dirty="0">
                <a:solidFill>
                  <a:srgbClr val="1B1B1F"/>
                </a:solidFill>
              </a:rPr>
              <a:t>▪  Mallory hat </a:t>
            </a:r>
            <a:r>
              <a:rPr lang="en-US" sz="2200" b="1" dirty="0">
                <a:solidFill>
                  <a:srgbClr val="1B1B1F"/>
                </a:solidFill>
              </a:rPr>
              <a:t>kein Verfahren</a:t>
            </a:r>
            <a:r>
              <a:rPr lang="en-US" sz="2200" dirty="0">
                <a:solidFill>
                  <a:srgbClr val="1B1B1F"/>
                </a:solidFill>
              </a:rPr>
              <a:t> gebrochen – sie hat Schlüssel </a:t>
            </a:r>
            <a:r>
              <a:rPr lang="en-US" sz="2200" b="1" dirty="0">
                <a:solidFill>
                  <a:srgbClr val="1B1B1F"/>
                </a:solidFill>
              </a:rPr>
              <a:t>vertauscht</a:t>
            </a:r>
            <a:r>
              <a:rPr lang="en-US" sz="2200" dirty="0">
                <a:solidFill>
                  <a:srgbClr val="1B1B1F"/>
                </a:solidFill>
              </a:rPr>
              <a:t>.</a:t>
            </a:r>
            <a:endParaRPr lang="en-US" sz="2200" dirty="0"/>
          </a:p>
        </p:txBody>
      </p:sp>
      <p:sp>
        <p:nvSpPr>
          <p:cNvPr id="5" name="Text 2"/>
          <p:cNvSpPr txBox="1"/>
          <p:nvPr/>
        </p:nvSpPr>
        <p:spPr>
          <a:xfrm>
            <a:off x="7780739" y="2522220"/>
            <a:ext cx="3862316" cy="1068324"/>
          </a:xfrm>
          <a:prstGeom prst="rect">
            <a:avLst/>
          </a:prstGeom>
          <a:noFill/>
          <a:ln/>
        </p:spPr>
        <p:txBody>
          <a:bodyPr wrap="square" lIns="0" tIns="0" rIns="0" bIns="0" rtlCol="0" anchor="t"/>
          <a:lstStyle/>
          <a:p>
            <a:pPr algn="l" indent="0" marL="0">
              <a:buNone/>
            </a:pPr>
            <a:r>
              <a:rPr lang="en-US" sz="2200" dirty="0">
                <a:solidFill>
                  <a:srgbClr val="1B1B1F"/>
                </a:solidFill>
              </a:rPr>
              <a:t>▪  gebrochen: Vertraulichkeit, Integrität, Authentizität</a:t>
            </a:r>
            <a:endParaRPr lang="en-US" sz="2200" dirty="0"/>
          </a:p>
        </p:txBody>
      </p:sp>
      <p:sp>
        <p:nvSpPr>
          <p:cNvPr id="6" name="Text 3"/>
          <p:cNvSpPr txBox="1"/>
          <p:nvPr/>
        </p:nvSpPr>
        <p:spPr>
          <a:xfrm>
            <a:off x="7780739" y="3718560"/>
            <a:ext cx="3862316" cy="1068324"/>
          </a:xfrm>
          <a:prstGeom prst="rect">
            <a:avLst/>
          </a:prstGeom>
          <a:noFill/>
          <a:ln/>
        </p:spPr>
        <p:txBody>
          <a:bodyPr wrap="square" lIns="0" tIns="0" rIns="0" bIns="0" rtlCol="0" anchor="t"/>
          <a:lstStyle/>
          <a:p>
            <a:pPr algn="l" indent="0" marL="0">
              <a:buNone/>
            </a:pPr>
            <a:r>
              <a:rPr lang="en-US" sz="2200" dirty="0">
                <a:solidFill>
                  <a:srgbClr val="1B1B1F"/>
                </a:solidFill>
              </a:rPr>
              <a:t>▪  Rettung: Eine </a:t>
            </a:r>
            <a:r>
              <a:rPr lang="en-US" sz="2200" b="1" dirty="0">
                <a:solidFill>
                  <a:srgbClr val="1B1B1F"/>
                </a:solidFill>
              </a:rPr>
              <a:t>dritte Stelle</a:t>
            </a:r>
            <a:r>
              <a:rPr lang="en-US" sz="2200" dirty="0">
                <a:solidFill>
                  <a:srgbClr val="1B1B1F"/>
                </a:solidFill>
              </a:rPr>
              <a:t> bestätigt, wem ein Schlüssel gehört.</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Trent siegelt Bobs Schlüssel</a:t>
            </a:r>
            <a:endParaRPr lang="en-US" sz="3000" dirty="0"/>
          </a:p>
        </p:txBody>
      </p:sp>
      <p:pic>
        <p:nvPicPr>
          <p:cNvPr id="3" name="Image 0" descr="schaubild">    </p:cNvPr>
          <p:cNvPicPr>
            <a:picLocks noChangeAspect="1"/>
          </p:cNvPicPr>
          <p:nvPr/>
        </p:nvPicPr>
        <p:blipFill>
          <a:blip r:embed="rId1"/>
          <a:stretch>
            <a:fillRect/>
          </a:stretch>
        </p:blipFill>
        <p:spPr>
          <a:xfrm>
            <a:off x="800968" y="1325880"/>
            <a:ext cx="6147110" cy="4480560"/>
          </a:xfrm>
          <a:prstGeom prst="rect">
            <a:avLst/>
          </a:prstGeom>
        </p:spPr>
      </p:pic>
      <p:sp>
        <p:nvSpPr>
          <p:cNvPr id="4" name="Text 1"/>
          <p:cNvSpPr txBox="1"/>
          <p:nvPr/>
        </p:nvSpPr>
        <p:spPr>
          <a:xfrm>
            <a:off x="7566166" y="1325880"/>
            <a:ext cx="4076889" cy="1068324"/>
          </a:xfrm>
          <a:prstGeom prst="rect">
            <a:avLst/>
          </a:prstGeom>
          <a:noFill/>
          <a:ln/>
        </p:spPr>
        <p:txBody>
          <a:bodyPr wrap="square" lIns="0" tIns="0" rIns="0" bIns="0" rtlCol="0" anchor="t"/>
          <a:lstStyle/>
          <a:p>
            <a:pPr algn="l" indent="0" marL="0">
              <a:buNone/>
            </a:pPr>
            <a:r>
              <a:rPr lang="en-US" sz="2200" b="1" dirty="0">
                <a:solidFill>
                  <a:srgbClr val="1B1B1F"/>
                </a:solidFill>
              </a:rPr>
              <a:t>Zertifikat</a:t>
            </a:r>
            <a:r>
              <a:rPr lang="en-US" sz="2200" dirty="0">
                <a:solidFill>
                  <a:srgbClr val="1B1B1F"/>
                </a:solidFill>
              </a:rPr>
              <a:t> = Name + öffentlicher Schlüssel + Gültigkeit, </a:t>
            </a:r>
            <a:r>
              <a:rPr lang="en-US" sz="2200" b="1" dirty="0">
                <a:solidFill>
                  <a:srgbClr val="1B1B1F"/>
                </a:solidFill>
              </a:rPr>
              <a:t>signiert von der CA</a:t>
            </a:r>
            <a:r>
              <a:rPr lang="en-US" sz="2200" dirty="0">
                <a:solidFill>
                  <a:srgbClr val="1B1B1F"/>
                </a:solidFill>
              </a:rPr>
              <a:t>.</a:t>
            </a:r>
            <a:endParaRPr lang="en-US" sz="2200" dirty="0"/>
          </a:p>
        </p:txBody>
      </p:sp>
      <p:sp>
        <p:nvSpPr>
          <p:cNvPr id="5" name="Text 2"/>
          <p:cNvSpPr txBox="1"/>
          <p:nvPr/>
        </p:nvSpPr>
        <p:spPr>
          <a:xfrm>
            <a:off x="7566166" y="2522220"/>
            <a:ext cx="4076889" cy="1068324"/>
          </a:xfrm>
          <a:prstGeom prst="rect">
            <a:avLst/>
          </a:prstGeom>
          <a:noFill/>
          <a:ln/>
        </p:spPr>
        <p:txBody>
          <a:bodyPr wrap="square" lIns="0" tIns="0" rIns="0" bIns="0" rtlCol="0" anchor="t"/>
          <a:lstStyle/>
          <a:p>
            <a:pPr algn="l" indent="0" marL="0">
              <a:buNone/>
            </a:pPr>
            <a:r>
              <a:rPr lang="en-US" sz="2200" dirty="0">
                <a:solidFill>
                  <a:srgbClr val="1B1B1F"/>
                </a:solidFill>
              </a:rPr>
              <a:t>Alice prüft mit </a:t>
            </a:r>
            <a:r>
              <a:rPr lang="en-US" sz="2200" b="1" dirty="0">
                <a:solidFill>
                  <a:srgbClr val="1B1B1F"/>
                </a:solidFill>
              </a:rPr>
              <a:t>Trents öffentlichem Schlüssel</a:t>
            </a:r>
            <a:r>
              <a:rPr lang="en-US" sz="2200" dirty="0">
                <a:solidFill>
                  <a:srgbClr val="1B1B1F"/>
                </a:solidFill>
              </a:rPr>
              <a:t> – der ist vorinstalliert.</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Das Zertifikat</a:t>
            </a:r>
            <a:endParaRPr lang="en-US" sz="3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5578901" cy="914400"/>
        </p:xfrm>
        <a:graphic>
          <a:graphicData uri="http://schemas.openxmlformats.org/drawingml/2006/table">
            <a:tbl>
              <a:tblPr/>
              <a:tblGrid>
                <a:gridCol w="2339539"/>
                <a:gridCol w="3239362"/>
              </a:tblGrid>
              <a:tr h="0">
                <a:tc>
                  <a:txBody>
                    <a:bodyPr/>
                    <a:lstStyle/>
                    <a:p>
                      <a:pPr algn="l" indent="0" marL="0">
                        <a:buNone/>
                      </a:pPr>
                      <a:r>
                        <a:rPr lang="en-US" sz="1500" b="1" dirty="0">
                          <a:solidFill>
                            <a:srgbClr val="1B1B1F"/>
                          </a:solidFill>
                          <a:latin typeface="Calibri" pitchFamily="34" charset="0"/>
                          <a:ea typeface="Calibri" pitchFamily="34" charset="-122"/>
                          <a:cs typeface="Calibri" pitchFamily="34" charset="-120"/>
                        </a:rPr>
                        <a:t>Inhaber</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500" dirty="0">
                          <a:solidFill>
                            <a:srgbClr val="1B1B1F"/>
                          </a:solidFill>
                          <a:latin typeface="Consolas" pitchFamily="34" charset="0"/>
                          <a:ea typeface="Consolas" pitchFamily="34" charset="-122"/>
                          <a:cs typeface="Consolas" pitchFamily="34" charset="-120"/>
                        </a:rPr>
                        <a:t>bank-chronopolis.example</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1B1F"/>
                          </a:solidFill>
                          <a:latin typeface="Calibri" pitchFamily="34" charset="0"/>
                          <a:ea typeface="Calibri" pitchFamily="34" charset="-122"/>
                          <a:cs typeface="Calibri" pitchFamily="34" charset="-120"/>
                        </a:rPr>
                        <a:t>öffentl. Schlüssel</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RSA 2048 Bit, </a:t>
                      </a:r>
                      <a:r>
                        <a:rPr lang="en-US" sz="1500" dirty="0">
                          <a:solidFill>
                            <a:srgbClr val="1B1B1F"/>
                          </a:solidFill>
                          <a:latin typeface="Consolas" pitchFamily="34" charset="0"/>
                          <a:ea typeface="Consolas" pitchFamily="34" charset="-122"/>
                          <a:cs typeface="Consolas" pitchFamily="34" charset="-120"/>
                        </a:rPr>
                        <a:t>30 82 01 0A …</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1B1F"/>
                          </a:solidFill>
                          <a:latin typeface="Calibri" pitchFamily="34" charset="0"/>
                          <a:ea typeface="Calibri" pitchFamily="34" charset="-122"/>
                          <a:cs typeface="Calibri" pitchFamily="34" charset="-120"/>
                        </a:rPr>
                        <a:t>Aussteller</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Chronopolis CA</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1B1F"/>
                          </a:solidFill>
                          <a:latin typeface="Calibri" pitchFamily="34" charset="0"/>
                          <a:ea typeface="Calibri" pitchFamily="34" charset="-122"/>
                          <a:cs typeface="Calibri" pitchFamily="34" charset="-120"/>
                        </a:rPr>
                        <a:t>gültig</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01.09.2026 – 15.03.2027</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1B1F"/>
                          </a:solidFill>
                          <a:latin typeface="Calibri" pitchFamily="34" charset="0"/>
                          <a:ea typeface="Calibri" pitchFamily="34" charset="-122"/>
                          <a:cs typeface="Calibri" pitchFamily="34" charset="-120"/>
                        </a:rPr>
                        <a:t>Signatur der CA</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Hashwert aller Angaben, verschlüsselt mit dem privaten Schlüssel der CA</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6493301" y="1325880"/>
            <a:ext cx="5149754" cy="386588"/>
          </a:xfrm>
          <a:prstGeom prst="rect">
            <a:avLst/>
          </a:prstGeom>
          <a:noFill/>
          <a:ln/>
        </p:spPr>
        <p:txBody>
          <a:bodyPr wrap="square" lIns="0" tIns="0" rIns="0" bIns="0" rtlCol="0" anchor="t"/>
          <a:lstStyle/>
          <a:p>
            <a:pPr algn="l" indent="0" marL="0">
              <a:buNone/>
            </a:pPr>
            <a:r>
              <a:rPr lang="en-US" sz="2200" b="1" dirty="0">
                <a:solidFill>
                  <a:srgbClr val="1B1B1F"/>
                </a:solidFill>
              </a:rPr>
              <a:t>Prüfung im Browser:</a:t>
            </a:r>
            <a:endParaRPr lang="en-US" sz="2200" dirty="0"/>
          </a:p>
        </p:txBody>
      </p:sp>
      <p:sp>
        <p:nvSpPr>
          <p:cNvPr id="5" name="Text 2"/>
          <p:cNvSpPr txBox="1"/>
          <p:nvPr/>
        </p:nvSpPr>
        <p:spPr>
          <a:xfrm>
            <a:off x="6493301" y="1840484"/>
            <a:ext cx="5149754" cy="727456"/>
          </a:xfrm>
          <a:prstGeom prst="rect">
            <a:avLst/>
          </a:prstGeom>
          <a:noFill/>
          <a:ln/>
        </p:spPr>
        <p:txBody>
          <a:bodyPr wrap="square" lIns="0" tIns="0" rIns="0" bIns="0" rtlCol="0" anchor="t"/>
          <a:lstStyle/>
          <a:p>
            <a:pPr algn="l" indent="0" marL="0">
              <a:buNone/>
            </a:pPr>
            <a:r>
              <a:rPr lang="en-US" sz="2200" b="1" dirty="0">
                <a:solidFill>
                  <a:srgbClr val="1B1B1F"/>
                </a:solidFill>
              </a:rPr>
              <a:t>1.</a:t>
            </a:r>
            <a:r>
              <a:rPr lang="en-US" sz="2200" dirty="0">
                <a:solidFill>
                  <a:srgbClr val="1B1B1F"/>
                </a:solidFill>
              </a:rPr>
              <a:t>  Signatur mit dem </a:t>
            </a:r>
            <a:r>
              <a:rPr lang="en-US" sz="2200" b="1" dirty="0">
                <a:solidFill>
                  <a:srgbClr val="1B1B1F"/>
                </a:solidFill>
              </a:rPr>
              <a:t>öffentlichen Schlüssel der CA</a:t>
            </a:r>
            <a:endParaRPr lang="en-US" sz="2200" dirty="0"/>
          </a:p>
        </p:txBody>
      </p:sp>
      <p:sp>
        <p:nvSpPr>
          <p:cNvPr id="6" name="Text 3"/>
          <p:cNvSpPr txBox="1"/>
          <p:nvPr/>
        </p:nvSpPr>
        <p:spPr>
          <a:xfrm>
            <a:off x="6493301" y="2695956"/>
            <a:ext cx="5149754" cy="386588"/>
          </a:xfrm>
          <a:prstGeom prst="rect">
            <a:avLst/>
          </a:prstGeom>
          <a:noFill/>
          <a:ln/>
        </p:spPr>
        <p:txBody>
          <a:bodyPr wrap="square" lIns="0" tIns="0" rIns="0" bIns="0" rtlCol="0" anchor="t"/>
          <a:lstStyle/>
          <a:p>
            <a:pPr algn="l" indent="0" marL="0">
              <a:buNone/>
            </a:pPr>
            <a:r>
              <a:rPr lang="en-US" sz="2200" b="1" dirty="0">
                <a:solidFill>
                  <a:srgbClr val="1B1B1F"/>
                </a:solidFill>
              </a:rPr>
              <a:t>2.</a:t>
            </a:r>
            <a:r>
              <a:rPr lang="en-US" sz="2200" dirty="0">
                <a:solidFill>
                  <a:srgbClr val="1B1B1F"/>
                </a:solidFill>
              </a:rPr>
              <a:t>  Name = aufgerufene Domain?</a:t>
            </a:r>
            <a:endParaRPr lang="en-US" sz="2200" dirty="0"/>
          </a:p>
        </p:txBody>
      </p:sp>
      <p:sp>
        <p:nvSpPr>
          <p:cNvPr id="7" name="Text 4"/>
          <p:cNvSpPr txBox="1"/>
          <p:nvPr/>
        </p:nvSpPr>
        <p:spPr>
          <a:xfrm>
            <a:off x="6493301" y="3210560"/>
            <a:ext cx="5149754" cy="386588"/>
          </a:xfrm>
          <a:prstGeom prst="rect">
            <a:avLst/>
          </a:prstGeom>
          <a:noFill/>
          <a:ln/>
        </p:spPr>
        <p:txBody>
          <a:bodyPr wrap="square" lIns="0" tIns="0" rIns="0" bIns="0" rtlCol="0" anchor="t"/>
          <a:lstStyle/>
          <a:p>
            <a:pPr algn="l" indent="0" marL="0">
              <a:buNone/>
            </a:pPr>
            <a:r>
              <a:rPr lang="en-US" sz="2200" b="1" dirty="0">
                <a:solidFill>
                  <a:srgbClr val="1B1B1F"/>
                </a:solidFill>
              </a:rPr>
              <a:t>3.</a:t>
            </a:r>
            <a:r>
              <a:rPr lang="en-US" sz="2200" dirty="0">
                <a:solidFill>
                  <a:srgbClr val="1B1B1F"/>
                </a:solidFill>
              </a:rPr>
              <a:t>  heute gültig?</a:t>
            </a:r>
            <a:endParaRPr lang="en-US" sz="2200" dirty="0"/>
          </a:p>
        </p:txBody>
      </p:sp>
      <p:sp>
        <p:nvSpPr>
          <p:cNvPr id="8" name="Text 5"/>
          <p:cNvSpPr txBox="1"/>
          <p:nvPr/>
        </p:nvSpPr>
        <p:spPr>
          <a:xfrm>
            <a:off x="6493301" y="3725164"/>
            <a:ext cx="5149754" cy="386588"/>
          </a:xfrm>
          <a:prstGeom prst="rect">
            <a:avLst/>
          </a:prstGeom>
          <a:noFill/>
          <a:ln/>
        </p:spPr>
        <p:txBody>
          <a:bodyPr wrap="square" lIns="0" tIns="0" rIns="0" bIns="0" rtlCol="0" anchor="t"/>
          <a:lstStyle/>
          <a:p>
            <a:pPr algn="l" indent="0" marL="0">
              <a:buNone/>
            </a:pPr>
            <a:r>
              <a:rPr lang="en-US" sz="2200" b="1" dirty="0">
                <a:solidFill>
                  <a:srgbClr val="1B1B1F"/>
                </a:solidFill>
              </a:rPr>
              <a:t>4.</a:t>
            </a:r>
            <a:r>
              <a:rPr lang="en-US" sz="2200" dirty="0">
                <a:solidFill>
                  <a:srgbClr val="1B1B1F"/>
                </a:solidFill>
              </a:rPr>
              <a:t>  nicht widerrufen?</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Kette und Vertrauensanker</a:t>
            </a:r>
            <a:endParaRPr lang="en-US" sz="3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926080"/>
                <a:gridCol w="914400"/>
                <a:gridCol w="2926080"/>
                <a:gridCol w="914400"/>
                <a:gridCol w="3383280"/>
              </a:tblGrid>
              <a:tr h="0">
                <a:tc>
                  <a:txBody>
                    <a:bodyPr/>
                    <a:lstStyle/>
                    <a:p>
                      <a:pPr algn="ctr" indent="0" marL="0">
                        <a:buNone/>
                      </a:pPr>
                      <a:r>
                        <a:rPr lang="en-US" sz="1900" b="1" dirty="0">
                          <a:solidFill>
                            <a:srgbClr val="1B1B1F"/>
                          </a:solidFill>
                          <a:latin typeface="Calibri" pitchFamily="34" charset="0"/>
                          <a:ea typeface="Calibri" pitchFamily="34" charset="-122"/>
                          <a:cs typeface="Calibri" pitchFamily="34" charset="-120"/>
                        </a:rPr>
                        <a:t>Trent Root CA</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1B1B1F"/>
                          </a:solidFill>
                          <a:latin typeface="Calibri" pitchFamily="34" charset="0"/>
                          <a:ea typeface="Calibri" pitchFamily="34" charset="-122"/>
                          <a:cs typeface="Calibri" pitchFamily="34" charset="-120"/>
                        </a:rPr>
                        <a:t>→</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900" b="1" dirty="0">
                          <a:solidFill>
                            <a:srgbClr val="1B1B1F"/>
                          </a:solidFill>
                          <a:latin typeface="Calibri" pitchFamily="34" charset="0"/>
                          <a:ea typeface="Calibri" pitchFamily="34" charset="-122"/>
                          <a:cs typeface="Calibri" pitchFamily="34" charset="-120"/>
                        </a:rPr>
                        <a:t>Chronopolis CA</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1B1B1F"/>
                          </a:solidFill>
                          <a:latin typeface="Calibri" pitchFamily="34" charset="0"/>
                          <a:ea typeface="Calibri" pitchFamily="34" charset="-122"/>
                          <a:cs typeface="Calibri" pitchFamily="34" charset="-120"/>
                        </a:rPr>
                        <a:t>→</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1B1B1F"/>
                          </a:solidFill>
                          <a:latin typeface="Consolas" pitchFamily="34" charset="0"/>
                          <a:ea typeface="Consolas" pitchFamily="34" charset="-122"/>
                          <a:cs typeface="Consolas" pitchFamily="34" charset="-120"/>
                        </a:rPr>
                        <a:t>bank-chronopolis.example</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ctr" indent="0" marL="0">
                        <a:buNone/>
                      </a:pPr>
                      <a:r>
                        <a:rPr lang="en-US" sz="1900" dirty="0">
                          <a:solidFill>
                            <a:srgbClr val="1B1B1F"/>
                          </a:solidFill>
                          <a:latin typeface="Calibri" pitchFamily="34" charset="0"/>
                          <a:ea typeface="Calibri" pitchFamily="34" charset="-122"/>
                          <a:cs typeface="Calibri" pitchFamily="34" charset="-120"/>
                        </a:rPr>
                        <a:t>Wurzelzertifikat · im Browser </a:t>
                      </a:r>
                      <a:r>
                        <a:rPr lang="en-US" sz="1900" b="1" dirty="0">
                          <a:solidFill>
                            <a:srgbClr val="1B1B1F"/>
                          </a:solidFill>
                          <a:latin typeface="Calibri" pitchFamily="34" charset="0"/>
                          <a:ea typeface="Calibri" pitchFamily="34" charset="-122"/>
                          <a:cs typeface="Calibri" pitchFamily="34" charset="-120"/>
                        </a:rPr>
                        <a:t>vorinstalliert</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1B1B1F"/>
                          </a:solidFill>
                          <a:latin typeface="Calibri" pitchFamily="34" charset="0"/>
                          <a:ea typeface="Calibri" pitchFamily="34" charset="-122"/>
                          <a:cs typeface="Calibri" pitchFamily="34" charset="-120"/>
                        </a:rPr>
                        <a:t>signiert</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1B1B1F"/>
                          </a:solidFill>
                          <a:latin typeface="Calibri" pitchFamily="34" charset="0"/>
                          <a:ea typeface="Calibri" pitchFamily="34" charset="-122"/>
                          <a:cs typeface="Calibri" pitchFamily="34" charset="-120"/>
                        </a:rPr>
                        <a:t>Zwischenzertifikat</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1B1B1F"/>
                          </a:solidFill>
                          <a:latin typeface="Calibri" pitchFamily="34" charset="0"/>
                          <a:ea typeface="Calibri" pitchFamily="34" charset="-122"/>
                          <a:cs typeface="Calibri" pitchFamily="34" charset="-120"/>
                        </a:rPr>
                        <a:t>signiert</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1B1B1F"/>
                          </a:solidFill>
                          <a:latin typeface="Calibri" pitchFamily="34" charset="0"/>
                          <a:ea typeface="Calibri" pitchFamily="34" charset="-122"/>
                          <a:cs typeface="Calibri" pitchFamily="34" charset="-120"/>
                        </a:rPr>
                        <a:t>Serverzertifikat</a:t>
                      </a:r>
                      <a:endParaRPr lang="en-US" sz="19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2621534"/>
            <a:ext cx="11094415" cy="727456"/>
          </a:xfrm>
          <a:prstGeom prst="rect">
            <a:avLst/>
          </a:prstGeom>
          <a:noFill/>
          <a:ln/>
        </p:spPr>
        <p:txBody>
          <a:bodyPr wrap="square" lIns="0" tIns="0" rIns="0" bIns="0" rtlCol="0" anchor="t"/>
          <a:lstStyle/>
          <a:p>
            <a:pPr algn="l" indent="0" marL="0">
              <a:buNone/>
            </a:pPr>
            <a:r>
              <a:rPr lang="en-US" sz="2200" dirty="0">
                <a:solidFill>
                  <a:srgbClr val="1B1B1F"/>
                </a:solidFill>
              </a:rPr>
              <a:t>▪  Ein Zertifikat bestätigt, </a:t>
            </a:r>
            <a:r>
              <a:rPr lang="en-US" sz="2200" b="1" dirty="0">
                <a:solidFill>
                  <a:srgbClr val="1B1B1F"/>
                </a:solidFill>
              </a:rPr>
              <a:t>wem</a:t>
            </a:r>
            <a:r>
              <a:rPr lang="en-US" sz="2200" dirty="0">
                <a:solidFill>
                  <a:srgbClr val="1B1B1F"/>
                </a:solidFill>
              </a:rPr>
              <a:t> der Schlüssel gehört – nicht, dass die Seite harmlos ist (P9).</a:t>
            </a:r>
            <a:endParaRPr lang="en-US" sz="2200" dirty="0"/>
          </a:p>
        </p:txBody>
      </p:sp>
      <p:sp>
        <p:nvSpPr>
          <p:cNvPr id="5" name="Text 2"/>
          <p:cNvSpPr txBox="1"/>
          <p:nvPr/>
        </p:nvSpPr>
        <p:spPr>
          <a:xfrm>
            <a:off x="548640" y="3477006"/>
            <a:ext cx="11094415" cy="386588"/>
          </a:xfrm>
          <a:prstGeom prst="rect">
            <a:avLst/>
          </a:prstGeom>
          <a:noFill/>
          <a:ln/>
        </p:spPr>
        <p:txBody>
          <a:bodyPr wrap="square" lIns="0" tIns="0" rIns="0" bIns="0" rtlCol="0" anchor="t"/>
          <a:lstStyle/>
          <a:p>
            <a:pPr algn="l" indent="0" marL="0">
              <a:buNone/>
            </a:pPr>
            <a:r>
              <a:rPr lang="en-US" sz="2200" dirty="0">
                <a:solidFill>
                  <a:srgbClr val="1B1B1F"/>
                </a:solidFill>
              </a:rPr>
              <a:t>▪  Alternative ohne zentrale CA: </a:t>
            </a:r>
            <a:r>
              <a:rPr lang="en-US" sz="2200" b="1" dirty="0">
                <a:solidFill>
                  <a:srgbClr val="1B1B1F"/>
                </a:solidFill>
              </a:rPr>
              <a:t>Web of Trust</a:t>
            </a:r>
            <a:r>
              <a:rPr lang="en-US" sz="2200" dirty="0">
                <a:solidFill>
                  <a:srgbClr val="1B1B1F"/>
                </a:solidFill>
              </a:rPr>
              <a:t> (z. B. OpenPGP).</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TLS im Überblick</a:t>
            </a:r>
            <a:endParaRPr lang="en-US" sz="3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640080"/>
                <a:gridCol w="7040880"/>
                <a:gridCol w="3383280"/>
              </a:tblGrid>
              <a:tr h="0">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2000" b="1" dirty="0">
                          <a:solidFill>
                            <a:srgbClr val="1B1B1F"/>
                          </a:solidFill>
                          <a:latin typeface="Calibri" pitchFamily="34" charset="0"/>
                          <a:ea typeface="Calibri" pitchFamily="34" charset="-122"/>
                          <a:cs typeface="Calibri" pitchFamily="34" charset="-120"/>
                        </a:rPr>
                        <a:t>Schritt</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2000" b="1" dirty="0">
                          <a:solidFill>
                            <a:srgbClr val="1B1B1F"/>
                          </a:solidFill>
                          <a:latin typeface="Calibri" pitchFamily="34" charset="0"/>
                          <a:ea typeface="Calibri" pitchFamily="34" charset="-122"/>
                          <a:cs typeface="Calibri" pitchFamily="34" charset="-120"/>
                        </a:rPr>
                        <a:t>Verfahren</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Browser: Hallo + unterstützte Verfahren</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2</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Server schickt sein Zertifikat (mit Kette)</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3</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Prüfung bis zum Vertrauensanker, Name, Gültigkeit</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Signaturen prüfen</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4</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Sitzungsschlüssel vereinbaren</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b="1" dirty="0">
                          <a:solidFill>
                            <a:srgbClr val="1B1B1F"/>
                          </a:solidFill>
                          <a:latin typeface="Calibri" pitchFamily="34" charset="0"/>
                          <a:ea typeface="Calibri" pitchFamily="34" charset="-122"/>
                          <a:cs typeface="Calibri" pitchFamily="34" charset="-120"/>
                        </a:rPr>
                        <a:t>asymmetrisch</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5</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1B1F"/>
                          </a:solidFill>
                          <a:latin typeface="Calibri" pitchFamily="34" charset="0"/>
                          <a:ea typeface="Calibri" pitchFamily="34" charset="-122"/>
                          <a:cs typeface="Calibri" pitchFamily="34" charset="-120"/>
                        </a:rPr>
                        <a:t>alle Daten verschlüsseln</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2000" b="1" dirty="0">
                          <a:solidFill>
                            <a:srgbClr val="1B1B1F"/>
                          </a:solidFill>
                          <a:latin typeface="Calibri" pitchFamily="34" charset="0"/>
                          <a:ea typeface="Calibri" pitchFamily="34" charset="-122"/>
                          <a:cs typeface="Calibri" pitchFamily="34" charset="-120"/>
                        </a:rPr>
                        <a:t>symmetrisch</a:t>
                      </a:r>
                      <a:r>
                        <a:rPr lang="en-US" sz="2000" dirty="0">
                          <a:solidFill>
                            <a:srgbClr val="1B1B1F"/>
                          </a:solidFill>
                          <a:latin typeface="Calibri" pitchFamily="34" charset="0"/>
                          <a:ea typeface="Calibri" pitchFamily="34" charset="-122"/>
                          <a:cs typeface="Calibri" pitchFamily="34" charset="-120"/>
                        </a:rPr>
                        <a:t> (z. B. AES)</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3861816"/>
            <a:ext cx="11094415" cy="386588"/>
          </a:xfrm>
          <a:prstGeom prst="rect">
            <a:avLst/>
          </a:prstGeom>
          <a:noFill/>
          <a:ln/>
        </p:spPr>
        <p:txBody>
          <a:bodyPr wrap="square" lIns="0" tIns="0" rIns="0" bIns="0" rtlCol="0" anchor="t"/>
          <a:lstStyle/>
          <a:p>
            <a:pPr algn="ctr" indent="0" marL="0">
              <a:buNone/>
            </a:pPr>
            <a:r>
              <a:rPr lang="en-US" sz="2200" b="1" dirty="0">
                <a:solidFill>
                  <a:srgbClr val="1B1B1F"/>
                </a:solidFill>
              </a:rPr>
              <a:t>TLS = Zertifikatsprüfung + Hybridverfahren</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Datenschutz: die DSGVO</a:t>
            </a:r>
            <a:endParaRPr lang="en-US" sz="3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4572000"/>
                <a:gridCol w="6492240"/>
              </a:tblGrid>
              <a:tr h="0">
                <a:tc>
                  <a:txBody>
                    <a:bodyPr/>
                    <a:lstStyle/>
                    <a:p>
                      <a:pPr algn="l" indent="0" marL="0">
                        <a:buNone/>
                      </a:pPr>
                      <a:r>
                        <a:rPr lang="en-US" sz="1800" b="1" dirty="0">
                          <a:solidFill>
                            <a:srgbClr val="1B1B1F"/>
                          </a:solidFill>
                          <a:latin typeface="Calibri" pitchFamily="34" charset="0"/>
                          <a:ea typeface="Calibri" pitchFamily="34" charset="-122"/>
                          <a:cs typeface="Calibri" pitchFamily="34" charset="-120"/>
                        </a:rPr>
                        <a:t>Grundsatz (Art. 5 DSGVO)</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800" b="1" dirty="0">
                          <a:solidFill>
                            <a:srgbClr val="1B1B1F"/>
                          </a:solidFill>
                          <a:latin typeface="Calibri" pitchFamily="34" charset="0"/>
                          <a:ea typeface="Calibri" pitchFamily="34" charset="-122"/>
                          <a:cs typeface="Calibri" pitchFamily="34" charset="-120"/>
                        </a:rPr>
                        <a:t>Kurzform</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1800" b="1" dirty="0">
                          <a:solidFill>
                            <a:srgbClr val="1B1B1F"/>
                          </a:solidFill>
                          <a:latin typeface="Calibri" pitchFamily="34" charset="0"/>
                          <a:ea typeface="Calibri" pitchFamily="34" charset="-122"/>
                          <a:cs typeface="Calibri" pitchFamily="34" charset="-120"/>
                        </a:rPr>
                        <a:t>Rechtmäßigkeit, Treu und Glauben, Transparenz</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Rechtsgrundlage, nachvollziehbar</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1B1F"/>
                          </a:solidFill>
                          <a:latin typeface="Calibri" pitchFamily="34" charset="0"/>
                          <a:ea typeface="Calibri" pitchFamily="34" charset="-122"/>
                          <a:cs typeface="Calibri" pitchFamily="34" charset="-120"/>
                        </a:rPr>
                        <a:t>Zweckbindung</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nur für festgelegte Zwecke</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1B1F"/>
                          </a:solidFill>
                          <a:latin typeface="Calibri" pitchFamily="34" charset="0"/>
                          <a:ea typeface="Calibri" pitchFamily="34" charset="-122"/>
                          <a:cs typeface="Calibri" pitchFamily="34" charset="-120"/>
                        </a:rPr>
                        <a:t>Datenminimierung</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nur so viel wie nötig</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1B1F"/>
                          </a:solidFill>
                          <a:latin typeface="Calibri" pitchFamily="34" charset="0"/>
                          <a:ea typeface="Calibri" pitchFamily="34" charset="-122"/>
                          <a:cs typeface="Calibri" pitchFamily="34" charset="-120"/>
                        </a:rPr>
                        <a:t>Richtigkeit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falsche Daten berichtigen</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1B1F"/>
                          </a:solidFill>
                          <a:latin typeface="Calibri" pitchFamily="34" charset="0"/>
                          <a:ea typeface="Calibri" pitchFamily="34" charset="-122"/>
                          <a:cs typeface="Calibri" pitchFamily="34" charset="-120"/>
                        </a:rPr>
                        <a:t>Speicherbegrenzung</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nur so lange wie nötig</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1B1F"/>
                          </a:solidFill>
                          <a:latin typeface="Calibri" pitchFamily="34" charset="0"/>
                          <a:ea typeface="Calibri" pitchFamily="34" charset="-122"/>
                          <a:cs typeface="Calibri" pitchFamily="34" charset="-120"/>
                        </a:rPr>
                        <a:t>Integrität und Vertraulichkeit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Verschlüsselung, Zugriffsschutz, Passwort-Hashing</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1B1F"/>
                          </a:solidFill>
                          <a:latin typeface="Calibri" pitchFamily="34" charset="0"/>
                          <a:ea typeface="Calibri" pitchFamily="34" charset="-122"/>
                          <a:cs typeface="Calibri" pitchFamily="34" charset="-120"/>
                        </a:rPr>
                        <a:t>Rechenschaftspflicht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Einhaltung nachweisen</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4695444"/>
            <a:ext cx="11094415" cy="324612"/>
          </a:xfrm>
          <a:prstGeom prst="rect">
            <a:avLst/>
          </a:prstGeom>
          <a:noFill/>
          <a:ln/>
        </p:spPr>
        <p:txBody>
          <a:bodyPr wrap="square" lIns="0" tIns="0" rIns="0" bIns="0" rtlCol="0" anchor="t"/>
          <a:lstStyle/>
          <a:p>
            <a:pPr algn="l" indent="0" marL="0">
              <a:buNone/>
            </a:pPr>
            <a:r>
              <a:rPr lang="en-US" sz="1800" dirty="0">
                <a:solidFill>
                  <a:srgbClr val="1B1B1F"/>
                </a:solidFill>
              </a:rPr>
              <a:t>Recht auf </a:t>
            </a:r>
            <a:r>
              <a:rPr lang="en-US" sz="1800" b="1" dirty="0">
                <a:solidFill>
                  <a:srgbClr val="1B1B1F"/>
                </a:solidFill>
              </a:rPr>
              <a:t>informationelle Selbstbestimmung</a:t>
            </a:r>
            <a:r>
              <a:rPr lang="en-US" sz="1800" dirty="0">
                <a:solidFill>
                  <a:srgbClr val="1B1B1F"/>
                </a:solidFill>
              </a:rPr>
              <a:t> (BVerfG 1983) · DSGVO seit 25. Mai 2018</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Scannen vor dem Verschlüsseln?</a:t>
            </a:r>
            <a:endParaRPr lang="en-US" sz="3000" dirty="0"/>
          </a:p>
        </p:txBody>
      </p:sp>
      <p:sp>
        <p:nvSpPr>
          <p:cNvPr id="3" name="Text 1"/>
          <p:cNvSpPr txBox="1"/>
          <p:nvPr/>
        </p:nvSpPr>
        <p:spPr>
          <a:xfrm>
            <a:off x="548640" y="1325880"/>
            <a:ext cx="5364328" cy="417576"/>
          </a:xfrm>
          <a:prstGeom prst="rect">
            <a:avLst/>
          </a:prstGeom>
          <a:noFill/>
          <a:ln/>
        </p:spPr>
        <p:txBody>
          <a:bodyPr wrap="square" lIns="0" tIns="0" rIns="0" bIns="0" rtlCol="0" anchor="t"/>
          <a:lstStyle/>
          <a:p>
            <a:pPr algn="l" indent="0" marL="0">
              <a:buNone/>
            </a:pPr>
            <a:r>
              <a:rPr lang="en-US" sz="2400" b="1" dirty="0">
                <a:solidFill>
                  <a:srgbClr val="0E7C86"/>
                </a:solidFill>
                <a:latin typeface="Georgia" pitchFamily="34" charset="0"/>
                <a:ea typeface="Georgia" pitchFamily="34" charset="-122"/>
                <a:cs typeface="Georgia" pitchFamily="34" charset="-120"/>
              </a:rPr>
              <a:t>Argumente dafür</a:t>
            </a:r>
            <a:endParaRPr lang="en-US" sz="2400" dirty="0"/>
          </a:p>
        </p:txBody>
      </p:sp>
      <p:sp>
        <p:nvSpPr>
          <p:cNvPr id="4" name="Text 2"/>
          <p:cNvSpPr txBox="1"/>
          <p:nvPr/>
        </p:nvSpPr>
        <p:spPr>
          <a:xfrm>
            <a:off x="548640" y="1871472"/>
            <a:ext cx="5364328" cy="1996948"/>
          </a:xfrm>
          <a:prstGeom prst="rect">
            <a:avLst/>
          </a:prstGeom>
          <a:noFill/>
          <a:ln/>
        </p:spPr>
        <p:txBody>
          <a:bodyPr wrap="square" lIns="0" tIns="0" rIns="0" bIns="0" rtlCol="0" anchor="t"/>
          <a:lstStyle/>
          <a:p>
            <a:pPr marL="279400" indent="-279400">
              <a:spcAft>
                <a:spcPts val="600"/>
              </a:spcAft>
              <a:buSzPct val="100000"/>
              <a:buChar char="●"/>
            </a:pPr>
            <a:r>
              <a:rPr lang="en-US" sz="2200" dirty="0">
                <a:solidFill>
                  <a:srgbClr val="1B1B1F"/>
                </a:solidFill>
              </a:rPr>
              <a:t>Schutz von Opfern schwerer Straftaten</a:t>
            </a:r>
            <a:endParaRPr lang="en-US" sz="2200" dirty="0"/>
          </a:p>
          <a:p>
            <a:pPr marL="279400" indent="-279400">
              <a:spcAft>
                <a:spcPts val="600"/>
              </a:spcAft>
              <a:buSzPct val="100000"/>
              <a:buChar char="●"/>
            </a:pPr>
            <a:r>
              <a:rPr lang="en-US" sz="2200" dirty="0">
                <a:solidFill>
                  <a:srgbClr val="1B1B1F"/>
                </a:solidFill>
              </a:rPr>
              <a:t>Ermittlungen dürfen nicht durch Technik verschwinden</a:t>
            </a:r>
            <a:endParaRPr lang="en-US" sz="2200" dirty="0"/>
          </a:p>
          <a:p>
            <a:pPr marL="279400" indent="-279400">
              <a:spcAft>
                <a:spcPts val="600"/>
              </a:spcAft>
              <a:buSzPct val="100000"/>
              <a:buChar char="●"/>
            </a:pPr>
            <a:r>
              <a:rPr lang="en-US" sz="2200" dirty="0">
                <a:solidFill>
                  <a:srgbClr val="1B1B1F"/>
                </a:solidFill>
              </a:rPr>
              <a:t>Verantwortung der Anbieter</a:t>
            </a:r>
            <a:endParaRPr lang="en-US" sz="2200" dirty="0"/>
          </a:p>
        </p:txBody>
      </p:sp>
      <p:sp>
        <p:nvSpPr>
          <p:cNvPr id="5" name="Text 3"/>
          <p:cNvSpPr txBox="1"/>
          <p:nvPr/>
        </p:nvSpPr>
        <p:spPr>
          <a:xfrm>
            <a:off x="6278728" y="1325880"/>
            <a:ext cx="5364328" cy="417576"/>
          </a:xfrm>
          <a:prstGeom prst="rect">
            <a:avLst/>
          </a:prstGeom>
          <a:noFill/>
          <a:ln/>
        </p:spPr>
        <p:txBody>
          <a:bodyPr wrap="square" lIns="0" tIns="0" rIns="0" bIns="0" rtlCol="0" anchor="t"/>
          <a:lstStyle/>
          <a:p>
            <a:pPr algn="l" indent="0" marL="0">
              <a:buNone/>
            </a:pPr>
            <a:r>
              <a:rPr lang="en-US" sz="2400" b="1" dirty="0">
                <a:solidFill>
                  <a:srgbClr val="0E7C86"/>
                </a:solidFill>
                <a:latin typeface="Georgia" pitchFamily="34" charset="0"/>
                <a:ea typeface="Georgia" pitchFamily="34" charset="-122"/>
                <a:cs typeface="Georgia" pitchFamily="34" charset="-120"/>
              </a:rPr>
              <a:t>Argumente dagegen</a:t>
            </a:r>
            <a:endParaRPr lang="en-US" sz="2400" dirty="0"/>
          </a:p>
        </p:txBody>
      </p:sp>
      <p:sp>
        <p:nvSpPr>
          <p:cNvPr id="6" name="Text 4"/>
          <p:cNvSpPr txBox="1"/>
          <p:nvPr/>
        </p:nvSpPr>
        <p:spPr>
          <a:xfrm>
            <a:off x="6278728" y="1871472"/>
            <a:ext cx="5364328" cy="2079244"/>
          </a:xfrm>
          <a:prstGeom prst="rect">
            <a:avLst/>
          </a:prstGeom>
          <a:noFill/>
          <a:ln/>
        </p:spPr>
        <p:txBody>
          <a:bodyPr wrap="square" lIns="0" tIns="0" rIns="0" bIns="0" rtlCol="0" anchor="t"/>
          <a:lstStyle/>
          <a:p>
            <a:pPr marL="279400" indent="-279400">
              <a:spcAft>
                <a:spcPts val="600"/>
              </a:spcAft>
              <a:buSzPct val="100000"/>
              <a:buChar char="●"/>
            </a:pPr>
            <a:r>
              <a:rPr lang="en-US" sz="2200" dirty="0">
                <a:solidFill>
                  <a:srgbClr val="1B1B1F"/>
                </a:solidFill>
              </a:rPr>
              <a:t>anlassloses Durchsuchen aller Nachrichten</a:t>
            </a:r>
            <a:endParaRPr lang="en-US" sz="2200" dirty="0"/>
          </a:p>
          <a:p>
            <a:pPr marL="279400" indent="-279400">
              <a:spcAft>
                <a:spcPts val="600"/>
              </a:spcAft>
              <a:buSzPct val="100000"/>
              <a:buChar char="●"/>
            </a:pPr>
            <a:r>
              <a:rPr lang="en-US" sz="2200" dirty="0">
                <a:solidFill>
                  <a:srgbClr val="1B1B1F"/>
                </a:solidFill>
              </a:rPr>
              <a:t>Fehlalarme treffen Unschuldige</a:t>
            </a:r>
            <a:endParaRPr lang="en-US" sz="2200" dirty="0"/>
          </a:p>
          <a:p>
            <a:pPr marL="279400" indent="-279400">
              <a:spcAft>
                <a:spcPts val="600"/>
              </a:spcAft>
              <a:buSzPct val="100000"/>
              <a:buChar char="●"/>
            </a:pPr>
            <a:r>
              <a:rPr lang="en-US" sz="2200" dirty="0">
                <a:solidFill>
                  <a:srgbClr val="1B1B1F"/>
                </a:solidFill>
              </a:rPr>
              <a:t>Missbrauch der Prüffunktion</a:t>
            </a:r>
            <a:endParaRPr lang="en-US" sz="2200" dirty="0"/>
          </a:p>
          <a:p>
            <a:pPr marL="279400" indent="-279400">
              <a:spcAft>
                <a:spcPts val="600"/>
              </a:spcAft>
              <a:buSzPct val="100000"/>
              <a:buChar char="●"/>
            </a:pPr>
            <a:r>
              <a:rPr lang="en-US" sz="2200" dirty="0">
                <a:solidFill>
                  <a:srgbClr val="1B1B1F"/>
                </a:solidFill>
              </a:rPr>
              <a:t>Vertraulichkeit untergraben</a:t>
            </a:r>
            <a:endParaRPr lang="en-US" sz="2200" dirty="0"/>
          </a:p>
        </p:txBody>
      </p:sp>
      <p:sp>
        <p:nvSpPr>
          <p:cNvPr id="7" name="Text 5"/>
          <p:cNvSpPr txBox="1"/>
          <p:nvPr/>
        </p:nvSpPr>
        <p:spPr>
          <a:xfrm>
            <a:off x="548640" y="4206748"/>
            <a:ext cx="11094415" cy="324612"/>
          </a:xfrm>
          <a:prstGeom prst="rect">
            <a:avLst/>
          </a:prstGeom>
          <a:noFill/>
          <a:ln/>
        </p:spPr>
        <p:txBody>
          <a:bodyPr wrap="square" lIns="0" tIns="0" rIns="0" bIns="0" rtlCol="0" anchor="t"/>
          <a:lstStyle/>
          <a:p>
            <a:pPr algn="ctr" indent="0" marL="0">
              <a:buNone/>
            </a:pPr>
            <a:r>
              <a:rPr lang="en-US" sz="1800" dirty="0">
                <a:solidFill>
                  <a:srgbClr val="1B1B1F"/>
                </a:solidFill>
              </a:rPr>
              <a:t>Erörtern heißt: beide Seiten abwägen, </a:t>
            </a:r>
            <a:r>
              <a:rPr lang="en-US" sz="1800" b="1" dirty="0">
                <a:solidFill>
                  <a:srgbClr val="1B1B1F"/>
                </a:solidFill>
              </a:rPr>
              <a:t>eigenes begründetes Urteil</a:t>
            </a:r>
            <a:r>
              <a:rPr lang="en-US" sz="1800" dirty="0">
                <a:solidFill>
                  <a:srgbClr val="1B1B1F"/>
                </a:solidFill>
              </a:rPr>
              <a:t>.</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Boss: Das Siegel der Stadt</a:t>
            </a:r>
            <a:endParaRPr lang="en-US" sz="3000" dirty="0"/>
          </a:p>
        </p:txBody>
      </p:sp>
      <p:sp>
        <p:nvSpPr>
          <p:cNvPr id="3" name="Text 1"/>
          <p:cNvSpPr txBox="1"/>
          <p:nvPr/>
        </p:nvSpPr>
        <p:spPr>
          <a:xfrm>
            <a:off x="548640" y="1325880"/>
            <a:ext cx="1463040" cy="384048"/>
          </a:xfrm>
          <a:prstGeom prst="rect">
            <a:avLst/>
          </a:prstGeom>
          <a:solidFill>
            <a:srgbClr val="0E7C86"/>
          </a:solidFill>
          <a:ln/>
        </p:spPr>
        <p:txBody>
          <a:bodyPr wrap="square" lIns="0" tIns="0" rIns="0" bIns="0" rtlCol="0" anchor="ctr"/>
          <a:lstStyle/>
          <a:p>
            <a:pPr algn="ctr" indent="0" marL="0">
              <a:buNone/>
            </a:pPr>
            <a:r>
              <a:rPr lang="en-US" sz="1400" b="1" spc="300" kern="0" dirty="0">
                <a:solidFill>
                  <a:srgbClr val="FFFFFF"/>
                </a:solidFill>
              </a:rPr>
              <a:t>AUFTRAG</a:t>
            </a:r>
            <a:endParaRPr lang="en-US" sz="1400" dirty="0"/>
          </a:p>
        </p:txBody>
      </p:sp>
      <p:sp>
        <p:nvSpPr>
          <p:cNvPr id="4" name="Text 2"/>
          <p:cNvSpPr txBox="1"/>
          <p:nvPr/>
        </p:nvSpPr>
        <p:spPr>
          <a:xfrm>
            <a:off x="2148840" y="1325880"/>
            <a:ext cx="1636776" cy="384048"/>
          </a:xfrm>
          <a:prstGeom prst="rect">
            <a:avLst/>
          </a:prstGeom>
          <a:solidFill>
            <a:srgbClr val="F2EADB"/>
          </a:solidFill>
          <a:ln/>
        </p:spPr>
        <p:txBody>
          <a:bodyPr wrap="square" lIns="0" tIns="0" rIns="0" bIns="0" rtlCol="0" anchor="ctr"/>
          <a:lstStyle/>
          <a:p>
            <a:pPr algn="ctr" indent="0" marL="0">
              <a:buNone/>
            </a:pPr>
            <a:r>
              <a:rPr lang="en-US" sz="1400" dirty="0">
                <a:solidFill>
                  <a:srgbClr val="1B1B1F"/>
                </a:solidFill>
              </a:rPr>
              <a:t>Einzelarbeit</a:t>
            </a:r>
            <a:endParaRPr lang="en-US" sz="1400" dirty="0"/>
          </a:p>
        </p:txBody>
      </p:sp>
      <p:sp>
        <p:nvSpPr>
          <p:cNvPr id="5" name="Text 3"/>
          <p:cNvSpPr txBox="1"/>
          <p:nvPr/>
        </p:nvSpPr>
        <p:spPr>
          <a:xfrm>
            <a:off x="3922776" y="1325880"/>
            <a:ext cx="978408" cy="384048"/>
          </a:xfrm>
          <a:prstGeom prst="rect">
            <a:avLst/>
          </a:prstGeom>
          <a:solidFill>
            <a:srgbClr val="F2EADB"/>
          </a:solidFill>
          <a:ln/>
        </p:spPr>
        <p:txBody>
          <a:bodyPr wrap="square" lIns="0" tIns="0" rIns="0" bIns="0" rtlCol="0" anchor="ctr"/>
          <a:lstStyle/>
          <a:p>
            <a:pPr algn="ctr" indent="0" marL="0">
              <a:buNone/>
            </a:pPr>
            <a:r>
              <a:rPr lang="en-US" sz="1400" dirty="0">
                <a:solidFill>
                  <a:srgbClr val="1B1B1F"/>
                </a:solidFill>
              </a:rPr>
              <a:t>25 min</a:t>
            </a:r>
            <a:endParaRPr lang="en-US" sz="1400" dirty="0"/>
          </a:p>
        </p:txBody>
      </p:sp>
      <p:sp>
        <p:nvSpPr>
          <p:cNvPr id="6" name="Text 4"/>
          <p:cNvSpPr txBox="1"/>
          <p:nvPr/>
        </p:nvSpPr>
        <p:spPr>
          <a:xfrm>
            <a:off x="548640" y="1965960"/>
            <a:ext cx="11094415" cy="386588"/>
          </a:xfrm>
          <a:prstGeom prst="rect">
            <a:avLst/>
          </a:prstGeom>
          <a:noFill/>
          <a:ln/>
        </p:spPr>
        <p:txBody>
          <a:bodyPr wrap="square" lIns="0" tIns="0" rIns="0" bIns="0" rtlCol="0" anchor="t"/>
          <a:lstStyle/>
          <a:p>
            <a:pPr algn="l" indent="0" marL="0">
              <a:buNone/>
            </a:pPr>
            <a:r>
              <a:rPr lang="en-US" sz="2200" dirty="0">
                <a:solidFill>
                  <a:srgbClr val="1B1B1F"/>
                </a:solidFill>
              </a:rPr>
              <a:t>Lab → Welt 5 → </a:t>
            </a:r>
            <a:r>
              <a:rPr lang="en-US" sz="2200" b="1" dirty="0">
                <a:solidFill>
                  <a:srgbClr val="1B1B1F"/>
                </a:solidFill>
              </a:rPr>
              <a:t>Boss</a:t>
            </a:r>
            <a:r>
              <a:rPr lang="en-US" sz="2200" dirty="0">
                <a:solidFill>
                  <a:srgbClr val="1B1B1F"/>
                </a:solidFill>
              </a:rPr>
              <a:t> · ohne Werkzeuge</a:t>
            </a:r>
            <a:endParaRPr lang="en-US" sz="2200" dirty="0"/>
          </a:p>
        </p:txBody>
      </p:sp>
      <p:sp>
        <p:nvSpPr>
          <p:cNvPr id="7" name="Text 5"/>
          <p:cNvSpPr txBox="1"/>
          <p:nvPr/>
        </p:nvSpPr>
        <p:spPr>
          <a:xfrm>
            <a:off x="548640" y="2480564"/>
            <a:ext cx="11094415" cy="727456"/>
          </a:xfrm>
          <a:prstGeom prst="rect">
            <a:avLst/>
          </a:prstGeom>
          <a:noFill/>
          <a:ln/>
        </p:spPr>
        <p:txBody>
          <a:bodyPr wrap="square" lIns="0" tIns="0" rIns="0" bIns="0" rtlCol="0" anchor="t"/>
          <a:lstStyle/>
          <a:p>
            <a:pPr algn="l" indent="0" marL="0">
              <a:buNone/>
            </a:pPr>
            <a:r>
              <a:rPr lang="en-US" sz="2200" dirty="0">
                <a:solidFill>
                  <a:srgbClr val="1B1B1F"/>
                </a:solidFill>
              </a:rPr>
              <a:t>Mallory will das Siegel der Stadt fälschen. Ab </a:t>
            </a:r>
            <a:r>
              <a:rPr lang="en-US" sz="2200" b="1" dirty="0">
                <a:solidFill>
                  <a:srgbClr val="1B1B1F"/>
                </a:solidFill>
              </a:rPr>
              <a:t>50 %</a:t>
            </a:r>
            <a:r>
              <a:rPr lang="en-US" sz="2200" dirty="0">
                <a:solidFill>
                  <a:srgbClr val="1B1B1F"/>
                </a:solidFill>
              </a:rPr>
              <a:t> gehört das Artefakt </a:t>
            </a:r>
            <a:r>
              <a:rPr lang="en-US" sz="2200" b="1" dirty="0">
                <a:solidFill>
                  <a:srgbClr val="1B1B1F"/>
                </a:solidFill>
              </a:rPr>
              <a:t>„Siegel“</a:t>
            </a:r>
            <a:r>
              <a:rPr lang="en-US" sz="2200" dirty="0">
                <a:solidFill>
                  <a:srgbClr val="1B1B1F"/>
                </a:solidFill>
              </a:rPr>
              <a:t> dir.</a:t>
            </a:r>
            <a:endParaRPr lang="en-US" sz="2200" dirty="0"/>
          </a:p>
        </p:txBody>
      </p:sp>
      <p:sp>
        <p:nvSpPr>
          <p:cNvPr id="8" name="Text 6"/>
          <p:cNvSpPr txBox="1"/>
          <p:nvPr/>
        </p:nvSpPr>
        <p:spPr>
          <a:xfrm>
            <a:off x="548640" y="3336036"/>
            <a:ext cx="11094415" cy="324612"/>
          </a:xfrm>
          <a:prstGeom prst="rect">
            <a:avLst/>
          </a:prstGeom>
          <a:noFill/>
          <a:ln/>
        </p:spPr>
        <p:txBody>
          <a:bodyPr wrap="square" lIns="0" tIns="0" rIns="0" bIns="0" rtlCol="0" anchor="t"/>
          <a:lstStyle/>
          <a:p>
            <a:pPr algn="l" indent="0" marL="0">
              <a:buNone/>
            </a:pPr>
            <a:r>
              <a:rPr lang="en-US" sz="1800" i="1" dirty="0">
                <a:solidFill>
                  <a:srgbClr val="1B1B1F"/>
                </a:solidFill>
              </a:rPr>
              <a:t>Ausblick: Welt 6 – die Zeitmaschine und Eves eigene Chiffre.</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31</a:t>
            </a:fld>
            <a:endParaRPr lang="en-US"/>
          </a:p>
        </p:txBody>
      </p:sp>
    </p:spTree>
  </p:cSld>
  <p:clrMapOvr>
    <a:masterClrMapping/>
  </p:clrMapOvr>
</p:sld>
</file>

<file path=ppt/theme/theme1.xml><?xml version="1.0" encoding="utf-8"?>
<a:theme xmlns:a="http://schemas.openxmlformats.org/drawingml/2006/main" name="Kryptos Netz">
  <a:themeElements>
    <a:clrScheme name="Kryptos Netz">
      <a:dk1>
        <a:srgbClr val="1B1B1F"/>
      </a:dk1>
      <a:lt1>
        <a:srgbClr val="FFFFFF"/>
      </a:lt1>
      <a:dk2>
        <a:srgbClr val="14213D"/>
      </a:dk2>
      <a:lt2>
        <a:srgbClr val="FBF7EE"/>
      </a:lt2>
      <a:accent1>
        <a:srgbClr val="0E7C86"/>
      </a:accent1>
      <a:accent2>
        <a:srgbClr val="B07D2B"/>
      </a:accent2>
      <a:accent3>
        <a:srgbClr val="1F4E8C"/>
      </a:accent3>
      <a:accent4>
        <a:srgbClr val="2E7D32"/>
      </a:accent4>
      <a:accent5>
        <a:srgbClr val="B3261E"/>
      </a:accent5>
      <a:accent6>
        <a:srgbClr val="4A4A55"/>
      </a:accent6>
      <a:hlink>
        <a:srgbClr val="1F4E8C"/>
      </a:hlink>
      <a:folHlink>
        <a:srgbClr val="8A5F1A"/>
      </a:folHlink>
    </a:clrScheme>
    <a:fontScheme name="Kryptos Netz">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Kryptos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Das Netz</dc:title>
  <dc:subject>Kryptos – Die Zeitreise der Geheimschriften</dc:subject>
  <dc:creator>Frank Juchim</dc:creator>
  <cp:lastModifiedBy>Frank Juchim</cp:lastModifiedBy>
  <cp:revision>1</cp:revision>
  <dcterms:created xsi:type="dcterms:W3CDTF">2026-10-14T12:59:41Z</dcterms:created>
  <dcterms:modified xsi:type="dcterms:W3CDTF">2026-10-14T12:59:41Z</dcterms:modified>
</cp:coreProperties>
</file>