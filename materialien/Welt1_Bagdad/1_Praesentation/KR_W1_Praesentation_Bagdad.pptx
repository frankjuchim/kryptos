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S 4 · Al-Kindis Handschrift" id="{70ff9f36-15f5-323c-fd19-4e70fc73cd1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DS 5 · Die Gegenmittel" id="{5197ba36-e9ad-355c-0f83-fe788d4a2b12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DS 5 · Der Nomenklator" id="{61f70dd4-c46c-91f7-85f0-606d5ba8dbf9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 (%)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22.2</c:v>
                </c:pt>
                <c:pt idx="1">
                  <c:v>5.6</c:v>
                </c:pt>
                <c:pt idx="2">
                  <c:v>0</c:v>
                </c:pt>
                <c:pt idx="3">
                  <c:v>0</c:v>
                </c:pt>
                <c:pt idx="4">
                  <c:v>5.6</c:v>
                </c:pt>
                <c:pt idx="5">
                  <c:v>0</c:v>
                </c:pt>
                <c:pt idx="6">
                  <c:v>0</c:v>
                </c:pt>
                <c:pt idx="7">
                  <c:v>5.6</c:v>
                </c:pt>
                <c:pt idx="8">
                  <c:v>5.6</c:v>
                </c:pt>
                <c:pt idx="9">
                  <c:v>0</c:v>
                </c:pt>
                <c:pt idx="10">
                  <c:v>0</c:v>
                </c:pt>
                <c:pt idx="11">
                  <c:v>5.6</c:v>
                </c:pt>
                <c:pt idx="12">
                  <c:v>0</c:v>
                </c:pt>
                <c:pt idx="13">
                  <c:v>16.7</c:v>
                </c:pt>
                <c:pt idx="14">
                  <c:v>5.6</c:v>
                </c:pt>
                <c:pt idx="15">
                  <c:v>5.6</c:v>
                </c:pt>
                <c:pt idx="16">
                  <c:v>0</c:v>
                </c:pt>
                <c:pt idx="17">
                  <c:v>5.6</c:v>
                </c:pt>
                <c:pt idx="18">
                  <c:v>5.6</c:v>
                </c:pt>
                <c:pt idx="19">
                  <c:v>11.1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Deutsch (%)</c:v>
                </c:pt>
              </c:strCache>
            </c:strRef>
          </c:tx>
          <c:spPr>
            <a:solidFill>
              <a:srgbClr val="B07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6.51</c:v>
                </c:pt>
                <c:pt idx="1">
                  <c:v>1.89</c:v>
                </c:pt>
                <c:pt idx="2">
                  <c:v>3.06</c:v>
                </c:pt>
                <c:pt idx="3">
                  <c:v>5.08</c:v>
                </c:pt>
                <c:pt idx="4">
                  <c:v>17.4</c:v>
                </c:pt>
                <c:pt idx="5">
                  <c:v>1.66</c:v>
                </c:pt>
                <c:pt idx="6">
                  <c:v>3.01</c:v>
                </c:pt>
                <c:pt idx="7">
                  <c:v>4.76</c:v>
                </c:pt>
                <c:pt idx="8">
                  <c:v>7.55</c:v>
                </c:pt>
                <c:pt idx="9">
                  <c:v>0.27</c:v>
                </c:pt>
                <c:pt idx="10">
                  <c:v>1.21</c:v>
                </c:pt>
                <c:pt idx="11">
                  <c:v>3.44</c:v>
                </c:pt>
                <c:pt idx="12">
                  <c:v>2.53</c:v>
                </c:pt>
                <c:pt idx="13">
                  <c:v>9.78</c:v>
                </c:pt>
                <c:pt idx="14">
                  <c:v>2.51</c:v>
                </c:pt>
                <c:pt idx="15">
                  <c:v>0.79</c:v>
                </c:pt>
                <c:pt idx="16">
                  <c:v>0.02</c:v>
                </c:pt>
                <c:pt idx="17">
                  <c:v>7</c:v>
                </c:pt>
                <c:pt idx="18">
                  <c:v>7.27</c:v>
                </c:pt>
                <c:pt idx="19">
                  <c:v>6.15</c:v>
                </c:pt>
                <c:pt idx="20">
                  <c:v>4.35</c:v>
                </c:pt>
                <c:pt idx="21">
                  <c:v>0.67</c:v>
                </c:pt>
                <c:pt idx="22">
                  <c:v>1.89</c:v>
                </c:pt>
                <c:pt idx="23">
                  <c:v>0.03</c:v>
                </c:pt>
                <c:pt idx="24">
                  <c:v>0.04</c:v>
                </c:pt>
                <c:pt idx="25">
                  <c:v>1.13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B1F"/>
                </a:solidFill>
                <a:latin typeface="Arial"/>
              </a:rPr>
              <a:t>Wettknack-Text (486 Buchstaben)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Geheimtext (%)</c:v>
                </c:pt>
              </c:strCache>
            </c:strRef>
          </c:tx>
          <c:spPr>
            <a:solidFill>
              <a:srgbClr val="1F4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2.7</c:v>
                </c:pt>
                <c:pt idx="1">
                  <c:v>2.3</c:v>
                </c:pt>
                <c:pt idx="2">
                  <c:v>5.6</c:v>
                </c:pt>
                <c:pt idx="3">
                  <c:v>8.6</c:v>
                </c:pt>
                <c:pt idx="4">
                  <c:v>0.8</c:v>
                </c:pt>
                <c:pt idx="5">
                  <c:v>0.6</c:v>
                </c:pt>
                <c:pt idx="6">
                  <c:v>2.3</c:v>
                </c:pt>
                <c:pt idx="7">
                  <c:v>1.4</c:v>
                </c:pt>
                <c:pt idx="8">
                  <c:v>10.7</c:v>
                </c:pt>
                <c:pt idx="9">
                  <c:v>1.2</c:v>
                </c:pt>
                <c:pt idx="10">
                  <c:v>1</c:v>
                </c:pt>
                <c:pt idx="11">
                  <c:v>0</c:v>
                </c:pt>
                <c:pt idx="12">
                  <c:v>7.4</c:v>
                </c:pt>
                <c:pt idx="13">
                  <c:v>7.6</c:v>
                </c:pt>
                <c:pt idx="14">
                  <c:v>5.8</c:v>
                </c:pt>
                <c:pt idx="15">
                  <c:v>5.6</c:v>
                </c:pt>
                <c:pt idx="16">
                  <c:v>2.9</c:v>
                </c:pt>
                <c:pt idx="17">
                  <c:v>6.6</c:v>
                </c:pt>
                <c:pt idx="18">
                  <c:v>1.4</c:v>
                </c:pt>
                <c:pt idx="19">
                  <c:v>0.2</c:v>
                </c:pt>
                <c:pt idx="20">
                  <c:v>19.3</c:v>
                </c:pt>
                <c:pt idx="21">
                  <c:v>1</c:v>
                </c:pt>
                <c:pt idx="22">
                  <c:v>0.2</c:v>
                </c:pt>
                <c:pt idx="23">
                  <c:v>0</c:v>
                </c:pt>
                <c:pt idx="24">
                  <c:v>3.5</c:v>
                </c:pt>
                <c:pt idx="25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Deutsch (%)</c:v>
                </c:pt>
              </c:strCache>
            </c:strRef>
          </c:tx>
          <c:spPr>
            <a:solidFill>
              <a:srgbClr val="B07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6.51</c:v>
                </c:pt>
                <c:pt idx="1">
                  <c:v>1.89</c:v>
                </c:pt>
                <c:pt idx="2">
                  <c:v>3.06</c:v>
                </c:pt>
                <c:pt idx="3">
                  <c:v>5.08</c:v>
                </c:pt>
                <c:pt idx="4">
                  <c:v>17.4</c:v>
                </c:pt>
                <c:pt idx="5">
                  <c:v>1.66</c:v>
                </c:pt>
                <c:pt idx="6">
                  <c:v>3.01</c:v>
                </c:pt>
                <c:pt idx="7">
                  <c:v>4.76</c:v>
                </c:pt>
                <c:pt idx="8">
                  <c:v>7.55</c:v>
                </c:pt>
                <c:pt idx="9">
                  <c:v>0.27</c:v>
                </c:pt>
                <c:pt idx="10">
                  <c:v>1.21</c:v>
                </c:pt>
                <c:pt idx="11">
                  <c:v>3.44</c:v>
                </c:pt>
                <c:pt idx="12">
                  <c:v>2.53</c:v>
                </c:pt>
                <c:pt idx="13">
                  <c:v>9.78</c:v>
                </c:pt>
                <c:pt idx="14">
                  <c:v>2.51</c:v>
                </c:pt>
                <c:pt idx="15">
                  <c:v>0.79</c:v>
                </c:pt>
                <c:pt idx="16">
                  <c:v>0.02</c:v>
                </c:pt>
                <c:pt idx="17">
                  <c:v>7</c:v>
                </c:pt>
                <c:pt idx="18">
                  <c:v>7.27</c:v>
                </c:pt>
                <c:pt idx="19">
                  <c:v>6.15</c:v>
                </c:pt>
                <c:pt idx="20">
                  <c:v>4.35</c:v>
                </c:pt>
                <c:pt idx="21">
                  <c:v>0.67</c:v>
                </c:pt>
                <c:pt idx="22">
                  <c:v>1.89</c:v>
                </c:pt>
                <c:pt idx="23">
                  <c:v>0.03</c:v>
                </c:pt>
                <c:pt idx="24">
                  <c:v>0.04</c:v>
                </c:pt>
                <c:pt idx="25">
                  <c:v>1.13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Zeitsprung: Das Chronoskop springt ins Bagdad der Abbasiden, um 850. Ornament: achtzackiger Stern. Im Haus der Weisheit (Bait al-Hikma) übersetzen Gelehrte die Schriften der Griechen und Perser. Rolle heute: Ihr werdet zu Eve – und in DS 5 zu Alice, die nach Gegenmitteln sucht.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Archivfund vorlesen: „Das Chronoskop zeigt ‚850‘. Vor dir liegt ein Blatt aus dem Haus der Weisheit, beschrieben mit einer fremden Buchstabenfolge. Diesmal ist nicht verschoben wie bei Caesar: Jeder Buchstabe wurde durch einen beliebigen anderen ersetzt. 26! Möglichkeiten – mehr, als ein Mensch je ausprobieren könnte. Am Rand steht in arabischer Schrift eine Notiz, die das Archiv übersetzt hat: ‚Wer die Häufigkeiten kennt, liest jedes Blatt.‘ Am Ende dieser Stunde wirst du die Botschaft lesen können.“
Impuls: Chiffrierscheibe aus Welt 0 probieren lassen – keine Verschiebung passt (z. B. U ist 9 × da; als e gedeutet ergäbe sich Verschiebung 16, dann wird aus ZPUCG kein Wort).
Nur Lehrkraft: Lösung „zaehle die zeichen und du findest den schluessel“, Schlüsselwort PAPYRUS – derselbe Schlüssel wie im Wettknacken. Nicht verraten; Auflösung auf Folie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Frage stellen, Schätzungen sammeln. Erwartung: „26 · 25 · 24 …“ – Schreibweise 26! (Fakultät) an der Tafel einführen. Abgrenzung zu Caesar: dort nur 26 Verschiebungen (25 sinnvolle). Falle P7 vorbereiten: 26! ist NICHT 26 und nicht 26².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Beispielalphabet aus Lab W1-L1-03 (Schlüsselwort YASMIN). Kriterium monoalphabetisch wiederholen: Wird derselbe Klartextbuchstabe immer gleich ersetzt? (P5). Richtung beim Entschlüsseln: unten suchen, oben ablesen (P3). Caesar ist ein Spezialfall (verschobenes Alphabet).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Kryptos-Regel (Festlegung 1): Buchstaben des Schlüsselworts in der Reihenfolge des ersten Auftretens, Wiederholungen streichen (P4), dann der Rest ab A – NICHT ab dem letzten Schlüsselwortbuchstaben. Gleiche Regel wie bei Polybios/Playfair und in Abituraufgaben mit Schlüsselquadraten. Gemeinsam SCHERAZADE bilden: SCHERAZDBFGIJKLMNOPQTUVWXY. Impuls: Was fällt bei KALIF hinten auf? → nächste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Schwache Schlüssel erkennen: Bei „Rest ab A“ entstehen Fixpunkte, wenn das Schlüsselwort nur frühe Buchstaben enthält. Mit KALIF ist z. B. „mond“ → MONI fast lesbar. Regel für gute Schlüsselwörter: lang, Buchstaben aus dem hinteren Alphabet (oder Schlüsselsatz), danach Alphabet auf Fixpunkte prüfen. Akte W1·1 Auftrag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Rechnung: 4 · 10^26 : 10^9 : 3,2 · 10^7 s/Jahr ≈ 1,3 · 10^10 Jahre. Lab W1-L1-04 rechnet seit Korrektur D18 mit einem Rechenzentrum (10^12 /s → ≈ 1,3 · 10^7 Jahre) – nicht vorrechnen. Spannung aufbauen: „Trotzdem werdet ihr in 25 Minuten einen solchen Text lesen.“ Notwendig, aber nicht hinreichend – Abitur-Formulierung für die Beurteilung (P7).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Historisch vorsichtig formulieren: Lebensdaten „ca.“, die Schrift „wird zugeschrieben“, sie „gilt als“ älteste bekannte Beschreibung. Keine Aussagen Al-Kindis als wörtliches Zitat ausgeben. Die Randnotiz auf dem Archivfund ist Teil der Kryptos-Story, kein Zitat.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Quelle nennen: A. Beutelspacher, Kryptologie, 7. Aufl., Vieweg 2005, S. 10 (Umlaute als ae/oe/ue gezählt). Die fünf häufigsten Buchstaben machen fast die Hälfte (49 %) aus, die sieben häufigsten (E N I S R A T) ≈ 62 %. Werkzeug Häufigkeits-Analysator am Beamer zeigen: beliebigen deutschen Text einfügen → gleiche Form. Kernidee: Eine monoalphabetische Substitution vertauscht nur die Beschriftung der Balken, nicht ihre Höhe.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Merksatz ins Heft. Operator „erläutern“ im Abitur verlangt Prinzip + Beispiel + Voraussetzungen (P10) – nicht nur das Schlagwort.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SCH als Anker: Ein Geheimzeichen, das fast immer vor demselben Zeichen steht, ist vermutlich c (und das folgende h). Nachgemessen am Wettknack-Text (486 Buchstaben): EN 21, ER 20, ND 20, CH 17, DE 14, IN 13 – Reihenfolge schwankt je nach Text, deshalb ohne Prozentangaben.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Brücke zur Caesar-Werkstatt (`rateSchluessel` aus Welt 0): Die Methode „häufigster = e“ scheitert bei kurzen Texten. Je kürzer der Text, desto stärker weichen die Häufigkeiten ab; seltene Buchstaben fehlen ganz. Abitur-Klassiker: „Entscheiden Sie begründet … 30 Buchstaben …“ (Akte W1·1, Abi-Check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min, Ablauf (Spec §9.3): 0 Start (1 min): Szenario „Wettknacken“ in der Funkraum-Regie starten, Analysator und Werkbank werden freigeschaltet. 1 Analyse (5 min): zählen, Rangfolge, U ≙ e. 2 Knacken (14 min): Bigramme/Trigramme, Musterwörter, Lesen; Beamer zeigt je Team nur den Fortschrittsbalken. 3 Hinweise (optional, nach 8 min): (1) „U ≙ e“, (2) „YC ≙ ch“, (3) „RUM ≙ der“. 4 Ziellinie: ≥ 95 % korrekte Positionen, Platzierung nach Zeit, keine Punkte (Abzeichen „Funkraum-Veteran“). 5 Auswertung (5 min): Folie 14.
Papier-Alternative: Rollenkarten-Dokument KR_W1_Funkraum_Wettknacken (A3-Geheimtextkarte je Team, Häufigkeiten auf der Rückseite).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Teams berichten: Welcher Schritt hat den Sprung gebracht? Erwartung: e zuerst, dann ch/sch und der, dann Lesen. In der Plattform-Auswertung die Fortschrittskurven aller Teams zeigen (Sprünge nach den ersten Zuordnungen). Diagramm: U ragt wie E heraus, die nächsten Ränge I, D, N, M passen zu n, i, s, r. Zusatz für Schnelle: Die Schlüsselwort-Struktur verrät sich selbst – ab g folgen B C D … (Rest des Alphabets ab A). Grenzen besprechen: kurze Texte (P6), Sprache muss bekannt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Mit der Zuordnung aus dem Wettknacken liest der Kurs den Archivfund mühelos (Schlüsselwort PAPYRUS, Alphabet PAYRUSBCDEFGHIJKLMNOQTVWXZ). Merksatz Häufigkeitsanalyse festhalten. Hausaufgabe: Akte W1·1 Auftrag 4 (Knacken auf Papier) + Abi-Check, Video 📼 02. Ausblick: „Wie schützt sich Alice?“
Korrektur D15: Die Folie zeigt die Lösung nicht (der Archivfund ist Lab-Aufgabe W1-A-01). Lösung zum Vergleich: zaehle die zeichen und du findest den schluessel.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 5 nach dem Warm-up (WU-W1-04 bis -08). 3 min Ideen sammeln: „Alice hat von Al-Kindi gehört. Was kann sie tun?“ Erwartete Ideen: Alphabet rechnerisch erzeugen, mehrere Zeichen für e, ganze Wörter verstecken – genau die drei Gegenmittel dieser Doppelstunde (affin, homophon, Nomenklator).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Begründung der Wahl A = 0: Die Reste 0 … 25 von mod 26 entsprechen genau den 26 Buchstaben – keine „Rest 0 → Z“-Ausnahme. Die Abweichung von der Anlage ist bewusstes P1-Training: Jede Aufgabe nennt ihre Nummerierung. Im Abi-Check der Akte (ZAHLENCHIFFRE-29) wird wieder mit A = 1 gerechnet.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Beispiel (m, t) = (7, 3): Gemeinsam s und u rechnen (s = 18 → 129 mod 26 = 25 → Z; u = 20 → 143 mod 26 = 13 → N), den Rest in Partnerarbeit. Ohne Taschenrechner: 129 = 4 · 26 + 25. Ergebnis ZNCGD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Konkretes Gegenbeispiel (zwei Buchstaben, ein Geheimtextbuchstabe) ist Abitur-Format – ein bloßes „ggT ≠ 1“ reicht nicht (P10). m = 13: gerade p → A, ungerade p → N. Erlaubte m: 1, 3, 5, 7, 9, 11, 15, 17, 19, 21, 23, 25; Schlüsselraum 12 · 26 = 312.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Ohne Taschenrechner: Vielfache von 26 plus 1 durchgehen (27, 53, 79, 105, 131, 157, 183, 209, 235) und prüfen, welche durch m teilbar ist. Reihenfolge beim Entschlüsseln: erst − t, dann · m⁻¹ (P3); negative Zwischenwerte + 26 (P2). Beispiel Lab W1-L2-04: CPQN mit (21, 7), m⁻¹ = 5 → bote.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Partnerarbeit, ohne Taschenrechner. Schnelle: Auftrag 5 (Known-Plaintext: e → Y, n → T ergibt (11, 6)). Lösungen: 1 GOREJ WFF · 2 21, 19, 23, 25 · 3 tigris · 4 z. B. b und o → C; m = 13: a, c, e, g, i, k, m, o, q, s, u, w, y → A. Typische Fehler: A = 1 gerechnet (P1), m statt m⁻¹ (P3), negative Reste (P2).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Known-Plaintext aus zwei Häufigkeits-Paaren: e → W, n → X ergibt 4m + t ≡ 22, 13m + t ≡ 23 → 9m ≡ 1 → m = 3, t = 10 (Lab W1-L2-07). Doppelt affin = affin (P8): (3, 5) dann (7, 2) entspricht (21, 11) – eA-Auftrag 7 der Akte W1·2, Papier-Boss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Kryptos-Regel „der Reihe nach“: 1. Vorkommen → erste Zahl, 2. Vorkommen → zweite Zahl, …, danach wieder von vorn. Gesamttabelle: 35 verschiedene Zahlen (Akte W1·2, Archivwissen 3). Jede Zahl gehört zu genau einem Buchstaben → Entschlüsselung eindeutig. Kurzübung: seide → 56 42 15 13 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Impuls: „Ist Al-Kindi jetzt besiegt?“ Erwartung: Bigramme! Die Tabelle ist am Wettknack-Klartext nachgerechnet (Kalifenschrift, Regel „der Reihe nach“): Das häufigste Zeichen ist nun 13 (= d, 32 ×), e verteilt sich auf vier Zahlen mit 24, 24, 23, 23 Vorkommen – aber das Paar 58 49 (ch) erscheint genauso oft wie YC im monoalphabetischen Geheimtext. Bei langen Texten findet man die Homophone eines Buchstabens über ihre Umgebungen.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Erwartungshorizonte akzeptieren „nicht monoalphabetisch, da gleiche Klartextbuchstaben verschieden ersetzt werden“ ebenso wie „monoalphabetische Grundstruktur mit Homophonen“ – sofern das Kriterium genannt und angewendet wird (Lehrerhinweise W1). Entscheidend: keine schlüsselgesteuerte Folge von Alphabeten → nicht polyalphabetisch.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Historischer Hinweis: Nomenklatoren sind eine spätere Technik (Kanzleien Europas, ab dem 14./15. Jahrhundert). In der Story liegt das Codebuch „im Archiv neben Al-Kindis Schrift, weil es gegen dessen Methode gebaut wurde“.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Regeln: Wörter aus dem Codebuch → zweistellige Zahl, alle anderen Buchstabe für Buchstabe mit dem Alphabet zu TUSCHE; Blender nach jedem Wort erlaubt; Fünfergruppen, Ziffern und Buchstaben gemischt. Beispiel gemeinsam zerlegen: 58 · 62 · HOOHDSBQ (erreicht) · 90 · TJ (am) · 74. Danach Akte W1·3 (5-Schritte-Methode,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Besprechung Schritt 5 der Akte: Häufigkeitsanalyse erschwert, nicht verhindert (Codes sind zählbar, Buchstabenteil monoalphabetisch); Known-Plaintext deckt Codes und Buchstaben auf; Blender 00/99 sind konstant und erkennbar; großes Codebuch → Schlüsselaustausch aufwendig, Verlust kompromittiert alles. Urteil: besser als einfache Substitution, aber unsicher.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Rückblick: Egal wie groß der Schlüsselraum (26!, 312, Codebuch) – solange ein Klartextbuchstabe immer gleich ersetzt wird, verrät ihn die Statistik. Boss „Der Kalif und der Kurier“ ist frei (ab 60 % der Level-Punkte); Artefakt: Al-Kindis Manuskript. Hausaufgabe: Abi-Checks W1·2/W1·3, Boss W1, Papier-Boss „Die Gewürzliste“ (optional). Ausblick Renaissance: „Ein Alphabet ist zu wenig.“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el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Abschnit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/tmp/kr_bildcache/siegel1_933b36bad32b4e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1 · Das Haus der Weisheit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Inhal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1_933b36bad32b4e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1 · Das Haus der Weisheit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Dunkel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1_933b36bad32b4e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1 · Das Haus der Weisheit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929f17d95773e627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1_933b36bad32b4e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 · BAGDAD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Haus der Weisheit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1 · Häufigkeitsanalyse und ihre Gegenmittel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Al-Kindis Manuskript</a:t>
            </a:r>
            <a:endParaRPr lang="en-US" sz="3000" dirty="0"/>
          </a:p>
        </p:txBody>
      </p:sp>
      <p:sp>
        <p:nvSpPr>
          <p:cNvPr id="3" name="Dokument"/>
          <p:cNvSpPr/>
          <p:nvPr/>
        </p:nvSpPr>
        <p:spPr>
          <a:xfrm rot="-72000">
            <a:off x="1554480" y="1417320"/>
            <a:ext cx="9052560" cy="1889760"/>
          </a:xfrm>
          <a:prstGeom prst="rect">
            <a:avLst/>
          </a:prstGeom>
          <a:solidFill>
            <a:srgbClr val="FBF7EE"/>
          </a:solidFill>
          <a:ln w="19050">
            <a:solidFill>
              <a:srgbClr val="B07D2B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 rot="-72000">
            <a:off x="1874520" y="1581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4E8C"/>
                </a:solidFill>
              </a:rPr>
              <a:t>HAUS DER WEISHEIT · 850 · UNBEKANNTES VERFAHREN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 rot="-72000">
            <a:off x="1874520" y="1965960"/>
            <a:ext cx="84124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ZPUCG URDUZ UDYCU IQIRR QSDIR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UNORU INYCG QUNNU 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18560"/>
            <a:ext cx="1072865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Randnotiz, aus dem Arabischen übersetzt: </a:t>
            </a:r>
            <a:r>
              <a:rPr lang="en-US" sz="2200" i="1" dirty="0">
                <a:solidFill>
                  <a:srgbClr val="FBF7EE"/>
                </a:solidFill>
              </a:rPr>
              <a:t>„Wer die Häufigkeiten kennt, liest jedes Blatt.“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4032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Probiert die Chiffrierscheibe:</a:t>
            </a:r>
            <a:r>
              <a:rPr lang="en-US" sz="2200" dirty="0">
                <a:solidFill>
                  <a:srgbClr val="FBF7EE"/>
                </a:solidFill>
              </a:rPr>
              <a:t> Welche Verschiebung passt?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Caesar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Jeder Buchstabe kann durch </a:t>
            </a:r>
            <a:r>
              <a:rPr lang="en-US" sz="2200" b="1" dirty="0">
                <a:solidFill>
                  <a:srgbClr val="1B1B1F"/>
                </a:solidFill>
              </a:rPr>
              <a:t>jeden anderen</a:t>
            </a:r>
            <a:r>
              <a:rPr lang="en-US" sz="2200" dirty="0">
                <a:solidFill>
                  <a:srgbClr val="1B1B1F"/>
                </a:solidFill>
              </a:rPr>
              <a:t> ersetzt sein.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484"/>
          <a:ext cx="9875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1097280"/>
                <a:gridCol w="1097280"/>
                <a:gridCol w="91440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Möglichkeiten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71140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1B1F"/>
                </a:solidFill>
              </a:rPr>
              <a:t>26 · 25 · 24 · … · 2 · 1 = </a:t>
            </a:r>
            <a:r>
              <a:rPr lang="en-US" sz="2600" b="1" dirty="0">
                <a:solidFill>
                  <a:srgbClr val="1B1B1F"/>
                </a:solidFill>
              </a:rPr>
              <a:t>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4772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Wie viele Geheimtextalphabete gibt es?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Monoalphabetische Substitution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Klartextalphabet oben, </a:t>
            </a:r>
            <a:r>
              <a:rPr lang="en-US" sz="2200" b="1" dirty="0">
                <a:solidFill>
                  <a:srgbClr val="1B1B1F"/>
                </a:solidFill>
              </a:rPr>
              <a:t>beliebig vertauschtes</a:t>
            </a:r>
            <a:r>
              <a:rPr lang="en-US" sz="2200" dirty="0">
                <a:solidFill>
                  <a:srgbClr val="1B1B1F"/>
                </a:solidFill>
              </a:rPr>
              <a:t> Geheimtextalphabet unten: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484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6644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Verschlüsseln:</a:t>
            </a:r>
            <a:r>
              <a:rPr lang="en-US" sz="2200" dirty="0">
                <a:solidFill>
                  <a:srgbClr val="1B1B1F"/>
                </a:solidFill>
              </a:rPr>
              <a:t> oben suchen, unten ablesen –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salbei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QYGAID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8104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Entschlüsseln:</a:t>
            </a:r>
            <a:r>
              <a:rPr lang="en-US" sz="2200" dirty="0">
                <a:solidFill>
                  <a:srgbClr val="1B1B1F"/>
                </a:solidFill>
              </a:rPr>
              <a:t> unten suchen, oben ablesen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565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 wird </a:t>
            </a:r>
            <a:r>
              <a:rPr lang="en-US" sz="2200" b="1" dirty="0">
                <a:solidFill>
                  <a:srgbClr val="1B1B1F"/>
                </a:solidFill>
              </a:rPr>
              <a:t>immer</a:t>
            </a:r>
            <a:r>
              <a:rPr lang="en-US" sz="2200" dirty="0">
                <a:solidFill>
                  <a:srgbClr val="1B1B1F"/>
                </a:solidFill>
              </a:rPr>
              <a:t> durch denselben Buchstaben ersetzt (hier I) → </a:t>
            </a:r>
            <a:r>
              <a:rPr lang="en-US" sz="2200" b="1" dirty="0">
                <a:solidFill>
                  <a:srgbClr val="1B1B1F"/>
                </a:solidFill>
              </a:rPr>
              <a:t>monoalphabetisch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Schlüsselwort-Alphabet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25184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 Schlüsselwort </a:t>
            </a:r>
            <a:r>
              <a:rPr lang="en-US" sz="2200" b="1" dirty="0">
                <a:solidFill>
                  <a:srgbClr val="1B1B1F"/>
                </a:solidFill>
              </a:rPr>
              <a:t>ohne Wiederholungen</a:t>
            </a:r>
            <a:r>
              <a:rPr lang="en-US" sz="2200" dirty="0">
                <a:solidFill>
                  <a:srgbClr val="1B1B1F"/>
                </a:solidFill>
              </a:rPr>
              <a:t>: K A L I F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6644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 danach der </a:t>
            </a:r>
            <a:r>
              <a:rPr lang="en-US" sz="2200" b="1" dirty="0">
                <a:solidFill>
                  <a:srgbClr val="1B1B1F"/>
                </a:solidFill>
              </a:rPr>
              <a:t>Rest des Alphabets ab A</a:t>
            </a:r>
            <a:r>
              <a:rPr lang="en-US" sz="2200" dirty="0">
                <a:solidFill>
                  <a:srgbClr val="1B1B1F"/>
                </a:solidFill>
              </a:rPr>
              <a:t>: B C D E G H J …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8104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 unter das Klartextalphabet a … z schreiben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5652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B1B1F"/>
                </a:solidFill>
              </a:rPr>
              <a:t>Beispiel</a:t>
            </a:r>
            <a:r>
              <a:rPr lang="en-US" sz="1800" dirty="0">
                <a:solidFill>
                  <a:srgbClr val="1B1B1F"/>
                </a:solidFill>
              </a:rPr>
              <a:t> </a:t>
            </a:r>
            <a:r>
              <a:rPr lang="en-US" sz="18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SCHERAZADE</a:t>
            </a:r>
            <a:r>
              <a:rPr lang="en-US" sz="1800" dirty="0">
                <a:solidFill>
                  <a:srgbClr val="1B1B1F"/>
                </a:solidFill>
              </a:rPr>
              <a:t> → S C H E R A Z D + B F G I J K 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P7 · Der faule Kalif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Schlüsselwort-Alphabet </a:t>
            </a:r>
            <a:r>
              <a:rPr lang="en-US" sz="2200" b="1" dirty="0">
                <a:solidFill>
                  <a:srgbClr val="1B1B1F"/>
                </a:solidFill>
              </a:rPr>
              <a:t>prüfen</a:t>
            </a:r>
            <a:r>
              <a:rPr lang="en-US" sz="2200" dirty="0">
                <a:solidFill>
                  <a:srgbClr val="1B1B1F"/>
                </a:solidFill>
              </a:rPr>
              <a:t>: Wie viele Buchstaben bleiben auf ihrem Platz (</a:t>
            </a:r>
            <a:r>
              <a:rPr lang="en-US" sz="2200" b="1" dirty="0">
                <a:solidFill>
                  <a:srgbClr val="1B1B1F"/>
                </a:solidFill>
              </a:rPr>
              <a:t>Fixpunkte</a:t>
            </a:r>
            <a:r>
              <a:rPr lang="en-US" sz="2200" dirty="0">
                <a:solidFill>
                  <a:srgbClr val="1B1B1F"/>
                </a:solidFill>
              </a:rPr>
              <a:t>)?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799080"/>
          </a:xfrm>
          <a:prstGeom prst="roundRect">
            <a:avLst>
              <a:gd name="adj" fmla="val 2613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KALIF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82340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KALIFBCDEGHJMNOPQRSTUVWXYZ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96944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14 Fixpunkte:</a:t>
            </a:r>
            <a:r>
              <a:rPr lang="en-US" sz="2200" dirty="0">
                <a:solidFill>
                  <a:srgbClr val="1B1B1F"/>
                </a:solidFill>
              </a:rPr>
              <a:t> m … z bleiben gleich – darunter n, r, s, 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78728" y="2281936"/>
            <a:ext cx="5364328" cy="2799080"/>
          </a:xfrm>
          <a:prstGeom prst="roundRect">
            <a:avLst>
              <a:gd name="adj" fmla="val 2613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967736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SCHERAZADE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482340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SCHERAZDBFGIJKLMNOPQTUVWXY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996944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0 Fixpunkte</a:t>
            </a:r>
            <a:r>
              <a:rPr lang="en-US" sz="2200" dirty="0">
                <a:solidFill>
                  <a:srgbClr val="1B1B1F"/>
                </a:solidFill>
              </a:rPr>
              <a:t> – langes Wort, späte Buchstaben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26!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556000"/>
          </a:xfrm>
          <a:prstGeom prst="roundRect">
            <a:avLst>
              <a:gd name="adj" fmla="val 2571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85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1B1F"/>
                </a:solidFill>
              </a:rPr>
              <a:t>26! = 403 291 461 126 605 635 584 000 000 ≈ </a:t>
            </a:r>
            <a:r>
              <a:rPr lang="en-US" sz="2600" b="1" dirty="0">
                <a:solidFill>
                  <a:srgbClr val="1B1B1F"/>
                </a:solidFill>
              </a:rPr>
              <a:t>4 · 10</a:t>
            </a:r>
            <a:r>
              <a:rPr lang="en-US" sz="2600" b="1" baseline="30000" dirty="0">
                <a:solidFill>
                  <a:srgbClr val="1B1B1F"/>
                </a:solidFill>
              </a:rPr>
              <a:t>26</a:t>
            </a:r>
            <a:r>
              <a:rPr lang="en-US" sz="2600" dirty="0">
                <a:solidFill>
                  <a:srgbClr val="1B1B1F"/>
                </a:solidFill>
              </a:rPr>
              <a:t> Schlüssel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219704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Bei 10</a:t>
            </a:r>
            <a:r>
              <a:rPr lang="en-US" sz="2200" baseline="30000" dirty="0">
                <a:solidFill>
                  <a:srgbClr val="1B1B1F"/>
                </a:solidFill>
              </a:rPr>
              <a:t>9</a:t>
            </a:r>
            <a:r>
              <a:rPr lang="en-US" sz="2200" dirty="0">
                <a:solidFill>
                  <a:srgbClr val="1B1B1F"/>
                </a:solidFill>
              </a:rPr>
              <a:t> Versuchen pro Sekunde: ≈ </a:t>
            </a:r>
            <a:r>
              <a:rPr lang="en-US" sz="2200" b="1" dirty="0">
                <a:solidFill>
                  <a:srgbClr val="1B1B1F"/>
                </a:solidFill>
              </a:rPr>
              <a:t>13 Milliarden Jahre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734308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Ein großer Schlüsselraum ist </a:t>
            </a:r>
            <a:r>
              <a:rPr lang="en-US" sz="2200" b="1" dirty="0">
                <a:solidFill>
                  <a:srgbClr val="1B1B1F"/>
                </a:solidFill>
              </a:rPr>
              <a:t>notwendig</a:t>
            </a:r>
            <a:r>
              <a:rPr lang="en-US" sz="2200" dirty="0">
                <a:solidFill>
                  <a:srgbClr val="1B1B1F"/>
                </a:solidFill>
              </a:rPr>
              <a:t> – aber </a:t>
            </a:r>
            <a:r>
              <a:rPr lang="en-US" sz="2200" b="1" dirty="0">
                <a:solidFill>
                  <a:srgbClr val="1B1B1F"/>
                </a:solidFill>
              </a:rPr>
              <a:t>nicht hinreichend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Al-Kindi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Bagdad, 9. Jahrhundert. Al-Kindi (ca. 801–873) wird eine Schrift zugeschrieben, die als </a:t>
            </a:r>
            <a:r>
              <a:rPr lang="en-US" sz="2200" b="1" dirty="0">
                <a:solidFill>
                  <a:srgbClr val="1B1B1F"/>
                </a:solidFill>
              </a:rPr>
              <a:t>älteste bekannte Beschreibung der Häufigkeitsanalyse</a:t>
            </a:r>
            <a:r>
              <a:rPr lang="en-US" sz="2200" dirty="0">
                <a:solidFill>
                  <a:srgbClr val="1B1B1F"/>
                </a:solidFill>
              </a:rPr>
              <a:t> gilt.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81352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Haus der Weisheit (Bait al-Hikma), Bagdad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Umfeld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Übersetzung griechischer und persischer Schriften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Zeichen </a:t>
                      </a: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zählen</a:t>
                      </a: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statt Schlüssel </a:t>
                      </a: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probieren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Fingerabdruck der Sprache</a:t>
            </a:r>
            <a:endParaRPr lang="en-US" sz="3000" dirty="0"/>
          </a:p>
        </p:txBody>
      </p:sp>
      <p:pic>
        <p:nvPicPr>
          <p:cNvPr id="3" name="Image 0" descr="Häufigkeiten deutscher Buchstaben nach R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95486" cy="2626375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09886" y="1325880"/>
          <a:ext cx="3433170" cy="914400"/>
        </p:xfrm>
        <a:graphic>
          <a:graphicData uri="http://schemas.openxmlformats.org/drawingml/2006/table">
            <a:tbl>
              <a:tblPr/>
              <a:tblGrid>
                <a:gridCol w="1144390"/>
                <a:gridCol w="1144390"/>
                <a:gridCol w="114439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09886" y="3861816"/>
            <a:ext cx="343317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Merkwort </a:t>
            </a:r>
            <a:r>
              <a:rPr lang="en-US" sz="1800" b="1" dirty="0">
                <a:solidFill>
                  <a:srgbClr val="1B1B1F"/>
                </a:solidFill>
              </a:rPr>
              <a:t>ENISRAT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Häufigkeitsanalyse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060192"/>
          </a:xfrm>
          <a:prstGeom prst="roundRect">
            <a:avLst>
              <a:gd name="adj" fmla="val 298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Zähle</a:t>
            </a:r>
            <a:r>
              <a:rPr lang="en-US" sz="2200" dirty="0">
                <a:solidFill>
                  <a:srgbClr val="1B1B1F"/>
                </a:solidFill>
              </a:rPr>
              <a:t> die Geheimtextbuchstaben. Der häufigste steht vermutlich für </a:t>
            </a:r>
            <a:r>
              <a:rPr lang="en-US" sz="2200" b="1" dirty="0">
                <a:solidFill>
                  <a:srgbClr val="1B1B1F"/>
                </a:solidFill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, dann </a:t>
            </a:r>
            <a:r>
              <a:rPr lang="en-US" sz="2200" b="1" dirty="0">
                <a:solidFill>
                  <a:srgbClr val="1B1B1F"/>
                </a:solidFill>
              </a:rPr>
              <a:t>n, i, s, r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95752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Prüfe</a:t>
            </a:r>
            <a:r>
              <a:rPr lang="en-US" sz="2200" dirty="0">
                <a:solidFill>
                  <a:srgbClr val="1B1B1F"/>
                </a:solidFill>
              </a:rPr>
              <a:t> mit Bigrammen und kurzen Wörtern.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1035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Voraussetzungen: </a:t>
            </a:r>
            <a:r>
              <a:rPr lang="en-US" sz="2200" b="1" dirty="0">
                <a:solidFill>
                  <a:srgbClr val="1B1B1F"/>
                </a:solidFill>
              </a:rPr>
              <a:t>genug Text</a:t>
            </a:r>
            <a:r>
              <a:rPr lang="en-US" sz="2200" dirty="0">
                <a:solidFill>
                  <a:srgbClr val="1B1B1F"/>
                </a:solidFill>
              </a:rPr>
              <a:t>, </a:t>
            </a:r>
            <a:r>
              <a:rPr lang="en-US" sz="2200" b="1" dirty="0">
                <a:solidFill>
                  <a:srgbClr val="1B1B1F"/>
                </a:solidFill>
              </a:rPr>
              <a:t>bekannte Sprache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Bigramme und Musterwörter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49754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Häufige Paare im Deutschen: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484"/>
          <a:ext cx="5149754" cy="914400"/>
        </p:xfrm>
        <a:graphic>
          <a:graphicData uri="http://schemas.openxmlformats.org/drawingml/2006/table">
            <a:tbl>
              <a:tblPr/>
              <a:tblGrid>
                <a:gridCol w="1029951"/>
                <a:gridCol w="1029951"/>
                <a:gridCol w="1029951"/>
                <a:gridCol w="1029951"/>
                <a:gridCol w="102995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64154" y="1325880"/>
            <a:ext cx="5578901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c</a:t>
            </a:r>
            <a:r>
              <a:rPr lang="en-US" sz="2200" dirty="0">
                <a:solidFill>
                  <a:srgbClr val="1B1B1F"/>
                </a:solidFill>
              </a:rPr>
              <a:t> fast nur vor </a:t>
            </a:r>
            <a:r>
              <a:rPr lang="en-US" sz="2200" b="1" dirty="0">
                <a:solidFill>
                  <a:srgbClr val="1B1B1F"/>
                </a:solidFill>
              </a:rPr>
              <a:t>h</a:t>
            </a:r>
            <a:r>
              <a:rPr lang="en-US" sz="2200" dirty="0">
                <a:solidFill>
                  <a:srgbClr val="1B1B1F"/>
                </a:solidFill>
              </a:rPr>
              <a:t> oder </a:t>
            </a:r>
            <a:r>
              <a:rPr lang="en-US" sz="2200" b="1" dirty="0">
                <a:solidFill>
                  <a:srgbClr val="1B1B1F"/>
                </a:solidFill>
              </a:rPr>
              <a:t>k</a:t>
            </a:r>
            <a:r>
              <a:rPr lang="en-US" sz="2200" dirty="0">
                <a:solidFill>
                  <a:srgbClr val="1B1B1F"/>
                </a:solidFill>
              </a:rPr>
              <a:t> – </a:t>
            </a:r>
            <a:r>
              <a:rPr lang="en-US" sz="2200" b="1" dirty="0">
                <a:solidFill>
                  <a:srgbClr val="1B1B1F"/>
                </a:solidFill>
              </a:rPr>
              <a:t>sch</a:t>
            </a:r>
            <a:r>
              <a:rPr lang="en-US" sz="2200" dirty="0">
                <a:solidFill>
                  <a:srgbClr val="1B1B1F"/>
                </a:solidFill>
              </a:rPr>
              <a:t> als Anker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064154" y="2181352"/>
            <a:ext cx="5578901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q</a:t>
            </a:r>
            <a:r>
              <a:rPr lang="en-US" sz="2200" dirty="0">
                <a:solidFill>
                  <a:srgbClr val="1B1B1F"/>
                </a:solidFill>
              </a:rPr>
              <a:t> fast nur vor </a:t>
            </a:r>
            <a:r>
              <a:rPr lang="en-US" sz="2200" b="1" dirty="0">
                <a:solidFill>
                  <a:srgbClr val="1B1B1F"/>
                </a:solidFill>
              </a:rPr>
              <a:t>u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064154" y="2695956"/>
            <a:ext cx="5578901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kurze Wörter: </a:t>
            </a:r>
            <a:r>
              <a:rPr lang="en-US" sz="2200" b="1" dirty="0">
                <a:solidFill>
                  <a:srgbClr val="1B1B1F"/>
                </a:solidFill>
              </a:rPr>
              <a:t>der, die, und</a:t>
            </a:r>
            <a:r>
              <a:rPr lang="en-US" sz="2200" dirty="0">
                <a:solidFill>
                  <a:srgbClr val="1B1B1F"/>
                </a:solidFill>
              </a:rPr>
              <a:t>, ein, das, ist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064154" y="3551428"/>
            <a:ext cx="5578901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wiederholte Dreiergruppen: oft der, die, und, sch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P6 · Kurze Texte lügen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„Häufigster Buchstabe = e“ gilt nur bei </a:t>
            </a:r>
            <a:r>
              <a:rPr lang="en-US" sz="2200" b="1" dirty="0">
                <a:solidFill>
                  <a:srgbClr val="1B1B1F"/>
                </a:solidFill>
              </a:rPr>
              <a:t>langen</a:t>
            </a:r>
            <a:r>
              <a:rPr lang="en-US" sz="2200" dirty="0">
                <a:solidFill>
                  <a:srgbClr val="1B1B1F"/>
                </a:solidFill>
              </a:rPr>
              <a:t> Texten.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625344"/>
          </a:xfrm>
          <a:prstGeom prst="roundRect">
            <a:avLst>
              <a:gd name="adj" fmla="val 2786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hannibal ante portas</a:t>
            </a:r>
            <a:r>
              <a:rPr lang="en-US" sz="2200" dirty="0">
                <a:solidFill>
                  <a:srgbClr val="1B1B1F"/>
                </a:solidFill>
              </a:rPr>
              <a:t> (18 Buchstaben)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82340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häufigster Buchstabe: </a:t>
            </a:r>
            <a:r>
              <a:rPr lang="en-US" sz="2200" b="1" dirty="0">
                <a:solidFill>
                  <a:srgbClr val="1B1B1F"/>
                </a:solidFill>
              </a:rPr>
              <a:t>a</a:t>
            </a:r>
            <a:r>
              <a:rPr lang="en-US" sz="2200" dirty="0">
                <a:solidFill>
                  <a:srgbClr val="1B1B1F"/>
                </a:solidFill>
              </a:rPr>
              <a:t> (4 ×) – </a:t>
            </a:r>
            <a:r>
              <a:rPr lang="en-US" sz="2200" b="1" dirty="0">
                <a:solidFill>
                  <a:srgbClr val="1B1B1F"/>
                </a:solidFill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 nur 1 ×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78728" y="1941068"/>
            <a:ext cx="5364328" cy="3968496"/>
          </a:xfrm>
          <a:prstGeom prst="roundRect">
            <a:avLst>
              <a:gd name="adj" fmla="val 1843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graphicFrame>
        <p:nvGraphicFramePr>
          <p:cNvPr id="10" name="Häufigkeitsdiagramm" descr=""/>
          <p:cNvGraphicFramePr/>
          <p:nvPr/>
        </p:nvGraphicFramePr>
        <p:xfrm>
          <a:off x="6553048" y="2626868"/>
          <a:ext cx="481568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553048" y="4949444"/>
            <a:ext cx="4815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Kurzer Text: Ränge </a:t>
            </a:r>
            <a:r>
              <a:rPr lang="en-US" sz="1800" b="1" dirty="0">
                <a:solidFill>
                  <a:srgbClr val="1B1B1F"/>
                </a:solidFill>
              </a:rPr>
              <a:t>streuen</a:t>
            </a:r>
            <a:r>
              <a:rPr lang="en-US" sz="1800" dirty="0">
                <a:solidFill>
                  <a:srgbClr val="1B1B1F"/>
                </a:solidFill>
              </a:rPr>
              <a:t> → Bigramme, Musterwörter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Funkraum: Wettknacken</a:t>
            </a:r>
            <a:endParaRPr lang="en-US" sz="3000" dirty="0"/>
          </a:p>
        </p:txBody>
      </p:sp>
      <p:pic>
        <p:nvPicPr>
          <p:cNvPr id="3" name="Image 0" descr="/tmp/kr_bildcache/qr_72e29757ebfd72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42062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417320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Ein Text – alle Teams – wer liest zuerst?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931924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1</a:t>
            </a:r>
            <a:r>
              <a:rPr lang="en-US" sz="2200" dirty="0">
                <a:solidFill>
                  <a:srgbClr val="FBF7EE"/>
                </a:solidFill>
              </a:rPr>
              <a:t>   </a:t>
            </a:r>
            <a:r>
              <a:rPr lang="en-US" sz="2200" b="1" dirty="0">
                <a:solidFill>
                  <a:srgbClr val="FBF7EE"/>
                </a:solidFill>
              </a:rPr>
              <a:t>Analysator:</a:t>
            </a:r>
            <a:r>
              <a:rPr lang="en-US" sz="2200" dirty="0">
                <a:solidFill>
                  <a:srgbClr val="FBF7EE"/>
                </a:solidFill>
              </a:rPr>
              <a:t> zählen, Rangfolge notieren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46528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2</a:t>
            </a:r>
            <a:r>
              <a:rPr lang="en-US" sz="2200" dirty="0">
                <a:solidFill>
                  <a:srgbClr val="FBF7EE"/>
                </a:solidFill>
              </a:rPr>
              <a:t>   </a:t>
            </a:r>
            <a:r>
              <a:rPr lang="en-US" sz="2200" b="1" dirty="0">
                <a:solidFill>
                  <a:srgbClr val="FBF7EE"/>
                </a:solidFill>
              </a:rPr>
              <a:t>Werkbank:</a:t>
            </a:r>
            <a:r>
              <a:rPr lang="en-US" sz="2200" dirty="0">
                <a:solidFill>
                  <a:srgbClr val="FBF7EE"/>
                </a:solidFill>
              </a:rPr>
              <a:t> zuordnen – Bigramme, Dreiergruppen, Musterwörter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61132"/>
            <a:ext cx="87169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F7EE"/>
                </a:solidFill>
              </a:rPr>
              <a:t>3</a:t>
            </a:r>
            <a:r>
              <a:rPr lang="en-US" sz="2200" dirty="0">
                <a:solidFill>
                  <a:srgbClr val="FBF7EE"/>
                </a:solidFill>
              </a:rPr>
              <a:t>   </a:t>
            </a:r>
            <a:r>
              <a:rPr lang="en-US" sz="2200" b="1" dirty="0">
                <a:solidFill>
                  <a:srgbClr val="FBF7EE"/>
                </a:solidFill>
              </a:rPr>
              <a:t>Beamer:</a:t>
            </a:r>
            <a:r>
              <a:rPr lang="en-US" sz="2200" dirty="0">
                <a:solidFill>
                  <a:srgbClr val="FBF7EE"/>
                </a:solidFill>
              </a:rPr>
              <a:t> Fortschrittsbalken je Team – Ziel ≥ 95 %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5736"/>
            <a:ext cx="871697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BF7EE"/>
                </a:solidFill>
              </a:rPr>
              <a:t>486 Buchstaben · monoalphabetische Substitution · 25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hat geholfen?</a:t>
            </a:r>
            <a:endParaRPr lang="en-US" sz="3000" dirty="0"/>
          </a:p>
        </p:txBody>
      </p:sp>
      <p:graphicFrame>
        <p:nvGraphicFramePr>
          <p:cNvPr id="3" name="Häufigkeitsdiagramm" descr=""/>
          <p:cNvGraphicFramePr/>
          <p:nvPr/>
        </p:nvGraphicFramePr>
        <p:xfrm>
          <a:off x="548640" y="1325880"/>
          <a:ext cx="6437193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51593" y="1325880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2200" dirty="0">
                <a:solidFill>
                  <a:srgbClr val="1B1B1F"/>
                </a:solidFill>
              </a:rPr>
              <a:t> (94) ≙ </a:t>
            </a:r>
            <a:r>
              <a:rPr lang="en-US" sz="2200" b="1" dirty="0">
                <a:solidFill>
                  <a:srgbClr val="1B1B1F"/>
                </a:solidFill>
              </a:rPr>
              <a:t>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51593" y="1840484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</a:t>
            </a:r>
            <a:r>
              <a:rPr lang="en-US" sz="2200" dirty="0">
                <a:solidFill>
                  <a:srgbClr val="1B1B1F"/>
                </a:solidFill>
              </a:rPr>
              <a:t> ≙ er ·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r>
              <a:rPr lang="en-US" sz="2200" dirty="0">
                <a:solidFill>
                  <a:srgbClr val="1B1B1F"/>
                </a:solidFill>
              </a:rPr>
              <a:t> ≙ 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51593" y="2355088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YC</a:t>
            </a:r>
            <a:r>
              <a:rPr lang="en-US" sz="2200" dirty="0">
                <a:solidFill>
                  <a:srgbClr val="1B1B1F"/>
                </a:solidFill>
              </a:rPr>
              <a:t> ≙ ch ·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NYC</a:t>
            </a:r>
            <a:r>
              <a:rPr lang="en-US" sz="2200" dirty="0">
                <a:solidFill>
                  <a:srgbClr val="1B1B1F"/>
                </a:solidFill>
              </a:rPr>
              <a:t> ≙ sch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51593" y="2869692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RUM</a:t>
            </a:r>
            <a:r>
              <a:rPr lang="en-US" sz="2200" dirty="0">
                <a:solidFill>
                  <a:srgbClr val="1B1B1F"/>
                </a:solidFill>
              </a:rPr>
              <a:t> ≙ der ·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r>
              <a:rPr lang="en-US" sz="2200" dirty="0">
                <a:solidFill>
                  <a:srgbClr val="1B1B1F"/>
                </a:solidFill>
              </a:rPr>
              <a:t> ≙ nd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51593" y="3384296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5</a:t>
            </a:r>
            <a:r>
              <a:rPr lang="en-US" sz="2200" dirty="0">
                <a:solidFill>
                  <a:srgbClr val="1B1B1F"/>
                </a:solidFill>
              </a:rPr>
              <a:t>   lesen und ergänzen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Al-Kindis Manuskript – der Weg</a:t>
            </a:r>
            <a:endParaRPr lang="en-US" sz="3000" dirty="0"/>
          </a:p>
        </p:txBody>
      </p:sp>
      <p:sp>
        <p:nvSpPr>
          <p:cNvPr id="3" name="Dokument"/>
          <p:cNvSpPr/>
          <p:nvPr/>
        </p:nvSpPr>
        <p:spPr>
          <a:xfrm rot="-72000">
            <a:off x="1554480" y="1417320"/>
            <a:ext cx="9052560" cy="1737360"/>
          </a:xfrm>
          <a:prstGeom prst="rect">
            <a:avLst/>
          </a:prstGeom>
          <a:solidFill>
            <a:srgbClr val="FBF7EE"/>
          </a:solidFill>
          <a:ln w="19050">
            <a:solidFill>
              <a:srgbClr val="B07D2B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 rot="-72000">
            <a:off x="1874520" y="1581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4E8C"/>
                </a:solidFill>
              </a:rPr>
              <a:t>GLEICHER SCHLÜSSEL WIE IM WETTKNACKEN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 rot="-72000">
            <a:off x="1874520" y="19659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ZPUCG URDUZ UDYCU IQIRR QSDIR UNORU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INYCG QUNNU 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Häufigstes Zeichen </a:t>
            </a:r>
            <a:r>
              <a:rPr lang="en-US" sz="2200" dirty="0">
                <a:solidFill>
                  <a:srgbClr val="FBF7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2200" dirty="0">
                <a:solidFill>
                  <a:srgbClr val="FBF7EE"/>
                </a:solidFill>
              </a:rPr>
              <a:t> (9 ×) ≙ e – damit beginnt die Zuordnung.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80764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Klartext und Schlüsselwort: </a:t>
            </a:r>
            <a:r>
              <a:rPr lang="en-US" sz="2200" b="1" dirty="0">
                <a:solidFill>
                  <a:srgbClr val="7FA8E0"/>
                </a:solidFill>
              </a:rPr>
              <a:t>gemeinsam an der Tafel</a:t>
            </a:r>
            <a:r>
              <a:rPr lang="en-US" sz="2200" dirty="0">
                <a:solidFill>
                  <a:srgbClr val="FBF7EE"/>
                </a:solidFill>
              </a:rPr>
              <a:t> rekonstruieren.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929f17d95773e627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1_933b36bad32b4e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5 · BAGDAD · UM 850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Gegenmittel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schützt sich Alice vor Al-Kindi?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P1 · Diese Chiffre zählt ab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Nummerierung </a:t>
            </a:r>
            <a:r>
              <a:rPr lang="en-US" sz="2200" b="1" dirty="0">
                <a:solidFill>
                  <a:srgbClr val="1B1B1F"/>
                </a:solidFill>
              </a:rPr>
              <a:t>immer zuerst</a:t>
            </a:r>
            <a:r>
              <a:rPr lang="en-US" sz="2200" dirty="0">
                <a:solidFill>
                  <a:srgbClr val="1B1B1F"/>
                </a:solidFill>
              </a:rPr>
              <a:t> prüfen – die affine Chiffre zählt </a:t>
            </a:r>
            <a:r>
              <a:rPr lang="en-US" sz="2200" b="1" dirty="0">
                <a:solidFill>
                  <a:srgbClr val="1B1B1F"/>
                </a:solidFill>
              </a:rPr>
              <a:t>A = 0 … Z = 25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750312"/>
          </a:xfrm>
          <a:prstGeom prst="roundRect">
            <a:avLst>
              <a:gd name="adj" fmla="val 2660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Abitur-Anlage (A = 1):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41472"/>
          <a:ext cx="4815688" cy="914400"/>
        </p:xfrm>
        <a:graphic>
          <a:graphicData uri="http://schemas.openxmlformats.org/drawingml/2006/table">
            <a:tbl>
              <a:tblPr/>
              <a:tblGrid>
                <a:gridCol w="687955"/>
                <a:gridCol w="687955"/>
                <a:gridCol w="687955"/>
                <a:gridCol w="687955"/>
                <a:gridCol w="687955"/>
                <a:gridCol w="687955"/>
                <a:gridCol w="6879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3948176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für die affine Chiffre: e = 5 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941068"/>
            <a:ext cx="5364328" cy="2750312"/>
          </a:xfrm>
          <a:prstGeom prst="roundRect">
            <a:avLst>
              <a:gd name="adj" fmla="val 2660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53048" y="262686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Affine Chiffre (A = 0):</a:t>
            </a:r>
            <a:endParaRPr lang="en-US" sz="2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3141472"/>
          <a:ext cx="4815688" cy="914400"/>
        </p:xfrm>
        <a:graphic>
          <a:graphicData uri="http://schemas.openxmlformats.org/drawingml/2006/table">
            <a:tbl>
              <a:tblPr/>
              <a:tblGrid>
                <a:gridCol w="687955"/>
                <a:gridCol w="687955"/>
                <a:gridCol w="687955"/>
                <a:gridCol w="687955"/>
                <a:gridCol w="687955"/>
                <a:gridCol w="687955"/>
                <a:gridCol w="687955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53048" y="3948176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 = 4 · Rest 0 = </a:t>
            </a:r>
            <a:r>
              <a:rPr lang="en-US" sz="2200" b="1" dirty="0">
                <a:solidFill>
                  <a:srgbClr val="1B1B1F"/>
                </a:solidFill>
              </a:rPr>
              <a:t>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affine Chiffre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1F"/>
                </a:solidFill>
              </a:rPr>
              <a:t>c = (m · p + t) mod 26</a:t>
            </a:r>
            <a:r>
              <a:rPr lang="en-US" sz="2600" dirty="0">
                <a:solidFill>
                  <a:srgbClr val="1B1B1F"/>
                </a:solidFill>
              </a:rPr>
              <a:t>     Schlüssel (m, t)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2460"/>
          <a:ext cx="9692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p + 3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37076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t = 0: </a:t>
            </a:r>
            <a:r>
              <a:rPr lang="en-US" sz="1800" b="1" dirty="0">
                <a:solidFill>
                  <a:srgbClr val="1B1B1F"/>
                </a:solidFill>
              </a:rPr>
              <a:t>multiplikative</a:t>
            </a:r>
            <a:r>
              <a:rPr lang="en-US" sz="1800" dirty="0">
                <a:solidFill>
                  <a:srgbClr val="1B1B1F"/>
                </a:solidFill>
              </a:rPr>
              <a:t> Chiffre · m = 1: </a:t>
            </a:r>
            <a:r>
              <a:rPr lang="en-US" sz="1800" b="1" dirty="0">
                <a:solidFill>
                  <a:srgbClr val="1B1B1F"/>
                </a:solidFill>
              </a:rPr>
              <a:t>Caesar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jedes m funktioniert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= 2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1472"/>
          <a:ext cx="5364328" cy="914400"/>
        </p:xfrm>
        <a:graphic>
          <a:graphicData uri="http://schemas.openxmlformats.org/drawingml/2006/table">
            <a:tbl>
              <a:tblPr/>
              <a:tblGrid>
                <a:gridCol w="2076514"/>
                <a:gridCol w="1038257"/>
                <a:gridCol w="2249557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p mod 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mod 26 = 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Geheimtext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480816"/>
            <a:ext cx="53643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Bob weiß nicht: a oder n?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278728" y="1325880"/>
            <a:ext cx="53643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= 13</a:t>
            </a:r>
            <a:endParaRPr lang="en-US" sz="2400" dirty="0"/>
          </a:p>
        </p:txBody>
      </p:sp>
      <p:sp>
        <p:nvSpPr>
          <p:cNvPr id="7" name="Geheimtext-Kasten"/>
          <p:cNvSpPr/>
          <p:nvPr/>
        </p:nvSpPr>
        <p:spPr>
          <a:xfrm>
            <a:off x="6278728" y="1871472"/>
            <a:ext cx="5364328" cy="605790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07328" y="1981200"/>
            <a:ext cx="4907128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ANANANANANANANANANANANANAN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2605278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Bedingung: </a:t>
            </a:r>
            <a:r>
              <a:rPr lang="en-US" sz="2200" b="1" dirty="0">
                <a:solidFill>
                  <a:srgbClr val="1B1B1F"/>
                </a:solidFill>
              </a:rPr>
              <a:t>ggT(m, 26) = 1</a:t>
            </a:r>
            <a:r>
              <a:rPr lang="en-US" sz="2200" dirty="0">
                <a:solidFill>
                  <a:srgbClr val="1B1B1F"/>
                </a:solidFill>
              </a:rPr>
              <a:t> → 12 Faktoren, </a:t>
            </a:r>
            <a:r>
              <a:rPr lang="en-US" sz="2200" b="1" dirty="0">
                <a:solidFill>
                  <a:srgbClr val="1B1B1F"/>
                </a:solidFill>
              </a:rPr>
              <a:t>312</a:t>
            </a:r>
            <a:r>
              <a:rPr lang="en-US" sz="2200" dirty="0">
                <a:solidFill>
                  <a:srgbClr val="1B1B1F"/>
                </a:solidFill>
              </a:rPr>
              <a:t> Schlüssel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inverse Schlüssel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607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· k + 1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durch 7 teilbar?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= 7 · 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194560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1B1F"/>
                </a:solidFill>
              </a:rPr>
              <a:t>7</a:t>
            </a:r>
            <a:r>
              <a:rPr lang="en-US" sz="2600" baseline="30000" dirty="0">
                <a:solidFill>
                  <a:srgbClr val="1B1B1F"/>
                </a:solidFill>
              </a:rPr>
              <a:t>−1</a:t>
            </a:r>
            <a:r>
              <a:rPr lang="en-US" sz="2600" dirty="0">
                <a:solidFill>
                  <a:srgbClr val="1B1B1F"/>
                </a:solidFill>
              </a:rPr>
              <a:t> = </a:t>
            </a:r>
            <a:r>
              <a:rPr lang="en-US" sz="2600" b="1" dirty="0">
                <a:solidFill>
                  <a:srgbClr val="1B1B1F"/>
                </a:solidFill>
              </a:rPr>
              <a:t>15</a:t>
            </a:r>
            <a:r>
              <a:rPr lang="en-US" sz="2600" dirty="0">
                <a:solidFill>
                  <a:srgbClr val="1B1B1F"/>
                </a:solidFill>
              </a:rPr>
              <a:t>     Entschlüsseln: </a:t>
            </a:r>
            <a:r>
              <a:rPr lang="en-US" sz="2600" b="1" dirty="0">
                <a:solidFill>
                  <a:srgbClr val="1B1B1F"/>
                </a:solidFill>
              </a:rPr>
              <a:t>p = m</a:t>
            </a:r>
            <a:r>
              <a:rPr lang="en-US" sz="2600" b="1" baseline="30000" dirty="0">
                <a:solidFill>
                  <a:srgbClr val="1B1B1F"/>
                </a:solidFill>
              </a:rPr>
              <a:t>−1</a:t>
            </a:r>
            <a:r>
              <a:rPr lang="en-US" sz="2600" b="1" dirty="0">
                <a:solidFill>
                  <a:srgbClr val="1B1B1F"/>
                </a:solidFill>
              </a:rPr>
              <a:t> · (c − t) mod 26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Rechnen wie im Haus der Weisheit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1F4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74650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3250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10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Akte W1·2, Aufträge 1–4</a:t>
            </a:r>
            <a:r>
              <a:rPr lang="en-US" sz="2200" dirty="0">
                <a:solidFill>
                  <a:srgbClr val="1B1B1F"/>
                </a:solidFill>
              </a:rPr>
              <a:t> · Nummerierung A = 0 … Z = 25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0564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86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86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40652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minarett</a:t>
            </a:r>
            <a:r>
              <a:rPr lang="en-US" sz="2200" dirty="0">
                <a:solidFill>
                  <a:srgbClr val="1B1B1F"/>
                </a:solidFill>
              </a:rPr>
              <a:t> mit (11, 4) verschlüsseln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2112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 Inverse zu 5, 9, 11, 17 bestimmen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573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RWEZW I</a:t>
            </a:r>
            <a:r>
              <a:rPr lang="en-US" sz="2200" dirty="0">
                <a:solidFill>
                  <a:srgbClr val="1B1B1F"/>
                </a:solidFill>
              </a:rPr>
              <a:t> mit (9, 2) entschlüsseln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5033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  Gegenbeispiel m = 2; alle Buchstaben, die mit m = 13 zu A werden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Affin bleibt monoalphabetisch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060192"/>
          </a:xfrm>
          <a:prstGeom prst="roundRect">
            <a:avLst>
              <a:gd name="adj" fmla="val 298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312 Schlüssel</a:t>
            </a:r>
            <a:r>
              <a:rPr lang="en-US" sz="2200" dirty="0">
                <a:solidFill>
                  <a:srgbClr val="1B1B1F"/>
                </a:solidFill>
              </a:rPr>
              <a:t> – aber e wird </a:t>
            </a:r>
            <a:r>
              <a:rPr lang="en-US" sz="2200" b="1" dirty="0">
                <a:solidFill>
                  <a:srgbClr val="1B1B1F"/>
                </a:solidFill>
              </a:rPr>
              <a:t>immer gleich</a:t>
            </a:r>
            <a:r>
              <a:rPr lang="en-US" sz="2200" dirty="0">
                <a:solidFill>
                  <a:srgbClr val="1B1B1F"/>
                </a:solidFill>
              </a:rPr>
              <a:t> ersetzt.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754884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Zwei vermutete Paare (e, n) aus der Häufigkeitsanalyse liefern </a:t>
            </a:r>
            <a:r>
              <a:rPr lang="en-US" sz="2200" b="1" dirty="0">
                <a:solidFill>
                  <a:srgbClr val="1B1B1F"/>
                </a:solidFill>
              </a:rPr>
              <a:t>(m, t)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1035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Doppelt affin ist wieder affin – </a:t>
            </a:r>
            <a:r>
              <a:rPr lang="en-US" sz="2200" b="1" dirty="0">
                <a:solidFill>
                  <a:srgbClr val="1B1B1F"/>
                </a:solidFill>
              </a:rPr>
              <a:t>kein</a:t>
            </a:r>
            <a:r>
              <a:rPr lang="en-US" sz="2200" dirty="0">
                <a:solidFill>
                  <a:srgbClr val="1B1B1F"/>
                </a:solidFill>
              </a:rPr>
              <a:t> Sicherheitsgewinn.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Homophone Substitution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Tabelle </a:t>
            </a:r>
            <a:r>
              <a:rPr lang="en-US" sz="2200" b="1" dirty="0">
                <a:solidFill>
                  <a:srgbClr val="1B1B1F"/>
                </a:solidFill>
              </a:rPr>
              <a:t>Kalifenschrift</a:t>
            </a:r>
            <a:r>
              <a:rPr lang="en-US" sz="2200" dirty="0">
                <a:solidFill>
                  <a:srgbClr val="1B1B1F"/>
                </a:solidFill>
              </a:rPr>
              <a:t> (Ausschnitt): häufige Buchstaben bekommen </a:t>
            </a:r>
            <a:r>
              <a:rPr lang="en-US" sz="2200" b="1" dirty="0">
                <a:solidFill>
                  <a:srgbClr val="1B1B1F"/>
                </a:solidFill>
              </a:rPr>
              <a:t>mehrere</a:t>
            </a:r>
            <a:r>
              <a:rPr lang="en-US" sz="2200" dirty="0">
                <a:solidFill>
                  <a:srgbClr val="1B1B1F"/>
                </a:solidFill>
              </a:rPr>
              <a:t> Zahlen.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81352"/>
          <a:ext cx="11094415" cy="914400"/>
        </p:xfrm>
        <a:graphic>
          <a:graphicData uri="http://schemas.openxmlformats.org/drawingml/2006/table">
            <a:tbl>
              <a:tblPr/>
              <a:tblGrid>
                <a:gridCol w="1737679"/>
                <a:gridCol w="2406018"/>
                <a:gridCol w="1069341"/>
                <a:gridCol w="1069341"/>
                <a:gridCol w="1069341"/>
                <a:gridCol w="1336677"/>
                <a:gridCol w="1336677"/>
                <a:gridCol w="106934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Klartext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Homophone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42, 77, 19, 85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15, 92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34, 60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72, 28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56, 83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0032"/>
          <a:ext cx="11094415" cy="914400"/>
        </p:xfrm>
        <a:graphic>
          <a:graphicData uri="http://schemas.openxmlformats.org/drawingml/2006/table">
            <a:tbl>
              <a:tblPr/>
              <a:tblGrid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  <a:gridCol w="123271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980688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Regel: Homophone </a:t>
            </a:r>
            <a:r>
              <a:rPr lang="en-US" sz="1800" b="1" dirty="0">
                <a:solidFill>
                  <a:srgbClr val="1B1B1F"/>
                </a:solidFill>
              </a:rPr>
              <a:t>der Reihe nach</a:t>
            </a:r>
            <a:r>
              <a:rPr lang="en-US" sz="1800" dirty="0">
                <a:solidFill>
                  <a:srgbClr val="1B1B1F"/>
                </a:solidFill>
              </a:rPr>
              <a:t> benutzen – die drei e werden 42, 77, 19.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bleibt sichtbar?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900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Wettknack-Klartext (486 Buchstaben) zweimal verschlüsselt: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900760" cy="914400"/>
        </p:xfrm>
        <a:graphic>
          <a:graphicData uri="http://schemas.openxmlformats.org/drawingml/2006/table">
            <a:tbl>
              <a:tblPr/>
              <a:tblGrid>
                <a:gridCol w="1770228"/>
                <a:gridCol w="1917747"/>
                <a:gridCol w="2212785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homophon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häufigstes Zeichen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U: </a:t>
                      </a: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 </a:t>
                      </a: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erscheint 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(94)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· 77 · 19 · 85 (je 23–24)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„ch“ erscheint als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YC: </a:t>
                      </a: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49: </a:t>
                      </a: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15160" y="1325880"/>
            <a:ext cx="482789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Einzelhäufigkeiten werden </a:t>
            </a:r>
            <a:r>
              <a:rPr lang="en-US" sz="2200" b="1" dirty="0">
                <a:solidFill>
                  <a:srgbClr val="1B1B1F"/>
                </a:solidFill>
              </a:rPr>
              <a:t>flacher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15160" y="2181352"/>
            <a:ext cx="482789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aber „ch“ ist </a:t>
            </a:r>
            <a:r>
              <a:rPr lang="en-US" sz="2200" b="1" dirty="0">
                <a:solidFill>
                  <a:srgbClr val="1B1B1F"/>
                </a:solidFill>
              </a:rPr>
              <a:t>immer 58 49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15160" y="2695956"/>
            <a:ext cx="482789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gleiche Umgebungen verraten die Homophone von 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P5 · homophon ≠ polyalphabetisch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Einordnung </a:t>
            </a:r>
            <a:r>
              <a:rPr lang="en-US" sz="2200" b="1" dirty="0">
                <a:solidFill>
                  <a:srgbClr val="1B1B1F"/>
                </a:solidFill>
              </a:rPr>
              <a:t>immer mit Kriterium</a:t>
            </a:r>
            <a:r>
              <a:rPr lang="en-US" sz="2200" dirty="0">
                <a:solidFill>
                  <a:srgbClr val="1B1B1F"/>
                </a:solidFill>
              </a:rPr>
              <a:t> begründen.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110740"/>
          </a:xfrm>
          <a:prstGeom prst="roundRect">
            <a:avLst>
              <a:gd name="adj" fmla="val 3466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„Homophon ist polyalphabetisch wie Vigenère, weil e verschieden ersetzt wird.“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78728" y="1941068"/>
            <a:ext cx="5364328" cy="2966212"/>
          </a:xfrm>
          <a:prstGeom prst="roundRect">
            <a:avLst>
              <a:gd name="adj" fmla="val 2466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62686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homophon: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i="1" dirty="0">
                <a:solidFill>
                  <a:srgbClr val="1B1B1F"/>
                </a:solidFill>
              </a:rPr>
              <a:t>ein</a:t>
            </a:r>
            <a:r>
              <a:rPr lang="en-US" sz="2200" dirty="0">
                <a:solidFill>
                  <a:srgbClr val="1B1B1F"/>
                </a:solidFill>
              </a:rPr>
              <a:t> Zuordnungsalphabet mit Auswahl (e → 42, 77, 19, 85)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482340"/>
            <a:ext cx="4815688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polyalphabetisch: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b="1" dirty="0">
                <a:solidFill>
                  <a:srgbClr val="1B1B1F"/>
                </a:solidFill>
              </a:rPr>
              <a:t>wechselnde</a:t>
            </a:r>
            <a:r>
              <a:rPr lang="en-US" sz="2200" dirty="0">
                <a:solidFill>
                  <a:srgbClr val="1B1B1F"/>
                </a:solidFill>
              </a:rPr>
              <a:t> Alphabete nach Schlüssel (Vigenère, Welt 2)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929f17d95773e627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1_933b36bad32b4e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A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 5 · FREMDE CHIFFRE II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Fremde Chiffre II: Der Nomenklator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Wörter verschwinden in Zahlen.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NOMEN-850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Codebuch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karawane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56536"/>
          <a:ext cx="11094415" cy="914400"/>
        </p:xfrm>
        <a:graphic>
          <a:graphicData uri="http://schemas.openxmlformats.org/drawingml/2006/table">
            <a:tbl>
              <a:tblPr/>
              <a:tblGrid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  <a:gridCol w="42670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4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4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182496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Blender: </a:t>
            </a:r>
            <a:r>
              <a:rPr lang="en-US" sz="18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r>
              <a:rPr lang="en-US" sz="1800" dirty="0">
                <a:solidFill>
                  <a:srgbClr val="1B1B1F"/>
                </a:solidFill>
              </a:rPr>
              <a:t> und </a:t>
            </a:r>
            <a:r>
              <a:rPr lang="en-US" sz="18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r>
              <a:rPr lang="en-US" sz="1800" dirty="0">
                <a:solidFill>
                  <a:srgbClr val="1B1B1F"/>
                </a:solidFill>
              </a:rPr>
              <a:t> · Wortgrenzen entfallen · Zahlen immer zweistellig</a:t>
            </a:r>
            <a:endParaRPr lang="en-US" sz="1800" dirty="0"/>
          </a:p>
        </p:txBody>
      </p:sp>
      <p:sp>
        <p:nvSpPr>
          <p:cNvPr id="6" name="Geheimtext-Kasten"/>
          <p:cNvSpPr/>
          <p:nvPr/>
        </p:nvSpPr>
        <p:spPr>
          <a:xfrm>
            <a:off x="548640" y="3635124"/>
            <a:ext cx="11094415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3708276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die karawane erreicht basra am morgen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037460"/>
            <a:ext cx="10637215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5862H OOHDS BQ90T J74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Codebuch = Schlüssel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2886456"/>
          </a:xfrm>
          <a:prstGeom prst="roundRect">
            <a:avLst>
              <a:gd name="adj" fmla="val 316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Nach </a:t>
            </a:r>
            <a:r>
              <a:rPr lang="en-US" sz="2200" b="1" dirty="0">
                <a:solidFill>
                  <a:srgbClr val="1B1B1F"/>
                </a:solidFill>
              </a:rPr>
              <a:t>Kerckhoffs</a:t>
            </a:r>
            <a:r>
              <a:rPr lang="en-US" sz="2200" dirty="0">
                <a:solidFill>
                  <a:srgbClr val="1B1B1F"/>
                </a:solidFill>
              </a:rPr>
              <a:t> dürfen die Regeln bekannt sein – das </a:t>
            </a:r>
            <a:r>
              <a:rPr lang="en-US" sz="2200" b="1" dirty="0">
                <a:solidFill>
                  <a:srgbClr val="1B1B1F"/>
                </a:solidFill>
              </a:rPr>
              <a:t>Codebuch</a:t>
            </a:r>
            <a:r>
              <a:rPr lang="en-US" sz="2200" dirty="0">
                <a:solidFill>
                  <a:srgbClr val="1B1B1F"/>
                </a:solidFill>
              </a:rPr>
              <a:t> muss geheim bleiben und </a:t>
            </a:r>
            <a:r>
              <a:rPr lang="en-US" sz="2200" b="1" dirty="0">
                <a:solidFill>
                  <a:srgbClr val="1B1B1F"/>
                </a:solidFill>
              </a:rPr>
              <a:t>sicher ausgetauscht</a:t>
            </a:r>
            <a:r>
              <a:rPr lang="en-US" sz="2200" dirty="0">
                <a:solidFill>
                  <a:srgbClr val="1B1B1F"/>
                </a:solidFill>
              </a:rPr>
              <a:t> werden.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95752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Der Buchstabenteil bleibt </a:t>
            </a:r>
            <a:r>
              <a:rPr lang="en-US" sz="2200" b="1" dirty="0">
                <a:solidFill>
                  <a:srgbClr val="1B1B1F"/>
                </a:solidFill>
              </a:rPr>
              <a:t>monoalphabetisch</a:t>
            </a:r>
            <a:r>
              <a:rPr lang="en-US" sz="2200" dirty="0">
                <a:solidFill>
                  <a:srgbClr val="1B1B1F"/>
                </a:solidFill>
              </a:rPr>
              <a:t>; jeder erbeutete Klartext verrät Codes.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Bagdad ist entsiegelt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Häufigkeitsanalyse schlägt jede monoalphabetische Substitution. Nächste Epoche: Renaissance – ein Alphabet ist zu wenig.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yptos Bagdad">
  <a:themeElements>
    <a:clrScheme name="Kryptos Bagdad">
      <a:dk1>
        <a:srgbClr val="1B1B1F"/>
      </a:dk1>
      <a:lt1>
        <a:srgbClr val="FFFFFF"/>
      </a:lt1>
      <a:dk2>
        <a:srgbClr val="14213D"/>
      </a:dk2>
      <a:lt2>
        <a:srgbClr val="FBF7EE"/>
      </a:lt2>
      <a:accent1>
        <a:srgbClr val="1F4E8C"/>
      </a:accent1>
      <a:accent2>
        <a:srgbClr val="B07D2B"/>
      </a:accent2>
      <a:accent3>
        <a:srgbClr val="1F4E8C"/>
      </a:accent3>
      <a:accent4>
        <a:srgbClr val="2E7D32"/>
      </a:accent4>
      <a:accent5>
        <a:srgbClr val="B3261E"/>
      </a:accent5>
      <a:accent6>
        <a:srgbClr val="4A4A55"/>
      </a:accent6>
      <a:hlink>
        <a:srgbClr val="1F4E8C"/>
      </a:hlink>
      <a:folHlink>
        <a:srgbClr val="8A5F1A"/>
      </a:folHlink>
    </a:clrScheme>
    <a:fontScheme name="Kryptos Bagda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Kryptos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Haus der Weisheit</dc:title>
  <dc:subject>Kryptos – Die Zeitreise der Geheimschriften</dc:subject>
  <dc:creator>Frank Juchim</dc:creator>
  <cp:lastModifiedBy>Frank Juchim</cp:lastModifiedBy>
  <cp:revision>1</cp:revision>
  <dcterms:created xsi:type="dcterms:W3CDTF">2026-10-15T19:40:07Z</dcterms:created>
  <dcterms:modified xsi:type="dcterms:W3CDTF">2026-10-15T19:40:07Z</dcterms:modified>
</cp:coreProperties>
</file>